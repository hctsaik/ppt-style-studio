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StyleKitGallery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595959"/>
    <a:srgbClr val="E5DDF1"/>
    <a:srgbClr val="E0E2E6"/>
    <a:srgbClr val="D4E6DF"/>
    <a:srgbClr val="7C9CC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StyleKitGallery2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墨綠筆記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Green Notes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八色原生文字螢光筆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色彩作用於文字本身，改字時會隨文字延伸；不使用獨立底帶，也不自動修改文字顏色。</a:t>
            </a:r>
            <a:endParaRPr lang="zh-TW"/>
          </a:p>
        </p:txBody>
      </p:sp>
      <p:sp>
        <p:nvSpPr>
          <p:cNvPr id="4" name="Native highlight label 1"/>
          <p:cNvSpPr/>
          <p:nvPr/>
        </p:nvSpPr>
        <p:spPr>
          <a:xfrm>
            <a:off x="548640" y="14173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淡紅 #F6D8DB</a:t>
            </a:r>
            <a:endParaRPr lang="zh-TW"/>
          </a:p>
        </p:txBody>
      </p:sp>
      <p:sp>
        <p:nvSpPr>
          <p:cNvPr id="5" name="Native highlight 1"/>
          <p:cNvSpPr/>
          <p:nvPr/>
        </p:nvSpPr>
        <p:spPr>
          <a:xfrm>
            <a:off x="3657600" y="1417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6" name="Native highlight label 2"/>
          <p:cNvSpPr/>
          <p:nvPr/>
        </p:nvSpPr>
        <p:spPr>
          <a:xfrm>
            <a:off x="548640" y="19202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淡黃 #F9F0D4</a:t>
            </a:r>
            <a:endParaRPr lang="zh-TW"/>
          </a:p>
        </p:txBody>
      </p:sp>
      <p:sp>
        <p:nvSpPr>
          <p:cNvPr id="7" name="Native highlight 2"/>
          <p:cNvSpPr/>
          <p:nvPr/>
        </p:nvSpPr>
        <p:spPr>
          <a:xfrm>
            <a:off x="3657600" y="1920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8" name="Native highlight label 3"/>
          <p:cNvSpPr/>
          <p:nvPr/>
        </p:nvSpPr>
        <p:spPr>
          <a:xfrm>
            <a:off x="548640" y="2423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參考藍 #7C9CC3</a:t>
            </a:r>
            <a:endParaRPr lang="zh-TW"/>
          </a:p>
        </p:txBody>
      </p:sp>
      <p:sp>
        <p:nvSpPr>
          <p:cNvPr id="9" name="Native highlight 3"/>
          <p:cNvSpPr/>
          <p:nvPr/>
        </p:nvSpPr>
        <p:spPr>
          <a:xfrm>
            <a:off x="3657600" y="2423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7C9CC3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0" name="Native highlight label 4"/>
          <p:cNvSpPr/>
          <p:nvPr/>
        </p:nvSpPr>
        <p:spPr>
          <a:xfrm>
            <a:off x="548640" y="29260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淡綠 #D4E6DF</a:t>
            </a:r>
            <a:endParaRPr lang="zh-TW"/>
          </a:p>
        </p:txBody>
      </p:sp>
      <p:sp>
        <p:nvSpPr>
          <p:cNvPr id="11" name="Native highlight 4"/>
          <p:cNvSpPr/>
          <p:nvPr/>
        </p:nvSpPr>
        <p:spPr>
          <a:xfrm>
            <a:off x="3657600" y="29260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2" name="Native highlight label 5"/>
          <p:cNvSpPr/>
          <p:nvPr/>
        </p:nvSpPr>
        <p:spPr>
          <a:xfrm>
            <a:off x="548640" y="34290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淺灰 #E0E2E6</a:t>
            </a:r>
            <a:endParaRPr lang="zh-TW"/>
          </a:p>
        </p:txBody>
      </p:sp>
      <p:sp>
        <p:nvSpPr>
          <p:cNvPr id="13" name="Native highlight 5"/>
          <p:cNvSpPr/>
          <p:nvPr/>
        </p:nvSpPr>
        <p:spPr>
          <a:xfrm>
            <a:off x="3657600" y="3429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4" name="Native highlight label 6"/>
          <p:cNvSpPr/>
          <p:nvPr/>
        </p:nvSpPr>
        <p:spPr>
          <a:xfrm>
            <a:off x="548640" y="39319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淡紫 #E5DDF1</a:t>
            </a:r>
            <a:endParaRPr lang="zh-TW"/>
          </a:p>
        </p:txBody>
      </p:sp>
      <p:sp>
        <p:nvSpPr>
          <p:cNvPr id="15" name="Native highlight 6"/>
          <p:cNvSpPr/>
          <p:nvPr/>
        </p:nvSpPr>
        <p:spPr>
          <a:xfrm>
            <a:off x="3657600" y="3931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6" name="Native highlight label 7"/>
          <p:cNvSpPr/>
          <p:nvPr/>
        </p:nvSpPr>
        <p:spPr>
          <a:xfrm>
            <a:off x="548640" y="44348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深灰 #595959</a:t>
            </a:r>
            <a:endParaRPr lang="zh-TW"/>
          </a:p>
        </p:txBody>
      </p:sp>
      <p:sp>
        <p:nvSpPr>
          <p:cNvPr id="17" name="Native highlight 7"/>
          <p:cNvSpPr/>
          <p:nvPr/>
        </p:nvSpPr>
        <p:spPr>
          <a:xfrm>
            <a:off x="3657600" y="4434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595959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8" name="Native highlight label 8"/>
          <p:cNvSpPr/>
          <p:nvPr/>
        </p:nvSpPr>
        <p:spPr>
          <a:xfrm>
            <a:off x="548640" y="49377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深藍 #1F3864</a:t>
            </a:r>
            <a:endParaRPr lang="zh-TW"/>
          </a:p>
        </p:txBody>
      </p:sp>
      <p:sp>
        <p:nvSpPr>
          <p:cNvPr id="19" name="Native highlight 8"/>
          <p:cNvSpPr/>
          <p:nvPr/>
        </p:nvSpPr>
        <p:spPr>
          <a:xfrm>
            <a:off x="3657600" y="49377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1F386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20" name="Highlighter color note"/>
          <p:cNvSpPr/>
          <p:nvPr/>
        </p:nvSpPr>
        <p:spPr>
          <a:xfrm>
            <a:off x="411480" y="555955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參考藍保留 #7C9CC3；深灰與深藍可自行搭配白字。範例維持原字色，套用色彩不會替你改白字。</a:t>
            </a:r>
            <a:endParaRPr lang="zh-TW"/>
          </a:p>
        </p:txBody>
      </p:sp>
      <p:sp>
        <p:nvSpPr>
          <p:cNvPr id="21" name="Highlighter limit"/>
          <p:cNvSpPr/>
          <p:nvPr/>
        </p:nvSpPr>
        <p:spPr>
          <a:xfrm>
            <a:off x="411480" y="592531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已儲存八色到近期色；不保證內建15色選單顯示或永久保留。可複製已套色文字再改字；格式刷操作尚未驗證。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2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23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常用六色可編輯矩形樣式 1/2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外層卡片優先：深灰框、細灰框、主色框；下方接續常用矩形。Text1 保持原值。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深灰框柔影外卡 / Gray Frame Card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細灰框柔影外卡 / Soft Frame Card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主色框柔影外卡 / Theme Frame Card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無陰影・外框 / Plain Outline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淺主色底 / Light Color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0">
            <a:schemeClr val="accent1"/>
          </a:effectRef>
          <a:fontRef idx="minor">
            <a:schemeClr val="accent1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1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0">
            <a:schemeClr val="accent2"/>
          </a:effectRef>
          <a:fontRef idx="minor">
            <a:schemeClr val="accent2">
              <a:shade val="2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2">
                    <a:shade val="2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accent3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3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0">
            <a:schemeClr val="accent4"/>
          </a:effectRef>
          <a:fontRef idx="minor">
            <a:schemeClr val="accent4">
              <a:shade val="5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4">
                    <a:shade val="5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0">
            <a:schemeClr val="accent5"/>
          </a:effectRef>
          <a:fontRef idx="minor">
            <a:schemeClr val="accent5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5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0">
            <a:schemeClr val="accent6"/>
          </a:effectRef>
          <a:fontRef idx="minor">
            <a:schemeClr val="accent6">
              <a:shade val="6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6">
                    <a:shade val="6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常用六色可編輯矩形樣式 2/2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常用矩形：淺灰底、粗外框、深底柔影、白框柔影、主色白字無影。淺色底會加深以維持白字可讀。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5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淺灰底 / Light Gray</a:t>
            </a:r>
            <a:endParaRPr lang="zh-TW"/>
          </a:p>
        </p:txBody>
      </p:sp>
      <p:sp>
        <p:nvSpPr>
          <p:cNvPr id="12" name="Native style row 6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3">
            <a:schemeClr val="tx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3" name="Native style row 6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4" name="Native style row 6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5" name="Native style row 6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6" name="Native style row 6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3">
            <a:schemeClr val="accent4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7" name="Native style row 6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8" name="Native style row 6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9" name="Effect label 6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主色粗外框 / Bold Color Outline</a:t>
            </a:r>
            <a:endParaRPr lang="zh-TW"/>
          </a:p>
        </p:txBody>
      </p:sp>
      <p:sp>
        <p:nvSpPr>
          <p:cNvPr id="20" name="Native style row 7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tx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1" name="Native style row 7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accent1">
              <a:shade val="7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2" name="Native style row 7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2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accent2">
              <a:shade val="3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3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3" name="Native style row 7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3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accent3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>
                    <a:shade val="8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4" name="Native style row 7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4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accent4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7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5" name="Native style row 7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5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accent5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>
                    <a:shade val="7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6" name="Native style row 7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6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accent6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8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7" name="Effect label 7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深底白字柔影 / Deep Fill Shadow</a:t>
            </a:r>
            <a:endParaRPr lang="zh-TW"/>
          </a:p>
        </p:txBody>
      </p:sp>
      <p:sp>
        <p:nvSpPr>
          <p:cNvPr id="28" name="Native style row 8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29" name="Native style row 8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0" name="Native style row 8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32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1" name="Native style row 8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2" name="Native style row 8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3" name="Native style row 8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4" name="Native style row 8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6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5" name="Effect label 8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深底白框柔影 / White Frame Shadow</a:t>
            </a:r>
            <a:endParaRPr lang="zh-TW"/>
          </a:p>
        </p:txBody>
      </p:sp>
      <p:sp>
        <p:nvSpPr>
          <p:cNvPr id="36" name="Native style row 9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7" name="Native style row 9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8" name="Native style row 9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accent2">
              <a:shade val="32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9" name="Native style row 9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0" name="Native style row 9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1" name="Native style row 9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2" name="Native style row 9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accent6">
              <a:shade val="6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3" name="Effect label 9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主色白字・無影 / Bright Solid</a:t>
            </a:r>
            <a:endParaRPr lang="zh-TW"/>
          </a:p>
        </p:txBody>
      </p:sp>
      <p:sp>
        <p:nvSpPr>
          <p:cNvPr id="44" name="Native style row 10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5" name="Native style row 10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75000"/>
            </a:schemeClr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6" name="Native style row 10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32500"/>
            </a:schemeClr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7" name="Native style row 10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80000"/>
            </a:schemeClr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8" name="Native style row 10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72500"/>
            </a:schemeClr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9" name="Native style row 10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72500"/>
            </a:schemeClr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0" name="Native style row 10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80000"/>
            </a:schemeClr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墨綠筆記">
  <a:themeElements>
    <a:clrScheme name="PPT Template Style Kit - 墨綠筆記">
      <a:dk1>
        <a:srgbClr val="000000"/>
      </a:dk1>
      <a:lt1>
        <a:srgbClr val="FFFFFF"/>
      </a:lt1>
      <a:dk2>
        <a:srgbClr val="24483E"/>
      </a:dk2>
      <a:lt2>
        <a:srgbClr val="F2F2F2"/>
      </a:lt2>
      <a:accent1>
        <a:srgbClr val="D95D68"/>
      </a:accent1>
      <a:accent2>
        <a:srgbClr val="E7BF4A"/>
      </a:accent2>
      <a:accent3>
        <a:srgbClr val="4E83CE"/>
      </a:accent3>
      <a:accent4>
        <a:srgbClr val="4B9679"/>
      </a:accent4>
      <a:accent5>
        <a:srgbClr val="7D8795"/>
      </a:accent5>
      <a:accent6>
        <a:srgbClr val="9371C6"/>
      </a:accent6>
      <a:hlink>
        <a:srgbClr val="C9A227"/>
      </a:hlink>
      <a:folHlink>
        <a:srgbClr val="8C8C8C"/>
      </a:folHlink>
    </a:clrScheme>
    <a:fontScheme name="PPT Template Style Kit - 墨綠筆記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rectangle presets">
      <a:fillStyleLst>
        <a:solidFill>
          <a:schemeClr val="phClr"/>
        </a:solidFill>
        <a:solidFill>
          <a:schemeClr val="phClr">
            <a:tint val="20000"/>
          </a:schemeClr>
        </a:solidFill>
        <a:solidFill>
          <a:srgbClr val="F2F2F2"/>
        </a:solidFill>
      </a:fillStyleLst>
      <a:lnStyleLst>
        <a:ln w="12700" cap="flat" cmpd="sng" algn="ctr">
          <a:solidFill>
            <a:srgbClr val="BFBFBF"/>
          </a:solidFill>
          <a:prstDash val="solid"/>
          <a:miter lim="800000"/>
        </a:ln>
        <a:ln w="6350" cap="flat" cmpd="sng" algn="ctr">
          <a:solidFill>
            <a:srgbClr val="D9D9D9"/>
          </a:solidFill>
          <a:prstDash val="solid"/>
          <a:miter lim="800000"/>
        </a:ln>
        <a:ln w="222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  <a:effectStyle>
          <a:effectLst>
            <a:outerShdw blurRad="53340" dist="19050" dir="5400000" algn="ctr" rotWithShape="0">
              <a:srgbClr val="000000">
                <a:alpha val="28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