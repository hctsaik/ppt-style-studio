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EE9F4"/>
    <a:srgbClr val="C9CFDA"/>
    <a:srgbClr val="DFE6EC"/>
    <a:srgbClr val="D7D7D7"/>
    <a:srgbClr val="CDDEED"/>
    <a:srgbClr val="C9D5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商務深藍卡片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Navy Card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柔和文字螢光筆與半高底帶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左側是文字本身的原生醒目提示；右側是可編輯底帶與文字，改字後可調整底帶寬度。</a:t>
            </a:r>
            <a:endParaRPr lang="zh-TW"/>
          </a:p>
        </p:txBody>
      </p:sp>
      <p:sp>
        <p:nvSpPr>
          <p:cNvPr id="4" name="Native highlight column"/>
          <p:cNvSpPr/>
          <p:nvPr/>
        </p:nvSpPr>
        <p:spPr>
          <a:xfrm>
            <a:off x="411480" y="123444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原生文字醒目提示 a:highlight</a:t>
            </a:r>
            <a:endParaRPr lang="zh-TW"/>
          </a:p>
        </p:txBody>
      </p:sp>
      <p:sp>
        <p:nvSpPr>
          <p:cNvPr id="5" name="Half marker column"/>
          <p:cNvSpPr/>
          <p:nvPr/>
        </p:nvSpPr>
        <p:spPr>
          <a:xfrm>
            <a:off x="6217920" y="1234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半高螢光條 · 可編輯形狀</a:t>
            </a:r>
            <a:endParaRPr lang="zh-TW"/>
          </a:p>
        </p:txBody>
      </p:sp>
      <p:sp>
        <p:nvSpPr>
          <p:cNvPr id="6" name="Native highlight 1"/>
          <p:cNvSpPr/>
          <p:nvPr/>
        </p:nvSpPr>
        <p:spPr>
          <a:xfrm>
            <a:off x="530352" y="175564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C9D5DF"/>
                </a:highlight>
                <a:latin typeface="+mn-lt"/>
                <a:ea typeface="+mn-ea"/>
              </a:rPr>
              <a:t>Accent 1・柔和文字 #C9D5DF</a:t>
            </a:r>
            <a:endParaRPr lang="zh-TW"/>
          </a:p>
        </p:txBody>
      </p:sp>
      <p:sp>
        <p:nvSpPr>
          <p:cNvPr id="7" name="Half-height marker 1"/>
          <p:cNvSpPr/>
          <p:nvPr/>
        </p:nvSpPr>
        <p:spPr>
          <a:xfrm>
            <a:off x="6355080" y="1975104"/>
            <a:ext cx="4434840" cy="118872"/>
          </a:xfrm>
          <a:prstGeom prst="rect">
            <a:avLst/>
          </a:prstGeom>
          <a:solidFill>
            <a:srgbClr val="1F4E79">
              <a:alpha val="35000"/>
            </a:srgbClr>
          </a:solidFill>
          <a:ln>
            <a:noFill/>
          </a:ln>
        </p:spPr>
      </p:sp>
      <p:sp>
        <p:nvSpPr>
          <p:cNvPr id="8" name="Half-height text 1"/>
          <p:cNvSpPr/>
          <p:nvPr/>
        </p:nvSpPr>
        <p:spPr>
          <a:xfrm>
            <a:off x="6382512" y="175564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9" name="Native highlight 2"/>
          <p:cNvSpPr/>
          <p:nvPr/>
        </p:nvSpPr>
        <p:spPr>
          <a:xfrm>
            <a:off x="530352" y="22860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CDDEED"/>
                </a:highlight>
                <a:latin typeface="+mn-lt"/>
                <a:ea typeface="+mn-ea"/>
              </a:rPr>
              <a:t>Accent 2・柔和文字 #CDDEED</a:t>
            </a:r>
            <a:endParaRPr lang="zh-TW"/>
          </a:p>
        </p:txBody>
      </p:sp>
      <p:sp>
        <p:nvSpPr>
          <p:cNvPr id="10" name="Half-height marker 2"/>
          <p:cNvSpPr/>
          <p:nvPr/>
        </p:nvSpPr>
        <p:spPr>
          <a:xfrm>
            <a:off x="6355080" y="2505456"/>
            <a:ext cx="4434840" cy="118872"/>
          </a:xfrm>
          <a:prstGeom prst="rect">
            <a:avLst/>
          </a:prstGeom>
          <a:solidFill>
            <a:srgbClr val="2E75B6">
              <a:alpha val="35000"/>
            </a:srgbClr>
          </a:solidFill>
          <a:ln>
            <a:noFill/>
          </a:ln>
        </p:spPr>
      </p:sp>
      <p:sp>
        <p:nvSpPr>
          <p:cNvPr id="11" name="Half-height text 2"/>
          <p:cNvSpPr/>
          <p:nvPr/>
        </p:nvSpPr>
        <p:spPr>
          <a:xfrm>
            <a:off x="6382512" y="22860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2" name="Native highlight 3"/>
          <p:cNvSpPr/>
          <p:nvPr/>
        </p:nvSpPr>
        <p:spPr>
          <a:xfrm>
            <a:off x="530352" y="281635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7D7D7"/>
                </a:highlight>
                <a:latin typeface="+mn-lt"/>
                <a:ea typeface="+mn-ea"/>
              </a:rPr>
              <a:t>Accent 3・柔和文字 #D7D7D7</a:t>
            </a:r>
            <a:endParaRPr lang="zh-TW"/>
          </a:p>
        </p:txBody>
      </p:sp>
      <p:sp>
        <p:nvSpPr>
          <p:cNvPr id="13" name="Half-height marker 3"/>
          <p:cNvSpPr/>
          <p:nvPr/>
        </p:nvSpPr>
        <p:spPr>
          <a:xfrm>
            <a:off x="6355080" y="3035808"/>
            <a:ext cx="4434840" cy="118872"/>
          </a:xfrm>
          <a:prstGeom prst="rect">
            <a:avLst/>
          </a:prstGeom>
          <a:solidFill>
            <a:srgbClr val="595959">
              <a:alpha val="35000"/>
            </a:srgbClr>
          </a:solidFill>
          <a:ln>
            <a:noFill/>
          </a:ln>
        </p:spPr>
      </p:sp>
      <p:sp>
        <p:nvSpPr>
          <p:cNvPr id="14" name="Half-height text 3"/>
          <p:cNvSpPr/>
          <p:nvPr/>
        </p:nvSpPr>
        <p:spPr>
          <a:xfrm>
            <a:off x="6382512" y="281635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5" name="Native highlight 4"/>
          <p:cNvSpPr/>
          <p:nvPr/>
        </p:nvSpPr>
        <p:spPr>
          <a:xfrm>
            <a:off x="530352" y="334670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FE6EC"/>
                </a:highlight>
                <a:latin typeface="+mn-lt"/>
                <a:ea typeface="+mn-ea"/>
              </a:rPr>
              <a:t>Accent 4・柔和文字 #DFE6EC</a:t>
            </a:r>
            <a:endParaRPr lang="zh-TW"/>
          </a:p>
        </p:txBody>
      </p:sp>
      <p:sp>
        <p:nvSpPr>
          <p:cNvPr id="16" name="Half-height marker 4"/>
          <p:cNvSpPr/>
          <p:nvPr/>
        </p:nvSpPr>
        <p:spPr>
          <a:xfrm>
            <a:off x="6355080" y="3566160"/>
            <a:ext cx="4434840" cy="118872"/>
          </a:xfrm>
          <a:prstGeom prst="rect">
            <a:avLst/>
          </a:prstGeom>
          <a:solidFill>
            <a:srgbClr val="7995AF">
              <a:alpha val="35000"/>
            </a:srgbClr>
          </a:solidFill>
          <a:ln>
            <a:noFill/>
          </a:ln>
        </p:spPr>
      </p:sp>
      <p:sp>
        <p:nvSpPr>
          <p:cNvPr id="17" name="Half-height text 4"/>
          <p:cNvSpPr/>
          <p:nvPr/>
        </p:nvSpPr>
        <p:spPr>
          <a:xfrm>
            <a:off x="6382512" y="334670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8" name="Native highlight 5"/>
          <p:cNvSpPr/>
          <p:nvPr/>
        </p:nvSpPr>
        <p:spPr>
          <a:xfrm>
            <a:off x="530352" y="387705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C9CFDA"/>
                </a:highlight>
                <a:latin typeface="+mn-lt"/>
                <a:ea typeface="+mn-ea"/>
              </a:rPr>
              <a:t>Accent 5・柔和文字 #C9CFDA</a:t>
            </a:r>
            <a:endParaRPr lang="zh-TW"/>
          </a:p>
        </p:txBody>
      </p:sp>
      <p:sp>
        <p:nvSpPr>
          <p:cNvPr id="19" name="Half-height marker 5"/>
          <p:cNvSpPr/>
          <p:nvPr/>
        </p:nvSpPr>
        <p:spPr>
          <a:xfrm>
            <a:off x="6355080" y="4096512"/>
            <a:ext cx="4434840" cy="118872"/>
          </a:xfrm>
          <a:prstGeom prst="rect">
            <a:avLst/>
          </a:prstGeom>
          <a:solidFill>
            <a:srgbClr val="1F3864">
              <a:alpha val="35000"/>
            </a:srgbClr>
          </a:solidFill>
          <a:ln>
            <a:noFill/>
          </a:ln>
        </p:spPr>
      </p:sp>
      <p:sp>
        <p:nvSpPr>
          <p:cNvPr id="20" name="Half-height text 5"/>
          <p:cNvSpPr/>
          <p:nvPr/>
        </p:nvSpPr>
        <p:spPr>
          <a:xfrm>
            <a:off x="6382512" y="387705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1" name="Native highlight 6"/>
          <p:cNvSpPr/>
          <p:nvPr/>
        </p:nvSpPr>
        <p:spPr>
          <a:xfrm>
            <a:off x="530352" y="440740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EE9F4"/>
                </a:highlight>
                <a:latin typeface="+mn-lt"/>
                <a:ea typeface="+mn-ea"/>
              </a:rPr>
              <a:t>Accent 6・柔和文字 #DEE9F4</a:t>
            </a:r>
            <a:endParaRPr lang="zh-TW"/>
          </a:p>
        </p:txBody>
      </p:sp>
      <p:sp>
        <p:nvSpPr>
          <p:cNvPr id="22" name="Half-height marker 6"/>
          <p:cNvSpPr/>
          <p:nvPr/>
        </p:nvSpPr>
        <p:spPr>
          <a:xfrm>
            <a:off x="6355080" y="4626864"/>
            <a:ext cx="4434840" cy="118872"/>
          </a:xfrm>
          <a:prstGeom prst="rect">
            <a:avLst/>
          </a:prstGeom>
          <a:solidFill>
            <a:srgbClr val="77A5D0">
              <a:alpha val="35000"/>
            </a:srgbClr>
          </a:solidFill>
          <a:ln>
            <a:noFill/>
          </a:ln>
        </p:spPr>
      </p:sp>
      <p:sp>
        <p:nvSpPr>
          <p:cNvPr id="23" name="Half-height text 6"/>
          <p:cNvSpPr/>
          <p:nvPr/>
        </p:nvSpPr>
        <p:spPr>
          <a:xfrm>
            <a:off x="6382512" y="440740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4" name="White visibility backing (sample only)"/>
          <p:cNvSpPr/>
          <p:nvPr/>
        </p:nvSpPr>
        <p:spPr>
          <a:xfrm>
            <a:off x="411480" y="4910328"/>
            <a:ext cx="11247120" cy="438912"/>
          </a:xfrm>
          <a:prstGeom prst="rect">
            <a:avLst/>
          </a:prstGeom>
          <a:solidFill>
            <a:srgbClr val="303640"/>
          </a:solidFill>
          <a:ln>
            <a:noFill/>
          </a:ln>
        </p:spPr>
      </p:sp>
      <p:sp>
        <p:nvSpPr>
          <p:cNvPr id="25" name="Native highlight 7"/>
          <p:cNvSpPr/>
          <p:nvPr/>
        </p:nvSpPr>
        <p:spPr>
          <a:xfrm>
            <a:off x="530352" y="49377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FFFFF"/>
                </a:highlight>
                <a:latin typeface="+mn-lt"/>
                <a:ea typeface="+mn-ea"/>
              </a:rPr>
              <a:t>白色・柔和文字 #FFFFFF</a:t>
            </a:r>
            <a:endParaRPr lang="zh-TW"/>
          </a:p>
        </p:txBody>
      </p:sp>
      <p:sp>
        <p:nvSpPr>
          <p:cNvPr id="26" name="Half-height marker 7"/>
          <p:cNvSpPr/>
          <p:nvPr/>
        </p:nvSpPr>
        <p:spPr>
          <a:xfrm>
            <a:off x="6355080" y="5157216"/>
            <a:ext cx="4434840" cy="118872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</p:sp>
      <p:sp>
        <p:nvSpPr>
          <p:cNvPr id="27" name="Half-height text 7"/>
          <p:cNvSpPr/>
          <p:nvPr/>
        </p:nvSpPr>
        <p:spPr>
          <a:xfrm>
            <a:off x="6382512" y="49377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FFFFFF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8" name="Highlighter limit"/>
          <p:cNvSpPr/>
          <p:nvPr/>
        </p:nvSpPr>
        <p:spPr>
          <a:xfrm>
            <a:off x="411480" y="580644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已儲存七個柔色到近期色；不保證內建15色選單顯示或永久保留。可複製已套色文字再改字；格式刷操作尚未驗證。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9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30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主題色原生快速樣式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Text1 保持原值；Accent 1–6 依下列色盤。白色另見螢光筆與白色範例頁。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#1F4E79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#2E75B6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#595959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#7995AF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#1F3864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#77A5D0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色彩外框 / Colored Outline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tx1"/>
          </a:lnRef>
          <a:fillRef idx="0">
            <a:schemeClr val="tx1"/>
          </a:fillRef>
          <a:effectRef idx="1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accent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accent4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accent6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4048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色彩填滿 / Colored Fill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386584"/>
            <a:ext cx="1298448" cy="530352"/>
          </a:xfrm>
          <a:prstGeom prst="rect">
            <a:avLst/>
          </a:prstGeom>
        </p:spPr>
        <p:style>
          <a:lnRef idx="1">
            <a:schemeClr val="tx1">
              <a:shade val="50000"/>
            </a:schemeClr>
          </a:lnRef>
          <a:fillRef idx="1">
            <a:schemeClr val="tx1"/>
          </a:fillRef>
          <a:effectRef idx="1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386584"/>
            <a:ext cx="1298448" cy="530352"/>
          </a:xfrm>
          <a:prstGeom prst="rect">
            <a:avLst/>
          </a:prstGeom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386584"/>
            <a:ext cx="1298448" cy="530352"/>
          </a:xfrm>
          <a:prstGeom prst="rect">
            <a:avLst/>
          </a:prstGeom>
        </p:spPr>
        <p:style>
          <a:lnRef idx="1">
            <a:schemeClr val="accent2">
              <a:shade val="50000"/>
            </a:schemeClr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386584"/>
            <a:ext cx="1298448" cy="530352"/>
          </a:xfrm>
          <a:prstGeom prst="rect">
            <a:avLst/>
          </a:prstGeom>
        </p:spPr>
        <p:style>
          <a:lnRef idx="1">
            <a:schemeClr val="accent3">
              <a:shade val="50000"/>
            </a:schemeClr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386584"/>
            <a:ext cx="1298448" cy="530352"/>
          </a:xfrm>
          <a:prstGeom prst="rect">
            <a:avLst/>
          </a:prstGeom>
        </p:spPr>
        <p:style>
          <a:lnRef idx="1">
            <a:schemeClr val="accent4">
              <a:shade val="50000"/>
            </a:schemeClr>
          </a:lnRef>
          <a:fillRef idx="1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386584"/>
            <a:ext cx="1298448" cy="530352"/>
          </a:xfrm>
          <a:prstGeom prst="rect">
            <a:avLst/>
          </a:prstGeom>
        </p:spPr>
        <p:style>
          <a:lnRef idx="1">
            <a:schemeClr val="accent5">
              <a:shade val="50000"/>
            </a:schemeClr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386584"/>
            <a:ext cx="1298448" cy="530352"/>
          </a:xfrm>
          <a:prstGeom prst="rect">
            <a:avLst/>
          </a:prstGeom>
        </p:spPr>
        <p:style>
          <a:lnRef idx="1">
            <a:schemeClr val="accent6">
              <a:shade val="50000"/>
            </a:schemeClr>
          </a:lnRef>
          <a:fillRef idx="1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09981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淺色外框＋色彩填滿 / Light 1 Outline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tx1"/>
          </a:fillRef>
          <a:effectRef idx="1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379476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輕微效果 / Subtle Effect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3776472"/>
            <a:ext cx="1298448" cy="530352"/>
          </a:xfrm>
          <a:prstGeom prst="rect">
            <a:avLst/>
          </a:prstGeom>
        </p:spPr>
        <p:style>
          <a:lnRef idx="1">
            <a:schemeClr val="tx1"/>
          </a:lnRef>
          <a:fillRef idx="3">
            <a:schemeClr val="tx1"/>
          </a:fillRef>
          <a:effectRef idx="1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3776472"/>
            <a:ext cx="1298448" cy="5303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3776472"/>
            <a:ext cx="1298448" cy="53035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1">
            <a:schemeClr val="accent2"/>
          </a:effectRef>
          <a:fontRef idx="minor">
            <a:schemeClr val="accent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3776472"/>
            <a:ext cx="1298448" cy="53035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1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3776472"/>
            <a:ext cx="1298448" cy="53035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1">
            <a:schemeClr val="accent4"/>
          </a:effectRef>
          <a:fontRef idx="minor">
            <a:schemeClr val="accent4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3776472"/>
            <a:ext cx="1298448" cy="5303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1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3776472"/>
            <a:ext cx="1298448" cy="53035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1">
            <a:schemeClr val="accent6"/>
          </a:effectRef>
          <a:fontRef idx="minor">
            <a:schemeClr val="accent6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448970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中度效果 / Moderate Effect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1" name="Effect label 5"/>
          <p:cNvSpPr/>
          <p:nvPr/>
        </p:nvSpPr>
        <p:spPr>
          <a:xfrm>
            <a:off x="365760" y="518464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強烈效果 / Intense Effect</a:t>
            </a:r>
            <a:endParaRPr lang="zh-TW"/>
          </a:p>
        </p:txBody>
      </p:sp>
      <p:sp>
        <p:nvSpPr>
          <p:cNvPr id="52" name="Native style row 6 tx1"/>
          <p:cNvSpPr/>
          <p:nvPr/>
        </p:nvSpPr>
        <p:spPr>
          <a:xfrm>
            <a:off x="169164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1">
            <a:schemeClr val="tx1"/>
          </a:fillRef>
          <a:effectRef idx="3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3" name="Native style row 6 accent1"/>
          <p:cNvSpPr/>
          <p:nvPr/>
        </p:nvSpPr>
        <p:spPr>
          <a:xfrm>
            <a:off x="311810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4" name="Native style row 6 accent2"/>
          <p:cNvSpPr/>
          <p:nvPr/>
        </p:nvSpPr>
        <p:spPr>
          <a:xfrm>
            <a:off x="4544568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1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5" name="Native style row 6 accent3"/>
          <p:cNvSpPr/>
          <p:nvPr/>
        </p:nvSpPr>
        <p:spPr>
          <a:xfrm>
            <a:off x="5971032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1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6" name="Native style row 6 accent4"/>
          <p:cNvSpPr/>
          <p:nvPr/>
        </p:nvSpPr>
        <p:spPr>
          <a:xfrm>
            <a:off x="7397496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1">
            <a:schemeClr val="accent4"/>
          </a:fillRef>
          <a:effectRef idx="3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7" name="Native style row 6 accent5"/>
          <p:cNvSpPr/>
          <p:nvPr/>
        </p:nvSpPr>
        <p:spPr>
          <a:xfrm>
            <a:off x="882396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1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8" name="Native style row 6 accent6"/>
          <p:cNvSpPr/>
          <p:nvPr/>
        </p:nvSpPr>
        <p:spPr>
          <a:xfrm>
            <a:off x="1025042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1">
            <a:schemeClr val="accent6"/>
          </a:fillRef>
          <a:effectRef idx="3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9" name="Gallery scope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這42個範例使用原生主題樣式引用；Office 選單由色彩集與效果矩陣產生，外觀依版本而異。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商務深藍卡片">
  <a:themeElements>
    <a:clrScheme name="PPT Template Style Kit - 商務深藍卡片">
      <a:dk1>
        <a:srgbClr val="000000"/>
      </a:dk1>
      <a:lt1>
        <a:srgbClr val="FFFFFF"/>
      </a:lt1>
      <a:dk2>
        <a:srgbClr val="1F3864"/>
      </a:dk2>
      <a:lt2>
        <a:srgbClr val="F2F2F2"/>
      </a:lt2>
      <a:accent1>
        <a:srgbClr val="1F4E79"/>
      </a:accent1>
      <a:accent2>
        <a:srgbClr val="2E75B6"/>
      </a:accent2>
      <a:accent3>
        <a:srgbClr val="595959"/>
      </a:accent3>
      <a:accent4>
        <a:srgbClr val="7995AF"/>
      </a:accent4>
      <a:accent5>
        <a:srgbClr val="1F3864"/>
      </a:accent5>
      <a:accent6>
        <a:srgbClr val="77A5D0"/>
      </a:accent6>
      <a:hlink>
        <a:srgbClr val="2E75B6"/>
      </a:hlink>
      <a:folHlink>
        <a:srgbClr val="8C8C8C"/>
      </a:folHlink>
    </a:clrScheme>
    <a:fontScheme name="PPT Template Style Kit - 商務深藍卡片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Template Style Kit">
      <a:fillStyleLst>
        <a:solidFill>
          <a:schemeClr val="phClr"/>
        </a:solidFill>
        <a:gradFill rotWithShape="1">
          <a:gsLst>
            <a:gs pos="0">
              <a:schemeClr val="phClr">
                <a:lumMod val="60000"/>
                <a:lumOff val="4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lumMod val="20000"/>
                <a:lumOff val="80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