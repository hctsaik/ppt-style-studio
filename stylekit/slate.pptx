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石板灰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Slate Grey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333F48"/>
                </a:solidFill>
                <a:latin typeface="Arial"/>
              </a:rPr>
              <a:t>PPT Template Style Kit — 石板灰 Slate Grey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333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① 柔和螢光筆 ② 形狀樣式 ③ 強調記號 ④ 頁尾來源 — 用格式刷／複製取用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F48"/>
                </a:solidFill>
                <a:latin typeface="Arial"/>
              </a:rPr>
              <a:t>① 柔和螢光筆 Soft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404000"/>
            <a:ext cx="5400000" cy="21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H1  </a:t>
            </a:r>
            <a:r>
              <a:rPr sz="1400" b="1">
                <a:solidFill>
                  <a:srgbClr val="3A3A3A"/>
                </a:solidFill>
                <a:highlight>
                  <a:srgbClr val="E2E4E5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#E2E4E5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H2  </a:t>
            </a:r>
            <a:r>
              <a:rPr sz="1400" b="1">
                <a:solidFill>
                  <a:srgbClr val="3A3A3A"/>
                </a:solidFill>
                <a:highlight>
                  <a:srgbClr val="F1F2F2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#F1F2F2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H3  </a:t>
            </a:r>
            <a:r>
              <a:rPr sz="1400" b="1">
                <a:solidFill>
                  <a:srgbClr val="3A3A3A"/>
                </a:solidFill>
                <a:highlight>
                  <a:srgbClr val="DFEAF2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#DFEAF2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H4  </a:t>
            </a:r>
            <a:r>
              <a:rPr sz="1400" b="1">
                <a:solidFill>
                  <a:srgbClr val="3A3A3A"/>
                </a:solidFill>
                <a:highlight>
                  <a:srgbClr val="EDF3F8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#EDF3F8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H5  </a:t>
            </a:r>
            <a:r>
              <a:rPr sz="1400" b="1">
                <a:solidFill>
                  <a:srgbClr val="3A3A3A"/>
                </a:solidFill>
                <a:highlight>
                  <a:srgbClr val="E5E6E7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#E5E6E7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H6  </a:t>
            </a:r>
            <a:r>
              <a:rPr sz="1400" b="1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#EDEDED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F48"/>
                </a:solidFill>
                <a:latin typeface="Arial"/>
              </a:rPr>
              <a:t>② 形狀樣式 Shape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0000" y="1440000"/>
            <a:ext cx="2520000" cy="503999"/>
          </a:xfrm>
          <a:prstGeom prst="roundRect">
            <a:avLst/>
          </a:prstGeom>
          <a:solidFill>
            <a:srgbClr val="333F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實心 Filled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72000" y="1440000"/>
            <a:ext cx="2520000" cy="50399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3F48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333F48"/>
                </a:solidFill>
                <a:latin typeface="Arial"/>
              </a:rPr>
              <a:t>外框 Outline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000" y="2088000"/>
            <a:ext cx="2520000" cy="503999"/>
          </a:xfrm>
          <a:prstGeom prst="roundRect">
            <a:avLst/>
          </a:prstGeom>
          <a:solidFill>
            <a:srgbClr val="E2E4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283138"/>
                </a:solidFill>
                <a:latin typeface="Arial"/>
              </a:rPr>
              <a:t>柔色 Soft tint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72000" y="2088000"/>
            <a:ext cx="2520000" cy="503999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深色膠囊 Capsule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2736000"/>
            <a:ext cx="2520000" cy="503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3A3A3A"/>
                </a:solidFill>
                <a:latin typeface="Arial"/>
              </a:rPr>
              <a:t>灰底卡 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2000" y="2736000"/>
            <a:ext cx="2520000" cy="503999"/>
          </a:xfrm>
          <a:prstGeom prst="roundRect">
            <a:avLst/>
          </a:prstGeom>
          <a:solidFill>
            <a:srgbClr val="DFEAF2"/>
          </a:solidFill>
          <a:ln w="9525">
            <a:solidFill>
              <a:srgbClr val="4F8AB8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3B688A"/>
                </a:solidFill>
                <a:latin typeface="Arial"/>
              </a:rPr>
              <a:t>強調色 Accent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370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F48"/>
                </a:solidFill>
                <a:latin typeface="Arial"/>
              </a:rPr>
              <a:t>③ 強調記號 Emphasis 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4031999"/>
            <a:ext cx="72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Capacity: </a:t>
            </a:r>
            <a:r>
              <a:rPr sz="1400" b="0" strike="sngStrike">
                <a:solidFill>
                  <a:srgbClr val="8C8C8C"/>
                </a:solidFill>
                <a:latin typeface="Arial"/>
              </a:rPr>
              <a:t>120K</a:t>
            </a:r>
            <a:r>
              <a:rPr sz="1400" b="1">
                <a:solidFill>
                  <a:srgbClr val="333F48"/>
                </a:solidFill>
                <a:latin typeface="Arial"/>
              </a:rPr>
              <a:t> → </a:t>
            </a:r>
            <a:r>
              <a:rPr sz="1400" b="1">
                <a:solidFill>
                  <a:srgbClr val="333F48"/>
                </a:solidFill>
                <a:latin typeface="Arial"/>
              </a:rPr>
              <a:t>150K</a:t>
            </a:r>
            <a:r>
              <a:rPr sz="1400" b="0">
                <a:solidFill>
                  <a:srgbClr val="3A3A3A"/>
                </a:solidFill>
                <a:latin typeface="Arial"/>
              </a:rPr>
              <a:t> wpm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Lead time </a:t>
            </a:r>
            <a:r>
              <a:rPr sz="1400" b="1" u="sng">
                <a:solidFill>
                  <a:srgbClr val="3A3A3A"/>
                </a:solidFill>
                <a:latin typeface="Arial"/>
              </a:rPr>
              <a:t>shortened by 2 weeks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Cost </a:t>
            </a:r>
            <a:r>
              <a:rPr sz="3200" b="1">
                <a:solidFill>
                  <a:srgbClr val="333F48"/>
                </a:solidFill>
                <a:latin typeface="Arial"/>
              </a:rPr>
              <a:t>-18</a:t>
            </a:r>
            <a:r>
              <a:rPr sz="1600" b="1">
                <a:solidFill>
                  <a:srgbClr val="333F48"/>
                </a:solidFill>
                <a:latin typeface="Arial"/>
              </a:rPr>
              <a:t>%</a:t>
            </a:r>
            <a:r>
              <a:rPr sz="1200" b="0">
                <a:solidFill>
                  <a:srgbClr val="8C8C8C"/>
                </a:solidFill>
                <a:latin typeface="Arial"/>
              </a:rPr>
              <a:t>  vs. 2025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Defect density reduced</a:t>
            </a:r>
            <a:r>
              <a:rPr sz="1400" b="0" baseline="30000">
                <a:solidFill>
                  <a:srgbClr val="3A3A3A"/>
                </a:solidFill>
                <a:latin typeface="Arial"/>
              </a:rPr>
              <a:t>1</a:t>
            </a:r>
          </a:p>
        </p:txBody>
      </p:sp>
      <p:sp>
        <p:nvSpPr>
          <p:cNvPr id="16" name="5-Point Star 15"/>
          <p:cNvSpPr/>
          <p:nvPr/>
        </p:nvSpPr>
        <p:spPr>
          <a:xfrm>
            <a:off x="8280000" y="4104000"/>
            <a:ext cx="864000" cy="827999"/>
          </a:xfrm>
          <a:prstGeom prst="star5">
            <a:avLst/>
          </a:prstGeom>
          <a:solidFill>
            <a:srgbClr val="333F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60000" y="4140000"/>
            <a:ext cx="792000" cy="792000"/>
          </a:xfrm>
          <a:prstGeom prst="ellipse">
            <a:avLst/>
          </a:prstGeom>
          <a:solidFill>
            <a:srgbClr val="333F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96000" y="4284000"/>
            <a:ext cx="1296000" cy="43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3F48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333F48"/>
                </a:solidFill>
                <a:latin typeface="Arial"/>
              </a:rPr>
              <a:t>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5004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33F48"/>
                </a:solidFill>
                <a:latin typeface="Arial"/>
              </a:rPr>
              <a:t>④ 半高螢光條 / 粗色底線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8000" y="5508000"/>
            <a:ext cx="1044000" cy="151200"/>
          </a:xfrm>
          <a:prstGeom prst="roundRect">
            <a:avLst/>
          </a:prstGeom>
          <a:solidFill>
            <a:srgbClr val="FFD966">
              <a:alpha val="6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000" y="5346000"/>
            <a:ext cx="288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83138"/>
                </a:solidFill>
                <a:latin typeface="Arial"/>
              </a:rPr>
              <a:t>▶ </a:t>
            </a:r>
            <a:r>
              <a:rPr sz="1800" b="1">
                <a:solidFill>
                  <a:srgbClr val="283138"/>
                </a:solidFill>
                <a:latin typeface="Arial"/>
              </a:rPr>
              <a:t>雙管齊下 Dual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2000" y="5382000"/>
            <a:ext cx="2736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Cycle time </a:t>
            </a:r>
            <a:r>
              <a:rPr sz="1600" b="1" u="heavy">
                <a:solidFill>
                  <a:srgbClr val="3A3A3A"/>
                </a:solidFill>
                <a:uFill>
                  <a:solidFill>
                    <a:srgbClr val="333F48"/>
                  </a:solidFill>
                </a:uFill>
                <a:latin typeface="Arial"/>
              </a:rPr>
              <a:t>−12%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2000" y="6263999"/>
            <a:ext cx="1130400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2000" y="6300000"/>
            <a:ext cx="111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baseline="30000">
                <a:solidFill>
                  <a:srgbClr val="8C8C8C"/>
                </a:solidFill>
                <a:latin typeface="Arial"/>
              </a:rPr>
              <a:t>1</a:t>
            </a:r>
            <a:r>
              <a:rPr sz="900" b="0">
                <a:solidFill>
                  <a:srgbClr val="8C8C8C"/>
                </a:solidFill>
                <a:latin typeface="Arial"/>
              </a:rPr>
              <a:t> Source: internal report; data as of 2026/09.   Note: </a:t>
            </a:r>
            <a:r>
              <a:rPr sz="900" b="0" baseline="30000">
                <a:solidFill>
                  <a:srgbClr val="8C8C8C"/>
                </a:solidFill>
                <a:latin typeface="Arial"/>
              </a:rPr>
              <a:t>*</a:t>
            </a:r>
            <a:r>
              <a:rPr sz="900" b="0">
                <a:solidFill>
                  <a:srgbClr val="8C8C8C"/>
                </a:solidFill>
                <a:latin typeface="Arial"/>
              </a:rPr>
              <a:t> preliminary.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333F48"/>
                </a:solidFill>
                <a:latin typeface="Arial"/>
              </a:rPr>
              <a:t>PPT Template Style Kit — 石板灰 Slate Grey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333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快速樣式 (常用 &gt; 繪圖 &gt; 快速樣式) 預覽：套用此色彩集後 7 欄 × 6 列的近似效果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Text1  #000000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Accent1  #333F48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6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Accent2  #4F8AB8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2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Accent3  #595959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8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Accent4  #858C91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Accent5  #283138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Accent6  #8DB3D1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1475999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外框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0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3F48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333F48"/>
                </a:solidFill>
                <a:latin typeface="Arial"/>
              </a:rPr>
              <a:t>Abc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6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8AB8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4F8AB8"/>
                </a:solidFill>
                <a:latin typeface="Arial"/>
              </a:rPr>
              <a:t>Abc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2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595959"/>
                </a:solidFill>
                <a:latin typeface="Arial"/>
              </a:rPr>
              <a:t>Abc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8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58C91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858C91"/>
                </a:solidFill>
                <a:latin typeface="Arial"/>
              </a:rPr>
              <a:t>Abc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8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83138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83138"/>
                </a:solidFill>
                <a:latin typeface="Arial"/>
              </a:rPr>
              <a:t>Abc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6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B3D1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8DB3D1"/>
                </a:solidFill>
                <a:latin typeface="Arial"/>
              </a:rPr>
              <a:t>Abc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228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實心+深框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04000" y="2106000"/>
            <a:ext cx="1332000" cy="68400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000" y="2106000"/>
            <a:ext cx="1332000" cy="684000"/>
          </a:xfrm>
          <a:prstGeom prst="roundRect">
            <a:avLst/>
          </a:prstGeom>
          <a:solidFill>
            <a:srgbClr val="333F48"/>
          </a:solidFill>
          <a:ln w="15875">
            <a:solidFill>
              <a:srgbClr val="1A2024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6000" y="2106000"/>
            <a:ext cx="1332000" cy="684000"/>
          </a:xfrm>
          <a:prstGeom prst="roundRect">
            <a:avLst/>
          </a:prstGeom>
          <a:solidFill>
            <a:srgbClr val="4F8AB8"/>
          </a:solidFill>
          <a:ln w="15875">
            <a:solidFill>
              <a:srgbClr val="28455C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32000" y="2106000"/>
            <a:ext cx="1332000" cy="684000"/>
          </a:xfrm>
          <a:prstGeom prst="roundRect">
            <a:avLst/>
          </a:prstGeom>
          <a:solidFill>
            <a:srgbClr val="595959"/>
          </a:solidFill>
          <a:ln w="15875">
            <a:solidFill>
              <a:srgbClr val="2C2C2C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8000" y="2106000"/>
            <a:ext cx="1332000" cy="684000"/>
          </a:xfrm>
          <a:prstGeom prst="roundRect">
            <a:avLst/>
          </a:prstGeom>
          <a:solidFill>
            <a:srgbClr val="858C91"/>
          </a:solidFill>
          <a:ln w="15875">
            <a:solidFill>
              <a:srgbClr val="424648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84000" y="2106000"/>
            <a:ext cx="1332000" cy="684000"/>
          </a:xfrm>
          <a:prstGeom prst="roundRect">
            <a:avLst/>
          </a:prstGeom>
          <a:solidFill>
            <a:srgbClr val="283138"/>
          </a:solidFill>
          <a:ln w="15875">
            <a:solidFill>
              <a:srgbClr val="14181C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60000" y="2106000"/>
            <a:ext cx="1332000" cy="684000"/>
          </a:xfrm>
          <a:prstGeom prst="roundRect">
            <a:avLst/>
          </a:prstGeom>
          <a:solidFill>
            <a:srgbClr val="8DB3D1"/>
          </a:solidFill>
          <a:ln w="15875">
            <a:solidFill>
              <a:srgbClr val="465A68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309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04000" y="291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000" y="2916000"/>
            <a:ext cx="1332000" cy="684000"/>
          </a:xfrm>
          <a:prstGeom prst="roundRect">
            <a:avLst/>
          </a:prstGeom>
          <a:solidFill>
            <a:srgbClr val="333F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6000" y="2916000"/>
            <a:ext cx="1332000" cy="684000"/>
          </a:xfrm>
          <a:prstGeom prst="roundRect">
            <a:avLst/>
          </a:prstGeom>
          <a:solidFill>
            <a:srgbClr val="4F8A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32000" y="291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08000" y="2916000"/>
            <a:ext cx="1332000" cy="684000"/>
          </a:xfrm>
          <a:prstGeom prst="roundRect">
            <a:avLst/>
          </a:prstGeom>
          <a:solidFill>
            <a:srgbClr val="858C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84000" y="2916000"/>
            <a:ext cx="1332000" cy="684000"/>
          </a:xfrm>
          <a:prstGeom prst="roundRect">
            <a:avLst/>
          </a:prstGeom>
          <a:solidFill>
            <a:srgbClr val="2831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60000" y="2916000"/>
            <a:ext cx="1332000" cy="684000"/>
          </a:xfrm>
          <a:prstGeom prst="roundRect">
            <a:avLst/>
          </a:prstGeom>
          <a:solidFill>
            <a:srgbClr val="8DB3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000" y="390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淺色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04000" y="3726000"/>
            <a:ext cx="1332000" cy="684000"/>
          </a:xfrm>
          <a:prstGeom prst="round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000" y="3726000"/>
            <a:ext cx="1332000" cy="684000"/>
          </a:xfrm>
          <a:prstGeom prst="roundRect">
            <a:avLst/>
          </a:prstGeom>
          <a:solidFill>
            <a:srgbClr val="D6D9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1A2024"/>
                </a:solidFill>
                <a:latin typeface="Arial"/>
              </a:rPr>
              <a:t>Abc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56000" y="3726000"/>
            <a:ext cx="1332000" cy="684000"/>
          </a:xfrm>
          <a:prstGeom prst="roundRect">
            <a:avLst/>
          </a:prstGeom>
          <a:solidFill>
            <a:srgbClr val="DCE8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8455C"/>
                </a:solidFill>
                <a:latin typeface="Arial"/>
              </a:rPr>
              <a:t>Abc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32000" y="3726000"/>
            <a:ext cx="1332000" cy="684000"/>
          </a:xfrm>
          <a:prstGeom prst="roundRect">
            <a:avLst/>
          </a:prstGeom>
          <a:solidFill>
            <a:srgbClr val="DEDE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C2C2C"/>
                </a:solidFill>
                <a:latin typeface="Arial"/>
              </a:rPr>
              <a:t>Abc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08000" y="3726000"/>
            <a:ext cx="1332000" cy="684000"/>
          </a:xfrm>
          <a:prstGeom prst="roundRect">
            <a:avLst/>
          </a:prstGeom>
          <a:solidFill>
            <a:srgbClr val="E7E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424648"/>
                </a:solidFill>
                <a:latin typeface="Arial"/>
              </a:rPr>
              <a:t>Abc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84000" y="3726000"/>
            <a:ext cx="1332000" cy="684000"/>
          </a:xfrm>
          <a:prstGeom prst="roundRect">
            <a:avLst/>
          </a:prstGeom>
          <a:solidFill>
            <a:srgbClr val="D4D6D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14181C"/>
                </a:solidFill>
                <a:latin typeface="Arial"/>
              </a:rPr>
              <a:t>Abc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60000" y="3726000"/>
            <a:ext cx="1332000" cy="684000"/>
          </a:xfrm>
          <a:prstGeom prst="roundRect">
            <a:avLst/>
          </a:prstGeom>
          <a:solidFill>
            <a:srgbClr val="E8F0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465A68"/>
                </a:solidFill>
                <a:latin typeface="Arial"/>
              </a:rPr>
              <a:t>Abc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0000" y="471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漸層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0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666666"/>
              </a:gs>
              <a:gs pos="100000">
                <a:srgbClr val="000000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8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858C91"/>
              </a:gs>
              <a:gs pos="100000">
                <a:srgbClr val="333F48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56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95B9D4"/>
              </a:gs>
              <a:gs pos="100000">
                <a:srgbClr val="4F8AB8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32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9B9B9B"/>
              </a:gs>
              <a:gs pos="100000">
                <a:srgbClr val="595959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08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B6BABD"/>
              </a:gs>
              <a:gs pos="100000">
                <a:srgbClr val="858C91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8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7E8388"/>
              </a:gs>
              <a:gs pos="100000">
                <a:srgbClr val="283138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6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BBD1E3"/>
              </a:gs>
              <a:gs pos="100000">
                <a:srgbClr val="8DB3D1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0000" y="552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陰影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04000" y="534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80000" y="5346000"/>
            <a:ext cx="1332000" cy="684000"/>
          </a:xfrm>
          <a:prstGeom prst="roundRect">
            <a:avLst/>
          </a:prstGeom>
          <a:solidFill>
            <a:srgbClr val="333F48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56000" y="5346000"/>
            <a:ext cx="1332000" cy="684000"/>
          </a:xfrm>
          <a:prstGeom prst="roundRect">
            <a:avLst/>
          </a:prstGeom>
          <a:solidFill>
            <a:srgbClr val="4F8AB8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32000" y="534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08000" y="5346000"/>
            <a:ext cx="1332000" cy="684000"/>
          </a:xfrm>
          <a:prstGeom prst="roundRect">
            <a:avLst/>
          </a:prstGeom>
          <a:solidFill>
            <a:srgbClr val="858C91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84000" y="5346000"/>
            <a:ext cx="1332000" cy="684000"/>
          </a:xfrm>
          <a:prstGeom prst="roundRect">
            <a:avLst/>
          </a:prstGeom>
          <a:solidFill>
            <a:srgbClr val="283138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60000" y="5346000"/>
            <a:ext cx="1332000" cy="684000"/>
          </a:xfrm>
          <a:prstGeom prst="roundRect">
            <a:avLst/>
          </a:prstGeom>
          <a:solidFill>
            <a:srgbClr val="8DB3D1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40000" y="6336000"/>
            <a:ext cx="1044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95959"/>
                </a:solidFill>
                <a:latin typeface="Arial"/>
              </a:rPr>
              <a:t>螢光筆 </a:t>
            </a:r>
            <a:r>
              <a:rPr sz="1000" b="0">
                <a:solidFill>
                  <a:srgbClr val="3A3A3A"/>
                </a:solidFill>
                <a:highlight>
                  <a:srgbClr val="E2E4E5"/>
                </a:highlight>
                <a:latin typeface="Arial"/>
              </a:rPr>
              <a:t> H1 #E2E4E5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1F2F2"/>
                </a:highlight>
                <a:latin typeface="Arial"/>
              </a:rPr>
              <a:t> H2 #F1F2F2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DFEAF2"/>
                </a:highlight>
                <a:latin typeface="Arial"/>
              </a:rPr>
              <a:t> H3 #DFEAF2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DF3F8"/>
                </a:highlight>
                <a:latin typeface="Arial"/>
              </a:rPr>
              <a:t> H4 #EDF3F8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5E6E7"/>
                </a:highlight>
                <a:latin typeface="Arial"/>
              </a:rPr>
              <a:t> H5 #E5E6E7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 H6 #EDEDED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石板灰">
  <a:themeElements>
    <a:clrScheme name="PPT Template Style Kit - 石板灰">
      <a:dk1>
        <a:srgbClr val="000000"/>
      </a:dk1>
      <a:lt1>
        <a:srgbClr val="FFFFFF"/>
      </a:lt1>
      <a:dk2>
        <a:srgbClr val="283138"/>
      </a:dk2>
      <a:lt2>
        <a:srgbClr val="F2F2F2"/>
      </a:lt2>
      <a:accent1>
        <a:srgbClr val="333F48"/>
      </a:accent1>
      <a:accent2>
        <a:srgbClr val="4F8AB8"/>
      </a:accent2>
      <a:accent3>
        <a:srgbClr val="595959"/>
      </a:accent3>
      <a:accent4>
        <a:srgbClr val="858C91"/>
      </a:accent4>
      <a:accent5>
        <a:srgbClr val="283138"/>
      </a:accent5>
      <a:accent6>
        <a:srgbClr val="8DB3D1"/>
      </a:accent6>
      <a:hlink>
        <a:srgbClr val="4F8AB8"/>
      </a:hlink>
      <a:folHlink>
        <a:srgbClr val="8C8C8C"/>
      </a:folHlink>
    </a:clrScheme>
    <a:fontScheme name="PPT Template Style Kit - 石板灰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Template Style Kit">
      <a:fillStyleLst>
        <a:solidFill>
          <a:schemeClr val="phClr"/>
        </a:solidFill>
        <a:gradFill rotWithShape="1">
          <a:gsLst>
            <a:gs pos="0">
              <a:schemeClr val="phClr">
                <a:lumMod val="60000"/>
                <a:lumOff val="4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lumMod val="20000"/>
                <a:lumOff val="80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