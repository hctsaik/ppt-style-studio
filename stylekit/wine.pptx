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酒紅精品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Burgundy Atelier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7A1F2B"/>
                </a:solidFill>
                <a:latin typeface="Arial"/>
              </a:rPr>
              <a:t>PPT Template Style Kit — 酒紅精品 Burgundy Atelier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7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① 柔和螢光筆 ② 形狀樣式 ③ 強調記號 ④ 頁尾來源 — 用格式刷／複製取用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A1F2B"/>
                </a:solidFill>
                <a:latin typeface="Arial"/>
              </a:rPr>
              <a:t>① 柔和螢光筆 Soft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404000"/>
            <a:ext cx="5400000" cy="2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H1  </a:t>
            </a:r>
            <a:r>
              <a:rPr sz="1400" b="1">
                <a:solidFill>
                  <a:srgbClr val="3A3A3A"/>
                </a:solidFill>
                <a:highlight>
                  <a:srgbClr val="ECE0E1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#ECE0E1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H2  </a:t>
            </a:r>
            <a:r>
              <a:rPr sz="1400" b="1">
                <a:solidFill>
                  <a:srgbClr val="3A3A3A"/>
                </a:solidFill>
                <a:highlight>
                  <a:srgbClr val="F6EFF0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#F6EFF0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H3  </a:t>
            </a:r>
            <a:r>
              <a:rPr sz="1400" b="1">
                <a:solidFill>
                  <a:srgbClr val="3A3A3A"/>
                </a:solidFill>
                <a:highlight>
                  <a:srgbClr val="F1EAE1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#F1EAE1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H4  </a:t>
            </a:r>
            <a:r>
              <a:rPr sz="1400" b="1">
                <a:solidFill>
                  <a:srgbClr val="3A3A3A"/>
                </a:solidFill>
                <a:highlight>
                  <a:srgbClr val="F7F4EE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#F7F4EE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H5  </a:t>
            </a:r>
            <a:r>
              <a:rPr sz="1400" b="1">
                <a:solidFill>
                  <a:srgbClr val="3A3A3A"/>
                </a:solidFill>
                <a:highlight>
                  <a:srgbClr val="ECE3E4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#ECE3E4</a:t>
            </a:r>
          </a:p>
          <a:p>
            <a:r>
              <a:rPr sz="1100" b="0">
                <a:solidFill>
                  <a:srgbClr val="8C8C8C"/>
                </a:solidFill>
                <a:latin typeface="Arial"/>
              </a:rPr>
              <a:t>H6  </a:t>
            </a:r>
            <a:r>
              <a:rPr sz="1400" b="1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Yield improved 良率提升</a:t>
            </a:r>
            <a:r>
              <a:rPr sz="1000" b="0">
                <a:solidFill>
                  <a:srgbClr val="8C8C8C"/>
                </a:solidFill>
                <a:latin typeface="Arial"/>
              </a:rPr>
              <a:t>  #EDEDED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0" y="1080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A1F2B"/>
                </a:solidFill>
                <a:latin typeface="Arial"/>
              </a:rPr>
              <a:t>② 形狀樣式 Shape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0000" y="1440000"/>
            <a:ext cx="2520000" cy="503999"/>
          </a:xfrm>
          <a:prstGeom prst="roundRect">
            <a:avLst/>
          </a:prstGeom>
          <a:solidFill>
            <a:srgbClr val="7A1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實心 Filled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2000" y="1440000"/>
            <a:ext cx="2520000" cy="50399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1F2B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7A1F2B"/>
                </a:solidFill>
                <a:latin typeface="Arial"/>
              </a:rPr>
              <a:t>外框 Outline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000" y="2088000"/>
            <a:ext cx="2520000" cy="503999"/>
          </a:xfrm>
          <a:prstGeom prst="roundRect">
            <a:avLst/>
          </a:prstGeom>
          <a:solidFill>
            <a:srgbClr val="ECE0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5E1620"/>
                </a:solidFill>
                <a:latin typeface="Arial"/>
              </a:rPr>
              <a:t>柔色 Soft tint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2000" y="2088000"/>
            <a:ext cx="2520000" cy="503999"/>
          </a:xfrm>
          <a:prstGeom prst="round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深色膠囊 Capsule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2736000"/>
            <a:ext cx="2520000" cy="503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3A3A3A"/>
                </a:solidFill>
                <a:latin typeface="Arial"/>
              </a:rPr>
              <a:t>灰底卡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2000" y="2736000"/>
            <a:ext cx="2520000" cy="503999"/>
          </a:xfrm>
          <a:prstGeom prst="roundRect">
            <a:avLst/>
          </a:prstGeom>
          <a:solidFill>
            <a:srgbClr val="F1EAE1"/>
          </a:solidFill>
          <a:ln w="9525">
            <a:solidFill>
              <a:srgbClr val="B08D57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846A41"/>
                </a:solidFill>
                <a:latin typeface="Arial"/>
              </a:rPr>
              <a:t>強調色 Accent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708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7A1F2B"/>
                </a:solidFill>
                <a:latin typeface="Arial"/>
              </a:rPr>
              <a:t>③ 強調記號 Emphasis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4031999"/>
            <a:ext cx="72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Capacity: </a:t>
            </a:r>
            <a:r>
              <a:rPr sz="1400" b="0" strike="sngStrike">
                <a:solidFill>
                  <a:srgbClr val="8C8C8C"/>
                </a:solidFill>
                <a:latin typeface="Arial"/>
              </a:rPr>
              <a:t>120K</a:t>
            </a:r>
            <a:r>
              <a:rPr sz="1400" b="1">
                <a:solidFill>
                  <a:srgbClr val="7A1F2B"/>
                </a:solidFill>
                <a:latin typeface="Arial"/>
              </a:rPr>
              <a:t> → </a:t>
            </a:r>
            <a:r>
              <a:rPr sz="1400" b="1">
                <a:solidFill>
                  <a:srgbClr val="7A1F2B"/>
                </a:solidFill>
                <a:latin typeface="Arial"/>
              </a:rPr>
              <a:t>150K</a:t>
            </a:r>
            <a:r>
              <a:rPr sz="1400" b="0">
                <a:solidFill>
                  <a:srgbClr val="3A3A3A"/>
                </a:solidFill>
                <a:latin typeface="Arial"/>
              </a:rPr>
              <a:t> wpm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Lead time </a:t>
            </a:r>
            <a:r>
              <a:rPr sz="1400" b="1" u="sng">
                <a:solidFill>
                  <a:srgbClr val="3A3A3A"/>
                </a:solidFill>
                <a:latin typeface="Arial"/>
              </a:rPr>
              <a:t>shortened by 2 weeks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Cost </a:t>
            </a:r>
            <a:r>
              <a:rPr sz="3200" b="1">
                <a:solidFill>
                  <a:srgbClr val="7A1F2B"/>
                </a:solidFill>
                <a:latin typeface="Arial"/>
              </a:rPr>
              <a:t>-18</a:t>
            </a:r>
            <a:r>
              <a:rPr sz="1600" b="1">
                <a:solidFill>
                  <a:srgbClr val="7A1F2B"/>
                </a:solidFill>
                <a:latin typeface="Arial"/>
              </a:rPr>
              <a:t>%</a:t>
            </a:r>
            <a:r>
              <a:rPr sz="1200" b="0">
                <a:solidFill>
                  <a:srgbClr val="8C8C8C"/>
                </a:solidFill>
                <a:latin typeface="Arial"/>
              </a:rPr>
              <a:t>  vs. 2025</a:t>
            </a:r>
          </a:p>
          <a:p>
            <a:r>
              <a:rPr sz="1400" b="0">
                <a:solidFill>
                  <a:srgbClr val="3A3A3A"/>
                </a:solidFill>
                <a:latin typeface="Arial"/>
              </a:rPr>
              <a:t>Defect density reduced</a:t>
            </a:r>
            <a:r>
              <a:rPr sz="1400" b="0" baseline="30000">
                <a:solidFill>
                  <a:srgbClr val="3A3A3A"/>
                </a:solidFill>
                <a:latin typeface="Arial"/>
              </a:rPr>
              <a:t>1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8280000" y="4104000"/>
            <a:ext cx="864000" cy="827999"/>
          </a:xfrm>
          <a:prstGeom prst="star5">
            <a:avLst/>
          </a:prstGeom>
          <a:solidFill>
            <a:srgbClr val="7A1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60000" y="4140000"/>
            <a:ext cx="792000" cy="792000"/>
          </a:xfrm>
          <a:prstGeom prst="ellipse">
            <a:avLst/>
          </a:prstGeom>
          <a:solidFill>
            <a:srgbClr val="7A1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96000" y="4284000"/>
            <a:ext cx="1296000" cy="43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1F2B"/>
            </a:solidFill>
          </a:ln>
          <a:effectLst/>
        </p:spPr>
        <p:txBody>
          <a:bodyPr rtlCol="0" anchor="ctr"/>
          <a:lstStyle/>
          <a:p>
            <a:pPr algn="ctr"/>
            <a:r>
              <a:rPr sz="1300" b="1">
                <a:solidFill>
                  <a:srgbClr val="7A1F2B"/>
                </a:solidFill>
                <a:latin typeface="Arial"/>
              </a:rP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5004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A1F2B"/>
                </a:solidFill>
                <a:latin typeface="Arial"/>
              </a:rPr>
              <a:t>④ 半高螢光條 / 粗色底線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8000" y="5508000"/>
            <a:ext cx="1044000" cy="151200"/>
          </a:xfrm>
          <a:prstGeom prst="roundRect">
            <a:avLst/>
          </a:prstGeom>
          <a:solidFill>
            <a:srgbClr val="FFD966">
              <a:alpha val="6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000" y="5346000"/>
            <a:ext cx="288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E1620"/>
                </a:solidFill>
                <a:latin typeface="Arial"/>
              </a:rPr>
              <a:t>▶ </a:t>
            </a:r>
            <a:r>
              <a:rPr sz="1800" b="1">
                <a:solidFill>
                  <a:srgbClr val="5E1620"/>
                </a:solidFill>
                <a:latin typeface="Arial"/>
              </a:rPr>
              <a:t>雙管齊下 Dual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2000" y="5382000"/>
            <a:ext cx="2736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A3A3A"/>
                </a:solidFill>
                <a:latin typeface="Arial"/>
              </a:rPr>
              <a:t>Cycle time </a:t>
            </a:r>
            <a:r>
              <a:rPr sz="1600" b="1" u="heavy">
                <a:solidFill>
                  <a:srgbClr val="3A3A3A"/>
                </a:solidFill>
                <a:uFill>
                  <a:solidFill>
                    <a:srgbClr val="7A1F2B"/>
                  </a:solidFill>
                </a:uFill>
                <a:latin typeface="Arial"/>
              </a:rPr>
              <a:t>−12%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00" y="6263999"/>
            <a:ext cx="11304000" cy="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2000" y="6300000"/>
            <a:ext cx="111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baseline="30000">
                <a:solidFill>
                  <a:srgbClr val="8C8C8C"/>
                </a:solidFill>
                <a:latin typeface="Arial"/>
              </a:rPr>
              <a:t>1</a:t>
            </a:r>
            <a:r>
              <a:rPr sz="900" b="0">
                <a:solidFill>
                  <a:srgbClr val="8C8C8C"/>
                </a:solidFill>
                <a:latin typeface="Arial"/>
              </a:rPr>
              <a:t> Source: internal report; data as of 2026/09.   Note: </a:t>
            </a:r>
            <a:r>
              <a:rPr sz="900" b="0" baseline="30000">
                <a:solidFill>
                  <a:srgbClr val="8C8C8C"/>
                </a:solidFill>
                <a:latin typeface="Arial"/>
              </a:rPr>
              <a:t>*</a:t>
            </a:r>
            <a:r>
              <a:rPr sz="900" b="0">
                <a:solidFill>
                  <a:srgbClr val="8C8C8C"/>
                </a:solidFill>
                <a:latin typeface="Arial"/>
              </a:rPr>
              <a:t> preliminary.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11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7A1F2B"/>
                </a:solidFill>
                <a:latin typeface="Arial"/>
              </a:rPr>
              <a:t>PPT Template Style Kit — 酒紅精品 Burgundy Atelier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32000" y="792000"/>
            <a:ext cx="11304000" cy="0"/>
          </a:xfrm>
          <a:prstGeom prst="line">
            <a:avLst/>
          </a:prstGeom>
          <a:ln w="19050">
            <a:solidFill>
              <a:srgbClr val="7A1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32000" y="81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8C8C"/>
                </a:solidFill>
                <a:latin typeface="Arial"/>
              </a:rPr>
              <a:t>快速樣式 (常用 &gt; 繪圖 &gt; 快速樣式) 預覽：套用此色彩集後 7 欄 × 6 列的近似效果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Text1  #000000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Accent1  #7A1F2B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6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Accent2  #B08D57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2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Accent3  #595959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8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Accent4  #AF7980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4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Accent5  #5E1620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0000" y="1026000"/>
            <a:ext cx="133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8C8C8C"/>
                </a:solidFill>
                <a:latin typeface="Arial"/>
              </a:rPr>
              <a:t>Accent6  #CCB592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475999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外框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0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1F2B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7A1F2B"/>
                </a:solidFill>
                <a:latin typeface="Arial"/>
              </a:rPr>
              <a:t>Abc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6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08D57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B08D57"/>
                </a:solidFill>
                <a:latin typeface="Arial"/>
              </a:rPr>
              <a:t>Abc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2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95959"/>
                </a:solidFill>
                <a:latin typeface="Arial"/>
              </a:rPr>
              <a:t>Abc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8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F798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AF7980"/>
                </a:solidFill>
                <a:latin typeface="Arial"/>
              </a:rPr>
              <a:t>Abc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4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5E162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E1620"/>
                </a:solidFill>
                <a:latin typeface="Arial"/>
              </a:rPr>
              <a:t>Abc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60000" y="1296000"/>
            <a:ext cx="1332000" cy="684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B592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CCB592"/>
                </a:solidFill>
                <a:latin typeface="Arial"/>
              </a:rPr>
              <a:t>Abc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28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實心+深框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04000" y="2106000"/>
            <a:ext cx="1332000" cy="684000"/>
          </a:xfrm>
          <a:prstGeom prst="roundRect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000" y="2106000"/>
            <a:ext cx="1332000" cy="684000"/>
          </a:xfrm>
          <a:prstGeom prst="roundRect">
            <a:avLst/>
          </a:prstGeom>
          <a:solidFill>
            <a:srgbClr val="7A1F2B"/>
          </a:solidFill>
          <a:ln w="15875">
            <a:solidFill>
              <a:srgbClr val="3D1016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6000" y="2106000"/>
            <a:ext cx="1332000" cy="684000"/>
          </a:xfrm>
          <a:prstGeom prst="roundRect">
            <a:avLst/>
          </a:prstGeom>
          <a:solidFill>
            <a:srgbClr val="B08D57"/>
          </a:solidFill>
          <a:ln w="15875">
            <a:solidFill>
              <a:srgbClr val="58462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2000" y="2106000"/>
            <a:ext cx="1332000" cy="684000"/>
          </a:xfrm>
          <a:prstGeom prst="roundRect">
            <a:avLst/>
          </a:prstGeom>
          <a:solidFill>
            <a:srgbClr val="595959"/>
          </a:solidFill>
          <a:ln w="15875">
            <a:solidFill>
              <a:srgbClr val="2C2C2C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8000" y="2106000"/>
            <a:ext cx="1332000" cy="684000"/>
          </a:xfrm>
          <a:prstGeom prst="roundRect">
            <a:avLst/>
          </a:prstGeom>
          <a:solidFill>
            <a:srgbClr val="AF7980"/>
          </a:solidFill>
          <a:ln w="15875">
            <a:solidFill>
              <a:srgbClr val="583C4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84000" y="2106000"/>
            <a:ext cx="1332000" cy="684000"/>
          </a:xfrm>
          <a:prstGeom prst="roundRect">
            <a:avLst/>
          </a:prstGeom>
          <a:solidFill>
            <a:srgbClr val="5E1620"/>
          </a:solidFill>
          <a:ln w="15875">
            <a:solidFill>
              <a:srgbClr val="2F0B10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60000" y="2106000"/>
            <a:ext cx="1332000" cy="684000"/>
          </a:xfrm>
          <a:prstGeom prst="roundRect">
            <a:avLst/>
          </a:prstGeom>
          <a:solidFill>
            <a:srgbClr val="CCB592"/>
          </a:solidFill>
          <a:ln w="15875">
            <a:solidFill>
              <a:srgbClr val="665A49"/>
            </a:solidFill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309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實心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04000" y="291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000" y="2916000"/>
            <a:ext cx="1332000" cy="684000"/>
          </a:xfrm>
          <a:prstGeom prst="roundRect">
            <a:avLst/>
          </a:prstGeom>
          <a:solidFill>
            <a:srgbClr val="7A1F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6000" y="2916000"/>
            <a:ext cx="1332000" cy="684000"/>
          </a:xfrm>
          <a:prstGeom prst="roundRect">
            <a:avLst/>
          </a:prstGeom>
          <a:solidFill>
            <a:srgbClr val="B08D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32000" y="291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08000" y="2916000"/>
            <a:ext cx="1332000" cy="684000"/>
          </a:xfrm>
          <a:prstGeom prst="roundRect">
            <a:avLst/>
          </a:prstGeom>
          <a:solidFill>
            <a:srgbClr val="AF79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84000" y="2916000"/>
            <a:ext cx="1332000" cy="684000"/>
          </a:xfrm>
          <a:prstGeom prst="roundRect">
            <a:avLst/>
          </a:prstGeom>
          <a:solidFill>
            <a:srgbClr val="5E16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60000" y="2916000"/>
            <a:ext cx="1332000" cy="684000"/>
          </a:xfrm>
          <a:prstGeom prst="roundRect">
            <a:avLst/>
          </a:prstGeom>
          <a:solidFill>
            <a:srgbClr val="CCB59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000" y="390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淺色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04000" y="3726000"/>
            <a:ext cx="1332000" cy="684000"/>
          </a:xfrm>
          <a:prstGeom prst="round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Abc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000" y="3726000"/>
            <a:ext cx="1332000" cy="684000"/>
          </a:xfrm>
          <a:prstGeom prst="roundRect">
            <a:avLst/>
          </a:prstGeom>
          <a:solidFill>
            <a:srgbClr val="E4D2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3D1016"/>
                </a:solidFill>
                <a:latin typeface="Arial"/>
              </a:rPr>
              <a:t>Abc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6000" y="3726000"/>
            <a:ext cx="1332000" cy="684000"/>
          </a:xfrm>
          <a:prstGeom prst="roundRect">
            <a:avLst/>
          </a:prstGeom>
          <a:solidFill>
            <a:srgbClr val="EFE8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8462C"/>
                </a:solidFill>
                <a:latin typeface="Arial"/>
              </a:rPr>
              <a:t>Abc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32000" y="3726000"/>
            <a:ext cx="1332000" cy="684000"/>
          </a:xfrm>
          <a:prstGeom prst="roundRect">
            <a:avLst/>
          </a:prstGeom>
          <a:solidFill>
            <a:srgbClr val="DEDE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C2C2C"/>
                </a:solidFill>
                <a:latin typeface="Arial"/>
              </a:rPr>
              <a:t>Abc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8000" y="3726000"/>
            <a:ext cx="1332000" cy="684000"/>
          </a:xfrm>
          <a:prstGeom prst="roundRect">
            <a:avLst/>
          </a:prstGeom>
          <a:solidFill>
            <a:srgbClr val="EF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583C40"/>
                </a:solidFill>
                <a:latin typeface="Arial"/>
              </a:rPr>
              <a:t>Abc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84000" y="3726000"/>
            <a:ext cx="1332000" cy="684000"/>
          </a:xfrm>
          <a:prstGeom prst="roundRect">
            <a:avLst/>
          </a:prstGeom>
          <a:solidFill>
            <a:srgbClr val="DFD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2F0B10"/>
                </a:solidFill>
                <a:latin typeface="Arial"/>
              </a:rPr>
              <a:t>Abc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60000" y="3726000"/>
            <a:ext cx="1332000" cy="684000"/>
          </a:xfrm>
          <a:prstGeom prst="roundRect">
            <a:avLst/>
          </a:prstGeom>
          <a:solidFill>
            <a:srgbClr val="F5F0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665A49"/>
                </a:solidFill>
                <a:latin typeface="Arial"/>
              </a:rPr>
              <a:t>Abc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000" y="471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漸層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0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666666"/>
              </a:gs>
              <a:gs pos="100000">
                <a:srgbClr val="00000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88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AF7980"/>
              </a:gs>
              <a:gs pos="100000">
                <a:srgbClr val="7A1F2B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6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D0BB9A"/>
              </a:gs>
              <a:gs pos="100000">
                <a:srgbClr val="B08D57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32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B9B9B"/>
              </a:gs>
              <a:gs pos="100000">
                <a:srgbClr val="59595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08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CFAFB3"/>
              </a:gs>
              <a:gs pos="100000">
                <a:srgbClr val="AF798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84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9E7379"/>
              </a:gs>
              <a:gs pos="100000">
                <a:srgbClr val="5E162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60000" y="4536000"/>
            <a:ext cx="1332000" cy="684000"/>
          </a:xfrm>
          <a:prstGeom prst="roundRect">
            <a:avLst/>
          </a:prstGeom>
          <a:gradFill rotWithShape="1">
            <a:gsLst>
              <a:gs pos="0">
                <a:srgbClr val="E0D3BE"/>
              </a:gs>
              <a:gs pos="100000">
                <a:srgbClr val="CCB592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0000" y="552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95959"/>
                </a:solidFill>
                <a:latin typeface="Arial"/>
              </a:rPr>
              <a:t>陰影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04000" y="5346000"/>
            <a:ext cx="1332000" cy="6840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80000" y="5346000"/>
            <a:ext cx="1332000" cy="684000"/>
          </a:xfrm>
          <a:prstGeom prst="roundRect">
            <a:avLst/>
          </a:prstGeom>
          <a:solidFill>
            <a:srgbClr val="7A1F2B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56000" y="5346000"/>
            <a:ext cx="1332000" cy="684000"/>
          </a:xfrm>
          <a:prstGeom prst="roundRect">
            <a:avLst/>
          </a:prstGeom>
          <a:solidFill>
            <a:srgbClr val="B08D57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32000" y="5346000"/>
            <a:ext cx="1332000" cy="684000"/>
          </a:xfrm>
          <a:prstGeom prst="roundRect">
            <a:avLst/>
          </a:prstGeom>
          <a:solidFill>
            <a:srgbClr val="595959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08000" y="5346000"/>
            <a:ext cx="1332000" cy="684000"/>
          </a:xfrm>
          <a:prstGeom prst="roundRect">
            <a:avLst/>
          </a:prstGeom>
          <a:solidFill>
            <a:srgbClr val="AF798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84000" y="5346000"/>
            <a:ext cx="1332000" cy="684000"/>
          </a:xfrm>
          <a:prstGeom prst="roundRect">
            <a:avLst/>
          </a:prstGeom>
          <a:solidFill>
            <a:srgbClr val="5E1620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60000" y="5346000"/>
            <a:ext cx="1332000" cy="684000"/>
          </a:xfrm>
          <a:prstGeom prst="roundRect">
            <a:avLst/>
          </a:prstGeom>
          <a:solidFill>
            <a:srgbClr val="CCB592"/>
          </a:solidFill>
          <a:ln>
            <a:noFill/>
          </a:ln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Abc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40000" y="6336000"/>
            <a:ext cx="10440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595959"/>
                </a:solidFill>
                <a:latin typeface="Arial"/>
              </a:rPr>
              <a:t>螢光筆 </a:t>
            </a:r>
            <a:r>
              <a:rPr sz="1000" b="0">
                <a:solidFill>
                  <a:srgbClr val="3A3A3A"/>
                </a:solidFill>
                <a:highlight>
                  <a:srgbClr val="ECE0E1"/>
                </a:highlight>
                <a:latin typeface="Arial"/>
              </a:rPr>
              <a:t> H1 #ECE0E1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6EFF0"/>
                </a:highlight>
                <a:latin typeface="Arial"/>
              </a:rPr>
              <a:t> H2 #F6EFF0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1EAE1"/>
                </a:highlight>
                <a:latin typeface="Arial"/>
              </a:rPr>
              <a:t> H3 #F1EAE1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F7F4EE"/>
                </a:highlight>
                <a:latin typeface="Arial"/>
              </a:rPr>
              <a:t> H4 #F7F4EE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CE3E4"/>
                </a:highlight>
                <a:latin typeface="Arial"/>
              </a:rPr>
              <a:t> H5 #ECE3E4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  <a:r>
              <a:rPr sz="1000" b="0">
                <a:solidFill>
                  <a:srgbClr val="3A3A3A"/>
                </a:solidFill>
                <a:highlight>
                  <a:srgbClr val="EDEDED"/>
                </a:highlight>
                <a:latin typeface="Arial"/>
              </a:rPr>
              <a:t> H6 #EDEDED </a:t>
            </a:r>
            <a:r>
              <a:rPr sz="1000" b="0">
                <a:solidFill>
                  <a:srgbClr val="3A3A3A"/>
                </a:solidFill>
                <a:latin typeface="Arial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酒紅精品">
  <a:themeElements>
    <a:clrScheme name="PPT Template Style Kit - 酒紅精品">
      <a:dk1>
        <a:srgbClr val="000000"/>
      </a:dk1>
      <a:lt1>
        <a:srgbClr val="FFFFFF"/>
      </a:lt1>
      <a:dk2>
        <a:srgbClr val="5E1620"/>
      </a:dk2>
      <a:lt2>
        <a:srgbClr val="F2F2F2"/>
      </a:lt2>
      <a:accent1>
        <a:srgbClr val="7A1F2B"/>
      </a:accent1>
      <a:accent2>
        <a:srgbClr val="B08D57"/>
      </a:accent2>
      <a:accent3>
        <a:srgbClr val="595959"/>
      </a:accent3>
      <a:accent4>
        <a:srgbClr val="AF7980"/>
      </a:accent4>
      <a:accent5>
        <a:srgbClr val="5E1620"/>
      </a:accent5>
      <a:accent6>
        <a:srgbClr val="CCB592"/>
      </a:accent6>
      <a:hlink>
        <a:srgbClr val="B08D57"/>
      </a:hlink>
      <a:folHlink>
        <a:srgbClr val="8C8C8C"/>
      </a:folHlink>
    </a:clrScheme>
    <a:fontScheme name="PPT Template Style Kit - 酒紅精品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