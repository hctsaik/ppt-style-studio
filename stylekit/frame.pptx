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框架鑑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Framework Atlas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F4B6E"/>
                </a:solidFill>
                <a:latin typeface="Arial"/>
              </a:rPr>
              <a:t>PPT Template Style Kit — 框架鑑 Framework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2F4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① 柔和螢光筆 ② 形狀樣式 ③ 強調記號 ④ 頁尾來源 — 用格式刷／複製取用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F4B6E"/>
                </a:solidFill>
                <a:latin typeface="Arial"/>
              </a:rPr>
              <a:t>① 柔和螢光筆 Soft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404000"/>
            <a:ext cx="54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H1  </a:t>
            </a:r>
            <a:r>
              <a:rPr sz="1400" b="1">
                <a:solidFill>
                  <a:srgbClr val="3A3A3A"/>
                </a:solidFill>
                <a:highlight>
                  <a:srgbClr val="E2E6EB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#E2E6EB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H2  </a:t>
            </a:r>
            <a:r>
              <a:rPr sz="1400" b="1">
                <a:solidFill>
                  <a:srgbClr val="3A3A3A"/>
                </a:solidFill>
                <a:highlight>
                  <a:srgbClr val="F0F2F5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#F0F2F5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H3  </a:t>
            </a:r>
            <a:r>
              <a:rPr sz="1400" b="1">
                <a:solidFill>
                  <a:srgbClr val="3A3A3A"/>
                </a:solidFill>
                <a:highlight>
                  <a:srgbClr val="E4EAF2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#E4EAF2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H4  </a:t>
            </a:r>
            <a:r>
              <a:rPr sz="1400" b="1">
                <a:solidFill>
                  <a:srgbClr val="3A3A3A"/>
                </a:solidFill>
                <a:highlight>
                  <a:srgbClr val="F0F4F8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#F0F4F8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H5  </a:t>
            </a:r>
            <a:r>
              <a:rPr sz="1400" b="1">
                <a:solidFill>
                  <a:srgbClr val="3A3A3A"/>
                </a:solidFill>
                <a:highlight>
                  <a:srgbClr val="E5E7EB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#E5E7EB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H6  </a:t>
            </a:r>
            <a:r>
              <a:rPr sz="1400" b="1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#EDEDED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F4B6E"/>
                </a:solidFill>
                <a:latin typeface="Arial"/>
              </a:rPr>
              <a:t>② 形狀樣式 Shape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000" y="1440000"/>
            <a:ext cx="2520000" cy="503999"/>
          </a:xfrm>
          <a:prstGeom prst="roundRect">
            <a:avLst/>
          </a:prstGeom>
          <a:solidFill>
            <a:srgbClr val="2F4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實心 Filled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2000" y="1440000"/>
            <a:ext cx="2520000" cy="50399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4B6E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2F4B6E"/>
                </a:solidFill>
                <a:latin typeface="Arial"/>
              </a:rPr>
              <a:t>外框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088000"/>
            <a:ext cx="2520000" cy="503999"/>
          </a:xfrm>
          <a:prstGeom prst="roundRect">
            <a:avLst/>
          </a:prstGeom>
          <a:solidFill>
            <a:srgbClr val="E2E6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243A56"/>
                </a:solidFill>
                <a:latin typeface="Arial"/>
              </a:rPr>
              <a:t>柔色 Soft tint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2000" y="2088000"/>
            <a:ext cx="2520000" cy="50399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深色膠囊 Capsule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2736000"/>
            <a:ext cx="2520000" cy="503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灰底卡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2000" y="2736000"/>
            <a:ext cx="2520000" cy="503999"/>
          </a:xfrm>
          <a:prstGeom prst="roundRect">
            <a:avLst/>
          </a:prstGeom>
          <a:solidFill>
            <a:srgbClr val="E4EAF2"/>
          </a:solidFill>
          <a:ln w="9525">
            <a:solidFill>
              <a:srgbClr val="6B8CB5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506988"/>
                </a:solidFill>
                <a:latin typeface="Arial"/>
              </a:rPr>
              <a:t>強調色 Accent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70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F4B6E"/>
                </a:solidFill>
                <a:latin typeface="Arial"/>
              </a:rPr>
              <a:t>③ 強調記號 Emphasis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031999"/>
            <a:ext cx="72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Capacity: </a:t>
            </a:r>
            <a:r>
              <a:rPr sz="1400" b="0" strike="sngStrike">
                <a:solidFill>
                  <a:srgbClr val="8C8C8C"/>
                </a:solidFill>
                <a:latin typeface="Arial"/>
              </a:rPr>
              <a:t>120K</a:t>
            </a:r>
            <a:r>
              <a:rPr sz="1400" b="1">
                <a:solidFill>
                  <a:srgbClr val="2F4B6E"/>
                </a:solidFill>
                <a:latin typeface="Arial"/>
              </a:rPr>
              <a:t> → </a:t>
            </a:r>
            <a:r>
              <a:rPr sz="1400" b="1">
                <a:solidFill>
                  <a:srgbClr val="2F4B6E"/>
                </a:solidFill>
                <a:latin typeface="Arial"/>
              </a:rPr>
              <a:t>150K</a:t>
            </a:r>
            <a:r>
              <a:rPr sz="1400" b="0">
                <a:solidFill>
                  <a:srgbClr val="3A3A3A"/>
                </a:solidFill>
                <a:latin typeface="Arial"/>
              </a:rPr>
              <a:t> wpm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Lead time </a:t>
            </a:r>
            <a:r>
              <a:rPr sz="1400" b="1" u="sng">
                <a:solidFill>
                  <a:srgbClr val="3A3A3A"/>
                </a:solidFill>
                <a:latin typeface="Arial"/>
              </a:rPr>
              <a:t>shortened by 2 weeks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Cost </a:t>
            </a:r>
            <a:r>
              <a:rPr sz="3200" b="1">
                <a:solidFill>
                  <a:srgbClr val="2F4B6E"/>
                </a:solidFill>
                <a:latin typeface="Arial"/>
              </a:rPr>
              <a:t>-18</a:t>
            </a:r>
            <a:r>
              <a:rPr sz="1600" b="1">
                <a:solidFill>
                  <a:srgbClr val="2F4B6E"/>
                </a:solidFill>
                <a:latin typeface="Arial"/>
              </a:rPr>
              <a:t>%</a:t>
            </a:r>
            <a:r>
              <a:rPr sz="1200" b="0">
                <a:solidFill>
                  <a:srgbClr val="8C8C8C"/>
                </a:solidFill>
                <a:latin typeface="Arial"/>
              </a:rPr>
              <a:t>  vs. 2025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Defect density reduced</a:t>
            </a:r>
            <a:r>
              <a:rPr sz="1400" b="0" baseline="30000">
                <a:solidFill>
                  <a:srgbClr val="3A3A3A"/>
                </a:solidFill>
                <a:latin typeface="Arial"/>
              </a:rPr>
              <a:t>1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8280000" y="4104000"/>
            <a:ext cx="864000" cy="827999"/>
          </a:xfrm>
          <a:prstGeom prst="star5">
            <a:avLst/>
          </a:prstGeom>
          <a:solidFill>
            <a:srgbClr val="2F4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60000" y="4140000"/>
            <a:ext cx="792000" cy="792000"/>
          </a:xfrm>
          <a:prstGeom prst="ellipse">
            <a:avLst/>
          </a:prstGeom>
          <a:solidFill>
            <a:srgbClr val="2F4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96000" y="4284000"/>
            <a:ext cx="1296000" cy="4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4B6E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2F4B6E"/>
                </a:solidFill>
                <a:latin typeface="Arial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00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4B6E"/>
                </a:solidFill>
                <a:latin typeface="Arial"/>
              </a:rPr>
              <a:t>④ 半高螢光條 / 粗色底線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8000" y="5508000"/>
            <a:ext cx="1044000" cy="151200"/>
          </a:xfrm>
          <a:prstGeom prst="roundRect">
            <a:avLst/>
          </a:prstGeom>
          <a:solidFill>
            <a:srgbClr val="FFD966">
              <a:alpha val="6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0" y="5346000"/>
            <a:ext cx="288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43A56"/>
                </a:solidFill>
                <a:latin typeface="Arial"/>
              </a:rPr>
              <a:t>▶ </a:t>
            </a:r>
            <a:r>
              <a:rPr sz="1800" b="1">
                <a:solidFill>
                  <a:srgbClr val="243A56"/>
                </a:solidFill>
                <a:latin typeface="Arial"/>
              </a:rPr>
              <a:t>雙管齊下 Dual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5382000"/>
            <a:ext cx="2736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Cycle time </a:t>
            </a:r>
            <a:r>
              <a:rPr sz="1600" b="1" u="heavy">
                <a:solidFill>
                  <a:srgbClr val="3A3A3A"/>
                </a:solidFill>
                <a:uFill>
                  <a:solidFill>
                    <a:srgbClr val="2F4B6E"/>
                  </a:solidFill>
                </a:uFill>
                <a:latin typeface="Arial"/>
              </a:rPr>
              <a:t>−12%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263999"/>
            <a:ext cx="1130400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6300000"/>
            <a:ext cx="111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baseline="30000">
                <a:solidFill>
                  <a:srgbClr val="8C8C8C"/>
                </a:solidFill>
                <a:latin typeface="Arial"/>
              </a:rPr>
              <a:t>1</a:t>
            </a:r>
            <a:r>
              <a:rPr sz="900" b="0">
                <a:solidFill>
                  <a:srgbClr val="8C8C8C"/>
                </a:solidFill>
                <a:latin typeface="Arial"/>
              </a:rPr>
              <a:t> Source: internal report; data as of 2026/09.   Note: </a:t>
            </a:r>
            <a:r>
              <a:rPr sz="900" b="0" baseline="30000">
                <a:solidFill>
                  <a:srgbClr val="8C8C8C"/>
                </a:solidFill>
                <a:latin typeface="Arial"/>
              </a:rPr>
              <a:t>*</a:t>
            </a:r>
            <a:r>
              <a:rPr sz="900" b="0">
                <a:solidFill>
                  <a:srgbClr val="8C8C8C"/>
                </a:solidFill>
                <a:latin typeface="Arial"/>
              </a:rPr>
              <a:t> preliminary.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F4B6E"/>
                </a:solidFill>
                <a:latin typeface="Arial"/>
              </a:rPr>
              <a:t>PPT Template Style Kit — 框架鑑 Framework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2F4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快速樣式 (常用 &gt; 繪圖 &gt; 快速樣式) 預覽：套用此色彩集後 7 欄 × 6 列的近似效果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Text1  #000000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Accent1  #2F4B6E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Accent2  #6B8CB5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2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Accent3  #595959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Accent4  #8293A8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Accent5  #243A56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Accent6  #9FB4CF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475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外框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0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4B6E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F4B6E"/>
                </a:solidFill>
                <a:latin typeface="Arial"/>
              </a:rPr>
              <a:t>Abc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8CB5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6B8CB5"/>
                </a:solidFill>
                <a:latin typeface="Arial"/>
              </a:rPr>
              <a:t>Abc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2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Abc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8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293A8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8293A8"/>
                </a:solidFill>
                <a:latin typeface="Arial"/>
              </a:rPr>
              <a:t>Abc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43A56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43A56"/>
                </a:solidFill>
                <a:latin typeface="Arial"/>
              </a:rPr>
              <a:t>Abc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FB4CF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9FB4CF"/>
                </a:solidFill>
                <a:latin typeface="Arial"/>
              </a:rPr>
              <a:t>Abc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8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實心+深框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4000" y="2106000"/>
            <a:ext cx="1332000" cy="6840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0" y="2106000"/>
            <a:ext cx="1332000" cy="684000"/>
          </a:xfrm>
          <a:prstGeom prst="roundRect">
            <a:avLst/>
          </a:prstGeom>
          <a:solidFill>
            <a:srgbClr val="2F4B6E"/>
          </a:solidFill>
          <a:ln w="15875">
            <a:solidFill>
              <a:srgbClr val="182637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2106000"/>
            <a:ext cx="1332000" cy="684000"/>
          </a:xfrm>
          <a:prstGeom prst="roundRect">
            <a:avLst/>
          </a:prstGeom>
          <a:solidFill>
            <a:srgbClr val="6B8CB5"/>
          </a:solidFill>
          <a:ln w="15875">
            <a:solidFill>
              <a:srgbClr val="36465A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2000" y="2106000"/>
            <a:ext cx="1332000" cy="684000"/>
          </a:xfrm>
          <a:prstGeom prst="roundRect">
            <a:avLst/>
          </a:prstGeom>
          <a:solidFill>
            <a:srgbClr val="595959"/>
          </a:solidFill>
          <a:ln w="15875">
            <a:solidFill>
              <a:srgbClr val="2C2C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8000" y="2106000"/>
            <a:ext cx="1332000" cy="684000"/>
          </a:xfrm>
          <a:prstGeom prst="roundRect">
            <a:avLst/>
          </a:prstGeom>
          <a:solidFill>
            <a:srgbClr val="8293A8"/>
          </a:solidFill>
          <a:ln w="15875">
            <a:solidFill>
              <a:srgbClr val="414A54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4000" y="2106000"/>
            <a:ext cx="1332000" cy="684000"/>
          </a:xfrm>
          <a:prstGeom prst="roundRect">
            <a:avLst/>
          </a:prstGeom>
          <a:solidFill>
            <a:srgbClr val="243A56"/>
          </a:solidFill>
          <a:ln w="15875">
            <a:solidFill>
              <a:srgbClr val="121D2B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0000" y="2106000"/>
            <a:ext cx="1332000" cy="684000"/>
          </a:xfrm>
          <a:prstGeom prst="roundRect">
            <a:avLst/>
          </a:prstGeom>
          <a:solidFill>
            <a:srgbClr val="9FB4CF"/>
          </a:solidFill>
          <a:ln w="15875">
            <a:solidFill>
              <a:srgbClr val="505A68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4000" y="291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0" y="2916000"/>
            <a:ext cx="1332000" cy="684000"/>
          </a:xfrm>
          <a:prstGeom prst="roundRect">
            <a:avLst/>
          </a:prstGeom>
          <a:solidFill>
            <a:srgbClr val="2F4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6000" y="2916000"/>
            <a:ext cx="1332000" cy="684000"/>
          </a:xfrm>
          <a:prstGeom prst="roundRect">
            <a:avLst/>
          </a:prstGeom>
          <a:solidFill>
            <a:srgbClr val="6B8C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2000" y="291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8000" y="2916000"/>
            <a:ext cx="1332000" cy="684000"/>
          </a:xfrm>
          <a:prstGeom prst="roundRect">
            <a:avLst/>
          </a:prstGeom>
          <a:solidFill>
            <a:srgbClr val="829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4000" y="2916000"/>
            <a:ext cx="1332000" cy="684000"/>
          </a:xfrm>
          <a:prstGeom prst="roundRect">
            <a:avLst/>
          </a:prstGeom>
          <a:solidFill>
            <a:srgbClr val="243A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60000" y="2916000"/>
            <a:ext cx="1332000" cy="684000"/>
          </a:xfrm>
          <a:prstGeom prst="roundRect">
            <a:avLst/>
          </a:prstGeom>
          <a:solidFill>
            <a:srgbClr val="9FB4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390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淺色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04000" y="3726000"/>
            <a:ext cx="1332000" cy="684000"/>
          </a:xfrm>
          <a:prstGeom prst="round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0" y="3726000"/>
            <a:ext cx="1332000" cy="684000"/>
          </a:xfrm>
          <a:prstGeom prst="round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82637"/>
                </a:solidFill>
                <a:latin typeface="Arial"/>
              </a:rPr>
              <a:t>Abc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6000" y="3726000"/>
            <a:ext cx="1332000" cy="684000"/>
          </a:xfrm>
          <a:prstGeom prst="roundRect">
            <a:avLst/>
          </a:prstGeom>
          <a:solidFill>
            <a:srgbClr val="E1E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36465A"/>
                </a:solidFill>
                <a:latin typeface="Arial"/>
              </a:rPr>
              <a:t>Abc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2000" y="3726000"/>
            <a:ext cx="1332000" cy="684000"/>
          </a:xfrm>
          <a:prstGeom prst="roundRect">
            <a:avLst/>
          </a:prstGeom>
          <a:solidFill>
            <a:srgbClr val="DE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C2C2C"/>
                </a:solidFill>
                <a:latin typeface="Arial"/>
              </a:rPr>
              <a:t>Abc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8000" y="3726000"/>
            <a:ext cx="1332000" cy="684000"/>
          </a:xfrm>
          <a:prstGeom prst="round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414A54"/>
                </a:solidFill>
                <a:latin typeface="Arial"/>
              </a:rPr>
              <a:t>Abc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84000" y="3726000"/>
            <a:ext cx="1332000" cy="684000"/>
          </a:xfrm>
          <a:prstGeom prst="roundRect">
            <a:avLst/>
          </a:prstGeom>
          <a:solidFill>
            <a:srgbClr val="D3D8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21D2B"/>
                </a:solidFill>
                <a:latin typeface="Arial"/>
              </a:rPr>
              <a:t>Abc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60000" y="3726000"/>
            <a:ext cx="1332000" cy="684000"/>
          </a:xfrm>
          <a:prstGeom prst="roundRect">
            <a:avLst/>
          </a:prstGeom>
          <a:solidFill>
            <a:srgbClr val="ECF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05A68"/>
                </a:solidFill>
                <a:latin typeface="Arial"/>
              </a:rPr>
              <a:t>Abc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471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漸層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66666"/>
              </a:gs>
              <a:gs pos="100000">
                <a:srgbClr val="00000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8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8293A8"/>
              </a:gs>
              <a:gs pos="100000">
                <a:srgbClr val="2F4B6E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A6BAD3"/>
              </a:gs>
              <a:gs pos="100000">
                <a:srgbClr val="6B8CB5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2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B9B9B"/>
              </a:gs>
              <a:gs pos="100000">
                <a:srgbClr val="59595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08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B4BECB"/>
              </a:gs>
              <a:gs pos="100000">
                <a:srgbClr val="8293A8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7C899A"/>
              </a:gs>
              <a:gs pos="100000">
                <a:srgbClr val="243A56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6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C5D2E2"/>
              </a:gs>
              <a:gs pos="100000">
                <a:srgbClr val="9FB4C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552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陰影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04000" y="534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000" y="5346000"/>
            <a:ext cx="1332000" cy="684000"/>
          </a:xfrm>
          <a:prstGeom prst="roundRect">
            <a:avLst/>
          </a:prstGeom>
          <a:solidFill>
            <a:srgbClr val="2F4B6E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56000" y="5346000"/>
            <a:ext cx="1332000" cy="684000"/>
          </a:xfrm>
          <a:prstGeom prst="roundRect">
            <a:avLst/>
          </a:prstGeom>
          <a:solidFill>
            <a:srgbClr val="6B8CB5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32000" y="534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08000" y="5346000"/>
            <a:ext cx="1332000" cy="684000"/>
          </a:xfrm>
          <a:prstGeom prst="roundRect">
            <a:avLst/>
          </a:prstGeom>
          <a:solidFill>
            <a:srgbClr val="8293A8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84000" y="5346000"/>
            <a:ext cx="1332000" cy="684000"/>
          </a:xfrm>
          <a:prstGeom prst="roundRect">
            <a:avLst/>
          </a:prstGeom>
          <a:solidFill>
            <a:srgbClr val="243A56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60000" y="5346000"/>
            <a:ext cx="1332000" cy="684000"/>
          </a:xfrm>
          <a:prstGeom prst="roundRect">
            <a:avLst/>
          </a:prstGeom>
          <a:solidFill>
            <a:srgbClr val="9FB4CF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0000" y="6336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95959"/>
                </a:solidFill>
                <a:latin typeface="Arial"/>
              </a:rPr>
              <a:t>螢光筆 </a:t>
            </a:r>
            <a:r>
              <a:rPr sz="1000" b="0">
                <a:solidFill>
                  <a:srgbClr val="3A3A3A"/>
                </a:solidFill>
                <a:highlight>
                  <a:srgbClr val="E2E6EB"/>
                </a:highlight>
                <a:latin typeface="Arial"/>
              </a:rPr>
              <a:t> H1 #E2E6EB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0F2F5"/>
                </a:highlight>
                <a:latin typeface="Arial"/>
              </a:rPr>
              <a:t> H2 #F0F2F5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4EAF2"/>
                </a:highlight>
                <a:latin typeface="Arial"/>
              </a:rPr>
              <a:t> H3 #E4EAF2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0F4F8"/>
                </a:highlight>
                <a:latin typeface="Arial"/>
              </a:rPr>
              <a:t> H4 #F0F4F8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5E7EB"/>
                </a:highlight>
                <a:latin typeface="Arial"/>
              </a:rPr>
              <a:t> H5 #E5E7EB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 H6 #EDEDED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框架鑑">
  <a:themeElements>
    <a:clrScheme name="PPT Template Style Kit - 框架鑑">
      <a:dk1>
        <a:srgbClr val="000000"/>
      </a:dk1>
      <a:lt1>
        <a:srgbClr val="FFFFFF"/>
      </a:lt1>
      <a:dk2>
        <a:srgbClr val="243A56"/>
      </a:dk2>
      <a:lt2>
        <a:srgbClr val="F2F2F2"/>
      </a:lt2>
      <a:accent1>
        <a:srgbClr val="2F4B6E"/>
      </a:accent1>
      <a:accent2>
        <a:srgbClr val="6B8CB5"/>
      </a:accent2>
      <a:accent3>
        <a:srgbClr val="595959"/>
      </a:accent3>
      <a:accent4>
        <a:srgbClr val="8293A8"/>
      </a:accent4>
      <a:accent5>
        <a:srgbClr val="243A56"/>
      </a:accent5>
      <a:accent6>
        <a:srgbClr val="9FB4CF"/>
      </a:accent6>
      <a:hlink>
        <a:srgbClr val="6B8CB5"/>
      </a:hlink>
      <a:folHlink>
        <a:srgbClr val="8C8C8C"/>
      </a:folHlink>
    </a:clrScheme>
    <a:fontScheme name="PPT Template Style Kit - 框架鑑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