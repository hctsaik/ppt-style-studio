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753356" cy="5486400"/>
  <p:notesSz cx="5486400" cy="975335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元件總表 Element Catalog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38912" y="929030"/>
            <a:ext cx="329184" cy="73152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5878" y="826618"/>
            <a:ext cx="804672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一頁看完本風格的所有元件變化：挑好樣式，直接複製圖形使用</a:t>
            </a:r>
            <a:endParaRPr lang="en-US" sz="1300" dirty="0"/>
          </a:p>
        </p:txBody>
      </p:sp>
      <p:sp>
        <p:nvSpPr>
          <p:cNvPr id="5" name="類別"/>
          <p:cNvSpPr/>
          <p:nvPr/>
        </p:nvSpPr>
        <p:spPr>
          <a:xfrm>
            <a:off x="438912" y="1393546"/>
            <a:ext cx="96560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100" dirty="0"/>
          </a:p>
        </p:txBody>
      </p:sp>
      <p:sp>
        <p:nvSpPr>
          <p:cNvPr id="6" name="流程方塊"/>
          <p:cNvSpPr/>
          <p:nvPr/>
        </p:nvSpPr>
        <p:spPr>
          <a:xfrm>
            <a:off x="1598528" y="1338682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7" name="圖說"/>
          <p:cNvSpPr/>
          <p:nvPr/>
        </p:nvSpPr>
        <p:spPr>
          <a:xfrm>
            <a:off x="1499616" y="167152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700" dirty="0"/>
          </a:p>
        </p:txBody>
      </p:sp>
      <p:sp>
        <p:nvSpPr>
          <p:cNvPr id="8" name="流程方塊"/>
          <p:cNvSpPr/>
          <p:nvPr/>
        </p:nvSpPr>
        <p:spPr>
          <a:xfrm>
            <a:off x="2718067" y="1338682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  <a:effectLst>
            <a:outerShdw blurRad="97028" dist="29083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9" name="圖說"/>
          <p:cNvSpPr/>
          <p:nvPr/>
        </p:nvSpPr>
        <p:spPr>
          <a:xfrm>
            <a:off x="2619155" y="167152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10" name="流程方塊"/>
          <p:cNvSpPr/>
          <p:nvPr/>
        </p:nvSpPr>
        <p:spPr>
          <a:xfrm>
            <a:off x="3837606" y="1338682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E0F0F0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1" name="圖說"/>
          <p:cNvSpPr/>
          <p:nvPr/>
        </p:nvSpPr>
        <p:spPr>
          <a:xfrm>
            <a:off x="3738694" y="167152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12" name="流程方塊"/>
          <p:cNvSpPr/>
          <p:nvPr/>
        </p:nvSpPr>
        <p:spPr>
          <a:xfrm>
            <a:off x="4957145" y="1338682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3" name="圖說"/>
          <p:cNvSpPr/>
          <p:nvPr/>
        </p:nvSpPr>
        <p:spPr>
          <a:xfrm>
            <a:off x="4858233" y="167152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700" dirty="0"/>
          </a:p>
        </p:txBody>
      </p:sp>
      <p:sp>
        <p:nvSpPr>
          <p:cNvPr id="14" name="流程方塊"/>
          <p:cNvSpPr/>
          <p:nvPr/>
        </p:nvSpPr>
        <p:spPr>
          <a:xfrm>
            <a:off x="6076684" y="1338682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7780">
            <a:solidFill>
              <a:srgbClr val="0F7C80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5" name="圖說"/>
          <p:cNvSpPr/>
          <p:nvPr/>
        </p:nvSpPr>
        <p:spPr>
          <a:xfrm>
            <a:off x="5977772" y="167152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700" dirty="0"/>
          </a:p>
        </p:txBody>
      </p:sp>
      <p:sp>
        <p:nvSpPr>
          <p:cNvPr id="16" name="流程方塊"/>
          <p:cNvSpPr/>
          <p:nvPr/>
        </p:nvSpPr>
        <p:spPr>
          <a:xfrm>
            <a:off x="7196223" y="1338682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0F7C8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900" dirty="0"/>
          </a:p>
        </p:txBody>
      </p:sp>
      <p:sp>
        <p:nvSpPr>
          <p:cNvPr id="17" name="圖說"/>
          <p:cNvSpPr/>
          <p:nvPr/>
        </p:nvSpPr>
        <p:spPr>
          <a:xfrm>
            <a:off x="7097312" y="167152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18" name="流程方塊"/>
          <p:cNvSpPr/>
          <p:nvPr/>
        </p:nvSpPr>
        <p:spPr>
          <a:xfrm>
            <a:off x="8315763" y="1338682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0160">
            <a:solidFill>
              <a:srgbClr val="8C8C8C"/>
            </a:solidFill>
            <a:prstDash val="dash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900" dirty="0"/>
          </a:p>
        </p:txBody>
      </p:sp>
      <p:sp>
        <p:nvSpPr>
          <p:cNvPr id="19" name="圖說"/>
          <p:cNvSpPr/>
          <p:nvPr/>
        </p:nvSpPr>
        <p:spPr>
          <a:xfrm>
            <a:off x="8216851" y="167152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700" dirty="0"/>
          </a:p>
        </p:txBody>
      </p:sp>
      <p:sp>
        <p:nvSpPr>
          <p:cNvPr id="20" name="線條"/>
          <p:cNvSpPr/>
          <p:nvPr/>
        </p:nvSpPr>
        <p:spPr>
          <a:xfrm>
            <a:off x="438912" y="1810512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21" name="類別"/>
          <p:cNvSpPr/>
          <p:nvPr/>
        </p:nvSpPr>
        <p:spPr>
          <a:xfrm>
            <a:off x="438912" y="1942186"/>
            <a:ext cx="96560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2" name="判斷菱形"/>
          <p:cNvSpPr/>
          <p:nvPr/>
        </p:nvSpPr>
        <p:spPr>
          <a:xfrm>
            <a:off x="1653392" y="1850746"/>
            <a:ext cx="768096" cy="38039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3" name="圖說"/>
          <p:cNvSpPr/>
          <p:nvPr/>
        </p:nvSpPr>
        <p:spPr>
          <a:xfrm>
            <a:off x="1499616" y="2256739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700" dirty="0"/>
          </a:p>
        </p:txBody>
      </p:sp>
      <p:sp>
        <p:nvSpPr>
          <p:cNvPr id="24" name="判斷菱形"/>
          <p:cNvSpPr/>
          <p:nvPr/>
        </p:nvSpPr>
        <p:spPr>
          <a:xfrm>
            <a:off x="2772931" y="1850746"/>
            <a:ext cx="768096" cy="380390"/>
          </a:xfrm>
          <a:prstGeom prst="diamond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  <a:effectLst>
            <a:outerShdw blurRad="101600" dist="3048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5" name="圖說"/>
          <p:cNvSpPr/>
          <p:nvPr/>
        </p:nvSpPr>
        <p:spPr>
          <a:xfrm>
            <a:off x="2619155" y="2256739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26" name="判斷菱形"/>
          <p:cNvSpPr/>
          <p:nvPr/>
        </p:nvSpPr>
        <p:spPr>
          <a:xfrm>
            <a:off x="3892470" y="1850746"/>
            <a:ext cx="768096" cy="380390"/>
          </a:xfrm>
          <a:prstGeom prst="diamond">
            <a:avLst/>
          </a:prstGeom>
          <a:solidFill>
            <a:srgbClr val="E0F0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7" name="圖說"/>
          <p:cNvSpPr/>
          <p:nvPr/>
        </p:nvSpPr>
        <p:spPr>
          <a:xfrm>
            <a:off x="3738694" y="2256739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28" name="判斷菱形"/>
          <p:cNvSpPr/>
          <p:nvPr/>
        </p:nvSpPr>
        <p:spPr>
          <a:xfrm>
            <a:off x="5012009" y="1850746"/>
            <a:ext cx="768096" cy="38039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F7C8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9" name="圖說"/>
          <p:cNvSpPr/>
          <p:nvPr/>
        </p:nvSpPr>
        <p:spPr>
          <a:xfrm>
            <a:off x="4858233" y="2256739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700" dirty="0"/>
          </a:p>
        </p:txBody>
      </p:sp>
      <p:sp>
        <p:nvSpPr>
          <p:cNvPr id="30" name="判斷菱形"/>
          <p:cNvSpPr/>
          <p:nvPr/>
        </p:nvSpPr>
        <p:spPr>
          <a:xfrm>
            <a:off x="6131548" y="1850746"/>
            <a:ext cx="768096" cy="380390"/>
          </a:xfrm>
          <a:prstGeom prst="diamond">
            <a:avLst/>
          </a:prstGeom>
          <a:solidFill>
            <a:srgbClr val="0F7C8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31" name="圖說"/>
          <p:cNvSpPr/>
          <p:nvPr/>
        </p:nvSpPr>
        <p:spPr>
          <a:xfrm>
            <a:off x="5977772" y="2256739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32" name="判斷菱形"/>
          <p:cNvSpPr/>
          <p:nvPr/>
        </p:nvSpPr>
        <p:spPr>
          <a:xfrm>
            <a:off x="7251087" y="1850746"/>
            <a:ext cx="768096" cy="38039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33" name="圖說"/>
          <p:cNvSpPr/>
          <p:nvPr/>
        </p:nvSpPr>
        <p:spPr>
          <a:xfrm>
            <a:off x="7097312" y="2256739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70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8264556" y="1850746"/>
            <a:ext cx="892454" cy="380390"/>
            <a:chOff x="8264556" y="1850746"/>
            <a:chExt cx="892454" cy="380390"/>
          </a:xfrm>
        </p:grpSpPr>
        <p:sp>
          <p:nvSpPr>
            <p:cNvPr id="34" name="判斷菱形"/>
            <p:cNvSpPr/>
            <p:nvPr/>
          </p:nvSpPr>
          <p:spPr>
            <a:xfrm>
              <a:off x="8264556" y="1850746"/>
              <a:ext cx="453542" cy="380390"/>
            </a:xfrm>
            <a:prstGeom prst="diamond">
              <a:avLst/>
            </a:prstGeom>
            <a:solidFill>
              <a:srgbClr val="FFFFFF"/>
            </a:solidFill>
            <a:ln w="12700">
              <a:solidFill>
                <a:srgbClr val="0F7C80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5" name="線條"/>
            <p:cNvSpPr/>
            <p:nvPr/>
          </p:nvSpPr>
          <p:spPr>
            <a:xfrm>
              <a:off x="8718099" y="2040941"/>
              <a:ext cx="438912" cy="0"/>
            </a:xfrm>
            <a:prstGeom prst="line">
              <a:avLst/>
            </a:prstGeom>
            <a:noFill/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sp>
        <p:sp>
          <p:nvSpPr>
            <p:cNvPr id="36" name="標註"/>
            <p:cNvSpPr/>
            <p:nvPr/>
          </p:nvSpPr>
          <p:spPr>
            <a:xfrm>
              <a:off x="8732729" y="1894637"/>
              <a:ext cx="219456" cy="1316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650" dirty="0"/>
            </a:p>
          </p:txBody>
        </p:sp>
      </p:grpSp>
      <p:sp>
        <p:nvSpPr>
          <p:cNvPr id="37" name="圖說"/>
          <p:cNvSpPr/>
          <p:nvPr/>
        </p:nvSpPr>
        <p:spPr>
          <a:xfrm>
            <a:off x="8216851" y="2256739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700" dirty="0"/>
          </a:p>
        </p:txBody>
      </p:sp>
      <p:sp>
        <p:nvSpPr>
          <p:cNvPr id="38" name="線條"/>
          <p:cNvSpPr/>
          <p:nvPr/>
        </p:nvSpPr>
        <p:spPr>
          <a:xfrm>
            <a:off x="438912" y="2395728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39" name="類別"/>
          <p:cNvSpPr/>
          <p:nvPr/>
        </p:nvSpPr>
        <p:spPr>
          <a:xfrm>
            <a:off x="438912" y="2476195"/>
            <a:ext cx="96560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 / End</a:t>
            </a:r>
            <a:endParaRPr lang="en-US" sz="1100" dirty="0"/>
          </a:p>
        </p:txBody>
      </p:sp>
      <p:sp>
        <p:nvSpPr>
          <p:cNvPr id="40" name="開始／結束"/>
          <p:cNvSpPr/>
          <p:nvPr/>
        </p:nvSpPr>
        <p:spPr>
          <a:xfrm>
            <a:off x="1598528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7C80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1" name="圖說"/>
          <p:cNvSpPr/>
          <p:nvPr/>
        </p:nvSpPr>
        <p:spPr>
          <a:xfrm>
            <a:off x="1499616" y="2739542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700" dirty="0"/>
          </a:p>
        </p:txBody>
      </p:sp>
      <p:sp>
        <p:nvSpPr>
          <p:cNvPr id="42" name="開始／結束"/>
          <p:cNvSpPr/>
          <p:nvPr/>
        </p:nvSpPr>
        <p:spPr>
          <a:xfrm>
            <a:off x="2718067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3" name="圖說"/>
          <p:cNvSpPr/>
          <p:nvPr/>
        </p:nvSpPr>
        <p:spPr>
          <a:xfrm>
            <a:off x="2619155" y="2739542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44" name="開始／結束"/>
          <p:cNvSpPr/>
          <p:nvPr/>
        </p:nvSpPr>
        <p:spPr>
          <a:xfrm>
            <a:off x="3837606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5" name="圖說"/>
          <p:cNvSpPr/>
          <p:nvPr/>
        </p:nvSpPr>
        <p:spPr>
          <a:xfrm>
            <a:off x="3738694" y="2739542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700" dirty="0"/>
          </a:p>
        </p:txBody>
      </p:sp>
      <p:sp>
        <p:nvSpPr>
          <p:cNvPr id="46" name="開始／結束"/>
          <p:cNvSpPr/>
          <p:nvPr/>
        </p:nvSpPr>
        <p:spPr>
          <a:xfrm>
            <a:off x="4957145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  <a:effectLst>
            <a:outerShdw blurRad="87757" dist="26289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7" name="圖說"/>
          <p:cNvSpPr/>
          <p:nvPr/>
        </p:nvSpPr>
        <p:spPr>
          <a:xfrm>
            <a:off x="4858233" y="2739542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48" name="開始／結束"/>
          <p:cNvSpPr/>
          <p:nvPr/>
        </p:nvSpPr>
        <p:spPr>
          <a:xfrm>
            <a:off x="6076684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900" dirty="0"/>
          </a:p>
        </p:txBody>
      </p:sp>
      <p:sp>
        <p:nvSpPr>
          <p:cNvPr id="49" name="圖說"/>
          <p:cNvSpPr/>
          <p:nvPr/>
        </p:nvSpPr>
        <p:spPr>
          <a:xfrm>
            <a:off x="5977772" y="2739542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50" name="開始／結束"/>
          <p:cNvSpPr/>
          <p:nvPr/>
        </p:nvSpPr>
        <p:spPr>
          <a:xfrm>
            <a:off x="7196223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900" dirty="0"/>
          </a:p>
        </p:txBody>
      </p:sp>
      <p:sp>
        <p:nvSpPr>
          <p:cNvPr id="51" name="圖說"/>
          <p:cNvSpPr/>
          <p:nvPr/>
        </p:nvSpPr>
        <p:spPr>
          <a:xfrm>
            <a:off x="7097312" y="2739542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強調色</a:t>
            </a:r>
            <a:endParaRPr lang="en-US" sz="700" dirty="0"/>
          </a:p>
        </p:txBody>
      </p:sp>
      <p:sp>
        <p:nvSpPr>
          <p:cNvPr id="52" name="線條"/>
          <p:cNvSpPr/>
          <p:nvPr/>
        </p:nvSpPr>
        <p:spPr>
          <a:xfrm>
            <a:off x="438912" y="2878531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53" name="類別"/>
          <p:cNvSpPr/>
          <p:nvPr/>
        </p:nvSpPr>
        <p:spPr>
          <a:xfrm>
            <a:off x="438912" y="2966314"/>
            <a:ext cx="96560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Arrows</a:t>
            </a:r>
            <a:endParaRPr lang="en-US" sz="1100" dirty="0"/>
          </a:p>
        </p:txBody>
      </p:sp>
      <p:sp>
        <p:nvSpPr>
          <p:cNvPr id="54" name="線條"/>
          <p:cNvSpPr/>
          <p:nvPr/>
        </p:nvSpPr>
        <p:spPr>
          <a:xfrm>
            <a:off x="1613158" y="3065069"/>
            <a:ext cx="848563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  <a:tailEnd type="triangle" w="lg" len="lg"/>
          </a:ln>
        </p:spPr>
      </p:sp>
      <p:sp>
        <p:nvSpPr>
          <p:cNvPr id="55" name="圖說"/>
          <p:cNvSpPr/>
          <p:nvPr/>
        </p:nvSpPr>
        <p:spPr>
          <a:xfrm>
            <a:off x="1499616" y="3236976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700" dirty="0"/>
          </a:p>
        </p:txBody>
      </p:sp>
      <p:sp>
        <p:nvSpPr>
          <p:cNvPr id="56" name="線條"/>
          <p:cNvSpPr/>
          <p:nvPr/>
        </p:nvSpPr>
        <p:spPr>
          <a:xfrm>
            <a:off x="2732697" y="3065069"/>
            <a:ext cx="848563" cy="0"/>
          </a:xfrm>
          <a:prstGeom prst="line">
            <a:avLst/>
          </a:prstGeom>
          <a:noFill/>
          <a:ln w="22860">
            <a:solidFill>
              <a:srgbClr val="0F7C80"/>
            </a:solidFill>
            <a:prstDash val="solid"/>
            <a:tailEnd type="triangle"/>
          </a:ln>
        </p:spPr>
      </p:sp>
      <p:sp>
        <p:nvSpPr>
          <p:cNvPr id="57" name="圖說"/>
          <p:cNvSpPr/>
          <p:nvPr/>
        </p:nvSpPr>
        <p:spPr>
          <a:xfrm>
            <a:off x="2619155" y="3236976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700" dirty="0"/>
          </a:p>
        </p:txBody>
      </p:sp>
      <p:sp>
        <p:nvSpPr>
          <p:cNvPr id="58" name="連接線"/>
          <p:cNvSpPr/>
          <p:nvPr/>
        </p:nvSpPr>
        <p:spPr>
          <a:xfrm>
            <a:off x="3852237" y="2955341"/>
            <a:ext cx="848563" cy="219456"/>
          </a:xfrm>
          <a:custGeom>
            <a:avLst/>
            <a:gdLst/>
            <a:ahLst/>
            <a:cxnLst/>
            <a:rect l="l" t="t" r="r" b="b"/>
            <a:pathLst>
              <a:path w="848563" h="219456">
                <a:moveTo>
                  <a:pt x="0" y="0"/>
                </a:moveTo>
                <a:lnTo>
                  <a:pt x="424282" y="0"/>
                </a:lnTo>
                <a:lnTo>
                  <a:pt x="424282" y="219456"/>
                </a:lnTo>
                <a:lnTo>
                  <a:pt x="848563" y="219456"/>
                </a:lnTo>
              </a:path>
            </a:pathLst>
          </a:custGeom>
          <a:ln w="12700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圖說"/>
          <p:cNvSpPr/>
          <p:nvPr/>
        </p:nvSpPr>
        <p:spPr>
          <a:xfrm>
            <a:off x="3738694" y="3236976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700" dirty="0"/>
          </a:p>
        </p:txBody>
      </p:sp>
      <p:sp>
        <p:nvSpPr>
          <p:cNvPr id="60" name="線條"/>
          <p:cNvSpPr/>
          <p:nvPr/>
        </p:nvSpPr>
        <p:spPr>
          <a:xfrm>
            <a:off x="4971776" y="3065069"/>
            <a:ext cx="848563" cy="0"/>
          </a:xfrm>
          <a:prstGeom prst="line">
            <a:avLst/>
          </a:prstGeom>
          <a:noFill/>
          <a:ln w="12700">
            <a:solidFill>
              <a:srgbClr val="707070"/>
            </a:solidFill>
            <a:prstDash val="sysDash"/>
            <a:tailEnd type="arrow"/>
          </a:ln>
        </p:spPr>
      </p:sp>
      <p:sp>
        <p:nvSpPr>
          <p:cNvPr id="61" name="圖說"/>
          <p:cNvSpPr/>
          <p:nvPr/>
        </p:nvSpPr>
        <p:spPr>
          <a:xfrm>
            <a:off x="4858233" y="3236976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700" dirty="0"/>
          </a:p>
        </p:txBody>
      </p:sp>
      <p:sp>
        <p:nvSpPr>
          <p:cNvPr id="62" name="線條"/>
          <p:cNvSpPr/>
          <p:nvPr/>
        </p:nvSpPr>
        <p:spPr>
          <a:xfrm>
            <a:off x="6091315" y="3065069"/>
            <a:ext cx="848563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63" name="圖說"/>
          <p:cNvSpPr/>
          <p:nvPr/>
        </p:nvSpPr>
        <p:spPr>
          <a:xfrm>
            <a:off x="5977772" y="3236976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70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7371788" y="2962656"/>
            <a:ext cx="512064" cy="204826"/>
            <a:chOff x="7371788" y="2962656"/>
            <a:chExt cx="512064" cy="204826"/>
          </a:xfrm>
        </p:grpSpPr>
        <p:sp>
          <p:nvSpPr>
            <p:cNvPr id="64" name="三角分隔"/>
            <p:cNvSpPr/>
            <p:nvPr/>
          </p:nvSpPr>
          <p:spPr>
            <a:xfrm>
              <a:off x="7371788" y="2984602"/>
              <a:ext cx="124358" cy="160934"/>
            </a:xfrm>
            <a:custGeom>
              <a:avLst/>
              <a:gdLst/>
              <a:ahLst/>
              <a:cxnLst/>
              <a:rect l="l" t="t" r="r" b="b"/>
              <a:pathLst>
                <a:path w="124358" h="160934">
                  <a:moveTo>
                    <a:pt x="0" y="0"/>
                  </a:moveTo>
                  <a:lnTo>
                    <a:pt x="124358" y="80467"/>
                  </a:lnTo>
                  <a:lnTo>
                    <a:pt x="0" y="160934"/>
                  </a:lnTo>
                  <a:close/>
                </a:path>
              </a:pathLst>
            </a:custGeom>
            <a:solidFill>
              <a:srgbClr val="595959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5" name="V 形分隔"/>
            <p:cNvSpPr/>
            <p:nvPr/>
          </p:nvSpPr>
          <p:spPr>
            <a:xfrm>
              <a:off x="7766809" y="2962656"/>
              <a:ext cx="117043" cy="204826"/>
            </a:xfrm>
            <a:prstGeom prst="chevron">
              <a:avLst>
                <a:gd name="adj" fmla="val 62500"/>
              </a:avLst>
            </a:prstGeom>
            <a:solidFill>
              <a:srgbClr val="0F7C80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6" name="圖說"/>
          <p:cNvSpPr/>
          <p:nvPr/>
        </p:nvSpPr>
        <p:spPr>
          <a:xfrm>
            <a:off x="7097312" y="3236976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700" dirty="0"/>
          </a:p>
        </p:txBody>
      </p:sp>
      <p:sp>
        <p:nvSpPr>
          <p:cNvPr id="67" name="區塊箭頭"/>
          <p:cNvSpPr/>
          <p:nvPr/>
        </p:nvSpPr>
        <p:spPr>
          <a:xfrm>
            <a:off x="8352339" y="2918765"/>
            <a:ext cx="804672" cy="292608"/>
          </a:xfrm>
          <a:custGeom>
            <a:avLst/>
            <a:gdLst/>
            <a:ahLst/>
            <a:cxnLst/>
            <a:rect l="l" t="t" r="r" b="b"/>
            <a:pathLst>
              <a:path w="804672" h="292608">
                <a:moveTo>
                  <a:pt x="0" y="87782"/>
                </a:moveTo>
                <a:lnTo>
                  <a:pt x="629107" y="87782"/>
                </a:lnTo>
                <a:lnTo>
                  <a:pt x="629107" y="0"/>
                </a:lnTo>
                <a:lnTo>
                  <a:pt x="804672" y="146304"/>
                </a:lnTo>
                <a:lnTo>
                  <a:pt x="629107" y="292608"/>
                </a:lnTo>
                <a:lnTo>
                  <a:pt x="629107" y="204826"/>
                </a:lnTo>
                <a:lnTo>
                  <a:pt x="0" y="204826"/>
                </a:lnTo>
                <a:close/>
              </a:path>
            </a:pathLst>
          </a:cu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圖說"/>
          <p:cNvSpPr/>
          <p:nvPr/>
        </p:nvSpPr>
        <p:spPr>
          <a:xfrm>
            <a:off x="8216851" y="3236976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700" dirty="0"/>
          </a:p>
        </p:txBody>
      </p:sp>
      <p:sp>
        <p:nvSpPr>
          <p:cNvPr id="69" name="線條"/>
          <p:cNvSpPr/>
          <p:nvPr/>
        </p:nvSpPr>
        <p:spPr>
          <a:xfrm>
            <a:off x="438912" y="3375965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70" name="類別"/>
          <p:cNvSpPr/>
          <p:nvPr/>
        </p:nvSpPr>
        <p:spPr>
          <a:xfrm>
            <a:off x="438912" y="3478378"/>
            <a:ext cx="96560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Exception</a:t>
            </a:r>
            <a:endParaRPr lang="en-US" sz="1100" dirty="0"/>
          </a:p>
        </p:txBody>
      </p:sp>
      <p:sp>
        <p:nvSpPr>
          <p:cNvPr id="71" name="警示方塊"/>
          <p:cNvSpPr/>
          <p:nvPr/>
        </p:nvSpPr>
        <p:spPr>
          <a:xfrm>
            <a:off x="1598528" y="3416198"/>
            <a:ext cx="877824" cy="321869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5240">
            <a:solidFill>
              <a:srgbClr val="F2A541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67C3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900" dirty="0"/>
          </a:p>
        </p:txBody>
      </p:sp>
      <p:sp>
        <p:nvSpPr>
          <p:cNvPr id="72" name="圖說"/>
          <p:cNvSpPr/>
          <p:nvPr/>
        </p:nvSpPr>
        <p:spPr>
          <a:xfrm>
            <a:off x="1499616" y="3763670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700" dirty="0"/>
          </a:p>
        </p:txBody>
      </p:sp>
      <p:sp>
        <p:nvSpPr>
          <p:cNvPr id="73" name="警示方塊"/>
          <p:cNvSpPr/>
          <p:nvPr/>
        </p:nvSpPr>
        <p:spPr>
          <a:xfrm>
            <a:off x="2718067" y="3416198"/>
            <a:ext cx="877824" cy="321869"/>
          </a:xfrm>
          <a:prstGeom prst="roundRect">
            <a:avLst>
              <a:gd name="adj" fmla="val 22727"/>
            </a:avLst>
          </a:prstGeom>
          <a:solidFill>
            <a:srgbClr val="FDF2E4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67C3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900" dirty="0"/>
          </a:p>
        </p:txBody>
      </p:sp>
      <p:sp>
        <p:nvSpPr>
          <p:cNvPr id="74" name="圖說"/>
          <p:cNvSpPr/>
          <p:nvPr/>
        </p:nvSpPr>
        <p:spPr>
          <a:xfrm>
            <a:off x="2619155" y="3763670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700" dirty="0"/>
          </a:p>
        </p:txBody>
      </p:sp>
      <p:sp>
        <p:nvSpPr>
          <p:cNvPr id="75" name="警示方塊"/>
          <p:cNvSpPr/>
          <p:nvPr/>
        </p:nvSpPr>
        <p:spPr>
          <a:xfrm>
            <a:off x="3837606" y="3416198"/>
            <a:ext cx="877824" cy="321869"/>
          </a:xfrm>
          <a:prstGeom prst="roundRect">
            <a:avLst>
              <a:gd name="adj" fmla="val 22727"/>
            </a:avLst>
          </a:prstGeom>
          <a:solidFill>
            <a:srgbClr val="F2A541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900" dirty="0"/>
          </a:p>
        </p:txBody>
      </p:sp>
      <p:sp>
        <p:nvSpPr>
          <p:cNvPr id="76" name="圖說"/>
          <p:cNvSpPr/>
          <p:nvPr/>
        </p:nvSpPr>
        <p:spPr>
          <a:xfrm>
            <a:off x="3738694" y="3763670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70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5205640" y="3412980"/>
            <a:ext cx="380835" cy="328306"/>
            <a:chOff x="5205640" y="3412980"/>
            <a:chExt cx="380835" cy="328306"/>
          </a:xfrm>
        </p:grpSpPr>
        <p:sp>
          <p:nvSpPr>
            <p:cNvPr id="77" name="警告三角"/>
            <p:cNvSpPr/>
            <p:nvPr/>
          </p:nvSpPr>
          <p:spPr>
            <a:xfrm>
              <a:off x="5205640" y="3412980"/>
              <a:ext cx="380835" cy="328306"/>
            </a:xfrm>
            <a:custGeom>
              <a:avLst/>
              <a:gdLst/>
              <a:ahLst/>
              <a:cxnLst/>
              <a:rect l="l" t="t" r="r" b="b"/>
              <a:pathLst>
                <a:path w="380835" h="328306">
                  <a:moveTo>
                    <a:pt x="0" y="328306"/>
                  </a:moveTo>
                  <a:lnTo>
                    <a:pt x="190418" y="0"/>
                  </a:lnTo>
                  <a:lnTo>
                    <a:pt x="380835" y="328306"/>
                  </a:lnTo>
                  <a:close/>
                </a:path>
              </a:pathLst>
            </a:custGeom>
            <a:solidFill>
              <a:srgbClr val="F2A541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8" name="驚嘆號"/>
            <p:cNvSpPr/>
            <p:nvPr/>
          </p:nvSpPr>
          <p:spPr>
            <a:xfrm>
              <a:off x="5205640" y="3511472"/>
              <a:ext cx="380835" cy="223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1350" dirty="0"/>
            </a:p>
          </p:txBody>
        </p:sp>
      </p:grpSp>
      <p:sp>
        <p:nvSpPr>
          <p:cNvPr id="79" name="圖說"/>
          <p:cNvSpPr/>
          <p:nvPr/>
        </p:nvSpPr>
        <p:spPr>
          <a:xfrm>
            <a:off x="4858233" y="3763670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700" dirty="0"/>
          </a:p>
        </p:txBody>
      </p:sp>
      <p:sp>
        <p:nvSpPr>
          <p:cNvPr id="80" name="錯誤標記"/>
          <p:cNvSpPr/>
          <p:nvPr/>
        </p:nvSpPr>
        <p:spPr>
          <a:xfrm>
            <a:off x="6383630" y="3445167"/>
            <a:ext cx="263932" cy="263932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300" dirty="0"/>
          </a:p>
        </p:txBody>
      </p:sp>
      <p:sp>
        <p:nvSpPr>
          <p:cNvPr id="81" name="圖說"/>
          <p:cNvSpPr/>
          <p:nvPr/>
        </p:nvSpPr>
        <p:spPr>
          <a:xfrm>
            <a:off x="5977772" y="3763670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70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7196223" y="3368650"/>
            <a:ext cx="925373" cy="369418"/>
            <a:chOff x="7196223" y="3368650"/>
            <a:chExt cx="925373" cy="369418"/>
          </a:xfrm>
        </p:grpSpPr>
        <p:sp>
          <p:nvSpPr>
            <p:cNvPr id="82" name="流程方塊"/>
            <p:cNvSpPr/>
            <p:nvPr/>
          </p:nvSpPr>
          <p:spPr>
            <a:xfrm>
              <a:off x="7196223" y="3416198"/>
              <a:ext cx="877824" cy="321869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900" dirty="0"/>
            </a:p>
          </p:txBody>
        </p:sp>
        <p:sp>
          <p:nvSpPr>
            <p:cNvPr id="83" name="提示紅點"/>
            <p:cNvSpPr/>
            <p:nvPr/>
          </p:nvSpPr>
          <p:spPr>
            <a:xfrm>
              <a:off x="7997238" y="3368650"/>
              <a:ext cx="124358" cy="124358"/>
            </a:xfrm>
            <a:prstGeom prst="ellipse">
              <a:avLst/>
            </a:prstGeom>
            <a:solidFill>
              <a:srgbClr val="F2A541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4" name="圖說"/>
          <p:cNvSpPr/>
          <p:nvPr/>
        </p:nvSpPr>
        <p:spPr>
          <a:xfrm>
            <a:off x="7097312" y="3763670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700" dirty="0"/>
          </a:p>
        </p:txBody>
      </p:sp>
      <p:sp>
        <p:nvSpPr>
          <p:cNvPr id="85" name="連接線"/>
          <p:cNvSpPr/>
          <p:nvPr/>
        </p:nvSpPr>
        <p:spPr>
          <a:xfrm>
            <a:off x="8330393" y="3460090"/>
            <a:ext cx="848563" cy="234086"/>
          </a:xfrm>
          <a:custGeom>
            <a:avLst/>
            <a:gdLst/>
            <a:ahLst/>
            <a:cxnLst/>
            <a:rect l="l" t="t" r="r" b="b"/>
            <a:pathLst>
              <a:path w="848563" h="234086">
                <a:moveTo>
                  <a:pt x="0" y="0"/>
                </a:moveTo>
                <a:lnTo>
                  <a:pt x="351130" y="0"/>
                </a:lnTo>
                <a:lnTo>
                  <a:pt x="351130" y="234086"/>
                </a:lnTo>
                <a:lnTo>
                  <a:pt x="848563" y="234086"/>
                </a:lnTo>
              </a:path>
            </a:pathLst>
          </a:custGeom>
          <a:ln w="12700">
            <a:solidFill>
              <a:srgbClr val="F2A541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圖說"/>
          <p:cNvSpPr/>
          <p:nvPr/>
        </p:nvSpPr>
        <p:spPr>
          <a:xfrm>
            <a:off x="8216851" y="3763670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700" dirty="0"/>
          </a:p>
        </p:txBody>
      </p:sp>
      <p:sp>
        <p:nvSpPr>
          <p:cNvPr id="87" name="線條"/>
          <p:cNvSpPr/>
          <p:nvPr/>
        </p:nvSpPr>
        <p:spPr>
          <a:xfrm>
            <a:off x="438912" y="3902659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88" name="類別"/>
          <p:cNvSpPr/>
          <p:nvPr/>
        </p:nvSpPr>
        <p:spPr>
          <a:xfrm>
            <a:off x="438912" y="4070909"/>
            <a:ext cx="96560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Circle / Badge / Tag</a:t>
            </a:r>
            <a:endParaRPr lang="en-US" sz="1100" dirty="0"/>
          </a:p>
        </p:txBody>
      </p:sp>
      <p:sp>
        <p:nvSpPr>
          <p:cNvPr id="89" name="光暈大圓"/>
          <p:cNvSpPr/>
          <p:nvPr/>
        </p:nvSpPr>
        <p:spPr>
          <a:xfrm>
            <a:off x="1810669" y="3942893"/>
            <a:ext cx="453542" cy="453542"/>
          </a:xfrm>
          <a:prstGeom prst="ellipse">
            <a:avLst/>
          </a:prstGeom>
          <a:solidFill>
            <a:srgbClr val="FFFFFF"/>
          </a:solidFill>
          <a:ln/>
          <a:effectLst>
            <a:outerShdw blurRad="76835" dist="12192" dir="5400000" sx="100840" sy="10084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圖說"/>
          <p:cNvSpPr/>
          <p:nvPr/>
        </p:nvSpPr>
        <p:spPr>
          <a:xfrm>
            <a:off x="1499616" y="4422038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700" dirty="0"/>
          </a:p>
        </p:txBody>
      </p:sp>
      <p:grpSp>
        <p:nvGrpSpPr>
          <p:cNvPr id="5004" name="光暈＋外圈細環"/>
          <p:cNvGrpSpPr/>
          <p:nvPr/>
        </p:nvGrpSpPr>
        <p:grpSpPr>
          <a:xfrm>
            <a:off x="2886317" y="3899002"/>
            <a:ext cx="541325" cy="541325"/>
            <a:chOff x="2886317" y="3899002"/>
            <a:chExt cx="541325" cy="541325"/>
          </a:xfrm>
        </p:grpSpPr>
        <p:sp>
          <p:nvSpPr>
            <p:cNvPr id="91" name="外圈細環"/>
            <p:cNvSpPr/>
            <p:nvPr/>
          </p:nvSpPr>
          <p:spPr>
            <a:xfrm>
              <a:off x="2886317" y="3899002"/>
              <a:ext cx="541325" cy="541325"/>
            </a:xfrm>
            <a:prstGeom prst="ellipse">
              <a:avLst/>
            </a:prstGeom>
            <a:ln w="7620">
              <a:solidFill>
                <a:srgbClr val="E6E6E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光暈大圓"/>
            <p:cNvSpPr/>
            <p:nvPr/>
          </p:nvSpPr>
          <p:spPr>
            <a:xfrm>
              <a:off x="2930208" y="3942893"/>
              <a:ext cx="453542" cy="453542"/>
            </a:xfrm>
            <a:prstGeom prst="ellipse">
              <a:avLst/>
            </a:prstGeom>
            <a:solidFill>
              <a:srgbClr val="FFFFFF"/>
            </a:solidFill>
            <a:ln/>
            <a:effectLst>
              <a:outerShdw blurRad="76835" dist="12192" dir="5400000" sx="100840" sy="100840" algn="ctr" rotWithShape="0">
                <a:srgbClr val="000000">
                  <a:alpha val="25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3" name="圖說"/>
          <p:cNvSpPr/>
          <p:nvPr/>
        </p:nvSpPr>
        <p:spPr>
          <a:xfrm>
            <a:off x="2619155" y="4422038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700" dirty="0"/>
          </a:p>
        </p:txBody>
      </p:sp>
      <p:sp>
        <p:nvSpPr>
          <p:cNvPr id="94" name="外框圓"/>
          <p:cNvSpPr/>
          <p:nvPr/>
        </p:nvSpPr>
        <p:spPr>
          <a:xfrm>
            <a:off x="4049747" y="3942893"/>
            <a:ext cx="453542" cy="45354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圖說"/>
          <p:cNvSpPr/>
          <p:nvPr/>
        </p:nvSpPr>
        <p:spPr>
          <a:xfrm>
            <a:off x="3738694" y="4422038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700" dirty="0"/>
          </a:p>
        </p:txBody>
      </p:sp>
      <p:grpSp>
        <p:nvGrpSpPr>
          <p:cNvPr id="5005" name="編號徽章"/>
          <p:cNvGrpSpPr/>
          <p:nvPr/>
        </p:nvGrpSpPr>
        <p:grpSpPr>
          <a:xfrm>
            <a:off x="4924666" y="4005511"/>
            <a:ext cx="942783" cy="328306"/>
            <a:chOff x="4924666" y="4005511"/>
            <a:chExt cx="942783" cy="328306"/>
          </a:xfrm>
        </p:grpSpPr>
        <p:sp>
          <p:nvSpPr>
            <p:cNvPr id="96" name="Text 94"/>
            <p:cNvSpPr/>
            <p:nvPr/>
          </p:nvSpPr>
          <p:spPr>
            <a:xfrm>
              <a:off x="4924666" y="4005511"/>
              <a:ext cx="328306" cy="328306"/>
            </a:xfrm>
            <a:prstGeom prst="ellipse">
              <a:avLst/>
            </a:prstGeom>
            <a:solidFill>
              <a:srgbClr val="E0F0F0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7" name="編號"/>
            <p:cNvSpPr/>
            <p:nvPr/>
          </p:nvSpPr>
          <p:spPr>
            <a:xfrm>
              <a:off x="4964460" y="4045306"/>
              <a:ext cx="248717" cy="248717"/>
            </a:xfrm>
            <a:prstGeom prst="ellipse">
              <a:avLst/>
            </a:prstGeom>
            <a:solidFill>
              <a:srgbClr val="0F7C80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800" dirty="0"/>
            </a:p>
          </p:txBody>
        </p:sp>
        <p:sp>
          <p:nvSpPr>
            <p:cNvPr id="98" name="Text 96"/>
            <p:cNvSpPr/>
            <p:nvPr/>
          </p:nvSpPr>
          <p:spPr>
            <a:xfrm>
              <a:off x="5231904" y="4005511"/>
              <a:ext cx="328306" cy="328306"/>
            </a:xfrm>
            <a:prstGeom prst="ellipse">
              <a:avLst/>
            </a:prstGeom>
            <a:solidFill>
              <a:srgbClr val="E0F0F0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9" name="編號"/>
            <p:cNvSpPr/>
            <p:nvPr/>
          </p:nvSpPr>
          <p:spPr>
            <a:xfrm>
              <a:off x="5271699" y="4045306"/>
              <a:ext cx="248717" cy="248717"/>
            </a:xfrm>
            <a:prstGeom prst="ellipse">
              <a:avLst/>
            </a:prstGeom>
            <a:solidFill>
              <a:srgbClr val="0F7C80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800" dirty="0"/>
            </a:p>
          </p:txBody>
        </p:sp>
        <p:sp>
          <p:nvSpPr>
            <p:cNvPr id="100" name="Text 98"/>
            <p:cNvSpPr/>
            <p:nvPr/>
          </p:nvSpPr>
          <p:spPr>
            <a:xfrm>
              <a:off x="5539143" y="4005511"/>
              <a:ext cx="328306" cy="328306"/>
            </a:xfrm>
            <a:prstGeom prst="ellipse">
              <a:avLst/>
            </a:prstGeom>
            <a:solidFill>
              <a:srgbClr val="FCE9D0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1" name="編號"/>
            <p:cNvSpPr/>
            <p:nvPr/>
          </p:nvSpPr>
          <p:spPr>
            <a:xfrm>
              <a:off x="5578937" y="4045306"/>
              <a:ext cx="248717" cy="248717"/>
            </a:xfrm>
            <a:prstGeom prst="ellipse">
              <a:avLst/>
            </a:prstGeom>
            <a:solidFill>
              <a:srgbClr val="F2A54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800" dirty="0"/>
            </a:p>
          </p:txBody>
        </p:sp>
      </p:grpSp>
      <p:sp>
        <p:nvSpPr>
          <p:cNvPr id="102" name="圖說"/>
          <p:cNvSpPr/>
          <p:nvPr/>
        </p:nvSpPr>
        <p:spPr>
          <a:xfrm>
            <a:off x="4858233" y="4422038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700" dirty="0"/>
          </a:p>
        </p:txBody>
      </p:sp>
      <p:sp>
        <p:nvSpPr>
          <p:cNvPr id="103" name="標籤"/>
          <p:cNvSpPr/>
          <p:nvPr/>
        </p:nvSpPr>
        <p:spPr>
          <a:xfrm>
            <a:off x="6193760" y="4052621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900" dirty="0"/>
          </a:p>
        </p:txBody>
      </p:sp>
      <p:sp>
        <p:nvSpPr>
          <p:cNvPr id="104" name="圖說"/>
          <p:cNvSpPr/>
          <p:nvPr/>
        </p:nvSpPr>
        <p:spPr>
          <a:xfrm>
            <a:off x="5977772" y="4422038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700" dirty="0"/>
          </a:p>
        </p:txBody>
      </p:sp>
      <p:grpSp>
        <p:nvGrpSpPr>
          <p:cNvPr id="5006" name="淺色／灰階標籤"/>
          <p:cNvGrpSpPr/>
          <p:nvPr/>
        </p:nvGrpSpPr>
        <p:grpSpPr>
          <a:xfrm>
            <a:off x="7192159" y="4059936"/>
            <a:ext cx="885952" cy="219456"/>
            <a:chOff x="7192159" y="4059936"/>
            <a:chExt cx="885952" cy="219456"/>
          </a:xfrm>
        </p:grpSpPr>
        <p:sp>
          <p:nvSpPr>
            <p:cNvPr id="105" name="標籤"/>
            <p:cNvSpPr/>
            <p:nvPr/>
          </p:nvSpPr>
          <p:spPr>
            <a:xfrm>
              <a:off x="7192159" y="4059936"/>
              <a:ext cx="413715" cy="219456"/>
            </a:xfrm>
            <a:prstGeom prst="roundRect">
              <a:avLst>
                <a:gd name="adj" fmla="val 50000"/>
              </a:avLst>
            </a:prstGeom>
            <a:solidFill>
              <a:srgbClr val="FCEBD5"/>
            </a:solidFill>
            <a:ln/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855B24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900" dirty="0"/>
            </a:p>
          </p:txBody>
        </p:sp>
        <p:sp>
          <p:nvSpPr>
            <p:cNvPr id="106" name="標籤"/>
            <p:cNvSpPr/>
            <p:nvPr/>
          </p:nvSpPr>
          <p:spPr>
            <a:xfrm>
              <a:off x="7664396" y="4059936"/>
              <a:ext cx="413715" cy="219456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/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900" dirty="0"/>
            </a:p>
          </p:txBody>
        </p:sp>
      </p:grpSp>
      <p:sp>
        <p:nvSpPr>
          <p:cNvPr id="107" name="圖說"/>
          <p:cNvSpPr/>
          <p:nvPr/>
        </p:nvSpPr>
        <p:spPr>
          <a:xfrm>
            <a:off x="7097312" y="4422038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700" dirty="0"/>
          </a:p>
        </p:txBody>
      </p:sp>
      <p:grpSp>
        <p:nvGrpSpPr>
          <p:cNvPr id="5007" name="小圓點"/>
          <p:cNvGrpSpPr/>
          <p:nvPr/>
        </p:nvGrpSpPr>
        <p:grpSpPr>
          <a:xfrm>
            <a:off x="8480355" y="4114800"/>
            <a:ext cx="548640" cy="109728"/>
            <a:chOff x="8480355" y="4114800"/>
            <a:chExt cx="548640" cy="109728"/>
          </a:xfrm>
        </p:grpSpPr>
        <p:sp>
          <p:nvSpPr>
            <p:cNvPr id="108" name="圓點"/>
            <p:cNvSpPr/>
            <p:nvPr/>
          </p:nvSpPr>
          <p:spPr>
            <a:xfrm>
              <a:off x="8480355" y="4114800"/>
              <a:ext cx="109728" cy="109728"/>
            </a:xfrm>
            <a:prstGeom prst="ellipse">
              <a:avLst/>
            </a:prstGeom>
            <a:solidFill>
              <a:srgbClr val="0F7C80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9" name="圓點"/>
            <p:cNvSpPr/>
            <p:nvPr/>
          </p:nvSpPr>
          <p:spPr>
            <a:xfrm>
              <a:off x="8699811" y="4114800"/>
              <a:ext cx="109728" cy="109728"/>
            </a:xfrm>
            <a:prstGeom prst="ellipse">
              <a:avLst/>
            </a:prstGeom>
            <a:solidFill>
              <a:srgbClr val="F2A541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0" name="圓點"/>
            <p:cNvSpPr/>
            <p:nvPr/>
          </p:nvSpPr>
          <p:spPr>
            <a:xfrm>
              <a:off x="8919267" y="4114800"/>
              <a:ext cx="109728" cy="109728"/>
            </a:xfrm>
            <a:prstGeom prst="ellipse">
              <a:avLst/>
            </a:prstGeom>
            <a:solidFill>
              <a:srgbClr val="BFBFB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11" name="圖說"/>
          <p:cNvSpPr/>
          <p:nvPr/>
        </p:nvSpPr>
        <p:spPr>
          <a:xfrm>
            <a:off x="8216851" y="4422038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700" dirty="0"/>
          </a:p>
        </p:txBody>
      </p:sp>
      <p:sp>
        <p:nvSpPr>
          <p:cNvPr id="112" name="線條"/>
          <p:cNvSpPr/>
          <p:nvPr/>
        </p:nvSpPr>
        <p:spPr>
          <a:xfrm>
            <a:off x="438912" y="4561027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113" name="類別"/>
          <p:cNvSpPr/>
          <p:nvPr/>
        </p:nvSpPr>
        <p:spPr>
          <a:xfrm>
            <a:off x="438912" y="4670755"/>
            <a:ext cx="96560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Container</a:t>
            </a:r>
            <a:endParaRPr lang="en-US" sz="1100" dirty="0"/>
          </a:p>
        </p:txBody>
      </p:sp>
      <p:grpSp>
        <p:nvGrpSpPr>
          <p:cNvPr id="5008" name="虛線群組框"/>
          <p:cNvGrpSpPr/>
          <p:nvPr/>
        </p:nvGrpSpPr>
        <p:grpSpPr>
          <a:xfrm>
            <a:off x="1598528" y="4579315"/>
            <a:ext cx="877824" cy="358445"/>
            <a:chOff x="1598528" y="4579315"/>
            <a:chExt cx="877824" cy="358445"/>
          </a:xfrm>
        </p:grpSpPr>
        <p:sp>
          <p:nvSpPr>
            <p:cNvPr id="114" name="群組框"/>
            <p:cNvSpPr/>
            <p:nvPr/>
          </p:nvSpPr>
          <p:spPr>
            <a:xfrm>
              <a:off x="1598528" y="4645152"/>
              <a:ext cx="877824" cy="292608"/>
            </a:xfrm>
            <a:prstGeom prst="roundRect">
              <a:avLst>
                <a:gd name="adj" fmla="val 25000"/>
              </a:avLst>
            </a:prstGeom>
            <a:ln w="7620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5" name="群組名稱"/>
            <p:cNvSpPr/>
            <p:nvPr/>
          </p:nvSpPr>
          <p:spPr>
            <a:xfrm>
              <a:off x="1671680" y="4579315"/>
              <a:ext cx="453542" cy="131674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650" dirty="0"/>
            </a:p>
          </p:txBody>
        </p:sp>
      </p:grpSp>
      <p:sp>
        <p:nvSpPr>
          <p:cNvPr id="116" name="圖說"/>
          <p:cNvSpPr/>
          <p:nvPr/>
        </p:nvSpPr>
        <p:spPr>
          <a:xfrm>
            <a:off x="1499616" y="496336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700" dirty="0"/>
          </a:p>
        </p:txBody>
      </p:sp>
      <p:sp>
        <p:nvSpPr>
          <p:cNvPr id="117" name="淺灰面板"/>
          <p:cNvSpPr/>
          <p:nvPr/>
        </p:nvSpPr>
        <p:spPr>
          <a:xfrm>
            <a:off x="2718067" y="4601261"/>
            <a:ext cx="877824" cy="336499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2619155" y="496336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700" dirty="0"/>
          </a:p>
        </p:txBody>
      </p:sp>
      <p:sp>
        <p:nvSpPr>
          <p:cNvPr id="119" name="卡片"/>
          <p:cNvSpPr/>
          <p:nvPr/>
        </p:nvSpPr>
        <p:spPr>
          <a:xfrm>
            <a:off x="3837606" y="4601261"/>
            <a:ext cx="877824" cy="336499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/>
          <a:effectLst>
            <a:outerShdw blurRad="101600" dist="3048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圖說"/>
          <p:cNvSpPr/>
          <p:nvPr/>
        </p:nvSpPr>
        <p:spPr>
          <a:xfrm>
            <a:off x="3738694" y="496336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700" dirty="0"/>
          </a:p>
        </p:txBody>
      </p:sp>
      <p:sp>
        <p:nvSpPr>
          <p:cNvPr id="121" name="卡片"/>
          <p:cNvSpPr/>
          <p:nvPr/>
        </p:nvSpPr>
        <p:spPr>
          <a:xfrm>
            <a:off x="4957145" y="4601261"/>
            <a:ext cx="877824" cy="336499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/>
          <a:effectLst>
            <a:outerShdw blurRad="101600" dist="3048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2" name="圖說"/>
          <p:cNvSpPr/>
          <p:nvPr/>
        </p:nvSpPr>
        <p:spPr>
          <a:xfrm>
            <a:off x="4858233" y="496336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700" dirty="0"/>
          </a:p>
        </p:txBody>
      </p:sp>
      <p:grpSp>
        <p:nvGrpSpPr>
          <p:cNvPr id="5009" name="表頭色帶卡"/>
          <p:cNvGrpSpPr/>
          <p:nvPr/>
        </p:nvGrpSpPr>
        <p:grpSpPr>
          <a:xfrm>
            <a:off x="6076684" y="4601261"/>
            <a:ext cx="877824" cy="336499"/>
            <a:chOff x="6076684" y="4601261"/>
            <a:chExt cx="877824" cy="336499"/>
          </a:xfrm>
        </p:grpSpPr>
        <p:sp>
          <p:nvSpPr>
            <p:cNvPr id="123" name="卡片"/>
            <p:cNvSpPr/>
            <p:nvPr/>
          </p:nvSpPr>
          <p:spPr>
            <a:xfrm>
              <a:off x="6076684" y="4601261"/>
              <a:ext cx="877824" cy="336499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4" name="表頭"/>
            <p:cNvSpPr/>
            <p:nvPr/>
          </p:nvSpPr>
          <p:spPr>
            <a:xfrm>
              <a:off x="6076684" y="4601261"/>
              <a:ext cx="877824" cy="117043"/>
            </a:xfrm>
            <a:custGeom>
              <a:avLst/>
              <a:gdLst/>
              <a:ahLst/>
              <a:cxnLst/>
              <a:rect l="l" t="t" r="r" b="b"/>
              <a:pathLst>
                <a:path w="877824" h="117043">
                  <a:moveTo>
                    <a:pt x="0" y="117043"/>
                  </a:moveTo>
                  <a:lnTo>
                    <a:pt x="0" y="73152"/>
                  </a:lnTo>
                  <a:arcTo hR="73152" wR="73152" stAng="10800000" swAng="5400000"/>
                  <a:lnTo>
                    <a:pt x="804672" y="0"/>
                  </a:lnTo>
                  <a:arcTo hR="73152" wR="73152" stAng="16200000" swAng="5400000"/>
                  <a:lnTo>
                    <a:pt x="877824" y="117043"/>
                  </a:lnTo>
                  <a:close/>
                </a:path>
              </a:pathLst>
            </a:custGeom>
            <a:solidFill>
              <a:srgbClr val="0F7C80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5" name="圖說"/>
          <p:cNvSpPr/>
          <p:nvPr/>
        </p:nvSpPr>
        <p:spPr>
          <a:xfrm>
            <a:off x="5977772" y="496336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700" dirty="0"/>
          </a:p>
        </p:txBody>
      </p:sp>
      <p:grpSp>
        <p:nvGrpSpPr>
          <p:cNvPr id="5010" name="頂邊／側邊色條"/>
          <p:cNvGrpSpPr/>
          <p:nvPr/>
        </p:nvGrpSpPr>
        <p:grpSpPr>
          <a:xfrm>
            <a:off x="7196223" y="4601261"/>
            <a:ext cx="877824" cy="336499"/>
            <a:chOff x="7196223" y="4601261"/>
            <a:chExt cx="877824" cy="336499"/>
          </a:xfrm>
        </p:grpSpPr>
        <p:sp>
          <p:nvSpPr>
            <p:cNvPr id="126" name="卡片"/>
            <p:cNvSpPr/>
            <p:nvPr/>
          </p:nvSpPr>
          <p:spPr>
            <a:xfrm>
              <a:off x="7196223" y="4601261"/>
              <a:ext cx="877824" cy="336499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7" name="側邊色條"/>
            <p:cNvSpPr/>
            <p:nvPr/>
          </p:nvSpPr>
          <p:spPr>
            <a:xfrm>
              <a:off x="7196223" y="4601261"/>
              <a:ext cx="43891" cy="336499"/>
            </a:xfrm>
            <a:prstGeom prst="rect">
              <a:avLst/>
            </a:prstGeom>
            <a:solidFill>
              <a:srgbClr val="F2A541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8" name="圖說"/>
          <p:cNvSpPr/>
          <p:nvPr/>
        </p:nvSpPr>
        <p:spPr>
          <a:xfrm>
            <a:off x="7097312" y="496336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700" dirty="0"/>
          </a:p>
        </p:txBody>
      </p:sp>
      <p:grpSp>
        <p:nvGrpSpPr>
          <p:cNvPr id="5011" name="半透明寬欄條"/>
          <p:cNvGrpSpPr/>
          <p:nvPr/>
        </p:nvGrpSpPr>
        <p:grpSpPr>
          <a:xfrm>
            <a:off x="8462067" y="4601261"/>
            <a:ext cx="585216" cy="336499"/>
            <a:chOff x="8462067" y="4601261"/>
            <a:chExt cx="585216" cy="336499"/>
          </a:xfrm>
        </p:grpSpPr>
        <p:sp>
          <p:nvSpPr>
            <p:cNvPr id="129" name="寬欄條"/>
            <p:cNvSpPr/>
            <p:nvPr/>
          </p:nvSpPr>
          <p:spPr>
            <a:xfrm>
              <a:off x="8462067" y="4601261"/>
              <a:ext cx="248717" cy="336499"/>
            </a:xfrm>
            <a:prstGeom prst="roundRect">
              <a:avLst>
                <a:gd name="adj" fmla="val 50000"/>
              </a:avLst>
            </a:prstGeom>
            <a:solidFill>
              <a:srgbClr val="A6A6A6">
                <a:alpha val="38000"/>
              </a:srgbClr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0" name="寬欄條"/>
            <p:cNvSpPr/>
            <p:nvPr/>
          </p:nvSpPr>
          <p:spPr>
            <a:xfrm>
              <a:off x="8798566" y="4601261"/>
              <a:ext cx="248717" cy="336499"/>
            </a:xfrm>
            <a:prstGeom prst="roundRect">
              <a:avLst>
                <a:gd name="adj" fmla="val 50000"/>
              </a:avLst>
            </a:prstGeom>
            <a:solidFill>
              <a:srgbClr val="A6A6A6">
                <a:alpha val="38000"/>
              </a:srgbClr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31" name="圖說"/>
          <p:cNvSpPr/>
          <p:nvPr/>
        </p:nvSpPr>
        <p:spPr>
          <a:xfrm>
            <a:off x="8216851" y="496336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700" dirty="0"/>
          </a:p>
        </p:txBody>
      </p:sp>
      <p:sp>
        <p:nvSpPr>
          <p:cNvPr id="132" name="線條"/>
          <p:cNvSpPr/>
          <p:nvPr/>
        </p:nvSpPr>
        <p:spPr>
          <a:xfrm>
            <a:off x="1389888" y="1360627"/>
            <a:ext cx="0" cy="3701491"/>
          </a:xfrm>
          <a:prstGeom prst="line">
            <a:avLst/>
          </a:prstGeom>
          <a:noFill/>
          <a:ln w="5080">
            <a:solidFill>
              <a:srgbClr val="E4E4E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/ 13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 Common Patterns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38912" y="929030"/>
            <a:ext cx="329184" cy="73152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5878" y="826618"/>
            <a:ext cx="804672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已排好、已連線的流程小組合：整組複製即可使用（純流程圖語意）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1452067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組合名稱"/>
          <p:cNvSpPr/>
          <p:nvPr/>
        </p:nvSpPr>
        <p:spPr>
          <a:xfrm>
            <a:off x="599846" y="1389888"/>
            <a:ext cx="193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Linear Process</a:t>
            </a:r>
            <a:endParaRPr lang="en-US" sz="1100" dirty="0"/>
          </a:p>
        </p:txBody>
      </p:sp>
      <p:sp>
        <p:nvSpPr>
          <p:cNvPr id="7" name="線條"/>
          <p:cNvSpPr/>
          <p:nvPr/>
        </p:nvSpPr>
        <p:spPr>
          <a:xfrm>
            <a:off x="438912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438912" y="1791054"/>
            <a:ext cx="2098182" cy="652223"/>
            <a:chOff x="438912" y="1791054"/>
            <a:chExt cx="2098182" cy="652223"/>
          </a:xfrm>
        </p:grpSpPr>
        <p:sp>
          <p:nvSpPr>
            <p:cNvPr id="8" name="處理"/>
            <p:cNvSpPr/>
            <p:nvPr/>
          </p:nvSpPr>
          <p:spPr>
            <a:xfrm>
              <a:off x="438912" y="2136038"/>
              <a:ext cx="541325" cy="307238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/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8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84046" y="1791054"/>
              <a:ext cx="251058" cy="251058"/>
            </a:xfrm>
            <a:prstGeom prst="ellipse">
              <a:avLst/>
            </a:prstGeom>
            <a:solidFill>
              <a:srgbClr val="E0F0F0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" name="編號"/>
            <p:cNvSpPr/>
            <p:nvPr/>
          </p:nvSpPr>
          <p:spPr>
            <a:xfrm>
              <a:off x="614477" y="1821485"/>
              <a:ext cx="190195" cy="190195"/>
            </a:xfrm>
            <a:prstGeom prst="ellipse">
              <a:avLst/>
            </a:prstGeom>
            <a:solidFill>
              <a:srgbClr val="0F7C80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700" dirty="0"/>
            </a:p>
          </p:txBody>
        </p:sp>
        <p:sp>
          <p:nvSpPr>
            <p:cNvPr id="11" name="處理"/>
            <p:cNvSpPr/>
            <p:nvPr/>
          </p:nvSpPr>
          <p:spPr>
            <a:xfrm>
              <a:off x="1217341" y="2136038"/>
              <a:ext cx="541325" cy="307238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/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8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362474" y="1791054"/>
              <a:ext cx="251058" cy="251058"/>
            </a:xfrm>
            <a:prstGeom prst="ellipse">
              <a:avLst/>
            </a:prstGeom>
            <a:solidFill>
              <a:srgbClr val="E0F0F0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" name="編號"/>
            <p:cNvSpPr/>
            <p:nvPr/>
          </p:nvSpPr>
          <p:spPr>
            <a:xfrm>
              <a:off x="1392906" y="1821485"/>
              <a:ext cx="190195" cy="190195"/>
            </a:xfrm>
            <a:prstGeom prst="ellipse">
              <a:avLst/>
            </a:prstGeom>
            <a:solidFill>
              <a:srgbClr val="0F7C80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700" dirty="0"/>
            </a:p>
          </p:txBody>
        </p:sp>
        <p:sp>
          <p:nvSpPr>
            <p:cNvPr id="14" name="處理"/>
            <p:cNvSpPr/>
            <p:nvPr/>
          </p:nvSpPr>
          <p:spPr>
            <a:xfrm>
              <a:off x="1995769" y="2136038"/>
              <a:ext cx="541325" cy="307238"/>
            </a:xfrm>
            <a:prstGeom prst="roundRect">
              <a:avLst>
                <a:gd name="adj" fmla="val 50000"/>
              </a:avLst>
            </a:prstGeom>
            <a:solidFill>
              <a:srgbClr val="0F7C80"/>
            </a:solidFill>
            <a:ln/>
            <a:effectLst>
              <a:outerShdw blurRad="60960" dist="1524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8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140903" y="1791054"/>
              <a:ext cx="251058" cy="251058"/>
            </a:xfrm>
            <a:prstGeom prst="ellipse">
              <a:avLst/>
            </a:prstGeom>
            <a:solidFill>
              <a:srgbClr val="E0F0F0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6" name="編號"/>
            <p:cNvSpPr/>
            <p:nvPr/>
          </p:nvSpPr>
          <p:spPr>
            <a:xfrm>
              <a:off x="2171334" y="1821485"/>
              <a:ext cx="190195" cy="190195"/>
            </a:xfrm>
            <a:prstGeom prst="ellipse">
              <a:avLst/>
            </a:prstGeom>
            <a:solidFill>
              <a:srgbClr val="0F7C80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700" dirty="0"/>
            </a:p>
          </p:txBody>
        </p:sp>
        <p:cxnSp>
          <p:nvCxnSpPr>
            <p:cNvPr id="17" name="連接線"/>
            <p:cNvCxnSpPr>
              <a:stCxn id="8" idx="3"/>
              <a:endCxn id="11" idx="1"/>
            </p:cNvCxnSpPr>
            <p:nvPr/>
          </p:nvCxnSpPr>
          <p:spPr>
            <a:xfrm>
              <a:off x="980237" y="2289658"/>
              <a:ext cx="237104" cy="0"/>
            </a:xfrm>
            <a:prstGeom prst="straightConnector1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18" name="連接線"/>
            <p:cNvCxnSpPr>
              <a:stCxn id="11" idx="3"/>
              <a:endCxn id="14" idx="1"/>
            </p:cNvCxnSpPr>
            <p:nvPr/>
          </p:nvCxnSpPr>
          <p:spPr>
            <a:xfrm>
              <a:off x="1758666" y="2289658"/>
              <a:ext cx="237104" cy="0"/>
            </a:xfrm>
            <a:prstGeom prst="straightConnector1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</p:grpSp>
      <p:sp>
        <p:nvSpPr>
          <p:cNvPr id="19" name="Text 17"/>
          <p:cNvSpPr/>
          <p:nvPr/>
        </p:nvSpPr>
        <p:spPr>
          <a:xfrm>
            <a:off x="2698029" y="1452067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組合名稱"/>
          <p:cNvSpPr/>
          <p:nvPr/>
        </p:nvSpPr>
        <p:spPr>
          <a:xfrm>
            <a:off x="2858963" y="1389888"/>
            <a:ext cx="193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Decision Branch</a:t>
            </a:r>
            <a:endParaRPr lang="en-US" sz="1100" dirty="0"/>
          </a:p>
        </p:txBody>
      </p:sp>
      <p:sp>
        <p:nvSpPr>
          <p:cNvPr id="21" name="線條"/>
          <p:cNvSpPr/>
          <p:nvPr/>
        </p:nvSpPr>
        <p:spPr>
          <a:xfrm>
            <a:off x="2698029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2698029" y="1777594"/>
            <a:ext cx="2098182" cy="1133856"/>
            <a:chOff x="2698029" y="1777594"/>
            <a:chExt cx="2098182" cy="1133856"/>
          </a:xfrm>
        </p:grpSpPr>
        <p:sp>
          <p:nvSpPr>
            <p:cNvPr id="22" name="處理"/>
            <p:cNvSpPr/>
            <p:nvPr/>
          </p:nvSpPr>
          <p:spPr>
            <a:xfrm>
              <a:off x="2698029" y="1858061"/>
              <a:ext cx="526694" cy="307238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/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850" dirty="0"/>
            </a:p>
          </p:txBody>
        </p:sp>
        <p:sp>
          <p:nvSpPr>
            <p:cNvPr id="23" name="判斷"/>
            <p:cNvSpPr/>
            <p:nvPr/>
          </p:nvSpPr>
          <p:spPr>
            <a:xfrm>
              <a:off x="3414918" y="1777594"/>
              <a:ext cx="614477" cy="468173"/>
            </a:xfrm>
            <a:prstGeom prst="diamond">
              <a:avLst/>
            </a:prstGeom>
            <a:solidFill>
              <a:srgbClr val="E0F0F0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750" dirty="0"/>
            </a:p>
          </p:txBody>
        </p:sp>
        <p:cxnSp>
          <p:nvCxnSpPr>
            <p:cNvPr id="24" name="連接線"/>
            <p:cNvCxnSpPr>
              <a:stCxn id="22" idx="3"/>
              <a:endCxn id="23" idx="1"/>
            </p:cNvCxnSpPr>
            <p:nvPr/>
          </p:nvCxnSpPr>
          <p:spPr>
            <a:xfrm>
              <a:off x="3224723" y="2011680"/>
              <a:ext cx="190195" cy="0"/>
            </a:xfrm>
            <a:prstGeom prst="straightConnector1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  <p:sp>
          <p:nvSpPr>
            <p:cNvPr id="25" name="處理"/>
            <p:cNvSpPr/>
            <p:nvPr/>
          </p:nvSpPr>
          <p:spPr>
            <a:xfrm>
              <a:off x="4254886" y="1858061"/>
              <a:ext cx="541325" cy="307238"/>
            </a:xfrm>
            <a:prstGeom prst="roundRect">
              <a:avLst>
                <a:gd name="adj" fmla="val 50000"/>
              </a:avLst>
            </a:prstGeom>
            <a:solidFill>
              <a:srgbClr val="0F7C80"/>
            </a:solidFill>
            <a:ln/>
            <a:effectLst>
              <a:outerShdw blurRad="60960" dist="1524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850" dirty="0"/>
            </a:p>
          </p:txBody>
        </p:sp>
        <p:cxnSp>
          <p:nvCxnSpPr>
            <p:cNvPr id="26" name="連接線"/>
            <p:cNvCxnSpPr>
              <a:stCxn id="23" idx="3"/>
              <a:endCxn id="25" idx="1"/>
            </p:cNvCxnSpPr>
            <p:nvPr/>
          </p:nvCxnSpPr>
          <p:spPr>
            <a:xfrm>
              <a:off x="4029395" y="2011680"/>
              <a:ext cx="225491" cy="0"/>
            </a:xfrm>
            <a:prstGeom prst="straightConnector1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  <p:sp>
          <p:nvSpPr>
            <p:cNvPr id="27" name="標註"/>
            <p:cNvSpPr/>
            <p:nvPr/>
          </p:nvSpPr>
          <p:spPr>
            <a:xfrm>
              <a:off x="4029395" y="1836115"/>
              <a:ext cx="292608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700" dirty="0"/>
            </a:p>
          </p:txBody>
        </p:sp>
        <p:sp>
          <p:nvSpPr>
            <p:cNvPr id="28" name="處理"/>
            <p:cNvSpPr/>
            <p:nvPr/>
          </p:nvSpPr>
          <p:spPr>
            <a:xfrm>
              <a:off x="3451494" y="2604211"/>
              <a:ext cx="541325" cy="307238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/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850" dirty="0"/>
            </a:p>
          </p:txBody>
        </p:sp>
        <p:cxnSp>
          <p:nvCxnSpPr>
            <p:cNvPr id="29" name="連接線"/>
            <p:cNvCxnSpPr>
              <a:stCxn id="23" idx="2"/>
              <a:endCxn id="28" idx="0"/>
            </p:cNvCxnSpPr>
            <p:nvPr/>
          </p:nvCxnSpPr>
          <p:spPr>
            <a:xfrm>
              <a:off x="3722157" y="2245766"/>
              <a:ext cx="0" cy="358445"/>
            </a:xfrm>
            <a:prstGeom prst="straightConnector1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  <p:sp>
          <p:nvSpPr>
            <p:cNvPr id="30" name="標註"/>
            <p:cNvSpPr/>
            <p:nvPr/>
          </p:nvSpPr>
          <p:spPr>
            <a:xfrm>
              <a:off x="3736787" y="2275027"/>
              <a:ext cx="21945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700" dirty="0"/>
            </a:p>
          </p:txBody>
        </p:sp>
      </p:grpSp>
      <p:sp>
        <p:nvSpPr>
          <p:cNvPr id="31" name="Text 29"/>
          <p:cNvSpPr/>
          <p:nvPr/>
        </p:nvSpPr>
        <p:spPr>
          <a:xfrm>
            <a:off x="4957145" y="1452067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組合名稱"/>
          <p:cNvSpPr/>
          <p:nvPr/>
        </p:nvSpPr>
        <p:spPr>
          <a:xfrm>
            <a:off x="5118080" y="1389888"/>
            <a:ext cx="193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Exception Return</a:t>
            </a:r>
            <a:endParaRPr lang="en-US" sz="1100" dirty="0"/>
          </a:p>
        </p:txBody>
      </p:sp>
      <p:sp>
        <p:nvSpPr>
          <p:cNvPr id="33" name="線條"/>
          <p:cNvSpPr/>
          <p:nvPr/>
        </p:nvSpPr>
        <p:spPr>
          <a:xfrm>
            <a:off x="4957145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4957145" y="1945843"/>
            <a:ext cx="2098182" cy="790042"/>
            <a:chOff x="4957145" y="1945843"/>
            <a:chExt cx="2098182" cy="790042"/>
          </a:xfrm>
        </p:grpSpPr>
        <p:sp>
          <p:nvSpPr>
            <p:cNvPr id="34" name="處理"/>
            <p:cNvSpPr/>
            <p:nvPr/>
          </p:nvSpPr>
          <p:spPr>
            <a:xfrm>
              <a:off x="4957145" y="1945843"/>
              <a:ext cx="541325" cy="307238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/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850" dirty="0"/>
            </a:p>
          </p:txBody>
        </p:sp>
        <p:sp>
          <p:nvSpPr>
            <p:cNvPr id="35" name="處理"/>
            <p:cNvSpPr/>
            <p:nvPr/>
          </p:nvSpPr>
          <p:spPr>
            <a:xfrm>
              <a:off x="5735574" y="1945843"/>
              <a:ext cx="541325" cy="307238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/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850" dirty="0"/>
            </a:p>
          </p:txBody>
        </p:sp>
        <p:sp>
          <p:nvSpPr>
            <p:cNvPr id="36" name="處理"/>
            <p:cNvSpPr/>
            <p:nvPr/>
          </p:nvSpPr>
          <p:spPr>
            <a:xfrm>
              <a:off x="6514003" y="1945843"/>
              <a:ext cx="541325" cy="307238"/>
            </a:xfrm>
            <a:prstGeom prst="roundRect">
              <a:avLst>
                <a:gd name="adj" fmla="val 50000"/>
              </a:avLst>
            </a:prstGeom>
            <a:solidFill>
              <a:srgbClr val="0F7C80"/>
            </a:solidFill>
            <a:ln/>
            <a:effectLst>
              <a:outerShdw blurRad="60960" dist="1524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850" dirty="0"/>
            </a:p>
          </p:txBody>
        </p:sp>
        <p:cxnSp>
          <p:nvCxnSpPr>
            <p:cNvPr id="37" name="連接線"/>
            <p:cNvCxnSpPr>
              <a:stCxn id="34" idx="3"/>
              <a:endCxn id="35" idx="1"/>
            </p:cNvCxnSpPr>
            <p:nvPr/>
          </p:nvCxnSpPr>
          <p:spPr>
            <a:xfrm>
              <a:off x="5498470" y="2099462"/>
              <a:ext cx="237104" cy="0"/>
            </a:xfrm>
            <a:prstGeom prst="straightConnector1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38" name="連接線"/>
            <p:cNvCxnSpPr>
              <a:stCxn id="35" idx="3"/>
              <a:endCxn id="36" idx="1"/>
            </p:cNvCxnSpPr>
            <p:nvPr/>
          </p:nvCxnSpPr>
          <p:spPr>
            <a:xfrm>
              <a:off x="6276899" y="2099462"/>
              <a:ext cx="237104" cy="0"/>
            </a:xfrm>
            <a:prstGeom prst="straightConnector1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39" name="連接線"/>
            <p:cNvCxnSpPr>
              <a:stCxn id="35" idx="2"/>
              <a:endCxn id="34" idx="2"/>
            </p:cNvCxnSpPr>
            <p:nvPr/>
          </p:nvCxnSpPr>
          <p:spPr>
            <a:xfrm rot="5400000">
              <a:off x="5614279" y="1866610"/>
              <a:ext cx="5486" cy="778429"/>
            </a:xfrm>
            <a:prstGeom prst="bentConnector3">
              <a:avLst>
                <a:gd name="adj1" fmla="val 5600000"/>
              </a:avLst>
            </a:prstGeom>
            <a:ln w="12700">
              <a:solidFill>
                <a:srgbClr val="F2A541"/>
              </a:solidFill>
              <a:prstDash val="sysDash"/>
              <a:tailEnd type="triangle"/>
            </a:ln>
          </p:spPr>
        </p:cxnSp>
        <p:sp>
          <p:nvSpPr>
            <p:cNvPr id="40" name="標註"/>
            <p:cNvSpPr/>
            <p:nvPr/>
          </p:nvSpPr>
          <p:spPr>
            <a:xfrm>
              <a:off x="5227808" y="2589581"/>
              <a:ext cx="778429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B67C3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700" dirty="0"/>
            </a:p>
          </p:txBody>
        </p:sp>
      </p:grpSp>
      <p:sp>
        <p:nvSpPr>
          <p:cNvPr id="41" name="Text 39"/>
          <p:cNvSpPr/>
          <p:nvPr/>
        </p:nvSpPr>
        <p:spPr>
          <a:xfrm>
            <a:off x="7216262" y="1452067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組合名稱"/>
          <p:cNvSpPr/>
          <p:nvPr/>
        </p:nvSpPr>
        <p:spPr>
          <a:xfrm>
            <a:off x="7377196" y="1389888"/>
            <a:ext cx="193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Approval Loop</a:t>
            </a:r>
            <a:endParaRPr lang="en-US" sz="1100" dirty="0"/>
          </a:p>
        </p:txBody>
      </p:sp>
      <p:sp>
        <p:nvSpPr>
          <p:cNvPr id="43" name="線條"/>
          <p:cNvSpPr/>
          <p:nvPr/>
        </p:nvSpPr>
        <p:spPr>
          <a:xfrm>
            <a:off x="7216262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7216262" y="1697126"/>
            <a:ext cx="2098182" cy="929030"/>
            <a:chOff x="7216262" y="1697126"/>
            <a:chExt cx="2098182" cy="929030"/>
          </a:xfrm>
        </p:grpSpPr>
        <p:sp>
          <p:nvSpPr>
            <p:cNvPr id="44" name="處理"/>
            <p:cNvSpPr/>
            <p:nvPr/>
          </p:nvSpPr>
          <p:spPr>
            <a:xfrm>
              <a:off x="7216262" y="2253082"/>
              <a:ext cx="585216" cy="307238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/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850" dirty="0"/>
            </a:p>
          </p:txBody>
        </p:sp>
        <p:sp>
          <p:nvSpPr>
            <p:cNvPr id="45" name="判斷"/>
            <p:cNvSpPr/>
            <p:nvPr/>
          </p:nvSpPr>
          <p:spPr>
            <a:xfrm>
              <a:off x="7947782" y="2187245"/>
              <a:ext cx="541325" cy="438912"/>
            </a:xfrm>
            <a:prstGeom prst="diamond">
              <a:avLst/>
            </a:prstGeom>
            <a:solidFill>
              <a:srgbClr val="E0F0F0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750" dirty="0"/>
            </a:p>
          </p:txBody>
        </p:sp>
        <p:cxnSp>
          <p:nvCxnSpPr>
            <p:cNvPr id="46" name="連接線"/>
            <p:cNvCxnSpPr>
              <a:stCxn id="44" idx="3"/>
              <a:endCxn id="45" idx="1"/>
            </p:cNvCxnSpPr>
            <p:nvPr/>
          </p:nvCxnSpPr>
          <p:spPr>
            <a:xfrm>
              <a:off x="7801478" y="2406701"/>
              <a:ext cx="146304" cy="0"/>
            </a:xfrm>
            <a:prstGeom prst="straightConnector1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  <p:sp>
          <p:nvSpPr>
            <p:cNvPr id="47" name="處理"/>
            <p:cNvSpPr/>
            <p:nvPr/>
          </p:nvSpPr>
          <p:spPr>
            <a:xfrm>
              <a:off x="8860902" y="2253082"/>
              <a:ext cx="453542" cy="307238"/>
            </a:xfrm>
            <a:prstGeom prst="roundRect">
              <a:avLst>
                <a:gd name="adj" fmla="val 50000"/>
              </a:avLst>
            </a:prstGeom>
            <a:solidFill>
              <a:srgbClr val="0F7C80"/>
            </a:solidFill>
            <a:ln/>
            <a:effectLst>
              <a:outerShdw blurRad="60960" dist="1524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850" dirty="0"/>
            </a:p>
          </p:txBody>
        </p:sp>
        <p:cxnSp>
          <p:nvCxnSpPr>
            <p:cNvPr id="48" name="連接線"/>
            <p:cNvCxnSpPr>
              <a:stCxn id="45" idx="3"/>
              <a:endCxn id="47" idx="1"/>
            </p:cNvCxnSpPr>
            <p:nvPr/>
          </p:nvCxnSpPr>
          <p:spPr>
            <a:xfrm>
              <a:off x="8489107" y="2406701"/>
              <a:ext cx="371795" cy="0"/>
            </a:xfrm>
            <a:prstGeom prst="straightConnector1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  <p:sp>
          <p:nvSpPr>
            <p:cNvPr id="49" name="標註"/>
            <p:cNvSpPr/>
            <p:nvPr/>
          </p:nvSpPr>
          <p:spPr>
            <a:xfrm>
              <a:off x="8489107" y="2231136"/>
              <a:ext cx="371795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700" dirty="0"/>
            </a:p>
          </p:txBody>
        </p:sp>
        <p:cxnSp>
          <p:nvCxnSpPr>
            <p:cNvPr id="50" name="連接線"/>
            <p:cNvCxnSpPr>
              <a:stCxn id="45" idx="0"/>
              <a:endCxn id="44" idx="0"/>
            </p:cNvCxnSpPr>
            <p:nvPr/>
          </p:nvCxnSpPr>
          <p:spPr>
            <a:xfrm rot="5400000">
              <a:off x="7830739" y="1865376"/>
              <a:ext cx="65837" cy="709574"/>
            </a:xfrm>
            <a:prstGeom prst="bentConnector3">
              <a:avLst>
                <a:gd name="adj1" fmla="val -500000"/>
              </a:avLst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  <p:sp>
          <p:nvSpPr>
            <p:cNvPr id="51" name="標註"/>
            <p:cNvSpPr/>
            <p:nvPr/>
          </p:nvSpPr>
          <p:spPr>
            <a:xfrm>
              <a:off x="7523500" y="1697126"/>
              <a:ext cx="6949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700" dirty="0"/>
            </a:p>
          </p:txBody>
        </p:sp>
      </p:grpSp>
      <p:sp>
        <p:nvSpPr>
          <p:cNvPr id="52" name="Text 50"/>
          <p:cNvSpPr/>
          <p:nvPr/>
        </p:nvSpPr>
        <p:spPr>
          <a:xfrm>
            <a:off x="438912" y="3295498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組合名稱"/>
          <p:cNvSpPr/>
          <p:nvPr/>
        </p:nvSpPr>
        <p:spPr>
          <a:xfrm>
            <a:off x="599846" y="3233318"/>
            <a:ext cx="193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Swimlane</a:t>
            </a:r>
            <a:endParaRPr lang="en-US" sz="1100" dirty="0"/>
          </a:p>
        </p:txBody>
      </p:sp>
      <p:sp>
        <p:nvSpPr>
          <p:cNvPr id="54" name="線條"/>
          <p:cNvSpPr/>
          <p:nvPr/>
        </p:nvSpPr>
        <p:spPr>
          <a:xfrm>
            <a:off x="438912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438912" y="3555187"/>
            <a:ext cx="2098182" cy="1214323"/>
            <a:chOff x="438912" y="3555187"/>
            <a:chExt cx="2098182" cy="1214323"/>
          </a:xfrm>
        </p:grpSpPr>
        <p:sp>
          <p:nvSpPr>
            <p:cNvPr id="55" name="泳道"/>
            <p:cNvSpPr/>
            <p:nvPr/>
          </p:nvSpPr>
          <p:spPr>
            <a:xfrm>
              <a:off x="438912" y="3555187"/>
              <a:ext cx="2098182" cy="58521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6" name="泳道標題"/>
            <p:cNvSpPr/>
            <p:nvPr/>
          </p:nvSpPr>
          <p:spPr>
            <a:xfrm>
              <a:off x="438912" y="3555187"/>
              <a:ext cx="336499" cy="585216"/>
            </a:xfrm>
            <a:prstGeom prst="rect">
              <a:avLst/>
            </a:prstGeom>
            <a:solidFill>
              <a:srgbClr val="F2F2F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700" dirty="0"/>
            </a:p>
          </p:txBody>
        </p:sp>
        <p:sp>
          <p:nvSpPr>
            <p:cNvPr id="57" name="泳道"/>
            <p:cNvSpPr/>
            <p:nvPr/>
          </p:nvSpPr>
          <p:spPr>
            <a:xfrm>
              <a:off x="438912" y="4184294"/>
              <a:ext cx="2098182" cy="58521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8" name="泳道標題"/>
            <p:cNvSpPr/>
            <p:nvPr/>
          </p:nvSpPr>
          <p:spPr>
            <a:xfrm>
              <a:off x="438912" y="4184294"/>
              <a:ext cx="336499" cy="585216"/>
            </a:xfrm>
            <a:prstGeom prst="rect">
              <a:avLst/>
            </a:prstGeom>
            <a:solidFill>
              <a:srgbClr val="F2F2F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700" dirty="0"/>
            </a:p>
          </p:txBody>
        </p:sp>
        <p:sp>
          <p:nvSpPr>
            <p:cNvPr id="59" name="處理"/>
            <p:cNvSpPr/>
            <p:nvPr/>
          </p:nvSpPr>
          <p:spPr>
            <a:xfrm>
              <a:off x="877824" y="3694176"/>
              <a:ext cx="512064" cy="307238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/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850" dirty="0"/>
            </a:p>
          </p:txBody>
        </p:sp>
        <p:sp>
          <p:nvSpPr>
            <p:cNvPr id="60" name="處理"/>
            <p:cNvSpPr/>
            <p:nvPr/>
          </p:nvSpPr>
          <p:spPr>
            <a:xfrm>
              <a:off x="1609344" y="4323283"/>
              <a:ext cx="512064" cy="307238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/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850" dirty="0"/>
            </a:p>
          </p:txBody>
        </p:sp>
        <p:sp>
          <p:nvSpPr>
            <p:cNvPr id="61" name="處理"/>
            <p:cNvSpPr/>
            <p:nvPr/>
          </p:nvSpPr>
          <p:spPr>
            <a:xfrm>
              <a:off x="1966509" y="3694176"/>
              <a:ext cx="512064" cy="307238"/>
            </a:xfrm>
            <a:prstGeom prst="roundRect">
              <a:avLst>
                <a:gd name="adj" fmla="val 50000"/>
              </a:avLst>
            </a:prstGeom>
            <a:solidFill>
              <a:srgbClr val="0F7C80"/>
            </a:solidFill>
            <a:ln/>
            <a:effectLst>
              <a:outerShdw blurRad="60960" dist="1524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850" dirty="0"/>
            </a:p>
          </p:txBody>
        </p:sp>
        <p:cxnSp>
          <p:nvCxnSpPr>
            <p:cNvPr id="62" name="連接線"/>
            <p:cNvCxnSpPr>
              <a:stCxn id="59" idx="3"/>
              <a:endCxn id="60" idx="0"/>
            </p:cNvCxnSpPr>
            <p:nvPr/>
          </p:nvCxnSpPr>
          <p:spPr>
            <a:xfrm>
              <a:off x="1389888" y="3847795"/>
              <a:ext cx="475488" cy="475488"/>
            </a:xfrm>
            <a:prstGeom prst="bentConnector2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63" name="連接線"/>
            <p:cNvCxnSpPr>
              <a:stCxn id="60" idx="3"/>
              <a:endCxn id="61" idx="2"/>
            </p:cNvCxnSpPr>
            <p:nvPr/>
          </p:nvCxnSpPr>
          <p:spPr>
            <a:xfrm flipV="1">
              <a:off x="2121408" y="4001414"/>
              <a:ext cx="101133" cy="475488"/>
            </a:xfrm>
            <a:prstGeom prst="bentConnector2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</p:grpSp>
      <p:sp>
        <p:nvSpPr>
          <p:cNvPr id="64" name="Text 62"/>
          <p:cNvSpPr/>
          <p:nvPr/>
        </p:nvSpPr>
        <p:spPr>
          <a:xfrm>
            <a:off x="2698029" y="3295498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組合名稱"/>
          <p:cNvSpPr/>
          <p:nvPr/>
        </p:nvSpPr>
        <p:spPr>
          <a:xfrm>
            <a:off x="2858963" y="3233318"/>
            <a:ext cx="193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Parallel Split / Merge</a:t>
            </a:r>
            <a:endParaRPr lang="en-US" sz="1100" dirty="0"/>
          </a:p>
        </p:txBody>
      </p:sp>
      <p:sp>
        <p:nvSpPr>
          <p:cNvPr id="66" name="線條"/>
          <p:cNvSpPr/>
          <p:nvPr/>
        </p:nvSpPr>
        <p:spPr>
          <a:xfrm>
            <a:off x="2698029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2698029" y="3599078"/>
            <a:ext cx="2098182" cy="1082650"/>
            <a:chOff x="2698029" y="3599078"/>
            <a:chExt cx="2098182" cy="1082650"/>
          </a:xfrm>
        </p:grpSpPr>
        <p:sp>
          <p:nvSpPr>
            <p:cNvPr id="67" name="處理"/>
            <p:cNvSpPr/>
            <p:nvPr/>
          </p:nvSpPr>
          <p:spPr>
            <a:xfrm>
              <a:off x="2698029" y="3986784"/>
              <a:ext cx="409651" cy="307238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/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850" dirty="0"/>
            </a:p>
          </p:txBody>
        </p:sp>
        <p:sp>
          <p:nvSpPr>
            <p:cNvPr id="68" name="分流"/>
            <p:cNvSpPr/>
            <p:nvPr/>
          </p:nvSpPr>
          <p:spPr>
            <a:xfrm>
              <a:off x="3253984" y="3599078"/>
              <a:ext cx="51206" cy="1082650"/>
            </a:xfrm>
            <a:prstGeom prst="rect">
              <a:avLst/>
            </a:prstGeom>
            <a:solidFill>
              <a:srgbClr val="0F7C80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9" name="處理"/>
            <p:cNvSpPr/>
            <p:nvPr/>
          </p:nvSpPr>
          <p:spPr>
            <a:xfrm>
              <a:off x="3458809" y="3650285"/>
              <a:ext cx="541325" cy="307238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/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850" dirty="0"/>
            </a:p>
          </p:txBody>
        </p:sp>
        <p:sp>
          <p:nvSpPr>
            <p:cNvPr id="70" name="處理"/>
            <p:cNvSpPr/>
            <p:nvPr/>
          </p:nvSpPr>
          <p:spPr>
            <a:xfrm>
              <a:off x="3458809" y="4323283"/>
              <a:ext cx="541325" cy="307238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/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850" dirty="0"/>
            </a:p>
          </p:txBody>
        </p:sp>
        <p:sp>
          <p:nvSpPr>
            <p:cNvPr id="71" name="合流"/>
            <p:cNvSpPr/>
            <p:nvPr/>
          </p:nvSpPr>
          <p:spPr>
            <a:xfrm>
              <a:off x="4020800" y="3599078"/>
              <a:ext cx="51206" cy="1082650"/>
            </a:xfrm>
            <a:prstGeom prst="rect">
              <a:avLst/>
            </a:prstGeom>
            <a:solidFill>
              <a:srgbClr val="0F7C80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2" name="處理"/>
            <p:cNvSpPr/>
            <p:nvPr/>
          </p:nvSpPr>
          <p:spPr>
            <a:xfrm>
              <a:off x="4342668" y="3986784"/>
              <a:ext cx="453542" cy="307238"/>
            </a:xfrm>
            <a:prstGeom prst="roundRect">
              <a:avLst>
                <a:gd name="adj" fmla="val 50000"/>
              </a:avLst>
            </a:prstGeom>
            <a:solidFill>
              <a:srgbClr val="0F7C80"/>
            </a:solidFill>
            <a:ln/>
            <a:effectLst>
              <a:outerShdw blurRad="60960" dist="1524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850" dirty="0"/>
            </a:p>
          </p:txBody>
        </p:sp>
        <p:cxnSp>
          <p:nvCxnSpPr>
            <p:cNvPr id="73" name="連接線"/>
            <p:cNvCxnSpPr>
              <a:stCxn id="67" idx="3"/>
              <a:endCxn id="68" idx="1"/>
            </p:cNvCxnSpPr>
            <p:nvPr/>
          </p:nvCxnSpPr>
          <p:spPr>
            <a:xfrm>
              <a:off x="3107680" y="4140403"/>
              <a:ext cx="146304" cy="0"/>
            </a:xfrm>
            <a:prstGeom prst="straightConnector1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74" name="連接線"/>
            <p:cNvCxnSpPr>
              <a:endCxn id="69" idx="1"/>
            </p:cNvCxnSpPr>
            <p:nvPr/>
          </p:nvCxnSpPr>
          <p:spPr>
            <a:xfrm>
              <a:off x="3305190" y="3803904"/>
              <a:ext cx="153619" cy="0"/>
            </a:xfrm>
            <a:prstGeom prst="straightConnector1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75" name="連接線"/>
            <p:cNvCxnSpPr>
              <a:endCxn id="70" idx="1"/>
            </p:cNvCxnSpPr>
            <p:nvPr/>
          </p:nvCxnSpPr>
          <p:spPr>
            <a:xfrm>
              <a:off x="3305190" y="4476902"/>
              <a:ext cx="153619" cy="0"/>
            </a:xfrm>
            <a:prstGeom prst="straightConnector1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76" name="連接線"/>
            <p:cNvCxnSpPr>
              <a:stCxn id="69" idx="3"/>
            </p:cNvCxnSpPr>
            <p:nvPr/>
          </p:nvCxnSpPr>
          <p:spPr>
            <a:xfrm>
              <a:off x="4000134" y="3803904"/>
              <a:ext cx="20665" cy="0"/>
            </a:xfrm>
            <a:prstGeom prst="straightConnector1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77" name="連接線"/>
            <p:cNvCxnSpPr>
              <a:stCxn id="70" idx="3"/>
            </p:cNvCxnSpPr>
            <p:nvPr/>
          </p:nvCxnSpPr>
          <p:spPr>
            <a:xfrm>
              <a:off x="4000134" y="4476902"/>
              <a:ext cx="20665" cy="0"/>
            </a:xfrm>
            <a:prstGeom prst="straightConnector1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78" name="連接線"/>
            <p:cNvCxnSpPr>
              <a:stCxn id="71" idx="3"/>
              <a:endCxn id="72" idx="1"/>
            </p:cNvCxnSpPr>
            <p:nvPr/>
          </p:nvCxnSpPr>
          <p:spPr>
            <a:xfrm>
              <a:off x="4072006" y="4140403"/>
              <a:ext cx="270662" cy="0"/>
            </a:xfrm>
            <a:prstGeom prst="straightConnector1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</p:grpSp>
      <p:sp>
        <p:nvSpPr>
          <p:cNvPr id="79" name="Text 77"/>
          <p:cNvSpPr/>
          <p:nvPr/>
        </p:nvSpPr>
        <p:spPr>
          <a:xfrm>
            <a:off x="4957145" y="3295498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組合名稱"/>
          <p:cNvSpPr/>
          <p:nvPr/>
        </p:nvSpPr>
        <p:spPr>
          <a:xfrm>
            <a:off x="5118080" y="3233318"/>
            <a:ext cx="193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Input / Process / Output</a:t>
            </a:r>
            <a:endParaRPr lang="en-US" sz="1100" dirty="0"/>
          </a:p>
        </p:txBody>
      </p:sp>
      <p:sp>
        <p:nvSpPr>
          <p:cNvPr id="81" name="線條"/>
          <p:cNvSpPr/>
          <p:nvPr/>
        </p:nvSpPr>
        <p:spPr>
          <a:xfrm>
            <a:off x="4957145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4920569" y="3855110"/>
            <a:ext cx="2171334" cy="621792"/>
            <a:chOff x="4920569" y="3855110"/>
            <a:chExt cx="2171334" cy="621792"/>
          </a:xfrm>
        </p:grpSpPr>
        <p:sp>
          <p:nvSpPr>
            <p:cNvPr id="82" name="輸入輸出"/>
            <p:cNvSpPr/>
            <p:nvPr/>
          </p:nvSpPr>
          <p:spPr>
            <a:xfrm>
              <a:off x="4957145" y="3891686"/>
              <a:ext cx="599846" cy="307238"/>
            </a:xfrm>
            <a:prstGeom prst="parallelogram">
              <a:avLst>
                <a:gd name="adj" fmla="val 42000"/>
              </a:avLst>
            </a:prstGeom>
            <a:solidFill>
              <a:srgbClr val="E0F0F0"/>
            </a:solidFill>
            <a:ln/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850" dirty="0"/>
            </a:p>
          </p:txBody>
        </p:sp>
        <p:sp>
          <p:nvSpPr>
            <p:cNvPr id="83" name="標註"/>
            <p:cNvSpPr/>
            <p:nvPr/>
          </p:nvSpPr>
          <p:spPr>
            <a:xfrm>
              <a:off x="4920569" y="4330598"/>
              <a:ext cx="672998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700" dirty="0"/>
            </a:p>
          </p:txBody>
        </p:sp>
        <p:sp>
          <p:nvSpPr>
            <p:cNvPr id="84" name="處理"/>
            <p:cNvSpPr/>
            <p:nvPr/>
          </p:nvSpPr>
          <p:spPr>
            <a:xfrm>
              <a:off x="5750204" y="3891686"/>
              <a:ext cx="512064" cy="307238"/>
            </a:xfrm>
            <a:prstGeom prst="roundRect">
              <a:avLst>
                <a:gd name="adj" fmla="val 50000"/>
              </a:avLst>
            </a:prstGeom>
            <a:solidFill>
              <a:srgbClr val="0F7C80"/>
            </a:solidFill>
            <a:ln/>
            <a:effectLst>
              <a:outerShdw blurRad="60960" dist="1524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850" dirty="0"/>
            </a:p>
          </p:txBody>
        </p:sp>
        <p:sp>
          <p:nvSpPr>
            <p:cNvPr id="85" name="標註"/>
            <p:cNvSpPr/>
            <p:nvPr/>
          </p:nvSpPr>
          <p:spPr>
            <a:xfrm>
              <a:off x="5713628" y="4330598"/>
              <a:ext cx="58521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700" dirty="0"/>
            </a:p>
          </p:txBody>
        </p:sp>
        <p:sp>
          <p:nvSpPr>
            <p:cNvPr id="86" name="文件"/>
            <p:cNvSpPr/>
            <p:nvPr/>
          </p:nvSpPr>
          <p:spPr>
            <a:xfrm>
              <a:off x="6455481" y="3855110"/>
              <a:ext cx="599846" cy="380390"/>
            </a:xfrm>
            <a:prstGeom prst="flowChartDocument">
              <a:avLst/>
            </a:prstGeom>
            <a:solidFill>
              <a:srgbClr val="E0F0F0"/>
            </a:solidFill>
            <a:ln/>
          </p:spPr>
          <p:txBody>
            <a:bodyPr wrap="square" lIns="30480" tIns="0" rIns="3048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850" dirty="0"/>
            </a:p>
          </p:txBody>
        </p:sp>
        <p:sp>
          <p:nvSpPr>
            <p:cNvPr id="87" name="標註"/>
            <p:cNvSpPr/>
            <p:nvPr/>
          </p:nvSpPr>
          <p:spPr>
            <a:xfrm>
              <a:off x="6418905" y="4330598"/>
              <a:ext cx="672998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700" dirty="0"/>
            </a:p>
          </p:txBody>
        </p:sp>
        <p:cxnSp>
          <p:nvCxnSpPr>
            <p:cNvPr id="88" name="連接線"/>
            <p:cNvCxnSpPr>
              <a:stCxn id="82" idx="2"/>
              <a:endCxn id="84" idx="1"/>
            </p:cNvCxnSpPr>
            <p:nvPr/>
          </p:nvCxnSpPr>
          <p:spPr>
            <a:xfrm>
              <a:off x="5492472" y="4045306"/>
              <a:ext cx="257733" cy="0"/>
            </a:xfrm>
            <a:prstGeom prst="straightConnector1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89" name="連接線"/>
            <p:cNvCxnSpPr>
              <a:stCxn id="84" idx="3"/>
              <a:endCxn id="86" idx="1"/>
            </p:cNvCxnSpPr>
            <p:nvPr/>
          </p:nvCxnSpPr>
          <p:spPr>
            <a:xfrm>
              <a:off x="6262268" y="4045306"/>
              <a:ext cx="193213" cy="0"/>
            </a:xfrm>
            <a:prstGeom prst="straightConnector1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</p:grpSp>
      <p:sp>
        <p:nvSpPr>
          <p:cNvPr id="90" name="Text 88"/>
          <p:cNvSpPr/>
          <p:nvPr/>
        </p:nvSpPr>
        <p:spPr>
          <a:xfrm>
            <a:off x="7216262" y="3295498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組合名稱"/>
          <p:cNvSpPr/>
          <p:nvPr/>
        </p:nvSpPr>
        <p:spPr>
          <a:xfrm>
            <a:off x="7377196" y="3233318"/>
            <a:ext cx="193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</a:t>
            </a:r>
            <a:endParaRPr lang="en-US" sz="1100" dirty="0"/>
          </a:p>
        </p:txBody>
      </p:sp>
      <p:sp>
        <p:nvSpPr>
          <p:cNvPr id="92" name="線條"/>
          <p:cNvSpPr/>
          <p:nvPr/>
        </p:nvSpPr>
        <p:spPr>
          <a:xfrm>
            <a:off x="7216262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7216262" y="3672230"/>
            <a:ext cx="2098182" cy="950976"/>
            <a:chOff x="7216262" y="3672230"/>
            <a:chExt cx="2098182" cy="950976"/>
          </a:xfrm>
        </p:grpSpPr>
        <p:sp>
          <p:nvSpPr>
            <p:cNvPr id="93" name="卡片"/>
            <p:cNvSpPr/>
            <p:nvPr/>
          </p:nvSpPr>
          <p:spPr>
            <a:xfrm>
              <a:off x="7216262" y="3672230"/>
              <a:ext cx="863194" cy="950976"/>
            </a:xfrm>
            <a:prstGeom prst="roundRect">
              <a:avLst>
                <a:gd name="adj" fmla="val 18644"/>
              </a:avLst>
            </a:prstGeom>
            <a:solidFill>
              <a:srgbClr val="FFFFFF"/>
            </a:solidFill>
            <a:ln/>
            <a:effectLst>
              <a:outerShdw blurRad="101600" dist="30480" dir="5400000" sx="100000" sy="100000" algn="ctr" rotWithShape="0">
                <a:srgbClr val="000000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4" name="卡片標題"/>
            <p:cNvSpPr/>
            <p:nvPr/>
          </p:nvSpPr>
          <p:spPr>
            <a:xfrm>
              <a:off x="7318675" y="3760013"/>
              <a:ext cx="65836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6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Before</a:t>
              </a:r>
              <a:endParaRPr lang="en-US" sz="900" dirty="0"/>
            </a:p>
          </p:txBody>
        </p:sp>
        <p:sp>
          <p:nvSpPr>
            <p:cNvPr id="95" name="卡片內文"/>
            <p:cNvSpPr/>
            <p:nvPr/>
          </p:nvSpPr>
          <p:spPr>
            <a:xfrm>
              <a:off x="7318675" y="4023360"/>
              <a:ext cx="65836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7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750" dirty="0"/>
            </a:p>
          </p:txBody>
        </p:sp>
        <p:sp>
          <p:nvSpPr>
            <p:cNvPr id="96" name="分隔"/>
            <p:cNvSpPr/>
            <p:nvPr/>
          </p:nvSpPr>
          <p:spPr>
            <a:xfrm>
              <a:off x="8225119" y="4067251"/>
              <a:ext cx="80467" cy="160934"/>
            </a:xfrm>
            <a:prstGeom prst="chevron">
              <a:avLst>
                <a:gd name="adj" fmla="val 68182"/>
              </a:avLst>
            </a:prstGeom>
            <a:solidFill>
              <a:srgbClr val="0F7C80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7" name="強調卡片"/>
            <p:cNvSpPr/>
            <p:nvPr/>
          </p:nvSpPr>
          <p:spPr>
            <a:xfrm>
              <a:off x="8451251" y="3672230"/>
              <a:ext cx="863194" cy="950976"/>
            </a:xfrm>
            <a:prstGeom prst="roundRect">
              <a:avLst>
                <a:gd name="adj" fmla="val 18644"/>
              </a:avLst>
            </a:prstGeom>
            <a:solidFill>
              <a:srgbClr val="FFFFFF"/>
            </a:solidFill>
            <a:ln w="17780">
              <a:solidFill>
                <a:srgbClr val="0F7C80"/>
              </a:solidFill>
              <a:prstDash val="solid"/>
            </a:ln>
            <a:effectLst>
              <a:outerShdw blurRad="101600" dist="30480" dir="5400000" sx="100000" sy="100000" algn="ctr" rotWithShape="0">
                <a:srgbClr val="000000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8" name="卡片標題"/>
            <p:cNvSpPr/>
            <p:nvPr/>
          </p:nvSpPr>
          <p:spPr>
            <a:xfrm>
              <a:off x="8553663" y="3760013"/>
              <a:ext cx="65836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6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After</a:t>
              </a:r>
              <a:endParaRPr lang="en-US" sz="900" dirty="0"/>
            </a:p>
          </p:txBody>
        </p:sp>
        <p:sp>
          <p:nvSpPr>
            <p:cNvPr id="99" name="卡片內文"/>
            <p:cNvSpPr/>
            <p:nvPr/>
          </p:nvSpPr>
          <p:spPr>
            <a:xfrm>
              <a:off x="8553663" y="4023360"/>
              <a:ext cx="65836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7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750" dirty="0"/>
            </a:p>
          </p:txBody>
        </p:sp>
      </p:grpSp>
      <p:sp>
        <p:nvSpPr>
          <p:cNvPr id="100" name="Text 98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13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常見組合（二）Common Patterns II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38912" y="929030"/>
            <a:ext cx="329184" cy="73152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5878" y="826618"/>
            <a:ext cx="804672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分工表、前後對照、問題對策、方案比較、KPI 數字卡與 PDCA：整組複製即可使用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1452067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組合名稱"/>
          <p:cNvSpPr/>
          <p:nvPr/>
        </p:nvSpPr>
        <p:spPr>
          <a:xfrm>
            <a:off x="599846" y="1389888"/>
            <a:ext cx="26317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責任分工 RACI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RACI Matrix</a:t>
            </a:r>
            <a:endParaRPr lang="en-US" sz="1100" dirty="0"/>
          </a:p>
        </p:txBody>
      </p:sp>
      <p:sp>
        <p:nvSpPr>
          <p:cNvPr id="7" name="線條"/>
          <p:cNvSpPr/>
          <p:nvPr/>
        </p:nvSpPr>
        <p:spPr>
          <a:xfrm>
            <a:off x="438912" y="16386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" y="1682496"/>
          <a:ext cx="2792700" cy="914400"/>
        </p:xfrm>
        <a:graphic>
          <a:graphicData uri="http://schemas.openxmlformats.org/drawingml/2006/table">
            <a:tbl>
              <a:tblPr/>
              <a:tblGrid>
                <a:gridCol w="848563"/>
                <a:gridCol w="486034"/>
                <a:gridCol w="486034"/>
                <a:gridCol w="486034"/>
                <a:gridCol w="486034"/>
              </a:tblGrid>
              <a:tr h="234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7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7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7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7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7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需求定義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方案設計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上線推廣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ACI 標記"/>
          <p:cNvSpPr/>
          <p:nvPr/>
        </p:nvSpPr>
        <p:spPr>
          <a:xfrm>
            <a:off x="1406134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10" name="RACI 標記"/>
          <p:cNvSpPr/>
          <p:nvPr/>
        </p:nvSpPr>
        <p:spPr>
          <a:xfrm>
            <a:off x="1892168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11" name="RACI 標記"/>
          <p:cNvSpPr/>
          <p:nvPr/>
        </p:nvSpPr>
        <p:spPr>
          <a:xfrm>
            <a:off x="2378202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12" name="RACI 標記"/>
          <p:cNvSpPr/>
          <p:nvPr/>
        </p:nvSpPr>
        <p:spPr>
          <a:xfrm>
            <a:off x="2864236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13" name="RACI 標記"/>
          <p:cNvSpPr/>
          <p:nvPr/>
        </p:nvSpPr>
        <p:spPr>
          <a:xfrm>
            <a:off x="1406134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14" name="RACI 標記"/>
          <p:cNvSpPr/>
          <p:nvPr/>
        </p:nvSpPr>
        <p:spPr>
          <a:xfrm>
            <a:off x="1892168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15" name="RACI 標記"/>
          <p:cNvSpPr/>
          <p:nvPr/>
        </p:nvSpPr>
        <p:spPr>
          <a:xfrm>
            <a:off x="2378202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16" name="RACI 標記"/>
          <p:cNvSpPr/>
          <p:nvPr/>
        </p:nvSpPr>
        <p:spPr>
          <a:xfrm>
            <a:off x="2864236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17" name="RACI 標記"/>
          <p:cNvSpPr/>
          <p:nvPr/>
        </p:nvSpPr>
        <p:spPr>
          <a:xfrm>
            <a:off x="1406134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18" name="RACI 標記"/>
          <p:cNvSpPr/>
          <p:nvPr/>
        </p:nvSpPr>
        <p:spPr>
          <a:xfrm>
            <a:off x="1892168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19" name="RACI 標記"/>
          <p:cNvSpPr/>
          <p:nvPr/>
        </p:nvSpPr>
        <p:spPr>
          <a:xfrm>
            <a:off x="2378202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20" name="RACI 標記"/>
          <p:cNvSpPr/>
          <p:nvPr/>
        </p:nvSpPr>
        <p:spPr>
          <a:xfrm>
            <a:off x="2864236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21" name="RACI 標記"/>
          <p:cNvSpPr/>
          <p:nvPr/>
        </p:nvSpPr>
        <p:spPr>
          <a:xfrm>
            <a:off x="1406134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22" name="RACI 標記"/>
          <p:cNvSpPr/>
          <p:nvPr/>
        </p:nvSpPr>
        <p:spPr>
          <a:xfrm>
            <a:off x="1892168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23" name="RACI 標記"/>
          <p:cNvSpPr/>
          <p:nvPr/>
        </p:nvSpPr>
        <p:spPr>
          <a:xfrm>
            <a:off x="2378202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24" name="RACI 標記"/>
          <p:cNvSpPr/>
          <p:nvPr/>
        </p:nvSpPr>
        <p:spPr>
          <a:xfrm>
            <a:off x="2864236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25" name="圖例"/>
          <p:cNvSpPr/>
          <p:nvPr/>
        </p:nvSpPr>
        <p:spPr>
          <a:xfrm>
            <a:off x="438912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500" dirty="0"/>
          </a:p>
        </p:txBody>
      </p:sp>
      <p:sp>
        <p:nvSpPr>
          <p:cNvPr id="26" name="圖例"/>
          <p:cNvSpPr/>
          <p:nvPr/>
        </p:nvSpPr>
        <p:spPr>
          <a:xfrm>
            <a:off x="629107" y="2969971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650" dirty="0"/>
          </a:p>
        </p:txBody>
      </p:sp>
      <p:sp>
        <p:nvSpPr>
          <p:cNvPr id="27" name="圖例"/>
          <p:cNvSpPr/>
          <p:nvPr/>
        </p:nvSpPr>
        <p:spPr>
          <a:xfrm>
            <a:off x="1068019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500" dirty="0"/>
          </a:p>
        </p:txBody>
      </p:sp>
      <p:sp>
        <p:nvSpPr>
          <p:cNvPr id="28" name="圖例"/>
          <p:cNvSpPr/>
          <p:nvPr/>
        </p:nvSpPr>
        <p:spPr>
          <a:xfrm>
            <a:off x="1258214" y="2969971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當責</a:t>
            </a:r>
            <a:endParaRPr lang="en-US" sz="650" dirty="0"/>
          </a:p>
        </p:txBody>
      </p:sp>
      <p:sp>
        <p:nvSpPr>
          <p:cNvPr id="29" name="圖例"/>
          <p:cNvSpPr/>
          <p:nvPr/>
        </p:nvSpPr>
        <p:spPr>
          <a:xfrm>
            <a:off x="1697126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500" dirty="0"/>
          </a:p>
        </p:txBody>
      </p:sp>
      <p:sp>
        <p:nvSpPr>
          <p:cNvPr id="30" name="圖例"/>
          <p:cNvSpPr/>
          <p:nvPr/>
        </p:nvSpPr>
        <p:spPr>
          <a:xfrm>
            <a:off x="1887322" y="2969971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</a:t>
            </a:r>
            <a:endParaRPr lang="en-US" sz="650" dirty="0"/>
          </a:p>
        </p:txBody>
      </p:sp>
      <p:sp>
        <p:nvSpPr>
          <p:cNvPr id="31" name="圖例"/>
          <p:cNvSpPr/>
          <p:nvPr/>
        </p:nvSpPr>
        <p:spPr>
          <a:xfrm>
            <a:off x="2326234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500" dirty="0"/>
          </a:p>
        </p:txBody>
      </p:sp>
      <p:sp>
        <p:nvSpPr>
          <p:cNvPr id="32" name="圖例"/>
          <p:cNvSpPr/>
          <p:nvPr/>
        </p:nvSpPr>
        <p:spPr>
          <a:xfrm>
            <a:off x="2516429" y="2969971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知會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3480328" y="1452067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組合名稱"/>
          <p:cNvSpPr/>
          <p:nvPr/>
        </p:nvSpPr>
        <p:spPr>
          <a:xfrm>
            <a:off x="3641263" y="1389888"/>
            <a:ext cx="26317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改善前後對照表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 Table</a:t>
            </a:r>
            <a:endParaRPr lang="en-US" sz="1100" dirty="0"/>
          </a:p>
        </p:txBody>
      </p:sp>
      <p:sp>
        <p:nvSpPr>
          <p:cNvPr id="35" name="線條"/>
          <p:cNvSpPr/>
          <p:nvPr/>
        </p:nvSpPr>
        <p:spPr>
          <a:xfrm>
            <a:off x="3480328" y="16386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aphicFrame>
        <p:nvGraphicFramePr>
          <p:cNvPr id="3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80328" y="1682496"/>
          <a:ext cx="27927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30590"/>
                <a:gridCol w="1030590"/>
              </a:tblGrid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7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改善前 Before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改善後 After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7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C80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交期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7C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不良率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3.2%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7C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1.1%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人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7C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人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件／月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7C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件／月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Text 33"/>
          <p:cNvSpPr/>
          <p:nvPr/>
        </p:nvSpPr>
        <p:spPr>
          <a:xfrm>
            <a:off x="3480328" y="3028493"/>
            <a:ext cx="27927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改善後一欄以主色粗體標示</a:t>
            </a:r>
            <a:endParaRPr lang="en-US" sz="650" dirty="0"/>
          </a:p>
        </p:txBody>
      </p:sp>
      <p:sp>
        <p:nvSpPr>
          <p:cNvPr id="38" name="Text 34"/>
          <p:cNvSpPr/>
          <p:nvPr/>
        </p:nvSpPr>
        <p:spPr>
          <a:xfrm>
            <a:off x="6521745" y="1452067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組合名稱"/>
          <p:cNvSpPr/>
          <p:nvPr/>
        </p:nvSpPr>
        <p:spPr>
          <a:xfrm>
            <a:off x="6682679" y="1389888"/>
            <a:ext cx="26317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原因 → 對策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Problem / Cause / Countermeasure</a:t>
            </a:r>
            <a:endParaRPr lang="en-US" sz="1100" dirty="0"/>
          </a:p>
        </p:txBody>
      </p:sp>
      <p:sp>
        <p:nvSpPr>
          <p:cNvPr id="40" name="線條"/>
          <p:cNvSpPr/>
          <p:nvPr/>
        </p:nvSpPr>
        <p:spPr>
          <a:xfrm>
            <a:off x="6521745" y="16386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2" name="問題 → 原因 → 對策"/>
          <p:cNvGrpSpPr/>
          <p:nvPr/>
        </p:nvGrpSpPr>
        <p:grpSpPr>
          <a:xfrm>
            <a:off x="6521745" y="1843430"/>
            <a:ext cx="2792700" cy="848563"/>
            <a:chOff x="6521745" y="1843430"/>
            <a:chExt cx="2792700" cy="848563"/>
          </a:xfrm>
        </p:grpSpPr>
        <p:sp>
          <p:nvSpPr>
            <p:cNvPr id="41" name="問題"/>
            <p:cNvSpPr/>
            <p:nvPr/>
          </p:nvSpPr>
          <p:spPr>
            <a:xfrm>
              <a:off x="6521745" y="1843430"/>
              <a:ext cx="746150" cy="848563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15240">
              <a:solidFill>
                <a:srgbClr val="F2A541"/>
              </a:solidFill>
              <a:prstDash val="solid"/>
            </a:ln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B67C3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Problem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交期常延誤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客戶抱怨增加</a:t>
              </a:r>
              <a:endParaRPr lang="en-US" sz="700" dirty="0"/>
            </a:p>
          </p:txBody>
        </p:sp>
        <p:sp>
          <p:nvSpPr>
            <p:cNvPr id="42" name="原因"/>
            <p:cNvSpPr/>
            <p:nvPr/>
          </p:nvSpPr>
          <p:spPr>
            <a:xfrm>
              <a:off x="7545019" y="1843430"/>
              <a:ext cx="746150" cy="848563"/>
            </a:xfrm>
            <a:prstGeom prst="roundRect">
              <a:avLst>
                <a:gd name="adj" fmla="val 11765"/>
              </a:avLst>
            </a:prstGeom>
            <a:solidFill>
              <a:srgbClr val="F2F2F2"/>
            </a:solidFill>
            <a:ln/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原因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Cause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需求變更頻繁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排程未同步</a:t>
              </a:r>
              <a:endParaRPr lang="en-US" sz="700" dirty="0"/>
            </a:p>
          </p:txBody>
        </p:sp>
        <p:sp>
          <p:nvSpPr>
            <p:cNvPr id="43" name="對策"/>
            <p:cNvSpPr/>
            <p:nvPr/>
          </p:nvSpPr>
          <p:spPr>
            <a:xfrm>
              <a:off x="8568294" y="1843430"/>
              <a:ext cx="746150" cy="848563"/>
            </a:xfrm>
            <a:prstGeom prst="roundRect">
              <a:avLst>
                <a:gd name="adj" fmla="val 11765"/>
              </a:avLst>
            </a:prstGeom>
            <a:solidFill>
              <a:srgbClr val="0F7C80"/>
            </a:solidFill>
            <a:ln/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對策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B7D8D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Countermeasure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需求凍結點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每週排程會議</a:t>
              </a:r>
              <a:endParaRPr lang="en-US" sz="700" dirty="0"/>
            </a:p>
          </p:txBody>
        </p:sp>
        <p:cxnSp>
          <p:nvCxnSpPr>
            <p:cNvPr id="44" name="連接線"/>
            <p:cNvCxnSpPr>
              <a:stCxn id="41" idx="3"/>
              <a:endCxn id="42" idx="1"/>
            </p:cNvCxnSpPr>
            <p:nvPr/>
          </p:nvCxnSpPr>
          <p:spPr>
            <a:xfrm>
              <a:off x="7267895" y="2267712"/>
              <a:ext cx="277124" cy="0"/>
            </a:xfrm>
            <a:prstGeom prst="straightConnector1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45" name="連接線"/>
            <p:cNvCxnSpPr>
              <a:stCxn id="42" idx="3"/>
              <a:endCxn id="43" idx="1"/>
            </p:cNvCxnSpPr>
            <p:nvPr/>
          </p:nvCxnSpPr>
          <p:spPr>
            <a:xfrm>
              <a:off x="8291170" y="2267712"/>
              <a:ext cx="277124" cy="0"/>
            </a:xfrm>
            <a:prstGeom prst="straightConnector1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</p:grpSp>
      <p:sp>
        <p:nvSpPr>
          <p:cNvPr id="46" name="Text 42"/>
          <p:cNvSpPr/>
          <p:nvPr/>
        </p:nvSpPr>
        <p:spPr>
          <a:xfrm>
            <a:off x="438912" y="3280867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組合名稱"/>
          <p:cNvSpPr/>
          <p:nvPr/>
        </p:nvSpPr>
        <p:spPr>
          <a:xfrm>
            <a:off x="599846" y="3218688"/>
            <a:ext cx="26317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三方案比較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3-Column Comparison</a:t>
            </a:r>
            <a:endParaRPr lang="en-US" sz="1100" dirty="0"/>
          </a:p>
        </p:txBody>
      </p:sp>
      <p:sp>
        <p:nvSpPr>
          <p:cNvPr id="48" name="線條"/>
          <p:cNvSpPr/>
          <p:nvPr/>
        </p:nvSpPr>
        <p:spPr>
          <a:xfrm>
            <a:off x="438912" y="34674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3" name="三方案比較"/>
          <p:cNvGrpSpPr/>
          <p:nvPr/>
        </p:nvGrpSpPr>
        <p:grpSpPr>
          <a:xfrm>
            <a:off x="438912" y="3555187"/>
            <a:ext cx="2792700" cy="1419149"/>
            <a:chOff x="438912" y="3555187"/>
            <a:chExt cx="2792700" cy="1419149"/>
          </a:xfrm>
        </p:grpSpPr>
        <p:sp>
          <p:nvSpPr>
            <p:cNvPr id="49" name="方案"/>
            <p:cNvSpPr/>
            <p:nvPr/>
          </p:nvSpPr>
          <p:spPr>
            <a:xfrm>
              <a:off x="438912" y="3555187"/>
              <a:ext cx="872378" cy="1316736"/>
            </a:xfrm>
            <a:prstGeom prst="roundRect">
              <a:avLst>
                <a:gd name="adj" fmla="val 10062"/>
              </a:avLst>
            </a:prstGeom>
            <a:solidFill>
              <a:srgbClr val="FFFFFF"/>
            </a:solidFill>
            <a:ln w="1016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0" name="表頭底"/>
            <p:cNvSpPr/>
            <p:nvPr/>
          </p:nvSpPr>
          <p:spPr>
            <a:xfrm>
              <a:off x="439644" y="3555919"/>
              <a:ext cx="870915" cy="292608"/>
            </a:xfrm>
            <a:prstGeom prst="rect">
              <a:avLst/>
            </a:prstGeom>
            <a:solidFill>
              <a:srgbClr val="F2F2F2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1" name="方案名稱"/>
            <p:cNvSpPr/>
            <p:nvPr/>
          </p:nvSpPr>
          <p:spPr>
            <a:xfrm>
              <a:off x="438912" y="3555187"/>
              <a:ext cx="87237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A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A</a:t>
              </a:r>
              <a:endParaRPr lang="en-US" sz="1100" dirty="0"/>
            </a:p>
          </p:txBody>
        </p:sp>
        <p:sp>
          <p:nvSpPr>
            <p:cNvPr id="52" name="項目"/>
            <p:cNvSpPr/>
            <p:nvPr/>
          </p:nvSpPr>
          <p:spPr>
            <a:xfrm>
              <a:off x="526694" y="3950208"/>
              <a:ext cx="696813" cy="1316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53" name="內容"/>
            <p:cNvSpPr/>
            <p:nvPr/>
          </p:nvSpPr>
          <p:spPr>
            <a:xfrm>
              <a:off x="526694" y="4059936"/>
              <a:ext cx="696813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低</a:t>
              </a:r>
              <a:endParaRPr lang="en-US" sz="750" dirty="0"/>
            </a:p>
          </p:txBody>
        </p:sp>
        <p:sp>
          <p:nvSpPr>
            <p:cNvPr id="54" name="項目"/>
            <p:cNvSpPr/>
            <p:nvPr/>
          </p:nvSpPr>
          <p:spPr>
            <a:xfrm>
              <a:off x="526694" y="4213555"/>
              <a:ext cx="696813" cy="1316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55" name="內容"/>
            <p:cNvSpPr/>
            <p:nvPr/>
          </p:nvSpPr>
          <p:spPr>
            <a:xfrm>
              <a:off x="526694" y="4323283"/>
              <a:ext cx="696813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 週</a:t>
              </a:r>
              <a:endParaRPr lang="en-US" sz="750" dirty="0"/>
            </a:p>
          </p:txBody>
        </p:sp>
        <p:sp>
          <p:nvSpPr>
            <p:cNvPr id="56" name="項目"/>
            <p:cNvSpPr/>
            <p:nvPr/>
          </p:nvSpPr>
          <p:spPr>
            <a:xfrm>
              <a:off x="526694" y="4476902"/>
              <a:ext cx="696813" cy="1316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57" name="內容"/>
            <p:cNvSpPr/>
            <p:nvPr/>
          </p:nvSpPr>
          <p:spPr>
            <a:xfrm>
              <a:off x="526694" y="4586630"/>
              <a:ext cx="696813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有限</a:t>
              </a:r>
              <a:endParaRPr lang="en-US" sz="750" dirty="0"/>
            </a:p>
          </p:txBody>
        </p:sp>
        <p:sp>
          <p:nvSpPr>
            <p:cNvPr id="58" name="推薦方案"/>
            <p:cNvSpPr/>
            <p:nvPr/>
          </p:nvSpPr>
          <p:spPr>
            <a:xfrm>
              <a:off x="1399073" y="3555187"/>
              <a:ext cx="872378" cy="1316736"/>
            </a:xfrm>
            <a:prstGeom prst="roundRect">
              <a:avLst>
                <a:gd name="adj" fmla="val 10062"/>
              </a:avLst>
            </a:prstGeom>
            <a:solidFill>
              <a:srgbClr val="FFFFFF"/>
            </a:solidFill>
            <a:ln w="17780">
              <a:solidFill>
                <a:srgbClr val="0F7C80"/>
              </a:solidFill>
              <a:prstDash val="solid"/>
            </a:ln>
            <a:effectLst>
              <a:outerShdw blurRad="101600" dist="30480" dir="5400000" sx="100000" sy="100000" algn="ctr" rotWithShape="0">
                <a:srgbClr val="000000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9" name="表頭"/>
            <p:cNvSpPr/>
            <p:nvPr/>
          </p:nvSpPr>
          <p:spPr>
            <a:xfrm>
              <a:off x="1399073" y="3555187"/>
              <a:ext cx="872378" cy="292608"/>
            </a:xfrm>
            <a:custGeom>
              <a:avLst/>
              <a:gdLst/>
              <a:ahLst/>
              <a:cxnLst/>
              <a:rect l="l" t="t" r="r" b="b"/>
              <a:pathLst>
                <a:path w="872378" h="292608">
                  <a:moveTo>
                    <a:pt x="0" y="292608"/>
                  </a:moveTo>
                  <a:lnTo>
                    <a:pt x="0" y="87782"/>
                  </a:lnTo>
                  <a:arcTo hR="87782" wR="87782" stAng="10800000" swAng="5400000"/>
                  <a:lnTo>
                    <a:pt x="784596" y="0"/>
                  </a:lnTo>
                  <a:arcTo hR="87782" wR="87782" stAng="16200000" swAng="5400000"/>
                  <a:lnTo>
                    <a:pt x="872378" y="292608"/>
                  </a:lnTo>
                  <a:close/>
                </a:path>
              </a:pathLst>
            </a:custGeom>
            <a:solidFill>
              <a:srgbClr val="0F7C80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0" name="方案名稱"/>
            <p:cNvSpPr/>
            <p:nvPr/>
          </p:nvSpPr>
          <p:spPr>
            <a:xfrm>
              <a:off x="1399073" y="3555187"/>
              <a:ext cx="87237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B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B7D8D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B</a:t>
              </a:r>
              <a:endParaRPr lang="en-US" sz="1100" dirty="0"/>
            </a:p>
          </p:txBody>
        </p:sp>
        <p:sp>
          <p:nvSpPr>
            <p:cNvPr id="61" name="項目"/>
            <p:cNvSpPr/>
            <p:nvPr/>
          </p:nvSpPr>
          <p:spPr>
            <a:xfrm>
              <a:off x="1486855" y="3950208"/>
              <a:ext cx="696813" cy="1316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62" name="內容"/>
            <p:cNvSpPr/>
            <p:nvPr/>
          </p:nvSpPr>
          <p:spPr>
            <a:xfrm>
              <a:off x="1486855" y="4059936"/>
              <a:ext cx="696813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</a:t>
              </a:r>
              <a:endParaRPr lang="en-US" sz="750" dirty="0"/>
            </a:p>
          </p:txBody>
        </p:sp>
        <p:sp>
          <p:nvSpPr>
            <p:cNvPr id="63" name="項目"/>
            <p:cNvSpPr/>
            <p:nvPr/>
          </p:nvSpPr>
          <p:spPr>
            <a:xfrm>
              <a:off x="1486855" y="4213555"/>
              <a:ext cx="696813" cy="1316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64" name="內容"/>
            <p:cNvSpPr/>
            <p:nvPr/>
          </p:nvSpPr>
          <p:spPr>
            <a:xfrm>
              <a:off x="1486855" y="4323283"/>
              <a:ext cx="696813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週</a:t>
              </a:r>
              <a:endParaRPr lang="en-US" sz="750" dirty="0"/>
            </a:p>
          </p:txBody>
        </p:sp>
        <p:sp>
          <p:nvSpPr>
            <p:cNvPr id="65" name="項目"/>
            <p:cNvSpPr/>
            <p:nvPr/>
          </p:nvSpPr>
          <p:spPr>
            <a:xfrm>
              <a:off x="1486855" y="4476902"/>
              <a:ext cx="696813" cy="1316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66" name="內容"/>
            <p:cNvSpPr/>
            <p:nvPr/>
          </p:nvSpPr>
          <p:spPr>
            <a:xfrm>
              <a:off x="1486855" y="4586630"/>
              <a:ext cx="696813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佳</a:t>
              </a:r>
              <a:endParaRPr lang="en-US" sz="750" dirty="0"/>
            </a:p>
          </p:txBody>
        </p:sp>
        <p:sp>
          <p:nvSpPr>
            <p:cNvPr id="67" name="標籤"/>
            <p:cNvSpPr/>
            <p:nvPr/>
          </p:nvSpPr>
          <p:spPr>
            <a:xfrm>
              <a:off x="1658884" y="4813402"/>
              <a:ext cx="352755" cy="160934"/>
            </a:xfrm>
            <a:prstGeom prst="roundRect">
              <a:avLst>
                <a:gd name="adj" fmla="val 50000"/>
              </a:avLst>
            </a:prstGeom>
            <a:solidFill>
              <a:srgbClr val="FCEBD5"/>
            </a:solidFill>
            <a:ln/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650" b="1" dirty="0">
                  <a:solidFill>
                    <a:srgbClr val="855B24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推薦</a:t>
              </a:r>
              <a:endParaRPr lang="en-US" sz="650" dirty="0"/>
            </a:p>
          </p:txBody>
        </p:sp>
        <p:sp>
          <p:nvSpPr>
            <p:cNvPr id="68" name="方案"/>
            <p:cNvSpPr/>
            <p:nvPr/>
          </p:nvSpPr>
          <p:spPr>
            <a:xfrm>
              <a:off x="2359233" y="3555187"/>
              <a:ext cx="872378" cy="1316736"/>
            </a:xfrm>
            <a:prstGeom prst="roundRect">
              <a:avLst>
                <a:gd name="adj" fmla="val 10062"/>
              </a:avLst>
            </a:prstGeom>
            <a:solidFill>
              <a:srgbClr val="FFFFFF"/>
            </a:solidFill>
            <a:ln w="1016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9" name="表頭底"/>
            <p:cNvSpPr/>
            <p:nvPr/>
          </p:nvSpPr>
          <p:spPr>
            <a:xfrm>
              <a:off x="2359965" y="3555919"/>
              <a:ext cx="870915" cy="292608"/>
            </a:xfrm>
            <a:prstGeom prst="rect">
              <a:avLst/>
            </a:prstGeom>
            <a:solidFill>
              <a:srgbClr val="F2F2F2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方案名稱"/>
            <p:cNvSpPr/>
            <p:nvPr/>
          </p:nvSpPr>
          <p:spPr>
            <a:xfrm>
              <a:off x="2359233" y="3555187"/>
              <a:ext cx="87237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C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C</a:t>
              </a:r>
              <a:endParaRPr lang="en-US" sz="1100" dirty="0"/>
            </a:p>
          </p:txBody>
        </p:sp>
        <p:sp>
          <p:nvSpPr>
            <p:cNvPr id="71" name="項目"/>
            <p:cNvSpPr/>
            <p:nvPr/>
          </p:nvSpPr>
          <p:spPr>
            <a:xfrm>
              <a:off x="2447016" y="3950208"/>
              <a:ext cx="696813" cy="1316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72" name="內容"/>
            <p:cNvSpPr/>
            <p:nvPr/>
          </p:nvSpPr>
          <p:spPr>
            <a:xfrm>
              <a:off x="2447016" y="4059936"/>
              <a:ext cx="696813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</a:t>
              </a:r>
              <a:endParaRPr lang="en-US" sz="750" dirty="0"/>
            </a:p>
          </p:txBody>
        </p:sp>
        <p:sp>
          <p:nvSpPr>
            <p:cNvPr id="73" name="項目"/>
            <p:cNvSpPr/>
            <p:nvPr/>
          </p:nvSpPr>
          <p:spPr>
            <a:xfrm>
              <a:off x="2447016" y="4213555"/>
              <a:ext cx="696813" cy="1316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74" name="內容"/>
            <p:cNvSpPr/>
            <p:nvPr/>
          </p:nvSpPr>
          <p:spPr>
            <a:xfrm>
              <a:off x="2447016" y="4323283"/>
              <a:ext cx="696813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8 週</a:t>
              </a:r>
              <a:endParaRPr lang="en-US" sz="750" dirty="0"/>
            </a:p>
          </p:txBody>
        </p:sp>
        <p:sp>
          <p:nvSpPr>
            <p:cNvPr id="75" name="項目"/>
            <p:cNvSpPr/>
            <p:nvPr/>
          </p:nvSpPr>
          <p:spPr>
            <a:xfrm>
              <a:off x="2447016" y="4476902"/>
              <a:ext cx="696813" cy="1316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76" name="內容"/>
            <p:cNvSpPr/>
            <p:nvPr/>
          </p:nvSpPr>
          <p:spPr>
            <a:xfrm>
              <a:off x="2447016" y="4586630"/>
              <a:ext cx="696813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</a:t>
              </a:r>
              <a:endParaRPr lang="en-US" sz="750" dirty="0"/>
            </a:p>
          </p:txBody>
        </p:sp>
      </p:grpSp>
      <p:sp>
        <p:nvSpPr>
          <p:cNvPr id="77" name="Text 73"/>
          <p:cNvSpPr/>
          <p:nvPr/>
        </p:nvSpPr>
        <p:spPr>
          <a:xfrm>
            <a:off x="3480328" y="3280867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組合名稱"/>
          <p:cNvSpPr/>
          <p:nvPr/>
        </p:nvSpPr>
        <p:spPr>
          <a:xfrm>
            <a:off x="3641263" y="3218688"/>
            <a:ext cx="26317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數字卡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KPI Cards</a:t>
            </a:r>
            <a:endParaRPr lang="en-US" sz="1100" dirty="0"/>
          </a:p>
        </p:txBody>
      </p:sp>
      <p:sp>
        <p:nvSpPr>
          <p:cNvPr id="79" name="線條"/>
          <p:cNvSpPr/>
          <p:nvPr/>
        </p:nvSpPr>
        <p:spPr>
          <a:xfrm>
            <a:off x="3480328" y="34674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4" name="KPI 數字卡"/>
          <p:cNvGrpSpPr/>
          <p:nvPr/>
        </p:nvGrpSpPr>
        <p:grpSpPr>
          <a:xfrm>
            <a:off x="3480328" y="3672230"/>
            <a:ext cx="2792700" cy="994867"/>
            <a:chOff x="3480328" y="3672230"/>
            <a:chExt cx="2792700" cy="994867"/>
          </a:xfrm>
        </p:grpSpPr>
        <p:sp>
          <p:nvSpPr>
            <p:cNvPr id="80" name="卡片"/>
            <p:cNvSpPr/>
            <p:nvPr/>
          </p:nvSpPr>
          <p:spPr>
            <a:xfrm>
              <a:off x="3480328" y="3672230"/>
              <a:ext cx="862625" cy="994867"/>
            </a:xfrm>
            <a:prstGeom prst="roundRect">
              <a:avLst>
                <a:gd name="adj" fmla="val 18656"/>
              </a:avLst>
            </a:prstGeom>
            <a:solidFill>
              <a:srgbClr val="FFFFFF"/>
            </a:solidFill>
            <a:ln/>
            <a:effectLst>
              <a:outerShdw blurRad="101600" dist="30480" dir="5400000" sx="100000" sy="100000" algn="ctr" rotWithShape="0">
                <a:srgbClr val="000000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1" name="色條"/>
            <p:cNvSpPr/>
            <p:nvPr/>
          </p:nvSpPr>
          <p:spPr>
            <a:xfrm>
              <a:off x="3582741" y="3789274"/>
              <a:ext cx="175565" cy="29261"/>
            </a:xfrm>
            <a:prstGeom prst="rect">
              <a:avLst/>
            </a:prstGeom>
            <a:solidFill>
              <a:srgbClr val="0F7C80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2" name="指標名稱"/>
            <p:cNvSpPr/>
            <p:nvPr/>
          </p:nvSpPr>
          <p:spPr>
            <a:xfrm>
              <a:off x="3582741" y="3862426"/>
              <a:ext cx="716321" cy="1609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準時交貨率</a:t>
              </a:r>
              <a:endParaRPr lang="en-US" sz="700" dirty="0"/>
            </a:p>
          </p:txBody>
        </p:sp>
        <p:sp>
          <p:nvSpPr>
            <p:cNvPr id="83" name="數值"/>
            <p:cNvSpPr/>
            <p:nvPr/>
          </p:nvSpPr>
          <p:spPr>
            <a:xfrm>
              <a:off x="3568111" y="4037990"/>
              <a:ext cx="730951" cy="3364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100" dirty="0"/>
            </a:p>
          </p:txBody>
        </p:sp>
        <p:sp>
          <p:nvSpPr>
            <p:cNvPr id="84" name="變化"/>
            <p:cNvSpPr/>
            <p:nvPr/>
          </p:nvSpPr>
          <p:spPr>
            <a:xfrm>
              <a:off x="3582741" y="4403750"/>
              <a:ext cx="716321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▲ 2.1 pt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  <p:sp>
          <p:nvSpPr>
            <p:cNvPr id="85" name="卡片"/>
            <p:cNvSpPr/>
            <p:nvPr/>
          </p:nvSpPr>
          <p:spPr>
            <a:xfrm>
              <a:off x="4445366" y="3672230"/>
              <a:ext cx="862625" cy="994867"/>
            </a:xfrm>
            <a:prstGeom prst="roundRect">
              <a:avLst>
                <a:gd name="adj" fmla="val 18656"/>
              </a:avLst>
            </a:prstGeom>
            <a:solidFill>
              <a:srgbClr val="FFFFFF"/>
            </a:solidFill>
            <a:ln/>
            <a:effectLst>
              <a:outerShdw blurRad="101600" dist="30480" dir="5400000" sx="100000" sy="100000" algn="ctr" rotWithShape="0">
                <a:srgbClr val="000000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6" name="色條"/>
            <p:cNvSpPr/>
            <p:nvPr/>
          </p:nvSpPr>
          <p:spPr>
            <a:xfrm>
              <a:off x="4547779" y="3789274"/>
              <a:ext cx="175565" cy="29261"/>
            </a:xfrm>
            <a:prstGeom prst="rect">
              <a:avLst/>
            </a:prstGeom>
            <a:solidFill>
              <a:srgbClr val="BFBFB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指標名稱"/>
            <p:cNvSpPr/>
            <p:nvPr/>
          </p:nvSpPr>
          <p:spPr>
            <a:xfrm>
              <a:off x="4547779" y="3862426"/>
              <a:ext cx="716321" cy="1609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平均交期</a:t>
              </a:r>
              <a:endParaRPr lang="en-US" sz="700" dirty="0"/>
            </a:p>
          </p:txBody>
        </p:sp>
        <p:sp>
          <p:nvSpPr>
            <p:cNvPr id="88" name="數值"/>
            <p:cNvSpPr/>
            <p:nvPr/>
          </p:nvSpPr>
          <p:spPr>
            <a:xfrm>
              <a:off x="4533148" y="4037990"/>
              <a:ext cx="730951" cy="3364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6.2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天</a:t>
              </a:r>
              <a:endParaRPr lang="en-US" sz="1100" dirty="0"/>
            </a:p>
          </p:txBody>
        </p:sp>
        <p:sp>
          <p:nvSpPr>
            <p:cNvPr id="89" name="變化"/>
            <p:cNvSpPr/>
            <p:nvPr/>
          </p:nvSpPr>
          <p:spPr>
            <a:xfrm>
              <a:off x="4547779" y="4403750"/>
              <a:ext cx="716321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1.8 天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  <p:sp>
          <p:nvSpPr>
            <p:cNvPr id="90" name="卡片"/>
            <p:cNvSpPr/>
            <p:nvPr/>
          </p:nvSpPr>
          <p:spPr>
            <a:xfrm>
              <a:off x="5410403" y="3672230"/>
              <a:ext cx="862625" cy="994867"/>
            </a:xfrm>
            <a:prstGeom prst="roundRect">
              <a:avLst>
                <a:gd name="adj" fmla="val 18656"/>
              </a:avLst>
            </a:prstGeom>
            <a:solidFill>
              <a:srgbClr val="FFFFFF"/>
            </a:solidFill>
            <a:ln/>
            <a:effectLst>
              <a:outerShdw blurRad="101600" dist="30480" dir="5400000" sx="100000" sy="100000" algn="ctr" rotWithShape="0">
                <a:srgbClr val="000000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1" name="色條"/>
            <p:cNvSpPr/>
            <p:nvPr/>
          </p:nvSpPr>
          <p:spPr>
            <a:xfrm>
              <a:off x="5512816" y="3789274"/>
              <a:ext cx="175565" cy="29261"/>
            </a:xfrm>
            <a:prstGeom prst="rect">
              <a:avLst/>
            </a:prstGeom>
            <a:solidFill>
              <a:srgbClr val="BFBFB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指標名稱"/>
            <p:cNvSpPr/>
            <p:nvPr/>
          </p:nvSpPr>
          <p:spPr>
            <a:xfrm>
              <a:off x="5512816" y="3862426"/>
              <a:ext cx="716321" cy="1609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客訴件數</a:t>
              </a:r>
              <a:endParaRPr lang="en-US" sz="700" dirty="0"/>
            </a:p>
          </p:txBody>
        </p:sp>
        <p:sp>
          <p:nvSpPr>
            <p:cNvPr id="93" name="數值"/>
            <p:cNvSpPr/>
            <p:nvPr/>
          </p:nvSpPr>
          <p:spPr>
            <a:xfrm>
              <a:off x="5498186" y="4037990"/>
              <a:ext cx="730951" cy="3364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件／月</a:t>
              </a:r>
              <a:endParaRPr lang="en-US" sz="1100" dirty="0"/>
            </a:p>
          </p:txBody>
        </p:sp>
        <p:sp>
          <p:nvSpPr>
            <p:cNvPr id="94" name="變化"/>
            <p:cNvSpPr/>
            <p:nvPr/>
          </p:nvSpPr>
          <p:spPr>
            <a:xfrm>
              <a:off x="5512816" y="4403750"/>
              <a:ext cx="716321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75%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</p:grpSp>
      <p:sp>
        <p:nvSpPr>
          <p:cNvPr id="95" name="Text 91"/>
          <p:cNvSpPr/>
          <p:nvPr/>
        </p:nvSpPr>
        <p:spPr>
          <a:xfrm>
            <a:off x="6521745" y="3280867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組合名稱"/>
          <p:cNvSpPr/>
          <p:nvPr/>
        </p:nvSpPr>
        <p:spPr>
          <a:xfrm>
            <a:off x="6682679" y="3218688"/>
            <a:ext cx="26317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PDCA 循環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PDCA Cycle</a:t>
            </a:r>
            <a:endParaRPr lang="en-US" sz="1100" dirty="0"/>
          </a:p>
        </p:txBody>
      </p:sp>
      <p:sp>
        <p:nvSpPr>
          <p:cNvPr id="97" name="線條"/>
          <p:cNvSpPr/>
          <p:nvPr/>
        </p:nvSpPr>
        <p:spPr>
          <a:xfrm>
            <a:off x="6521745" y="34674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5" name="PDCA 循環"/>
          <p:cNvGrpSpPr/>
          <p:nvPr/>
        </p:nvGrpSpPr>
        <p:grpSpPr>
          <a:xfrm>
            <a:off x="6521745" y="3555187"/>
            <a:ext cx="2792700" cy="1316736"/>
            <a:chOff x="6521745" y="3555187"/>
            <a:chExt cx="2792700" cy="1316736"/>
          </a:xfrm>
        </p:grpSpPr>
        <p:sp>
          <p:nvSpPr>
            <p:cNvPr id="98" name="PDCA Plan"/>
            <p:cNvSpPr/>
            <p:nvPr/>
          </p:nvSpPr>
          <p:spPr>
            <a:xfrm>
              <a:off x="6521745" y="3555187"/>
              <a:ext cx="1053389" cy="497434"/>
            </a:xfrm>
            <a:prstGeom prst="roundRect">
              <a:avLst>
                <a:gd name="adj" fmla="val 17647"/>
              </a:avLst>
            </a:prstGeom>
            <a:solidFill>
              <a:srgbClr val="E0F0F0"/>
            </a:solidFill>
            <a:ln/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計畫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Plan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設定目標與做法</a:t>
              </a:r>
              <a:endParaRPr lang="en-US" sz="700" dirty="0"/>
            </a:p>
          </p:txBody>
        </p:sp>
        <p:sp>
          <p:nvSpPr>
            <p:cNvPr id="99" name="PDCA Do"/>
            <p:cNvSpPr/>
            <p:nvPr/>
          </p:nvSpPr>
          <p:spPr>
            <a:xfrm>
              <a:off x="8261055" y="3555187"/>
              <a:ext cx="1053389" cy="497434"/>
            </a:xfrm>
            <a:prstGeom prst="roundRect">
              <a:avLst>
                <a:gd name="adj" fmla="val 17647"/>
              </a:avLst>
            </a:prstGeom>
            <a:solidFill>
              <a:srgbClr val="E0F0F0"/>
            </a:solidFill>
            <a:ln/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執行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Do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依計畫小步執行</a:t>
              </a:r>
              <a:endParaRPr lang="en-US" sz="700" dirty="0"/>
            </a:p>
          </p:txBody>
        </p:sp>
        <p:sp>
          <p:nvSpPr>
            <p:cNvPr id="100" name="PDCA Check"/>
            <p:cNvSpPr/>
            <p:nvPr/>
          </p:nvSpPr>
          <p:spPr>
            <a:xfrm>
              <a:off x="8261055" y="4374490"/>
              <a:ext cx="1053389" cy="497434"/>
            </a:xfrm>
            <a:prstGeom prst="roundRect">
              <a:avLst>
                <a:gd name="adj" fmla="val 17647"/>
              </a:avLst>
            </a:prstGeom>
            <a:solidFill>
              <a:srgbClr val="E0F0F0"/>
            </a:solidFill>
            <a:ln/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查核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Check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量測結果與差異</a:t>
              </a:r>
              <a:endParaRPr lang="en-US" sz="700" dirty="0"/>
            </a:p>
          </p:txBody>
        </p:sp>
        <p:sp>
          <p:nvSpPr>
            <p:cNvPr id="101" name="PDCA Act"/>
            <p:cNvSpPr/>
            <p:nvPr/>
          </p:nvSpPr>
          <p:spPr>
            <a:xfrm>
              <a:off x="6521745" y="4374490"/>
              <a:ext cx="1053389" cy="497434"/>
            </a:xfrm>
            <a:prstGeom prst="roundRect">
              <a:avLst>
                <a:gd name="adj" fmla="val 17647"/>
              </a:avLst>
            </a:prstGeom>
            <a:solidFill>
              <a:srgbClr val="E0F0F0"/>
            </a:solidFill>
            <a:ln/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行動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Act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標準化並修正</a:t>
              </a:r>
              <a:endParaRPr lang="en-US" sz="700" dirty="0"/>
            </a:p>
          </p:txBody>
        </p:sp>
        <p:cxnSp>
          <p:nvCxnSpPr>
            <p:cNvPr id="102" name="連接線"/>
            <p:cNvCxnSpPr>
              <a:stCxn id="98" idx="3"/>
              <a:endCxn id="99" idx="1"/>
            </p:cNvCxnSpPr>
            <p:nvPr/>
          </p:nvCxnSpPr>
          <p:spPr>
            <a:xfrm>
              <a:off x="7575133" y="3803904"/>
              <a:ext cx="685922" cy="0"/>
            </a:xfrm>
            <a:prstGeom prst="straightConnector1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103" name="連接線"/>
            <p:cNvCxnSpPr>
              <a:stCxn id="99" idx="2"/>
              <a:endCxn id="100" idx="0"/>
            </p:cNvCxnSpPr>
            <p:nvPr/>
          </p:nvCxnSpPr>
          <p:spPr>
            <a:xfrm>
              <a:off x="8787750" y="4052621"/>
              <a:ext cx="0" cy="321869"/>
            </a:xfrm>
            <a:prstGeom prst="straightConnector1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104" name="連接線"/>
            <p:cNvCxnSpPr>
              <a:stCxn id="100" idx="1"/>
              <a:endCxn id="101" idx="3"/>
            </p:cNvCxnSpPr>
            <p:nvPr/>
          </p:nvCxnSpPr>
          <p:spPr>
            <a:xfrm flipH="1">
              <a:off x="7575133" y="4623206"/>
              <a:ext cx="685922" cy="0"/>
            </a:xfrm>
            <a:prstGeom prst="straightConnector1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105" name="連接線"/>
            <p:cNvCxnSpPr>
              <a:stCxn id="101" idx="0"/>
              <a:endCxn id="98" idx="2"/>
            </p:cNvCxnSpPr>
            <p:nvPr/>
          </p:nvCxnSpPr>
          <p:spPr>
            <a:xfrm flipV="1">
              <a:off x="7048439" y="4052621"/>
              <a:ext cx="0" cy="321869"/>
            </a:xfrm>
            <a:prstGeom prst="straightConnector1">
              <a:avLst/>
            </a:prstGeom>
            <a:ln w="12700">
              <a:solidFill>
                <a:srgbClr val="8C8C8C"/>
              </a:solidFill>
              <a:prstDash val="solid"/>
              <a:tailEnd type="triangle" w="lg" len="lg"/>
            </a:ln>
          </p:spPr>
        </p:cxnSp>
        <p:sp>
          <p:nvSpPr>
            <p:cNvPr id="106" name="中心標籤"/>
            <p:cNvSpPr/>
            <p:nvPr/>
          </p:nvSpPr>
          <p:spPr>
            <a:xfrm>
              <a:off x="7552334" y="4118458"/>
              <a:ext cx="731520" cy="19019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5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PDCA</a:t>
              </a:r>
              <a:r>
                <a:rPr lang="en-US" sz="6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持續改善</a:t>
              </a:r>
              <a:endParaRPr lang="en-US" sz="650" dirty="0"/>
            </a:p>
          </p:txBody>
        </p:sp>
      </p:grpSp>
      <p:sp>
        <p:nvSpPr>
          <p:cNvPr id="107" name="Text 103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108" name="Text 104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風格規範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38912" y="929030"/>
            <a:ext cx="329184" cy="73152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5878" y="826618"/>
            <a:ext cx="804672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色彩、字級與元件語言一覽：全圓角膠囊與大圓角卡、較深柔和陰影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1503274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9846" y="1426464"/>
            <a:ext cx="3862426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050" dirty="0"/>
          </a:p>
        </p:txBody>
      </p:sp>
      <p:sp>
        <p:nvSpPr>
          <p:cNvPr id="7" name="線條"/>
          <p:cNvSpPr/>
          <p:nvPr/>
        </p:nvSpPr>
        <p:spPr>
          <a:xfrm>
            <a:off x="438912" y="1733702"/>
            <a:ext cx="4023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0390" y="2311603"/>
            <a:ext cx="51206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51130" y="2472538"/>
            <a:ext cx="570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#0F7C80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943661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0B5E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85139" y="2311603"/>
            <a:ext cx="51206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55878" y="2472538"/>
            <a:ext cx="570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#0B5E61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1448410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E0F0F0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389888" y="2311603"/>
            <a:ext cx="51206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60627" y="2472538"/>
            <a:ext cx="570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#E0F0F0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1953158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F2A541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894637" y="2311603"/>
            <a:ext cx="51206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輔助色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65376" y="2472538"/>
            <a:ext cx="570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#F2A541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457907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399386" y="2311603"/>
            <a:ext cx="51206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370125" y="2472538"/>
            <a:ext cx="570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#3A3A3A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62656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8C8C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904134" y="2311603"/>
            <a:ext cx="51206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874874" y="2472538"/>
            <a:ext cx="570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#8C8C8C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3467405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BFBF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08883" y="2311603"/>
            <a:ext cx="51206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79622" y="2472538"/>
            <a:ext cx="570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#BFBFBF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972154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F2F2F2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913632" y="2311603"/>
            <a:ext cx="51206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84371" y="2472538"/>
            <a:ext cx="570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#F2F2F2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38912" y="2915107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99846" y="2838298"/>
            <a:ext cx="3862426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050" dirty="0"/>
          </a:p>
        </p:txBody>
      </p:sp>
      <p:sp>
        <p:nvSpPr>
          <p:cNvPr id="34" name="線條"/>
          <p:cNvSpPr/>
          <p:nvPr/>
        </p:nvSpPr>
        <p:spPr>
          <a:xfrm>
            <a:off x="438912" y="3145536"/>
            <a:ext cx="4023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3145536"/>
            <a:ext cx="402336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大標題文字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36pt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8912" y="3672230"/>
            <a:ext cx="402336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8912" y="3994099"/>
            <a:ext cx="4023360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8912" y="430133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12pt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38912" y="4579315"/>
            <a:ext cx="4023360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37760" y="1503274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098694" y="1426464"/>
            <a:ext cx="421575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050" dirty="0"/>
          </a:p>
        </p:txBody>
      </p:sp>
      <p:sp>
        <p:nvSpPr>
          <p:cNvPr id="42" name="線條"/>
          <p:cNvSpPr/>
          <p:nvPr/>
        </p:nvSpPr>
        <p:spPr>
          <a:xfrm>
            <a:off x="4937760" y="1733702"/>
            <a:ext cx="437668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1865376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010144" y="1865376"/>
            <a:ext cx="13043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白底無框＋陰影＋陰影</a:t>
            </a:r>
            <a:endParaRPr lang="en-US" sz="800" dirty="0"/>
          </a:p>
        </p:txBody>
      </p:sp>
      <p:sp>
        <p:nvSpPr>
          <p:cNvPr id="45" name="卡片"/>
          <p:cNvSpPr/>
          <p:nvPr/>
        </p:nvSpPr>
        <p:spPr>
          <a:xfrm>
            <a:off x="5669280" y="1894637"/>
            <a:ext cx="1060704" cy="38039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/>
          <a:effectLst>
            <a:outerShdw blurRad="101600" dist="3048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卡片"/>
          <p:cNvSpPr/>
          <p:nvPr/>
        </p:nvSpPr>
        <p:spPr>
          <a:xfrm>
            <a:off x="6876288" y="1894637"/>
            <a:ext cx="950976" cy="38039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/>
          <a:effectLst>
            <a:outerShdw blurRad="101600" dist="3048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876288" y="1894637"/>
            <a:ext cx="950976" cy="131674"/>
          </a:xfrm>
          <a:custGeom>
            <a:avLst/>
            <a:gdLst/>
            <a:ahLst/>
            <a:cxnLst/>
            <a:rect l="l" t="t" r="r" b="b"/>
            <a:pathLst>
              <a:path w="950976" h="131674">
                <a:moveTo>
                  <a:pt x="0" y="131674"/>
                </a:moveTo>
                <a:lnTo>
                  <a:pt x="0" y="131674"/>
                </a:lnTo>
                <a:arcTo hR="131674" wR="131674" stAng="10800000" swAng="5400000"/>
                <a:lnTo>
                  <a:pt x="819302" y="0"/>
                </a:lnTo>
                <a:arcTo hR="131674" wR="131674" stAng="16200000" swAng="5400000"/>
                <a:lnTo>
                  <a:pt x="950976" y="131674"/>
                </a:lnTo>
                <a:close/>
              </a:path>
            </a:pathLst>
          </a:cu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線條"/>
          <p:cNvSpPr/>
          <p:nvPr/>
        </p:nvSpPr>
        <p:spPr>
          <a:xfrm>
            <a:off x="4937760" y="2348179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0" y="2384755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010144" y="2384755"/>
            <a:ext cx="13043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淡色底膠囊</a:t>
            </a:r>
            <a:endParaRPr lang="en-US" sz="800" dirty="0"/>
          </a:p>
        </p:txBody>
      </p:sp>
      <p:sp>
        <p:nvSpPr>
          <p:cNvPr id="51" name="標籤"/>
          <p:cNvSpPr/>
          <p:nvPr/>
        </p:nvSpPr>
        <p:spPr>
          <a:xfrm>
            <a:off x="5669280" y="2487168"/>
            <a:ext cx="440473" cy="234086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950" dirty="0"/>
          </a:p>
        </p:txBody>
      </p:sp>
      <p:sp>
        <p:nvSpPr>
          <p:cNvPr id="52" name="標籤"/>
          <p:cNvSpPr/>
          <p:nvPr/>
        </p:nvSpPr>
        <p:spPr>
          <a:xfrm>
            <a:off x="6197535" y="2487168"/>
            <a:ext cx="440473" cy="234086"/>
          </a:xfrm>
          <a:prstGeom prst="roundRect">
            <a:avLst>
              <a:gd name="adj" fmla="val 50000"/>
            </a:avLst>
          </a:prstGeom>
          <a:solidFill>
            <a:srgbClr val="FCEBD5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55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950" dirty="0"/>
          </a:p>
        </p:txBody>
      </p:sp>
      <p:sp>
        <p:nvSpPr>
          <p:cNvPr id="53" name="標籤"/>
          <p:cNvSpPr/>
          <p:nvPr/>
        </p:nvSpPr>
        <p:spPr>
          <a:xfrm>
            <a:off x="6725790" y="2487168"/>
            <a:ext cx="440473" cy="23408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950" dirty="0"/>
          </a:p>
        </p:txBody>
      </p:sp>
      <p:sp>
        <p:nvSpPr>
          <p:cNvPr id="54" name="線條"/>
          <p:cNvSpPr/>
          <p:nvPr/>
        </p:nvSpPr>
        <p:spPr>
          <a:xfrm>
            <a:off x="4937760" y="2867558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0" y="2904134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010144" y="2904134"/>
            <a:ext cx="13043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實心圓＋光暈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651724" y="2930469"/>
            <a:ext cx="386243" cy="386243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編號"/>
          <p:cNvSpPr/>
          <p:nvPr/>
        </p:nvSpPr>
        <p:spPr>
          <a:xfrm>
            <a:off x="5698541" y="2977286"/>
            <a:ext cx="292608" cy="292608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105266" y="2930469"/>
            <a:ext cx="386243" cy="386243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編號"/>
          <p:cNvSpPr/>
          <p:nvPr/>
        </p:nvSpPr>
        <p:spPr>
          <a:xfrm>
            <a:off x="6152083" y="2977286"/>
            <a:ext cx="292608" cy="292608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558808" y="2930469"/>
            <a:ext cx="386243" cy="386243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編號"/>
          <p:cNvSpPr/>
          <p:nvPr/>
        </p:nvSpPr>
        <p:spPr>
          <a:xfrm>
            <a:off x="6605626" y="2977286"/>
            <a:ext cx="292608" cy="292608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095744" y="290413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100" dirty="0"/>
          </a:p>
        </p:txBody>
      </p:sp>
      <p:sp>
        <p:nvSpPr>
          <p:cNvPr id="64" name="線條"/>
          <p:cNvSpPr/>
          <p:nvPr/>
        </p:nvSpPr>
        <p:spPr>
          <a:xfrm>
            <a:off x="4937760" y="3386938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37760" y="3423514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8010144" y="3423514"/>
            <a:ext cx="13043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 V 形 ›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669280" y="342351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950" dirty="0"/>
          </a:p>
        </p:txBody>
      </p:sp>
      <p:sp>
        <p:nvSpPr>
          <p:cNvPr id="68" name="分隔"/>
          <p:cNvSpPr/>
          <p:nvPr/>
        </p:nvSpPr>
        <p:spPr>
          <a:xfrm>
            <a:off x="6287414" y="3562502"/>
            <a:ext cx="80467" cy="160934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6547104" y="342351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950" dirty="0"/>
          </a:p>
        </p:txBody>
      </p:sp>
      <p:sp>
        <p:nvSpPr>
          <p:cNvPr id="70" name="分隔"/>
          <p:cNvSpPr/>
          <p:nvPr/>
        </p:nvSpPr>
        <p:spPr>
          <a:xfrm>
            <a:off x="7165238" y="3562502"/>
            <a:ext cx="80467" cy="160934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424928" y="342351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950" dirty="0"/>
          </a:p>
        </p:txBody>
      </p:sp>
      <p:sp>
        <p:nvSpPr>
          <p:cNvPr id="72" name="線條"/>
          <p:cNvSpPr/>
          <p:nvPr/>
        </p:nvSpPr>
        <p:spPr>
          <a:xfrm>
            <a:off x="4937760" y="3906317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937760" y="3942893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8010144" y="3942893"/>
            <a:ext cx="13043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1.25pt 實線＋三角箭頭</a:t>
            </a:r>
            <a:endParaRPr lang="en-US" sz="800" dirty="0"/>
          </a:p>
        </p:txBody>
      </p:sp>
      <p:sp>
        <p:nvSpPr>
          <p:cNvPr id="75" name="線條"/>
          <p:cNvSpPr/>
          <p:nvPr/>
        </p:nvSpPr>
        <p:spPr>
          <a:xfrm>
            <a:off x="5669280" y="4162349"/>
            <a:ext cx="950976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  <a:headEnd type="oval" w="lg" len="lg"/>
            <a:tailEnd type="triangle" w="lg" len="lg"/>
          </a:ln>
        </p:spPr>
      </p:sp>
      <p:sp>
        <p:nvSpPr>
          <p:cNvPr id="76" name="連接線"/>
          <p:cNvSpPr/>
          <p:nvPr/>
        </p:nvSpPr>
        <p:spPr>
          <a:xfrm>
            <a:off x="6839712" y="4001414"/>
            <a:ext cx="987552" cy="321869"/>
          </a:xfrm>
          <a:custGeom>
            <a:avLst/>
            <a:gdLst/>
            <a:ahLst/>
            <a:cxnLst/>
            <a:rect l="l" t="t" r="r" b="b"/>
            <a:pathLst>
              <a:path w="987552" h="321869">
                <a:moveTo>
                  <a:pt x="0" y="0"/>
                </a:moveTo>
                <a:lnTo>
                  <a:pt x="438912" y="0"/>
                </a:lnTo>
                <a:lnTo>
                  <a:pt x="438912" y="321869"/>
                </a:lnTo>
                <a:lnTo>
                  <a:pt x="987552" y="321869"/>
                </a:lnTo>
              </a:path>
            </a:pathLst>
          </a:custGeom>
          <a:ln w="12700">
            <a:solidFill>
              <a:srgbClr val="8C8C8C"/>
            </a:solidFill>
            <a:prstDash val="solid"/>
            <a:headEnd type="oval" w="lg" len="lg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線條"/>
          <p:cNvSpPr/>
          <p:nvPr/>
        </p:nvSpPr>
        <p:spPr>
          <a:xfrm>
            <a:off x="4937760" y="4425696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37760" y="4462272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8010144" y="4462272"/>
            <a:ext cx="13043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膠囊鏈</a:t>
            </a:r>
            <a:endParaRPr lang="en-US" sz="800" dirty="0"/>
          </a:p>
        </p:txBody>
      </p:sp>
      <p:sp>
        <p:nvSpPr>
          <p:cNvPr id="80" name="流程鏈"/>
          <p:cNvSpPr/>
          <p:nvPr/>
        </p:nvSpPr>
        <p:spPr>
          <a:xfrm>
            <a:off x="5669280" y="4520794"/>
            <a:ext cx="536448" cy="321869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900" dirty="0"/>
          </a:p>
        </p:txBody>
      </p:sp>
      <p:sp>
        <p:nvSpPr>
          <p:cNvPr id="81" name="分隔"/>
          <p:cNvSpPr/>
          <p:nvPr/>
        </p:nvSpPr>
        <p:spPr>
          <a:xfrm>
            <a:off x="6311798" y="4601261"/>
            <a:ext cx="80467" cy="160934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流程鏈"/>
          <p:cNvSpPr/>
          <p:nvPr/>
        </p:nvSpPr>
        <p:spPr>
          <a:xfrm>
            <a:off x="6498336" y="4520794"/>
            <a:ext cx="536448" cy="321869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900" dirty="0"/>
          </a:p>
        </p:txBody>
      </p:sp>
      <p:sp>
        <p:nvSpPr>
          <p:cNvPr id="83" name="分隔"/>
          <p:cNvSpPr/>
          <p:nvPr/>
        </p:nvSpPr>
        <p:spPr>
          <a:xfrm>
            <a:off x="7140854" y="4601261"/>
            <a:ext cx="80467" cy="160934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流程鏈"/>
          <p:cNvSpPr/>
          <p:nvPr/>
        </p:nvSpPr>
        <p:spPr>
          <a:xfrm>
            <a:off x="7327392" y="4520794"/>
            <a:ext cx="536448" cy="321869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13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38912" y="929030"/>
            <a:ext cx="329184" cy="73152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5878" y="826618"/>
            <a:ext cx="804672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標題＋內文、角落標籤、表頭強調三種基本卡片</a:t>
            </a:r>
            <a:endParaRPr lang="en-US" sz="1300" dirty="0"/>
          </a:p>
        </p:txBody>
      </p:sp>
      <p:sp>
        <p:nvSpPr>
          <p:cNvPr id="5" name="卡片"/>
          <p:cNvSpPr/>
          <p:nvPr/>
        </p:nvSpPr>
        <p:spPr>
          <a:xfrm>
            <a:off x="438912" y="1499616"/>
            <a:ext cx="2728570" cy="1719072"/>
          </a:xfrm>
          <a:prstGeom prst="roundRect">
            <a:avLst>
              <a:gd name="adj" fmla="val 9362"/>
            </a:avLst>
          </a:prstGeom>
          <a:solidFill>
            <a:srgbClr val="FFFFFF"/>
          </a:solidFill>
          <a:ln/>
          <a:effectLst>
            <a:outerShdw blurRad="101600" dist="3048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9107" y="1616659"/>
            <a:ext cx="2348179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r>
              <a:rPr lang="en-US" sz="800" b="1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Card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9107" y="2128723"/>
            <a:ext cx="2348179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950" dirty="0"/>
          </a:p>
        </p:txBody>
      </p:sp>
      <p:sp>
        <p:nvSpPr>
          <p:cNvPr id="8" name="卡片"/>
          <p:cNvSpPr/>
          <p:nvPr/>
        </p:nvSpPr>
        <p:spPr>
          <a:xfrm>
            <a:off x="3512393" y="1499616"/>
            <a:ext cx="2728570" cy="1719072"/>
          </a:xfrm>
          <a:prstGeom prst="roundRect">
            <a:avLst>
              <a:gd name="adj" fmla="val 9362"/>
            </a:avLst>
          </a:prstGeom>
          <a:solidFill>
            <a:srgbClr val="FFFFFF"/>
          </a:solidFill>
          <a:ln/>
          <a:effectLst>
            <a:outerShdw blurRad="101600" dist="3048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702588" y="1616659"/>
            <a:ext cx="2348179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02588" y="2128723"/>
            <a:ext cx="2348179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950" dirty="0"/>
          </a:p>
        </p:txBody>
      </p:sp>
      <p:sp>
        <p:nvSpPr>
          <p:cNvPr id="11" name="標籤"/>
          <p:cNvSpPr/>
          <p:nvPr/>
        </p:nvSpPr>
        <p:spPr>
          <a:xfrm>
            <a:off x="5483433" y="1397203"/>
            <a:ext cx="596595" cy="204826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800" dirty="0"/>
          </a:p>
        </p:txBody>
      </p:sp>
      <p:sp>
        <p:nvSpPr>
          <p:cNvPr id="12" name="卡片"/>
          <p:cNvSpPr/>
          <p:nvPr/>
        </p:nvSpPr>
        <p:spPr>
          <a:xfrm>
            <a:off x="6585875" y="1499616"/>
            <a:ext cx="2728570" cy="1719072"/>
          </a:xfrm>
          <a:prstGeom prst="roundRect">
            <a:avLst>
              <a:gd name="adj" fmla="val 9362"/>
            </a:avLst>
          </a:prstGeom>
          <a:solidFill>
            <a:srgbClr val="FFFFFF"/>
          </a:solidFill>
          <a:ln/>
          <a:effectLst>
            <a:outerShdw blurRad="101600" dist="3048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表頭"/>
          <p:cNvSpPr/>
          <p:nvPr/>
        </p:nvSpPr>
        <p:spPr>
          <a:xfrm>
            <a:off x="6585875" y="1499616"/>
            <a:ext cx="2728570" cy="424282"/>
          </a:xfrm>
          <a:custGeom>
            <a:avLst/>
            <a:gdLst/>
            <a:ahLst/>
            <a:cxnLst/>
            <a:rect l="l" t="t" r="r" b="b"/>
            <a:pathLst>
              <a:path w="2728570" h="424282">
                <a:moveTo>
                  <a:pt x="0" y="424282"/>
                </a:moveTo>
                <a:lnTo>
                  <a:pt x="0" y="160934"/>
                </a:lnTo>
                <a:arcTo hR="160934" wR="160934" stAng="10800000" swAng="5400000"/>
                <a:lnTo>
                  <a:pt x="2567635" y="0"/>
                </a:lnTo>
                <a:arcTo hR="160934" wR="160934" stAng="16200000" swAng="5400000"/>
                <a:lnTo>
                  <a:pt x="2728570" y="424282"/>
                </a:lnTo>
                <a:close/>
              </a:path>
            </a:pathLst>
          </a:cu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776070" y="1499616"/>
            <a:ext cx="2348179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76070" y="2070202"/>
            <a:ext cx="2348179" cy="1002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3350362"/>
            <a:ext cx="2728570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12393" y="3350362"/>
            <a:ext cx="2728570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585875" y="3350362"/>
            <a:ext cx="2728570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38912" y="3734410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9846" y="3657600"/>
            <a:ext cx="4959706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050" dirty="0"/>
          </a:p>
        </p:txBody>
      </p:sp>
      <p:sp>
        <p:nvSpPr>
          <p:cNvPr id="21" name="線條"/>
          <p:cNvSpPr/>
          <p:nvPr/>
        </p:nvSpPr>
        <p:spPr>
          <a:xfrm>
            <a:off x="438912" y="3964838"/>
            <a:ext cx="512064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2" name="標籤"/>
          <p:cNvSpPr/>
          <p:nvPr/>
        </p:nvSpPr>
        <p:spPr>
          <a:xfrm>
            <a:off x="438912" y="4081882"/>
            <a:ext cx="599846" cy="234086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70432" y="4081882"/>
            <a:ext cx="4242816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050" dirty="0"/>
          </a:p>
        </p:txBody>
      </p:sp>
      <p:sp>
        <p:nvSpPr>
          <p:cNvPr id="24" name="標籤"/>
          <p:cNvSpPr/>
          <p:nvPr/>
        </p:nvSpPr>
        <p:spPr>
          <a:xfrm>
            <a:off x="438912" y="4389120"/>
            <a:ext cx="599846" cy="234086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70432" y="4389120"/>
            <a:ext cx="4242816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050" dirty="0"/>
          </a:p>
        </p:txBody>
      </p:sp>
      <p:sp>
        <p:nvSpPr>
          <p:cNvPr id="26" name="標籤"/>
          <p:cNvSpPr/>
          <p:nvPr/>
        </p:nvSpPr>
        <p:spPr>
          <a:xfrm>
            <a:off x="438912" y="4696358"/>
            <a:ext cx="599846" cy="234086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70432" y="4696358"/>
            <a:ext cx="4242816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852160" y="3734410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13094" y="3657600"/>
            <a:ext cx="330135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050" dirty="0"/>
          </a:p>
        </p:txBody>
      </p:sp>
      <p:sp>
        <p:nvSpPr>
          <p:cNvPr id="30" name="線條"/>
          <p:cNvSpPr/>
          <p:nvPr/>
        </p:nvSpPr>
        <p:spPr>
          <a:xfrm>
            <a:off x="5852160" y="3964838"/>
            <a:ext cx="346228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4096512"/>
            <a:ext cx="3462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52160" y="4389120"/>
            <a:ext cx="3462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13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標籤與編號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38912" y="929030"/>
            <a:ext cx="329184" cy="73152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5878" y="826618"/>
            <a:ext cx="804672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單一標籤、堆疊清單、編號徽章與圈號清單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1503274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9846" y="1426464"/>
            <a:ext cx="8714598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050" dirty="0"/>
          </a:p>
        </p:txBody>
      </p:sp>
      <p:sp>
        <p:nvSpPr>
          <p:cNvPr id="7" name="線條"/>
          <p:cNvSpPr/>
          <p:nvPr/>
        </p:nvSpPr>
        <p:spPr>
          <a:xfrm>
            <a:off x="438912" y="1733702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8" name="標籤"/>
          <p:cNvSpPr/>
          <p:nvPr/>
        </p:nvSpPr>
        <p:spPr>
          <a:xfrm>
            <a:off x="438912" y="1865376"/>
            <a:ext cx="761821" cy="27797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050" dirty="0"/>
          </a:p>
        </p:txBody>
      </p:sp>
      <p:sp>
        <p:nvSpPr>
          <p:cNvPr id="9" name="標籤"/>
          <p:cNvSpPr/>
          <p:nvPr/>
        </p:nvSpPr>
        <p:spPr>
          <a:xfrm>
            <a:off x="1420189" y="1865376"/>
            <a:ext cx="761821" cy="277978"/>
          </a:xfrm>
          <a:prstGeom prst="roundRect">
            <a:avLst>
              <a:gd name="adj" fmla="val 50000"/>
            </a:avLst>
          </a:prstGeom>
          <a:solidFill>
            <a:srgbClr val="FCEBD5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5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050" dirty="0"/>
          </a:p>
        </p:txBody>
      </p:sp>
      <p:sp>
        <p:nvSpPr>
          <p:cNvPr id="10" name="標籤"/>
          <p:cNvSpPr/>
          <p:nvPr/>
        </p:nvSpPr>
        <p:spPr>
          <a:xfrm>
            <a:off x="2401466" y="1865376"/>
            <a:ext cx="761821" cy="27797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050" dirty="0"/>
          </a:p>
        </p:txBody>
      </p:sp>
      <p:sp>
        <p:nvSpPr>
          <p:cNvPr id="11" name="標籤"/>
          <p:cNvSpPr/>
          <p:nvPr/>
        </p:nvSpPr>
        <p:spPr>
          <a:xfrm>
            <a:off x="3382744" y="1865376"/>
            <a:ext cx="761821" cy="277978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83477" y="1865376"/>
            <a:ext cx="658368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900" dirty="0"/>
          </a:p>
        </p:txBody>
      </p:sp>
      <p:sp>
        <p:nvSpPr>
          <p:cNvPr id="13" name="標籤"/>
          <p:cNvSpPr/>
          <p:nvPr/>
        </p:nvSpPr>
        <p:spPr>
          <a:xfrm>
            <a:off x="5168693" y="1894637"/>
            <a:ext cx="393395" cy="219456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800" dirty="0"/>
          </a:p>
        </p:txBody>
      </p:sp>
      <p:sp>
        <p:nvSpPr>
          <p:cNvPr id="14" name="標籤"/>
          <p:cNvSpPr/>
          <p:nvPr/>
        </p:nvSpPr>
        <p:spPr>
          <a:xfrm>
            <a:off x="5671816" y="1894637"/>
            <a:ext cx="393395" cy="21945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800" dirty="0"/>
          </a:p>
        </p:txBody>
      </p:sp>
      <p:sp>
        <p:nvSpPr>
          <p:cNvPr id="15" name="標籤"/>
          <p:cNvSpPr/>
          <p:nvPr/>
        </p:nvSpPr>
        <p:spPr>
          <a:xfrm>
            <a:off x="6174939" y="1894637"/>
            <a:ext cx="393395" cy="21945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8912" y="2527402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9846" y="2450592"/>
            <a:ext cx="2611526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050" dirty="0"/>
          </a:p>
        </p:txBody>
      </p:sp>
      <p:sp>
        <p:nvSpPr>
          <p:cNvPr id="18" name="線條"/>
          <p:cNvSpPr/>
          <p:nvPr/>
        </p:nvSpPr>
        <p:spPr>
          <a:xfrm>
            <a:off x="438912" y="2757830"/>
            <a:ext cx="2772461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9" name="標籤"/>
          <p:cNvSpPr/>
          <p:nvPr/>
        </p:nvSpPr>
        <p:spPr>
          <a:xfrm>
            <a:off x="438912" y="2933395"/>
            <a:ext cx="2121408" cy="30723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050" dirty="0"/>
          </a:p>
        </p:txBody>
      </p:sp>
      <p:sp>
        <p:nvSpPr>
          <p:cNvPr id="20" name="標籤"/>
          <p:cNvSpPr/>
          <p:nvPr/>
        </p:nvSpPr>
        <p:spPr>
          <a:xfrm>
            <a:off x="438912" y="3386938"/>
            <a:ext cx="2121408" cy="30723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050" dirty="0"/>
          </a:p>
        </p:txBody>
      </p:sp>
      <p:sp>
        <p:nvSpPr>
          <p:cNvPr id="21" name="標籤"/>
          <p:cNvSpPr/>
          <p:nvPr/>
        </p:nvSpPr>
        <p:spPr>
          <a:xfrm>
            <a:off x="438912" y="3840480"/>
            <a:ext cx="2121408" cy="30723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050" dirty="0"/>
          </a:p>
        </p:txBody>
      </p:sp>
      <p:sp>
        <p:nvSpPr>
          <p:cNvPr id="22" name="標籤"/>
          <p:cNvSpPr/>
          <p:nvPr/>
        </p:nvSpPr>
        <p:spPr>
          <a:xfrm>
            <a:off x="438912" y="4294022"/>
            <a:ext cx="2121408" cy="30723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90448" y="2527402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651382" y="2450592"/>
            <a:ext cx="2611526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050" dirty="0"/>
          </a:p>
        </p:txBody>
      </p:sp>
      <p:sp>
        <p:nvSpPr>
          <p:cNvPr id="25" name="線條"/>
          <p:cNvSpPr/>
          <p:nvPr/>
        </p:nvSpPr>
        <p:spPr>
          <a:xfrm>
            <a:off x="3490448" y="2757830"/>
            <a:ext cx="2772461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0550" y="2891552"/>
            <a:ext cx="405555" cy="405555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編號"/>
          <p:cNvSpPr/>
          <p:nvPr/>
        </p:nvSpPr>
        <p:spPr>
          <a:xfrm>
            <a:off x="3519708" y="2940710"/>
            <a:ext cx="307238" cy="307238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924093" y="2891552"/>
            <a:ext cx="405555" cy="405555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編號"/>
          <p:cNvSpPr/>
          <p:nvPr/>
        </p:nvSpPr>
        <p:spPr>
          <a:xfrm>
            <a:off x="3973251" y="2940710"/>
            <a:ext cx="307238" cy="307238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77635" y="2891552"/>
            <a:ext cx="405555" cy="405555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編號"/>
          <p:cNvSpPr/>
          <p:nvPr/>
        </p:nvSpPr>
        <p:spPr>
          <a:xfrm>
            <a:off x="4426793" y="2940710"/>
            <a:ext cx="307238" cy="307238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31178" y="2891552"/>
            <a:ext cx="405555" cy="405555"/>
          </a:xfrm>
          <a:prstGeom prst="ellipse">
            <a:avLst/>
          </a:prstGeom>
          <a:solidFill>
            <a:srgbClr val="FCE9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編號"/>
          <p:cNvSpPr/>
          <p:nvPr/>
        </p:nvSpPr>
        <p:spPr>
          <a:xfrm>
            <a:off x="4880336" y="2940710"/>
            <a:ext cx="307238" cy="307238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499519" y="3571573"/>
            <a:ext cx="347618" cy="347618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編號"/>
          <p:cNvSpPr/>
          <p:nvPr/>
        </p:nvSpPr>
        <p:spPr>
          <a:xfrm>
            <a:off x="3541654" y="3613709"/>
            <a:ext cx="263347" cy="263347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43990" y="3621024"/>
            <a:ext cx="877824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70608" y="3621024"/>
            <a:ext cx="1492301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99519" y="4025116"/>
            <a:ext cx="347618" cy="347618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編號"/>
          <p:cNvSpPr/>
          <p:nvPr/>
        </p:nvSpPr>
        <p:spPr>
          <a:xfrm>
            <a:off x="3541654" y="4067251"/>
            <a:ext cx="263347" cy="263347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943990" y="4074566"/>
            <a:ext cx="877824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70608" y="4074566"/>
            <a:ext cx="1492301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99519" y="4478658"/>
            <a:ext cx="347618" cy="347618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編號"/>
          <p:cNvSpPr/>
          <p:nvPr/>
        </p:nvSpPr>
        <p:spPr>
          <a:xfrm>
            <a:off x="3541654" y="4520794"/>
            <a:ext cx="263347" cy="263347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43990" y="4528109"/>
            <a:ext cx="877824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770608" y="4528109"/>
            <a:ext cx="1492301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41983" y="2527402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702918" y="2450592"/>
            <a:ext cx="2611526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050" dirty="0"/>
          </a:p>
        </p:txBody>
      </p:sp>
      <p:sp>
        <p:nvSpPr>
          <p:cNvPr id="48" name="線條"/>
          <p:cNvSpPr/>
          <p:nvPr/>
        </p:nvSpPr>
        <p:spPr>
          <a:xfrm>
            <a:off x="6541983" y="2757830"/>
            <a:ext cx="2772461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41983" y="2926080"/>
            <a:ext cx="131673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541983" y="3233318"/>
            <a:ext cx="131673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541983" y="3540557"/>
            <a:ext cx="131673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541983" y="3847795"/>
            <a:ext cx="131673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005023" y="2926080"/>
            <a:ext cx="1309421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005023" y="3233318"/>
            <a:ext cx="1309421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005023" y="3540557"/>
            <a:ext cx="1309421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541983" y="4242816"/>
            <a:ext cx="2772461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13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圓形與流程鏈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38912" y="929030"/>
            <a:ext cx="329184" cy="73152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5878" y="826618"/>
            <a:ext cx="804672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大外框圓＋疊放小圓，以及三段式流程鏈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1503274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9846" y="1426464"/>
            <a:ext cx="3935578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050" dirty="0"/>
          </a:p>
        </p:txBody>
      </p:sp>
      <p:sp>
        <p:nvSpPr>
          <p:cNvPr id="7" name="線條"/>
          <p:cNvSpPr/>
          <p:nvPr/>
        </p:nvSpPr>
        <p:spPr>
          <a:xfrm>
            <a:off x="438912" y="1733702"/>
            <a:ext cx="409651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8" name="光暈大圓"/>
          <p:cNvSpPr/>
          <p:nvPr/>
        </p:nvSpPr>
        <p:spPr>
          <a:xfrm>
            <a:off x="1477670" y="1880006"/>
            <a:ext cx="2018995" cy="2018995"/>
          </a:xfrm>
          <a:prstGeom prst="ellipse">
            <a:avLst/>
          </a:prstGeom>
          <a:solidFill>
            <a:srgbClr val="FFFFFF"/>
          </a:solidFill>
          <a:ln/>
          <a:effectLst>
            <a:outerShdw blurRad="182880" dist="20320" dir="5400000" sx="102000" sy="10200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77670" y="2142476"/>
            <a:ext cx="2018995" cy="625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679570" y="2788554"/>
            <a:ext cx="1615196" cy="565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18406" y="3134494"/>
            <a:ext cx="725083" cy="725083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小圓"/>
          <p:cNvSpPr/>
          <p:nvPr/>
        </p:nvSpPr>
        <p:spPr>
          <a:xfrm>
            <a:off x="1373709" y="3189796"/>
            <a:ext cx="614477" cy="614477"/>
          </a:xfrm>
          <a:prstGeom prst="ellipse">
            <a:avLst/>
          </a:prstGeom>
          <a:solidFill>
            <a:srgbClr val="0F7C8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24627" y="3536460"/>
            <a:ext cx="725083" cy="725083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小圓"/>
          <p:cNvSpPr/>
          <p:nvPr/>
        </p:nvSpPr>
        <p:spPr>
          <a:xfrm>
            <a:off x="2179930" y="3591763"/>
            <a:ext cx="614477" cy="614477"/>
          </a:xfrm>
          <a:prstGeom prst="ellipse">
            <a:avLst/>
          </a:prstGeom>
          <a:solidFill>
            <a:srgbClr val="0F7C8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30847" y="3134494"/>
            <a:ext cx="725083" cy="725083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小圓"/>
          <p:cNvSpPr/>
          <p:nvPr/>
        </p:nvSpPr>
        <p:spPr>
          <a:xfrm>
            <a:off x="2986150" y="3189796"/>
            <a:ext cx="614477" cy="614477"/>
          </a:xfrm>
          <a:prstGeom prst="ellipse">
            <a:avLst/>
          </a:prstGeom>
          <a:solidFill>
            <a:srgbClr val="0F7C8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47488" y="1503274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08422" y="1426464"/>
            <a:ext cx="4106022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050" dirty="0"/>
          </a:p>
        </p:txBody>
      </p:sp>
      <p:sp>
        <p:nvSpPr>
          <p:cNvPr id="19" name="線條"/>
          <p:cNvSpPr/>
          <p:nvPr/>
        </p:nvSpPr>
        <p:spPr>
          <a:xfrm>
            <a:off x="5047488" y="1733702"/>
            <a:ext cx="4266956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0" name="流程鏈"/>
          <p:cNvSpPr/>
          <p:nvPr/>
        </p:nvSpPr>
        <p:spPr>
          <a:xfrm>
            <a:off x="5047488" y="1916582"/>
            <a:ext cx="1227247" cy="526694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1300" dirty="0"/>
          </a:p>
        </p:txBody>
      </p:sp>
      <p:sp>
        <p:nvSpPr>
          <p:cNvPr id="21" name="分隔"/>
          <p:cNvSpPr/>
          <p:nvPr/>
        </p:nvSpPr>
        <p:spPr>
          <a:xfrm>
            <a:off x="6380805" y="2099462"/>
            <a:ext cx="80467" cy="160934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流程鏈"/>
          <p:cNvSpPr/>
          <p:nvPr/>
        </p:nvSpPr>
        <p:spPr>
          <a:xfrm>
            <a:off x="6567343" y="1916582"/>
            <a:ext cx="1227247" cy="526694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1300" dirty="0"/>
          </a:p>
        </p:txBody>
      </p:sp>
      <p:sp>
        <p:nvSpPr>
          <p:cNvPr id="23" name="分隔"/>
          <p:cNvSpPr/>
          <p:nvPr/>
        </p:nvSpPr>
        <p:spPr>
          <a:xfrm>
            <a:off x="7900660" y="2099462"/>
            <a:ext cx="80467" cy="160934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流程鏈"/>
          <p:cNvSpPr/>
          <p:nvPr/>
        </p:nvSpPr>
        <p:spPr>
          <a:xfrm>
            <a:off x="8087197" y="1916582"/>
            <a:ext cx="1227247" cy="526694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1300" dirty="0"/>
          </a:p>
        </p:txBody>
      </p:sp>
      <p:sp>
        <p:nvSpPr>
          <p:cNvPr id="25" name="流程鏈"/>
          <p:cNvSpPr/>
          <p:nvPr/>
        </p:nvSpPr>
        <p:spPr>
          <a:xfrm>
            <a:off x="5047488" y="2816352"/>
            <a:ext cx="670804" cy="409651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100" dirty="0"/>
          </a:p>
        </p:txBody>
      </p:sp>
      <p:sp>
        <p:nvSpPr>
          <p:cNvPr id="26" name="分隔"/>
          <p:cNvSpPr/>
          <p:nvPr/>
        </p:nvSpPr>
        <p:spPr>
          <a:xfrm>
            <a:off x="5792175" y="2940710"/>
            <a:ext cx="80467" cy="160934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流程鏈"/>
          <p:cNvSpPr/>
          <p:nvPr/>
        </p:nvSpPr>
        <p:spPr>
          <a:xfrm>
            <a:off x="5946526" y="2816352"/>
            <a:ext cx="670804" cy="409651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100" dirty="0"/>
          </a:p>
        </p:txBody>
      </p:sp>
      <p:sp>
        <p:nvSpPr>
          <p:cNvPr id="28" name="分隔"/>
          <p:cNvSpPr/>
          <p:nvPr/>
        </p:nvSpPr>
        <p:spPr>
          <a:xfrm>
            <a:off x="6691213" y="2940710"/>
            <a:ext cx="80467" cy="160934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流程鏈"/>
          <p:cNvSpPr/>
          <p:nvPr/>
        </p:nvSpPr>
        <p:spPr>
          <a:xfrm>
            <a:off x="6845564" y="2816352"/>
            <a:ext cx="670804" cy="409651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100" dirty="0"/>
          </a:p>
        </p:txBody>
      </p:sp>
      <p:sp>
        <p:nvSpPr>
          <p:cNvPr id="30" name="分隔"/>
          <p:cNvSpPr/>
          <p:nvPr/>
        </p:nvSpPr>
        <p:spPr>
          <a:xfrm>
            <a:off x="7590252" y="2940710"/>
            <a:ext cx="80467" cy="160934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流程鏈"/>
          <p:cNvSpPr/>
          <p:nvPr/>
        </p:nvSpPr>
        <p:spPr>
          <a:xfrm>
            <a:off x="7744602" y="2816352"/>
            <a:ext cx="670804" cy="409651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100" dirty="0"/>
          </a:p>
        </p:txBody>
      </p:sp>
      <p:sp>
        <p:nvSpPr>
          <p:cNvPr id="32" name="分隔"/>
          <p:cNvSpPr/>
          <p:nvPr/>
        </p:nvSpPr>
        <p:spPr>
          <a:xfrm>
            <a:off x="8489290" y="2940710"/>
            <a:ext cx="80467" cy="160934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流程鏈"/>
          <p:cNvSpPr/>
          <p:nvPr/>
        </p:nvSpPr>
        <p:spPr>
          <a:xfrm>
            <a:off x="8643640" y="2816352"/>
            <a:ext cx="670804" cy="409651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100" dirty="0"/>
          </a:p>
        </p:txBody>
      </p:sp>
      <p:sp>
        <p:nvSpPr>
          <p:cNvPr id="34" name="流程鏈"/>
          <p:cNvSpPr/>
          <p:nvPr/>
        </p:nvSpPr>
        <p:spPr>
          <a:xfrm>
            <a:off x="5047488" y="3621024"/>
            <a:ext cx="847283" cy="409651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100" dirty="0"/>
          </a:p>
        </p:txBody>
      </p:sp>
      <p:sp>
        <p:nvSpPr>
          <p:cNvPr id="35" name="分隔"/>
          <p:cNvSpPr/>
          <p:nvPr/>
        </p:nvSpPr>
        <p:spPr>
          <a:xfrm>
            <a:off x="6000841" y="3745382"/>
            <a:ext cx="80467" cy="160934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流程鏈"/>
          <p:cNvSpPr/>
          <p:nvPr/>
        </p:nvSpPr>
        <p:spPr>
          <a:xfrm>
            <a:off x="6187379" y="3621024"/>
            <a:ext cx="847283" cy="409651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100" dirty="0"/>
          </a:p>
        </p:txBody>
      </p:sp>
      <p:sp>
        <p:nvSpPr>
          <p:cNvPr id="37" name="分隔"/>
          <p:cNvSpPr/>
          <p:nvPr/>
        </p:nvSpPr>
        <p:spPr>
          <a:xfrm>
            <a:off x="7140732" y="3745382"/>
            <a:ext cx="80467" cy="160934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流程鏈"/>
          <p:cNvSpPr/>
          <p:nvPr/>
        </p:nvSpPr>
        <p:spPr>
          <a:xfrm>
            <a:off x="7327270" y="3621024"/>
            <a:ext cx="847283" cy="409651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100" dirty="0"/>
          </a:p>
        </p:txBody>
      </p:sp>
      <p:sp>
        <p:nvSpPr>
          <p:cNvPr id="39" name="分隔"/>
          <p:cNvSpPr/>
          <p:nvPr/>
        </p:nvSpPr>
        <p:spPr>
          <a:xfrm>
            <a:off x="8280624" y="3745382"/>
            <a:ext cx="80467" cy="160934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流程鏈"/>
          <p:cNvSpPr/>
          <p:nvPr/>
        </p:nvSpPr>
        <p:spPr>
          <a:xfrm>
            <a:off x="8467161" y="3621024"/>
            <a:ext cx="847283" cy="409651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47488" y="4111142"/>
            <a:ext cx="8472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87379" y="4111142"/>
            <a:ext cx="8472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27270" y="4111142"/>
            <a:ext cx="8472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467161" y="4111142"/>
            <a:ext cx="8472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47488" y="4608576"/>
            <a:ext cx="4266956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13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連接線與箭頭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38912" y="929030"/>
            <a:ext cx="329184" cy="73152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5878" y="826618"/>
            <a:ext cx="804672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細直線、折線、點狀線、曲線、▶ 小三角與區塊箭號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1503274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9846" y="1426464"/>
            <a:ext cx="188238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050" dirty="0"/>
          </a:p>
        </p:txBody>
      </p:sp>
      <p:sp>
        <p:nvSpPr>
          <p:cNvPr id="7" name="線條"/>
          <p:cNvSpPr/>
          <p:nvPr/>
        </p:nvSpPr>
        <p:spPr>
          <a:xfrm>
            <a:off x="438912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8" name="處理"/>
          <p:cNvSpPr/>
          <p:nvPr/>
        </p:nvSpPr>
        <p:spPr>
          <a:xfrm>
            <a:off x="438912" y="2245766"/>
            <a:ext cx="658368" cy="336499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9" name="處理"/>
          <p:cNvSpPr/>
          <p:nvPr/>
        </p:nvSpPr>
        <p:spPr>
          <a:xfrm>
            <a:off x="1823862" y="2245766"/>
            <a:ext cx="658368" cy="336499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10" name="連接線"/>
          <p:cNvCxnSpPr>
            <a:stCxn id="8" idx="3"/>
            <a:endCxn id="9" idx="1"/>
          </p:cNvCxnSpPr>
          <p:nvPr/>
        </p:nvCxnSpPr>
        <p:spPr>
          <a:xfrm>
            <a:off x="1097280" y="2414016"/>
            <a:ext cx="726582" cy="0"/>
          </a:xfrm>
          <a:prstGeom prst="straightConnector1">
            <a:avLst/>
          </a:prstGeom>
          <a:ln w="12700">
            <a:solidFill>
              <a:srgbClr val="8C8C8C"/>
            </a:solidFill>
            <a:prstDash val="solid"/>
            <a:headEnd type="oval" w="lg" len="lg"/>
            <a:tailEnd type="triangle" w="lg" len="lg"/>
          </a:ln>
        </p:spPr>
      </p:cxnSp>
      <p:sp>
        <p:nvSpPr>
          <p:cNvPr id="11" name="Text 9"/>
          <p:cNvSpPr/>
          <p:nvPr/>
        </p:nvSpPr>
        <p:spPr>
          <a:xfrm>
            <a:off x="2716317" y="1503274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77251" y="1426464"/>
            <a:ext cx="188238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050" dirty="0"/>
          </a:p>
        </p:txBody>
      </p:sp>
      <p:sp>
        <p:nvSpPr>
          <p:cNvPr id="13" name="線條"/>
          <p:cNvSpPr/>
          <p:nvPr/>
        </p:nvSpPr>
        <p:spPr>
          <a:xfrm>
            <a:off x="2716317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4" name="處理"/>
          <p:cNvSpPr/>
          <p:nvPr/>
        </p:nvSpPr>
        <p:spPr>
          <a:xfrm>
            <a:off x="2716317" y="1975104"/>
            <a:ext cx="658368" cy="336499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15" name="處理"/>
          <p:cNvSpPr/>
          <p:nvPr/>
        </p:nvSpPr>
        <p:spPr>
          <a:xfrm>
            <a:off x="4101267" y="2706624"/>
            <a:ext cx="658368" cy="336499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16" name="連接線"/>
          <p:cNvCxnSpPr>
            <a:stCxn id="14" idx="3"/>
            <a:endCxn id="15" idx="1"/>
          </p:cNvCxnSpPr>
          <p:nvPr/>
        </p:nvCxnSpPr>
        <p:spPr>
          <a:xfrm>
            <a:off x="3374685" y="2143354"/>
            <a:ext cx="726582" cy="731520"/>
          </a:xfrm>
          <a:prstGeom prst="bentConnector3">
            <a:avLst>
              <a:gd name="adj1" fmla="val 50000"/>
            </a:avLst>
          </a:prstGeom>
          <a:ln w="12700">
            <a:solidFill>
              <a:srgbClr val="8C8C8C"/>
            </a:solidFill>
            <a:prstDash val="solid"/>
            <a:headEnd type="oval" w="lg" len="lg"/>
            <a:tailEnd type="triangle" w="lg" len="lg"/>
          </a:ln>
        </p:spPr>
      </p:cxnSp>
      <p:sp>
        <p:nvSpPr>
          <p:cNvPr id="17" name="Text 15"/>
          <p:cNvSpPr/>
          <p:nvPr/>
        </p:nvSpPr>
        <p:spPr>
          <a:xfrm>
            <a:off x="4993721" y="1503274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54656" y="1426464"/>
            <a:ext cx="188238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050" dirty="0"/>
          </a:p>
        </p:txBody>
      </p:sp>
      <p:sp>
        <p:nvSpPr>
          <p:cNvPr id="19" name="線條"/>
          <p:cNvSpPr/>
          <p:nvPr/>
        </p:nvSpPr>
        <p:spPr>
          <a:xfrm>
            <a:off x="4993721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0" name="處理"/>
          <p:cNvSpPr/>
          <p:nvPr/>
        </p:nvSpPr>
        <p:spPr>
          <a:xfrm>
            <a:off x="4993721" y="2245766"/>
            <a:ext cx="658368" cy="336499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21" name="處理"/>
          <p:cNvSpPr/>
          <p:nvPr/>
        </p:nvSpPr>
        <p:spPr>
          <a:xfrm>
            <a:off x="6378672" y="2245766"/>
            <a:ext cx="658368" cy="336499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22" name="連接線"/>
          <p:cNvCxnSpPr>
            <a:stCxn id="20" idx="3"/>
            <a:endCxn id="21" idx="1"/>
          </p:cNvCxnSpPr>
          <p:nvPr/>
        </p:nvCxnSpPr>
        <p:spPr>
          <a:xfrm>
            <a:off x="5652089" y="2414016"/>
            <a:ext cx="726582" cy="0"/>
          </a:xfrm>
          <a:prstGeom prst="straightConnector1">
            <a:avLst/>
          </a:prstGeom>
          <a:ln w="12700">
            <a:solidFill>
              <a:srgbClr val="8C8C8C"/>
            </a:solidFill>
            <a:prstDash val="sysDot"/>
            <a:headEnd type="oval" w="lg" len="lg"/>
            <a:tailEnd type="triangle" w="lg" len="lg"/>
          </a:ln>
        </p:spPr>
      </p:cxnSp>
      <p:sp>
        <p:nvSpPr>
          <p:cNvPr id="23" name="Text 21"/>
          <p:cNvSpPr/>
          <p:nvPr/>
        </p:nvSpPr>
        <p:spPr>
          <a:xfrm>
            <a:off x="7271126" y="1503274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432060" y="1426464"/>
            <a:ext cx="188238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050" dirty="0"/>
          </a:p>
        </p:txBody>
      </p:sp>
      <p:sp>
        <p:nvSpPr>
          <p:cNvPr id="25" name="線條"/>
          <p:cNvSpPr/>
          <p:nvPr/>
        </p:nvSpPr>
        <p:spPr>
          <a:xfrm>
            <a:off x="7271126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6" name="處理"/>
          <p:cNvSpPr/>
          <p:nvPr/>
        </p:nvSpPr>
        <p:spPr>
          <a:xfrm>
            <a:off x="7271126" y="2596896"/>
            <a:ext cx="658368" cy="336499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27" name="處理"/>
          <p:cNvSpPr/>
          <p:nvPr/>
        </p:nvSpPr>
        <p:spPr>
          <a:xfrm>
            <a:off x="8656076" y="2596896"/>
            <a:ext cx="658368" cy="336499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sp>
        <p:nvSpPr>
          <p:cNvPr id="28" name="曲線箭頭"/>
          <p:cNvSpPr/>
          <p:nvPr/>
        </p:nvSpPr>
        <p:spPr>
          <a:xfrm>
            <a:off x="7600310" y="1938528"/>
            <a:ext cx="1384950" cy="614477"/>
          </a:xfrm>
          <a:custGeom>
            <a:avLst/>
            <a:gdLst/>
            <a:ahLst/>
            <a:cxnLst/>
            <a:rect l="l" t="t" r="r" b="b"/>
            <a:pathLst>
              <a:path w="1384950" h="614477">
                <a:moveTo>
                  <a:pt x="0" y="614477"/>
                </a:moveTo>
                <a:cubicBezTo>
                  <a:pt x="0" y="0"/>
                  <a:pt x="1384950" y="0"/>
                  <a:pt x="1384950" y="614477"/>
                </a:cubicBezTo>
              </a:path>
            </a:pathLst>
          </a:custGeom>
          <a:ln w="12700">
            <a:solidFill>
              <a:srgbClr val="8C8C8C"/>
            </a:solidFill>
            <a:prstDash val="sysDash"/>
            <a:headEnd type="oval" w="lg" len="lg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38912" y="3222346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99846" y="3145536"/>
            <a:ext cx="188238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050" dirty="0"/>
          </a:p>
        </p:txBody>
      </p:sp>
      <p:sp>
        <p:nvSpPr>
          <p:cNvPr id="31" name="線條"/>
          <p:cNvSpPr/>
          <p:nvPr/>
        </p:nvSpPr>
        <p:spPr>
          <a:xfrm>
            <a:off x="438912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986784"/>
            <a:ext cx="4535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050" dirty="0"/>
          </a:p>
        </p:txBody>
      </p:sp>
      <p:sp>
        <p:nvSpPr>
          <p:cNvPr id="33" name="分隔"/>
          <p:cNvSpPr/>
          <p:nvPr/>
        </p:nvSpPr>
        <p:spPr>
          <a:xfrm>
            <a:off x="1022894" y="4052621"/>
            <a:ext cx="80467" cy="160934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233800" y="3986784"/>
            <a:ext cx="4535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050" dirty="0"/>
          </a:p>
        </p:txBody>
      </p:sp>
      <p:sp>
        <p:nvSpPr>
          <p:cNvPr id="35" name="分隔"/>
          <p:cNvSpPr/>
          <p:nvPr/>
        </p:nvSpPr>
        <p:spPr>
          <a:xfrm>
            <a:off x="1817781" y="4052621"/>
            <a:ext cx="80467" cy="160934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028688" y="3986784"/>
            <a:ext cx="4535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716317" y="3222346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877251" y="3145536"/>
            <a:ext cx="188238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050" dirty="0"/>
          </a:p>
        </p:txBody>
      </p:sp>
      <p:sp>
        <p:nvSpPr>
          <p:cNvPr id="39" name="線條"/>
          <p:cNvSpPr/>
          <p:nvPr/>
        </p:nvSpPr>
        <p:spPr>
          <a:xfrm>
            <a:off x="2716317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0" name="處理"/>
          <p:cNvSpPr/>
          <p:nvPr/>
        </p:nvSpPr>
        <p:spPr>
          <a:xfrm>
            <a:off x="2716317" y="3964838"/>
            <a:ext cx="658368" cy="336499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41" name="處理"/>
          <p:cNvSpPr/>
          <p:nvPr/>
        </p:nvSpPr>
        <p:spPr>
          <a:xfrm>
            <a:off x="4101267" y="3964838"/>
            <a:ext cx="658368" cy="336499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sp>
        <p:nvSpPr>
          <p:cNvPr id="42" name="三角形"/>
          <p:cNvSpPr/>
          <p:nvPr/>
        </p:nvSpPr>
        <p:spPr>
          <a:xfrm>
            <a:off x="3571189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三角形"/>
          <p:cNvSpPr/>
          <p:nvPr/>
        </p:nvSpPr>
        <p:spPr>
          <a:xfrm>
            <a:off x="3694085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三角形"/>
          <p:cNvSpPr/>
          <p:nvPr/>
        </p:nvSpPr>
        <p:spPr>
          <a:xfrm>
            <a:off x="3816980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993721" y="3222346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154656" y="3145536"/>
            <a:ext cx="188238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050" dirty="0"/>
          </a:p>
        </p:txBody>
      </p:sp>
      <p:sp>
        <p:nvSpPr>
          <p:cNvPr id="47" name="線條"/>
          <p:cNvSpPr/>
          <p:nvPr/>
        </p:nvSpPr>
        <p:spPr>
          <a:xfrm>
            <a:off x="4993721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8" name="區塊箭號"/>
          <p:cNvSpPr/>
          <p:nvPr/>
        </p:nvSpPr>
        <p:spPr>
          <a:xfrm>
            <a:off x="4993721" y="3935578"/>
            <a:ext cx="768888" cy="395021"/>
          </a:xfrm>
          <a:prstGeom prst="homePlate">
            <a:avLst>
              <a:gd name="adj" fmla="val 33333"/>
            </a:avLst>
          </a:prstGeom>
          <a:solidFill>
            <a:srgbClr val="0F7C80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050" dirty="0"/>
          </a:p>
        </p:txBody>
      </p:sp>
      <p:sp>
        <p:nvSpPr>
          <p:cNvPr id="49" name="區塊箭號"/>
          <p:cNvSpPr/>
          <p:nvPr/>
        </p:nvSpPr>
        <p:spPr>
          <a:xfrm>
            <a:off x="5660197" y="3935578"/>
            <a:ext cx="768888" cy="395021"/>
          </a:xfrm>
          <a:prstGeom prst="chevron">
            <a:avLst>
              <a:gd name="adj" fmla="val 33333"/>
            </a:avLst>
          </a:prstGeom>
          <a:solidFill>
            <a:srgbClr val="4B9DA0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050" dirty="0"/>
          </a:p>
        </p:txBody>
      </p:sp>
      <p:sp>
        <p:nvSpPr>
          <p:cNvPr id="50" name="區塊箭號"/>
          <p:cNvSpPr/>
          <p:nvPr/>
        </p:nvSpPr>
        <p:spPr>
          <a:xfrm>
            <a:off x="6326673" y="3935578"/>
            <a:ext cx="768888" cy="395021"/>
          </a:xfrm>
          <a:prstGeom prst="chevron">
            <a:avLst>
              <a:gd name="adj" fmla="val 33333"/>
            </a:avLst>
          </a:prstGeom>
          <a:solidFill>
            <a:srgbClr val="F2A541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271126" y="3222346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432060" y="3145536"/>
            <a:ext cx="188238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050" dirty="0"/>
          </a:p>
        </p:txBody>
      </p:sp>
      <p:sp>
        <p:nvSpPr>
          <p:cNvPr id="53" name="線條"/>
          <p:cNvSpPr/>
          <p:nvPr/>
        </p:nvSpPr>
        <p:spPr>
          <a:xfrm>
            <a:off x="7271126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54" name="處理"/>
          <p:cNvSpPr/>
          <p:nvPr/>
        </p:nvSpPr>
        <p:spPr>
          <a:xfrm>
            <a:off x="7271126" y="3964838"/>
            <a:ext cx="658368" cy="336499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55" name="處理"/>
          <p:cNvSpPr/>
          <p:nvPr/>
        </p:nvSpPr>
        <p:spPr>
          <a:xfrm>
            <a:off x="8656076" y="3657600"/>
            <a:ext cx="658368" cy="336499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050" dirty="0"/>
          </a:p>
        </p:txBody>
      </p:sp>
      <p:sp>
        <p:nvSpPr>
          <p:cNvPr id="56" name="處理"/>
          <p:cNvSpPr/>
          <p:nvPr/>
        </p:nvSpPr>
        <p:spPr>
          <a:xfrm>
            <a:off x="8656076" y="4272077"/>
            <a:ext cx="658368" cy="336499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050" dirty="0"/>
          </a:p>
        </p:txBody>
      </p:sp>
      <p:cxnSp>
        <p:nvCxnSpPr>
          <p:cNvPr id="57" name="連接線"/>
          <p:cNvCxnSpPr>
            <a:stCxn id="54" idx="3"/>
            <a:endCxn id="55" idx="1"/>
          </p:cNvCxnSpPr>
          <p:nvPr/>
        </p:nvCxnSpPr>
        <p:spPr>
          <a:xfrm flipV="1">
            <a:off x="7929494" y="3825850"/>
            <a:ext cx="726582" cy="307238"/>
          </a:xfrm>
          <a:prstGeom prst="bentConnector3">
            <a:avLst>
              <a:gd name="adj1" fmla="val 50000"/>
            </a:avLst>
          </a:prstGeom>
          <a:ln w="12700">
            <a:solidFill>
              <a:srgbClr val="8C8C8C"/>
            </a:solidFill>
            <a:prstDash val="solid"/>
            <a:tailEnd type="triangle" w="lg" len="lg"/>
          </a:ln>
        </p:spPr>
      </p:cxnSp>
      <p:cxnSp>
        <p:nvCxnSpPr>
          <p:cNvPr id="58" name="連接線"/>
          <p:cNvCxnSpPr>
            <a:stCxn id="54" idx="3"/>
            <a:endCxn id="56" idx="1"/>
          </p:cNvCxnSpPr>
          <p:nvPr/>
        </p:nvCxnSpPr>
        <p:spPr>
          <a:xfrm>
            <a:off x="7929494" y="4133088"/>
            <a:ext cx="726582" cy="307238"/>
          </a:xfrm>
          <a:prstGeom prst="bentConnector3">
            <a:avLst>
              <a:gd name="adj1" fmla="val 50000"/>
            </a:avLst>
          </a:prstGeom>
          <a:ln w="12700">
            <a:solidFill>
              <a:srgbClr val="8C8C8C"/>
            </a:solidFill>
            <a:prstDash val="solid"/>
            <a:tailEnd type="triangle" w="lg" len="lg"/>
          </a:ln>
        </p:spPr>
      </p:cxnSp>
      <p:sp>
        <p:nvSpPr>
          <p:cNvPr id="59" name="Text 57"/>
          <p:cNvSpPr/>
          <p:nvPr/>
        </p:nvSpPr>
        <p:spPr>
          <a:xfrm>
            <a:off x="438912" y="4754880"/>
            <a:ext cx="8875532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直線、折線、點狀線、分支在 pptx 中是「黏著連接線」：移動圖形，線會跟著走（曲線為一般線條）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13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流程圖符號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38912" y="929030"/>
            <a:ext cx="329184" cy="73152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5878" y="826618"/>
            <a:ext cx="804672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開始／結束、處理、判斷、輸入輸出、文件、資料庫</a:t>
            </a:r>
            <a:endParaRPr lang="en-US" sz="1300" dirty="0"/>
          </a:p>
        </p:txBody>
      </p:sp>
      <p:sp>
        <p:nvSpPr>
          <p:cNvPr id="5" name="開始／結束"/>
          <p:cNvSpPr/>
          <p:nvPr/>
        </p:nvSpPr>
        <p:spPr>
          <a:xfrm>
            <a:off x="629900" y="1784909"/>
            <a:ext cx="1097280" cy="453542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01798"/>
            <a:ext cx="1479255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Terminator</a:t>
            </a:r>
            <a:endParaRPr lang="en-US" sz="1100" dirty="0"/>
          </a:p>
        </p:txBody>
      </p:sp>
      <p:sp>
        <p:nvSpPr>
          <p:cNvPr id="7" name="處理"/>
          <p:cNvSpPr/>
          <p:nvPr/>
        </p:nvSpPr>
        <p:spPr>
          <a:xfrm>
            <a:off x="2072579" y="1748333"/>
            <a:ext cx="1170432" cy="526694"/>
          </a:xfrm>
          <a:prstGeom prst="roundRect">
            <a:avLst>
              <a:gd name="adj" fmla="val 30556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18167" y="2501798"/>
            <a:ext cx="1479255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100" dirty="0"/>
          </a:p>
        </p:txBody>
      </p:sp>
      <p:sp>
        <p:nvSpPr>
          <p:cNvPr id="9" name="判斷"/>
          <p:cNvSpPr/>
          <p:nvPr/>
        </p:nvSpPr>
        <p:spPr>
          <a:xfrm>
            <a:off x="3588410" y="1645920"/>
            <a:ext cx="1097280" cy="731520"/>
          </a:xfrm>
          <a:prstGeom prst="diamond">
            <a:avLst/>
          </a:prstGeom>
          <a:solidFill>
            <a:srgbClr val="FCE9D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97423" y="2501798"/>
            <a:ext cx="1479255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1" name="輸入輸出"/>
          <p:cNvSpPr/>
          <p:nvPr/>
        </p:nvSpPr>
        <p:spPr>
          <a:xfrm>
            <a:off x="4994514" y="1748333"/>
            <a:ext cx="1243584" cy="526694"/>
          </a:xfrm>
          <a:prstGeom prst="parallelogram">
            <a:avLst>
              <a:gd name="adj" fmla="val 42000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76678" y="2501798"/>
            <a:ext cx="1479255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 / Output</a:t>
            </a:r>
            <a:endParaRPr lang="en-US" sz="1100" dirty="0"/>
          </a:p>
        </p:txBody>
      </p:sp>
      <p:sp>
        <p:nvSpPr>
          <p:cNvPr id="13" name="文件"/>
          <p:cNvSpPr/>
          <p:nvPr/>
        </p:nvSpPr>
        <p:spPr>
          <a:xfrm>
            <a:off x="6546921" y="1700784"/>
            <a:ext cx="1097280" cy="621792"/>
          </a:xfrm>
          <a:prstGeom prst="flowChartDocument">
            <a:avLst/>
          </a:prstGeom>
          <a:solidFill>
            <a:srgbClr val="E0F0F0"/>
          </a:solidFill>
          <a:ln/>
        </p:spPr>
        <p:txBody>
          <a:bodyPr wrap="square" lIns="30480" tIns="0" rIns="3048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55933" y="2501798"/>
            <a:ext cx="1479255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Document</a:t>
            </a:r>
            <a:endParaRPr lang="en-US" sz="1100" dirty="0"/>
          </a:p>
        </p:txBody>
      </p:sp>
      <p:sp>
        <p:nvSpPr>
          <p:cNvPr id="15" name="資料庫"/>
          <p:cNvSpPr/>
          <p:nvPr/>
        </p:nvSpPr>
        <p:spPr>
          <a:xfrm>
            <a:off x="8172480" y="1645920"/>
            <a:ext cx="804672" cy="731520"/>
          </a:xfrm>
          <a:prstGeom prst="can">
            <a:avLst>
              <a:gd name="adj" fmla="val 13000"/>
            </a:avLst>
          </a:prstGeom>
          <a:solidFill>
            <a:srgbClr val="E0F0F0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35189" y="2501798"/>
            <a:ext cx="1479255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090672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9846" y="3013862"/>
            <a:ext cx="8714598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050" dirty="0"/>
          </a:p>
        </p:txBody>
      </p:sp>
      <p:sp>
        <p:nvSpPr>
          <p:cNvPr id="19" name="線條"/>
          <p:cNvSpPr/>
          <p:nvPr/>
        </p:nvSpPr>
        <p:spPr>
          <a:xfrm>
            <a:off x="438912" y="3321101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0" name="開始／結束"/>
          <p:cNvSpPr/>
          <p:nvPr/>
        </p:nvSpPr>
        <p:spPr>
          <a:xfrm>
            <a:off x="438912" y="3547872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00" dirty="0"/>
          </a:p>
        </p:txBody>
      </p:sp>
      <p:sp>
        <p:nvSpPr>
          <p:cNvPr id="21" name="輸入輸出"/>
          <p:cNvSpPr/>
          <p:nvPr/>
        </p:nvSpPr>
        <p:spPr>
          <a:xfrm>
            <a:off x="1782422" y="3518611"/>
            <a:ext cx="1316736" cy="497434"/>
          </a:xfrm>
          <a:prstGeom prst="parallelogram">
            <a:avLst>
              <a:gd name="adj" fmla="val 42000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100" dirty="0"/>
          </a:p>
        </p:txBody>
      </p:sp>
      <p:sp>
        <p:nvSpPr>
          <p:cNvPr id="22" name="判斷"/>
          <p:cNvSpPr/>
          <p:nvPr/>
        </p:nvSpPr>
        <p:spPr>
          <a:xfrm>
            <a:off x="3528267" y="3401568"/>
            <a:ext cx="1243584" cy="731520"/>
          </a:xfrm>
          <a:prstGeom prst="diamond">
            <a:avLst/>
          </a:prstGeom>
          <a:solidFill>
            <a:srgbClr val="FCE9D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050" dirty="0"/>
          </a:p>
        </p:txBody>
      </p:sp>
      <p:sp>
        <p:nvSpPr>
          <p:cNvPr id="23" name="處理"/>
          <p:cNvSpPr/>
          <p:nvPr/>
        </p:nvSpPr>
        <p:spPr>
          <a:xfrm>
            <a:off x="5200961" y="3518611"/>
            <a:ext cx="1170432" cy="497434"/>
          </a:xfrm>
          <a:prstGeom prst="roundRect">
            <a:avLst>
              <a:gd name="adj" fmla="val 32353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100" dirty="0"/>
          </a:p>
        </p:txBody>
      </p:sp>
      <p:sp>
        <p:nvSpPr>
          <p:cNvPr id="24" name="文件"/>
          <p:cNvSpPr/>
          <p:nvPr/>
        </p:nvSpPr>
        <p:spPr>
          <a:xfrm>
            <a:off x="6800503" y="3474720"/>
            <a:ext cx="1170432" cy="585216"/>
          </a:xfrm>
          <a:prstGeom prst="flowChartDocument">
            <a:avLst/>
          </a:prstGeom>
          <a:solidFill>
            <a:srgbClr val="E0F0F0"/>
          </a:solidFill>
          <a:ln/>
        </p:spPr>
        <p:txBody>
          <a:bodyPr wrap="square" lIns="30480" tIns="0" rIns="3048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100" dirty="0"/>
          </a:p>
        </p:txBody>
      </p:sp>
      <p:sp>
        <p:nvSpPr>
          <p:cNvPr id="25" name="開始／結束"/>
          <p:cNvSpPr/>
          <p:nvPr/>
        </p:nvSpPr>
        <p:spPr>
          <a:xfrm>
            <a:off x="8400044" y="3547872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00" dirty="0"/>
          </a:p>
        </p:txBody>
      </p:sp>
      <p:cxnSp>
        <p:nvCxnSpPr>
          <p:cNvPr id="26" name="連接線"/>
          <p:cNvCxnSpPr>
            <a:stCxn id="20" idx="3"/>
            <a:endCxn id="21" idx="5"/>
          </p:cNvCxnSpPr>
          <p:nvPr/>
        </p:nvCxnSpPr>
        <p:spPr>
          <a:xfrm>
            <a:off x="1353312" y="3767328"/>
            <a:ext cx="533571" cy="0"/>
          </a:xfrm>
          <a:prstGeom prst="straightConnector1">
            <a:avLst/>
          </a:prstGeom>
          <a:ln w="12700">
            <a:solidFill>
              <a:srgbClr val="8C8C8C"/>
            </a:solidFill>
            <a:prstDash val="solid"/>
            <a:tailEnd type="triangle" w="lg" len="lg"/>
          </a:ln>
        </p:spPr>
      </p:cxnSp>
      <p:cxnSp>
        <p:nvCxnSpPr>
          <p:cNvPr id="27" name="連接線"/>
          <p:cNvCxnSpPr>
            <a:stCxn id="21" idx="2"/>
            <a:endCxn id="22" idx="1"/>
          </p:cNvCxnSpPr>
          <p:nvPr/>
        </p:nvCxnSpPr>
        <p:spPr>
          <a:xfrm>
            <a:off x="2994697" y="3767328"/>
            <a:ext cx="533571" cy="0"/>
          </a:xfrm>
          <a:prstGeom prst="straightConnector1">
            <a:avLst/>
          </a:prstGeom>
          <a:ln w="12700">
            <a:solidFill>
              <a:srgbClr val="8C8C8C"/>
            </a:solidFill>
            <a:prstDash val="solid"/>
            <a:tailEnd type="triangle" w="lg" len="lg"/>
          </a:ln>
        </p:spPr>
      </p:cxnSp>
      <p:cxnSp>
        <p:nvCxnSpPr>
          <p:cNvPr id="28" name="連接線"/>
          <p:cNvCxnSpPr>
            <a:stCxn id="22" idx="3"/>
            <a:endCxn id="23" idx="1"/>
          </p:cNvCxnSpPr>
          <p:nvPr/>
        </p:nvCxnSpPr>
        <p:spPr>
          <a:xfrm>
            <a:off x="4771851" y="3767328"/>
            <a:ext cx="429110" cy="0"/>
          </a:xfrm>
          <a:prstGeom prst="straightConnector1">
            <a:avLst/>
          </a:prstGeom>
          <a:ln w="12700">
            <a:solidFill>
              <a:srgbClr val="8C8C8C"/>
            </a:solidFill>
            <a:prstDash val="solid"/>
            <a:tailEnd type="triangle" w="lg" len="lg"/>
          </a:ln>
        </p:spPr>
      </p:cxnSp>
      <p:cxnSp>
        <p:nvCxnSpPr>
          <p:cNvPr id="29" name="連接線"/>
          <p:cNvCxnSpPr>
            <a:stCxn id="23" idx="3"/>
            <a:endCxn id="24" idx="1"/>
          </p:cNvCxnSpPr>
          <p:nvPr/>
        </p:nvCxnSpPr>
        <p:spPr>
          <a:xfrm>
            <a:off x="6371393" y="3767328"/>
            <a:ext cx="429110" cy="0"/>
          </a:xfrm>
          <a:prstGeom prst="straightConnector1">
            <a:avLst/>
          </a:prstGeom>
          <a:ln w="12700">
            <a:solidFill>
              <a:srgbClr val="8C8C8C"/>
            </a:solidFill>
            <a:prstDash val="solid"/>
            <a:tailEnd type="triangle" w="lg" len="lg"/>
          </a:ln>
        </p:spPr>
      </p:cxnSp>
      <p:cxnSp>
        <p:nvCxnSpPr>
          <p:cNvPr id="30" name="連接線"/>
          <p:cNvCxnSpPr>
            <a:stCxn id="24" idx="3"/>
            <a:endCxn id="25" idx="1"/>
          </p:cNvCxnSpPr>
          <p:nvPr/>
        </p:nvCxnSpPr>
        <p:spPr>
          <a:xfrm>
            <a:off x="7970935" y="3767328"/>
            <a:ext cx="429110" cy="0"/>
          </a:xfrm>
          <a:prstGeom prst="straightConnector1">
            <a:avLst/>
          </a:prstGeom>
          <a:ln w="12700">
            <a:solidFill>
              <a:srgbClr val="8C8C8C"/>
            </a:solidFill>
            <a:prstDash val="solid"/>
            <a:tailEnd type="triangle" w="lg" len="lg"/>
          </a:ln>
        </p:spPr>
      </p:cxnSp>
      <p:sp>
        <p:nvSpPr>
          <p:cNvPr id="31" name="Text 29"/>
          <p:cNvSpPr/>
          <p:nvPr/>
        </p:nvSpPr>
        <p:spPr>
          <a:xfrm>
            <a:off x="4786482" y="3460090"/>
            <a:ext cx="429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900" dirty="0"/>
          </a:p>
        </p:txBody>
      </p:sp>
      <p:sp>
        <p:nvSpPr>
          <p:cNvPr id="32" name="資料庫"/>
          <p:cNvSpPr/>
          <p:nvPr/>
        </p:nvSpPr>
        <p:spPr>
          <a:xfrm>
            <a:off x="5420417" y="4330598"/>
            <a:ext cx="731520" cy="599846"/>
          </a:xfrm>
          <a:prstGeom prst="can">
            <a:avLst>
              <a:gd name="adj" fmla="val 13000"/>
            </a:avLst>
          </a:prstGeom>
          <a:solidFill>
            <a:srgbClr val="E0F0F0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950" dirty="0"/>
          </a:p>
        </p:txBody>
      </p:sp>
      <p:cxnSp>
        <p:nvCxnSpPr>
          <p:cNvPr id="33" name="連接線"/>
          <p:cNvCxnSpPr>
            <a:stCxn id="23" idx="2"/>
            <a:endCxn id="32" idx="0"/>
          </p:cNvCxnSpPr>
          <p:nvPr/>
        </p:nvCxnSpPr>
        <p:spPr>
          <a:xfrm>
            <a:off x="5786177" y="4016045"/>
            <a:ext cx="0" cy="314554"/>
          </a:xfrm>
          <a:prstGeom prst="straightConnector1">
            <a:avLst/>
          </a:prstGeom>
          <a:ln w="12700">
            <a:solidFill>
              <a:srgbClr val="8C8C8C"/>
            </a:solidFill>
            <a:prstDash val="sysDash"/>
            <a:headEnd type="triangle" w="lg" len="lg"/>
            <a:tailEnd type="triangle" w="lg" len="lg"/>
          </a:ln>
        </p:spPr>
      </p:cxnSp>
      <p:cxnSp>
        <p:nvCxnSpPr>
          <p:cNvPr id="34" name="連接線"/>
          <p:cNvCxnSpPr>
            <a:stCxn id="22" idx="2"/>
            <a:endCxn id="21" idx="4"/>
          </p:cNvCxnSpPr>
          <p:nvPr/>
        </p:nvCxnSpPr>
        <p:spPr>
          <a:xfrm rot="5400000" flipH="1">
            <a:off x="3236903" y="3219932"/>
            <a:ext cx="117043" cy="1709270"/>
          </a:xfrm>
          <a:prstGeom prst="bentConnector3">
            <a:avLst>
              <a:gd name="adj1" fmla="val -468750"/>
            </a:avLst>
          </a:prstGeom>
          <a:ln w="12700">
            <a:solidFill>
              <a:srgbClr val="8C8C8C"/>
            </a:solidFill>
            <a:prstDash val="solid"/>
            <a:tailEnd type="triangle" w="lg" len="lg"/>
          </a:ln>
        </p:spPr>
      </p:cxnSp>
      <p:sp>
        <p:nvSpPr>
          <p:cNvPr id="35" name="Text 33"/>
          <p:cNvSpPr/>
          <p:nvPr/>
        </p:nvSpPr>
        <p:spPr>
          <a:xfrm>
            <a:off x="4223211" y="422087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13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結構元件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38912" y="929030"/>
            <a:ext cx="329184" cy="73152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5878" y="826618"/>
            <a:ext cx="804672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樹狀分支、十字矩陣與半透明寬欄條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1503274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9846" y="1426464"/>
            <a:ext cx="400873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050" dirty="0"/>
          </a:p>
        </p:txBody>
      </p:sp>
      <p:sp>
        <p:nvSpPr>
          <p:cNvPr id="7" name="線條"/>
          <p:cNvSpPr/>
          <p:nvPr/>
        </p:nvSpPr>
        <p:spPr>
          <a:xfrm>
            <a:off x="438912" y="1733702"/>
            <a:ext cx="416966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8" name="處理"/>
          <p:cNvSpPr/>
          <p:nvPr/>
        </p:nvSpPr>
        <p:spPr>
          <a:xfrm>
            <a:off x="438912" y="3035808"/>
            <a:ext cx="599846" cy="365760"/>
          </a:xfrm>
          <a:prstGeom prst="roundRect">
            <a:avLst>
              <a:gd name="adj" fmla="val 44000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050" dirty="0"/>
          </a:p>
        </p:txBody>
      </p:sp>
      <p:sp>
        <p:nvSpPr>
          <p:cNvPr id="9" name="處理"/>
          <p:cNvSpPr/>
          <p:nvPr/>
        </p:nvSpPr>
        <p:spPr>
          <a:xfrm>
            <a:off x="1499616" y="2450592"/>
            <a:ext cx="672998" cy="365760"/>
          </a:xfrm>
          <a:prstGeom prst="roundRect">
            <a:avLst>
              <a:gd name="adj" fmla="val 44000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950" dirty="0"/>
          </a:p>
        </p:txBody>
      </p:sp>
      <p:sp>
        <p:nvSpPr>
          <p:cNvPr id="10" name="處理"/>
          <p:cNvSpPr/>
          <p:nvPr/>
        </p:nvSpPr>
        <p:spPr>
          <a:xfrm>
            <a:off x="1499616" y="3621024"/>
            <a:ext cx="672998" cy="365760"/>
          </a:xfrm>
          <a:prstGeom prst="roundRect">
            <a:avLst>
              <a:gd name="adj" fmla="val 44000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950" dirty="0"/>
          </a:p>
        </p:txBody>
      </p:sp>
      <p:sp>
        <p:nvSpPr>
          <p:cNvPr id="11" name="處理"/>
          <p:cNvSpPr/>
          <p:nvPr/>
        </p:nvSpPr>
        <p:spPr>
          <a:xfrm>
            <a:off x="2633472" y="3035808"/>
            <a:ext cx="599846" cy="365760"/>
          </a:xfrm>
          <a:prstGeom prst="roundRect">
            <a:avLst>
              <a:gd name="adj" fmla="val 44000"/>
            </a:avLst>
          </a:prstGeom>
          <a:solidFill>
            <a:srgbClr val="0F7C8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050" dirty="0"/>
          </a:p>
        </p:txBody>
      </p:sp>
      <p:sp>
        <p:nvSpPr>
          <p:cNvPr id="12" name="處理"/>
          <p:cNvSpPr/>
          <p:nvPr/>
        </p:nvSpPr>
        <p:spPr>
          <a:xfrm>
            <a:off x="3694176" y="2084832"/>
            <a:ext cx="914400" cy="365760"/>
          </a:xfrm>
          <a:prstGeom prst="roundRect">
            <a:avLst>
              <a:gd name="adj" fmla="val 44000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950" dirty="0"/>
          </a:p>
        </p:txBody>
      </p:sp>
      <p:sp>
        <p:nvSpPr>
          <p:cNvPr id="13" name="處理"/>
          <p:cNvSpPr/>
          <p:nvPr/>
        </p:nvSpPr>
        <p:spPr>
          <a:xfrm>
            <a:off x="3694176" y="3035808"/>
            <a:ext cx="914400" cy="365760"/>
          </a:xfrm>
          <a:prstGeom prst="roundRect">
            <a:avLst>
              <a:gd name="adj" fmla="val 44000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950" dirty="0"/>
          </a:p>
        </p:txBody>
      </p:sp>
      <p:sp>
        <p:nvSpPr>
          <p:cNvPr id="14" name="處理"/>
          <p:cNvSpPr/>
          <p:nvPr/>
        </p:nvSpPr>
        <p:spPr>
          <a:xfrm>
            <a:off x="3694176" y="3986784"/>
            <a:ext cx="914400" cy="365760"/>
          </a:xfrm>
          <a:prstGeom prst="roundRect">
            <a:avLst>
              <a:gd name="adj" fmla="val 44000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950" dirty="0"/>
          </a:p>
        </p:txBody>
      </p:sp>
      <p:sp>
        <p:nvSpPr>
          <p:cNvPr id="15" name="連接線"/>
          <p:cNvSpPr/>
          <p:nvPr/>
        </p:nvSpPr>
        <p:spPr>
          <a:xfrm>
            <a:off x="1082650" y="2633472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585216"/>
                </a:moveTo>
                <a:lnTo>
                  <a:pt x="186538" y="58521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ln w="12700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連接線"/>
          <p:cNvSpPr/>
          <p:nvPr/>
        </p:nvSpPr>
        <p:spPr>
          <a:xfrm>
            <a:off x="1082650" y="3218688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0"/>
                </a:moveTo>
                <a:lnTo>
                  <a:pt x="186538" y="0"/>
                </a:lnTo>
                <a:lnTo>
                  <a:pt x="186538" y="585216"/>
                </a:lnTo>
                <a:lnTo>
                  <a:pt x="373075" y="585216"/>
                </a:lnTo>
              </a:path>
            </a:pathLst>
          </a:custGeom>
          <a:ln w="12700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2216506" y="2633472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0"/>
                </a:moveTo>
                <a:lnTo>
                  <a:pt x="186538" y="0"/>
                </a:lnTo>
                <a:lnTo>
                  <a:pt x="186538" y="585216"/>
                </a:lnTo>
                <a:lnTo>
                  <a:pt x="373075" y="585216"/>
                </a:lnTo>
              </a:path>
            </a:pathLst>
          </a:custGeom>
          <a:ln w="12700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2216506" y="3218688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585216"/>
                </a:moveTo>
                <a:lnTo>
                  <a:pt x="186538" y="58521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ln w="12700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連接線"/>
          <p:cNvSpPr/>
          <p:nvPr/>
        </p:nvSpPr>
        <p:spPr>
          <a:xfrm>
            <a:off x="3277210" y="2267712"/>
            <a:ext cx="373075" cy="950976"/>
          </a:xfrm>
          <a:custGeom>
            <a:avLst/>
            <a:gdLst/>
            <a:ahLst/>
            <a:cxnLst/>
            <a:rect l="l" t="t" r="r" b="b"/>
            <a:pathLst>
              <a:path w="373075" h="950976">
                <a:moveTo>
                  <a:pt x="0" y="950976"/>
                </a:moveTo>
                <a:lnTo>
                  <a:pt x="186538" y="95097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ln w="12700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線條"/>
          <p:cNvSpPr/>
          <p:nvPr/>
        </p:nvSpPr>
        <p:spPr>
          <a:xfrm>
            <a:off x="3277210" y="3218688"/>
            <a:ext cx="373075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  <a:tailEnd type="triangle" w="lg" len="lg"/>
          </a:ln>
        </p:spPr>
      </p:sp>
      <p:sp>
        <p:nvSpPr>
          <p:cNvPr id="21" name="連接線"/>
          <p:cNvSpPr/>
          <p:nvPr/>
        </p:nvSpPr>
        <p:spPr>
          <a:xfrm>
            <a:off x="3277210" y="3218688"/>
            <a:ext cx="373075" cy="950976"/>
          </a:xfrm>
          <a:custGeom>
            <a:avLst/>
            <a:gdLst/>
            <a:ahLst/>
            <a:cxnLst/>
            <a:rect l="l" t="t" r="r" b="b"/>
            <a:pathLst>
              <a:path w="373075" h="950976">
                <a:moveTo>
                  <a:pt x="0" y="0"/>
                </a:moveTo>
                <a:lnTo>
                  <a:pt x="186538" y="0"/>
                </a:lnTo>
                <a:lnTo>
                  <a:pt x="186538" y="950976"/>
                </a:lnTo>
                <a:lnTo>
                  <a:pt x="373075" y="950976"/>
                </a:lnTo>
              </a:path>
            </a:pathLst>
          </a:custGeom>
          <a:ln w="12700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37760" y="1503274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98694" y="1426464"/>
            <a:ext cx="199705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050" dirty="0"/>
          </a:p>
        </p:txBody>
      </p:sp>
      <p:sp>
        <p:nvSpPr>
          <p:cNvPr id="24" name="線條"/>
          <p:cNvSpPr/>
          <p:nvPr/>
        </p:nvSpPr>
        <p:spPr>
          <a:xfrm>
            <a:off x="4937760" y="1733702"/>
            <a:ext cx="215798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5" name="線條"/>
          <p:cNvSpPr/>
          <p:nvPr/>
        </p:nvSpPr>
        <p:spPr>
          <a:xfrm>
            <a:off x="5244998" y="3218688"/>
            <a:ext cx="1543507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6" name="線條"/>
          <p:cNvSpPr/>
          <p:nvPr/>
        </p:nvSpPr>
        <p:spPr>
          <a:xfrm>
            <a:off x="6016752" y="2157984"/>
            <a:ext cx="0" cy="2121408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7" name="中心圓"/>
          <p:cNvSpPr/>
          <p:nvPr/>
        </p:nvSpPr>
        <p:spPr>
          <a:xfrm>
            <a:off x="5680253" y="2882189"/>
            <a:ext cx="672998" cy="672998"/>
          </a:xfrm>
          <a:prstGeom prst="ellipse">
            <a:avLst/>
          </a:prstGeom>
          <a:solidFill>
            <a:srgbClr val="0F7C80"/>
          </a:solidFill>
          <a:ln w="20320">
            <a:solidFill>
              <a:srgbClr val="FFFFFF"/>
            </a:solidFill>
            <a:prstDash val="solid"/>
          </a:ln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950" dirty="0"/>
          </a:p>
        </p:txBody>
      </p:sp>
      <p:sp>
        <p:nvSpPr>
          <p:cNvPr id="28" name="標籤"/>
          <p:cNvSpPr/>
          <p:nvPr/>
        </p:nvSpPr>
        <p:spPr>
          <a:xfrm>
            <a:off x="5239309" y="2582266"/>
            <a:ext cx="413715" cy="21945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900" dirty="0"/>
          </a:p>
        </p:txBody>
      </p:sp>
      <p:sp>
        <p:nvSpPr>
          <p:cNvPr id="29" name="標籤"/>
          <p:cNvSpPr/>
          <p:nvPr/>
        </p:nvSpPr>
        <p:spPr>
          <a:xfrm>
            <a:off x="6380480" y="2582266"/>
            <a:ext cx="413715" cy="219456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900" dirty="0"/>
          </a:p>
        </p:txBody>
      </p:sp>
      <p:sp>
        <p:nvSpPr>
          <p:cNvPr id="30" name="標籤"/>
          <p:cNvSpPr/>
          <p:nvPr/>
        </p:nvSpPr>
        <p:spPr>
          <a:xfrm>
            <a:off x="5239309" y="3635654"/>
            <a:ext cx="413715" cy="21945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900" dirty="0"/>
          </a:p>
        </p:txBody>
      </p:sp>
      <p:sp>
        <p:nvSpPr>
          <p:cNvPr id="31" name="標籤"/>
          <p:cNvSpPr/>
          <p:nvPr/>
        </p:nvSpPr>
        <p:spPr>
          <a:xfrm>
            <a:off x="6380480" y="3635654"/>
            <a:ext cx="413715" cy="21945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77840" y="190195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77840" y="431596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01184" y="310896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03136" y="310896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88352" y="1503274"/>
            <a:ext cx="80467" cy="80467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549286" y="1426464"/>
            <a:ext cx="1765158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050" dirty="0"/>
          </a:p>
        </p:txBody>
      </p:sp>
      <p:sp>
        <p:nvSpPr>
          <p:cNvPr id="38" name="線條"/>
          <p:cNvSpPr/>
          <p:nvPr/>
        </p:nvSpPr>
        <p:spPr>
          <a:xfrm>
            <a:off x="7388352" y="1733702"/>
            <a:ext cx="192609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73568" y="1828800"/>
            <a:ext cx="7461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95360" y="1828800"/>
            <a:ext cx="7461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900" dirty="0"/>
          </a:p>
        </p:txBody>
      </p:sp>
      <p:sp>
        <p:nvSpPr>
          <p:cNvPr id="41" name="寬欄條"/>
          <p:cNvSpPr/>
          <p:nvPr/>
        </p:nvSpPr>
        <p:spPr>
          <a:xfrm>
            <a:off x="8119872" y="2084832"/>
            <a:ext cx="453542" cy="2487168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寬欄條"/>
          <p:cNvSpPr/>
          <p:nvPr/>
        </p:nvSpPr>
        <p:spPr>
          <a:xfrm>
            <a:off x="8741664" y="2084832"/>
            <a:ext cx="453542" cy="2487168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388352" y="2435962"/>
            <a:ext cx="658368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124554" y="2338231"/>
            <a:ext cx="444179" cy="444179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編號"/>
          <p:cNvSpPr/>
          <p:nvPr/>
        </p:nvSpPr>
        <p:spPr>
          <a:xfrm>
            <a:off x="8178394" y="2392070"/>
            <a:ext cx="336499" cy="336499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746346" y="2338231"/>
            <a:ext cx="444179" cy="444179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編號"/>
          <p:cNvSpPr/>
          <p:nvPr/>
        </p:nvSpPr>
        <p:spPr>
          <a:xfrm>
            <a:off x="8800186" y="2392070"/>
            <a:ext cx="336499" cy="336499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388352" y="3204058"/>
            <a:ext cx="658368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124554" y="3106327"/>
            <a:ext cx="444179" cy="444179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編號"/>
          <p:cNvSpPr/>
          <p:nvPr/>
        </p:nvSpPr>
        <p:spPr>
          <a:xfrm>
            <a:off x="8178394" y="3160166"/>
            <a:ext cx="336499" cy="336499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746346" y="3106327"/>
            <a:ext cx="444179" cy="444179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編號"/>
          <p:cNvSpPr/>
          <p:nvPr/>
        </p:nvSpPr>
        <p:spPr>
          <a:xfrm>
            <a:off x="8800186" y="3160166"/>
            <a:ext cx="336499" cy="336499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388352" y="3972154"/>
            <a:ext cx="658368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124554" y="3874423"/>
            <a:ext cx="444179" cy="444179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編號"/>
          <p:cNvSpPr/>
          <p:nvPr/>
        </p:nvSpPr>
        <p:spPr>
          <a:xfrm>
            <a:off x="8178394" y="3928262"/>
            <a:ext cx="336499" cy="336499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746346" y="3874423"/>
            <a:ext cx="444179" cy="444179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編號"/>
          <p:cNvSpPr/>
          <p:nvPr/>
        </p:nvSpPr>
        <p:spPr>
          <a:xfrm>
            <a:off x="8800186" y="3928262"/>
            <a:ext cx="336499" cy="336499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13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高效溝通：讓想法被看見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38912" y="929030"/>
            <a:ext cx="329184" cy="73152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5878" y="826618"/>
            <a:ext cx="804672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關鍵在於把資訊整理成對方能理解的結構</a:t>
            </a:r>
            <a:endParaRPr lang="en-US" sz="1300" dirty="0"/>
          </a:p>
        </p:txBody>
      </p:sp>
      <p:sp>
        <p:nvSpPr>
          <p:cNvPr id="5" name="光暈大圓"/>
          <p:cNvSpPr/>
          <p:nvPr/>
        </p:nvSpPr>
        <p:spPr>
          <a:xfrm>
            <a:off x="967191" y="1463040"/>
            <a:ext cx="1901952" cy="1901952"/>
          </a:xfrm>
          <a:prstGeom prst="ellipse">
            <a:avLst/>
          </a:prstGeom>
          <a:solidFill>
            <a:srgbClr val="FFFFFF"/>
          </a:solidFill>
          <a:ln/>
          <a:effectLst>
            <a:outerShdw blurRad="182880" dist="20320" dir="5400000" sx="102000" sy="10200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67191" y="1710294"/>
            <a:ext cx="1901952" cy="58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157387" y="2318918"/>
            <a:ext cx="1521562" cy="532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200" dirty="0"/>
          </a:p>
        </p:txBody>
      </p:sp>
      <p:sp>
        <p:nvSpPr>
          <p:cNvPr id="8" name="光暈大圓"/>
          <p:cNvSpPr/>
          <p:nvPr/>
        </p:nvSpPr>
        <p:spPr>
          <a:xfrm>
            <a:off x="3925702" y="1463040"/>
            <a:ext cx="1901952" cy="1901952"/>
          </a:xfrm>
          <a:prstGeom prst="ellipse">
            <a:avLst/>
          </a:prstGeom>
          <a:solidFill>
            <a:srgbClr val="FFFFFF"/>
          </a:solidFill>
          <a:ln/>
          <a:effectLst>
            <a:outerShdw blurRad="182880" dist="20320" dir="5400000" sx="102000" sy="10200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25702" y="1710294"/>
            <a:ext cx="1901952" cy="58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4115897" y="2318918"/>
            <a:ext cx="1521562" cy="532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200" dirty="0"/>
          </a:p>
        </p:txBody>
      </p:sp>
      <p:sp>
        <p:nvSpPr>
          <p:cNvPr id="11" name="光暈大圓"/>
          <p:cNvSpPr/>
          <p:nvPr/>
        </p:nvSpPr>
        <p:spPr>
          <a:xfrm>
            <a:off x="6884213" y="1463040"/>
            <a:ext cx="1901952" cy="1901952"/>
          </a:xfrm>
          <a:prstGeom prst="ellipse">
            <a:avLst/>
          </a:prstGeom>
          <a:solidFill>
            <a:srgbClr val="FFFFFF"/>
          </a:solidFill>
          <a:ln/>
          <a:effectLst>
            <a:outerShdw blurRad="182880" dist="20320" dir="5400000" sx="102000" sy="10200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84213" y="1710294"/>
            <a:ext cx="1901952" cy="58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7074408" y="2318918"/>
            <a:ext cx="1521562" cy="532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200" dirty="0"/>
          </a:p>
        </p:txBody>
      </p:sp>
      <p:sp>
        <p:nvSpPr>
          <p:cNvPr id="14" name="分隔"/>
          <p:cNvSpPr/>
          <p:nvPr/>
        </p:nvSpPr>
        <p:spPr>
          <a:xfrm>
            <a:off x="3349142" y="2317455"/>
            <a:ext cx="96561" cy="193121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分隔"/>
          <p:cNvSpPr/>
          <p:nvPr/>
        </p:nvSpPr>
        <p:spPr>
          <a:xfrm>
            <a:off x="6307653" y="2317455"/>
            <a:ext cx="96561" cy="193121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771917" y="2641050"/>
            <a:ext cx="690555" cy="690555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小圓"/>
          <p:cNvSpPr/>
          <p:nvPr/>
        </p:nvSpPr>
        <p:spPr>
          <a:xfrm>
            <a:off x="3824587" y="2693720"/>
            <a:ext cx="585216" cy="585216"/>
          </a:xfrm>
          <a:prstGeom prst="ellipse">
            <a:avLst/>
          </a:prstGeom>
          <a:solidFill>
            <a:srgbClr val="0F7C8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31401" y="3019715"/>
            <a:ext cx="690555" cy="690555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小圓"/>
          <p:cNvSpPr/>
          <p:nvPr/>
        </p:nvSpPr>
        <p:spPr>
          <a:xfrm>
            <a:off x="4584070" y="3072384"/>
            <a:ext cx="585216" cy="585216"/>
          </a:xfrm>
          <a:prstGeom prst="ellipse">
            <a:avLst/>
          </a:prstGeom>
          <a:solidFill>
            <a:srgbClr val="0F7C8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90884" y="2641050"/>
            <a:ext cx="690555" cy="690555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小圓"/>
          <p:cNvSpPr/>
          <p:nvPr/>
        </p:nvSpPr>
        <p:spPr>
          <a:xfrm>
            <a:off x="5343553" y="2693720"/>
            <a:ext cx="585216" cy="585216"/>
          </a:xfrm>
          <a:prstGeom prst="ellipse">
            <a:avLst/>
          </a:prstGeom>
          <a:solidFill>
            <a:srgbClr val="0F7C8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09956" y="3767328"/>
            <a:ext cx="6949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69440" y="3767328"/>
            <a:ext cx="6949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28923" y="3767328"/>
            <a:ext cx="6949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900" dirty="0"/>
          </a:p>
        </p:txBody>
      </p:sp>
      <p:sp>
        <p:nvSpPr>
          <p:cNvPr id="25" name="標籤"/>
          <p:cNvSpPr/>
          <p:nvPr/>
        </p:nvSpPr>
        <p:spPr>
          <a:xfrm>
            <a:off x="1076919" y="3657600"/>
            <a:ext cx="1682496" cy="30723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050" dirty="0"/>
          </a:p>
        </p:txBody>
      </p:sp>
      <p:sp>
        <p:nvSpPr>
          <p:cNvPr id="26" name="標籤"/>
          <p:cNvSpPr/>
          <p:nvPr/>
        </p:nvSpPr>
        <p:spPr>
          <a:xfrm>
            <a:off x="1076919" y="4059936"/>
            <a:ext cx="1682496" cy="30723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050" dirty="0"/>
          </a:p>
        </p:txBody>
      </p:sp>
      <p:sp>
        <p:nvSpPr>
          <p:cNvPr id="27" name="標籤"/>
          <p:cNvSpPr/>
          <p:nvPr/>
        </p:nvSpPr>
        <p:spPr>
          <a:xfrm>
            <a:off x="1076919" y="4462272"/>
            <a:ext cx="1682496" cy="30723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050" dirty="0"/>
          </a:p>
        </p:txBody>
      </p:sp>
      <p:sp>
        <p:nvSpPr>
          <p:cNvPr id="28" name="標籤"/>
          <p:cNvSpPr/>
          <p:nvPr/>
        </p:nvSpPr>
        <p:spPr>
          <a:xfrm>
            <a:off x="6993941" y="3657600"/>
            <a:ext cx="1682496" cy="30723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050" dirty="0"/>
          </a:p>
        </p:txBody>
      </p:sp>
      <p:sp>
        <p:nvSpPr>
          <p:cNvPr id="29" name="標籤"/>
          <p:cNvSpPr/>
          <p:nvPr/>
        </p:nvSpPr>
        <p:spPr>
          <a:xfrm>
            <a:off x="6993941" y="4059936"/>
            <a:ext cx="1682496" cy="30723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050" dirty="0"/>
          </a:p>
        </p:txBody>
      </p:sp>
      <p:sp>
        <p:nvSpPr>
          <p:cNvPr id="30" name="標籤"/>
          <p:cNvSpPr/>
          <p:nvPr/>
        </p:nvSpPr>
        <p:spPr>
          <a:xfrm>
            <a:off x="6993941" y="4462272"/>
            <a:ext cx="1682496" cy="30723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38912" y="4813402"/>
            <a:ext cx="8875532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13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策略規劃框架地圖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38912" y="929030"/>
            <a:ext cx="329184" cy="73152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5878" y="826618"/>
            <a:ext cx="804672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從現況、課題到行動方案的思考路徑</a:t>
            </a:r>
            <a:endParaRPr lang="en-US" sz="1300" dirty="0"/>
          </a:p>
        </p:txBody>
      </p:sp>
      <p:sp>
        <p:nvSpPr>
          <p:cNvPr id="5" name="卡片"/>
          <p:cNvSpPr/>
          <p:nvPr/>
        </p:nvSpPr>
        <p:spPr>
          <a:xfrm>
            <a:off x="438912" y="3145536"/>
            <a:ext cx="1505907" cy="672998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/>
          <a:effectLst>
            <a:outerShdw blurRad="101600" dist="3048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3145536"/>
            <a:ext cx="1505907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</a:t>
            </a:r>
            <a:endParaRPr lang="en-US" sz="1100" dirty="0"/>
          </a:p>
        </p:txBody>
      </p:sp>
      <p:sp>
        <p:nvSpPr>
          <p:cNvPr id="7" name="分隔"/>
          <p:cNvSpPr/>
          <p:nvPr/>
        </p:nvSpPr>
        <p:spPr>
          <a:xfrm>
            <a:off x="2072835" y="3401568"/>
            <a:ext cx="80467" cy="160934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卡片"/>
          <p:cNvSpPr/>
          <p:nvPr/>
        </p:nvSpPr>
        <p:spPr>
          <a:xfrm>
            <a:off x="2281318" y="3145536"/>
            <a:ext cx="1505907" cy="672998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/>
          <a:effectLst>
            <a:outerShdw blurRad="101600" dist="3048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81318" y="3145536"/>
            <a:ext cx="1505907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</a:t>
            </a:r>
            <a:endParaRPr lang="en-US" sz="1100" dirty="0"/>
          </a:p>
        </p:txBody>
      </p:sp>
      <p:sp>
        <p:nvSpPr>
          <p:cNvPr id="10" name="分隔"/>
          <p:cNvSpPr/>
          <p:nvPr/>
        </p:nvSpPr>
        <p:spPr>
          <a:xfrm>
            <a:off x="3915241" y="3401568"/>
            <a:ext cx="80467" cy="160934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重點卡片"/>
          <p:cNvSpPr/>
          <p:nvPr/>
        </p:nvSpPr>
        <p:spPr>
          <a:xfrm>
            <a:off x="4123725" y="3145536"/>
            <a:ext cx="1505907" cy="672998"/>
          </a:xfrm>
          <a:prstGeom prst="roundRect">
            <a:avLst>
              <a:gd name="adj" fmla="val 23913"/>
            </a:avLst>
          </a:prstGeom>
          <a:solidFill>
            <a:srgbClr val="0F7C80"/>
          </a:solidFill>
          <a:ln/>
          <a:effectLst>
            <a:outerShdw blurRad="101600" dist="3048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B7D8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2" name="分隔"/>
          <p:cNvSpPr/>
          <p:nvPr/>
        </p:nvSpPr>
        <p:spPr>
          <a:xfrm>
            <a:off x="5757648" y="3401568"/>
            <a:ext cx="80467" cy="160934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卡片"/>
          <p:cNvSpPr/>
          <p:nvPr/>
        </p:nvSpPr>
        <p:spPr>
          <a:xfrm>
            <a:off x="5966131" y="3145536"/>
            <a:ext cx="1505907" cy="672998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/>
          <a:effectLst>
            <a:outerShdw blurRad="101600" dist="3048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66131" y="3145536"/>
            <a:ext cx="1505907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5" name="分隔"/>
          <p:cNvSpPr/>
          <p:nvPr/>
        </p:nvSpPr>
        <p:spPr>
          <a:xfrm>
            <a:off x="7600054" y="3401568"/>
            <a:ext cx="80467" cy="160934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卡片"/>
          <p:cNvSpPr/>
          <p:nvPr/>
        </p:nvSpPr>
        <p:spPr>
          <a:xfrm>
            <a:off x="7808537" y="3145536"/>
            <a:ext cx="1505907" cy="672998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/>
          <a:effectLst>
            <a:outerShdw blurRad="101600" dist="3048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808537" y="3145536"/>
            <a:ext cx="1505907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Tactic</a:t>
            </a:r>
            <a:endParaRPr lang="en-US" sz="1100" dirty="0"/>
          </a:p>
        </p:txBody>
      </p:sp>
      <p:sp>
        <p:nvSpPr>
          <p:cNvPr id="18" name="卡片"/>
          <p:cNvSpPr/>
          <p:nvPr/>
        </p:nvSpPr>
        <p:spPr>
          <a:xfrm>
            <a:off x="4123725" y="1463040"/>
            <a:ext cx="1505907" cy="658368"/>
          </a:xfrm>
          <a:prstGeom prst="roundRect">
            <a:avLst>
              <a:gd name="adj" fmla="val 24444"/>
            </a:avLst>
          </a:prstGeom>
          <a:solidFill>
            <a:srgbClr val="FFFFFF"/>
          </a:solidFill>
          <a:ln/>
          <a:effectLst>
            <a:outerShdw blurRad="101600" dist="3048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123725" y="1463040"/>
            <a:ext cx="15059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20" name="卡片"/>
          <p:cNvSpPr/>
          <p:nvPr/>
        </p:nvSpPr>
        <p:spPr>
          <a:xfrm>
            <a:off x="2135014" y="2231136"/>
            <a:ext cx="1234844" cy="526694"/>
          </a:xfrm>
          <a:prstGeom prst="roundRect">
            <a:avLst>
              <a:gd name="adj" fmla="val 30556"/>
            </a:avLst>
          </a:prstGeom>
          <a:solidFill>
            <a:srgbClr val="FFFFFF"/>
          </a:solidFill>
          <a:ln/>
          <a:effectLst>
            <a:outerShdw blurRad="101600" dist="3048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135014" y="2231136"/>
            <a:ext cx="1234844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</a:t>
            </a:r>
            <a:endParaRPr lang="en-US" sz="1100" dirty="0"/>
          </a:p>
        </p:txBody>
      </p:sp>
      <p:sp>
        <p:nvSpPr>
          <p:cNvPr id="22" name="卡片"/>
          <p:cNvSpPr/>
          <p:nvPr/>
        </p:nvSpPr>
        <p:spPr>
          <a:xfrm>
            <a:off x="6383498" y="2231136"/>
            <a:ext cx="1234844" cy="526694"/>
          </a:xfrm>
          <a:prstGeom prst="roundRect">
            <a:avLst>
              <a:gd name="adj" fmla="val 30556"/>
            </a:avLst>
          </a:prstGeom>
          <a:solidFill>
            <a:srgbClr val="FFFFFF"/>
          </a:solidFill>
          <a:ln/>
          <a:effectLst>
            <a:outerShdw blurRad="101600" dist="3048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83498" y="2231136"/>
            <a:ext cx="1234844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24" name="曲線箭頭"/>
          <p:cNvSpPr/>
          <p:nvPr/>
        </p:nvSpPr>
        <p:spPr>
          <a:xfrm>
            <a:off x="2752436" y="1792224"/>
            <a:ext cx="1312767" cy="395021"/>
          </a:xfrm>
          <a:custGeom>
            <a:avLst/>
            <a:gdLst/>
            <a:ahLst/>
            <a:cxnLst/>
            <a:rect l="l" t="t" r="r" b="b"/>
            <a:pathLst>
              <a:path w="1312767" h="395021">
                <a:moveTo>
                  <a:pt x="0" y="395021"/>
                </a:moveTo>
                <a:cubicBezTo>
                  <a:pt x="0" y="0"/>
                  <a:pt x="219456" y="0"/>
                  <a:pt x="1312767" y="0"/>
                </a:cubicBezTo>
              </a:path>
            </a:pathLst>
          </a:custGeom>
          <a:ln w="12700">
            <a:solidFill>
              <a:srgbClr val="8C8C8C"/>
            </a:solidFill>
            <a:prstDash val="sysDash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曲線箭頭"/>
          <p:cNvSpPr/>
          <p:nvPr/>
        </p:nvSpPr>
        <p:spPr>
          <a:xfrm>
            <a:off x="5688153" y="1792224"/>
            <a:ext cx="1312767" cy="395021"/>
          </a:xfrm>
          <a:custGeom>
            <a:avLst/>
            <a:gdLst/>
            <a:ahLst/>
            <a:cxnLst/>
            <a:rect l="l" t="t" r="r" b="b"/>
            <a:pathLst>
              <a:path w="1312767" h="395021">
                <a:moveTo>
                  <a:pt x="0" y="0"/>
                </a:moveTo>
                <a:cubicBezTo>
                  <a:pt x="1093311" y="0"/>
                  <a:pt x="1312767" y="0"/>
                  <a:pt x="1312767" y="395021"/>
                </a:cubicBezTo>
              </a:path>
            </a:pathLst>
          </a:custGeom>
          <a:ln w="12700">
            <a:solidFill>
              <a:srgbClr val="8C8C8C"/>
            </a:solidFill>
            <a:prstDash val="sysDash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線條"/>
          <p:cNvSpPr/>
          <p:nvPr/>
        </p:nvSpPr>
        <p:spPr>
          <a:xfrm>
            <a:off x="3428380" y="2494483"/>
            <a:ext cx="2896597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ysDash"/>
            <a:headEnd type="triangle" w="lg" len="lg"/>
            <a:tailEnd type="triangle" w="lg" len="lg"/>
          </a:ln>
        </p:spPr>
      </p:sp>
      <p:sp>
        <p:nvSpPr>
          <p:cNvPr id="27" name="Text 25"/>
          <p:cNvSpPr/>
          <p:nvPr/>
        </p:nvSpPr>
        <p:spPr>
          <a:xfrm>
            <a:off x="399117" y="1452506"/>
            <a:ext cx="328306" cy="328306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編號"/>
          <p:cNvSpPr/>
          <p:nvPr/>
        </p:nvSpPr>
        <p:spPr>
          <a:xfrm>
            <a:off x="438912" y="1492301"/>
            <a:ext cx="248717" cy="248717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9041" y="1452506"/>
            <a:ext cx="328306" cy="328306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編號"/>
          <p:cNvSpPr/>
          <p:nvPr/>
        </p:nvSpPr>
        <p:spPr>
          <a:xfrm>
            <a:off x="738835" y="1492301"/>
            <a:ext cx="248717" cy="248717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900" dirty="0"/>
          </a:p>
        </p:txBody>
      </p:sp>
      <p:sp>
        <p:nvSpPr>
          <p:cNvPr id="31" name="標籤"/>
          <p:cNvSpPr/>
          <p:nvPr/>
        </p:nvSpPr>
        <p:spPr>
          <a:xfrm>
            <a:off x="1060704" y="1499616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99117" y="1818266"/>
            <a:ext cx="328306" cy="328306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編號"/>
          <p:cNvSpPr/>
          <p:nvPr/>
        </p:nvSpPr>
        <p:spPr>
          <a:xfrm>
            <a:off x="438912" y="1858061"/>
            <a:ext cx="248717" cy="248717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9041" y="1818266"/>
            <a:ext cx="328306" cy="328306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編號"/>
          <p:cNvSpPr/>
          <p:nvPr/>
        </p:nvSpPr>
        <p:spPr>
          <a:xfrm>
            <a:off x="738835" y="1858061"/>
            <a:ext cx="248717" cy="248717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900" dirty="0"/>
          </a:p>
        </p:txBody>
      </p:sp>
      <p:sp>
        <p:nvSpPr>
          <p:cNvPr id="36" name="標籤"/>
          <p:cNvSpPr/>
          <p:nvPr/>
        </p:nvSpPr>
        <p:spPr>
          <a:xfrm>
            <a:off x="1060704" y="1865376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95590" y="1452506"/>
            <a:ext cx="328306" cy="328306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編號"/>
          <p:cNvSpPr/>
          <p:nvPr/>
        </p:nvSpPr>
        <p:spPr>
          <a:xfrm>
            <a:off x="7735385" y="1492301"/>
            <a:ext cx="248717" cy="248717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995514" y="1452506"/>
            <a:ext cx="328306" cy="328306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編號"/>
          <p:cNvSpPr/>
          <p:nvPr/>
        </p:nvSpPr>
        <p:spPr>
          <a:xfrm>
            <a:off x="8035308" y="1492301"/>
            <a:ext cx="248717" cy="248717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900" dirty="0"/>
          </a:p>
        </p:txBody>
      </p:sp>
      <p:sp>
        <p:nvSpPr>
          <p:cNvPr id="41" name="標籤"/>
          <p:cNvSpPr/>
          <p:nvPr/>
        </p:nvSpPr>
        <p:spPr>
          <a:xfrm>
            <a:off x="8357177" y="1499616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695590" y="1818266"/>
            <a:ext cx="328306" cy="328306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編號"/>
          <p:cNvSpPr/>
          <p:nvPr/>
        </p:nvSpPr>
        <p:spPr>
          <a:xfrm>
            <a:off x="7735385" y="1858061"/>
            <a:ext cx="248717" cy="248717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995514" y="1818266"/>
            <a:ext cx="328306" cy="328306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編號"/>
          <p:cNvSpPr/>
          <p:nvPr/>
        </p:nvSpPr>
        <p:spPr>
          <a:xfrm>
            <a:off x="8035308" y="1858061"/>
            <a:ext cx="248717" cy="248717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900" dirty="0"/>
          </a:p>
        </p:txBody>
      </p:sp>
      <p:sp>
        <p:nvSpPr>
          <p:cNvPr id="46" name="標籤"/>
          <p:cNvSpPr/>
          <p:nvPr/>
        </p:nvSpPr>
        <p:spPr>
          <a:xfrm>
            <a:off x="8357177" y="1865376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900" dirty="0"/>
          </a:p>
        </p:txBody>
      </p:sp>
      <p:sp>
        <p:nvSpPr>
          <p:cNvPr id="47" name="卡片"/>
          <p:cNvSpPr/>
          <p:nvPr/>
        </p:nvSpPr>
        <p:spPr>
          <a:xfrm>
            <a:off x="438912" y="4059936"/>
            <a:ext cx="8875532" cy="438912"/>
          </a:xfrm>
          <a:prstGeom prst="roundRect">
            <a:avLst>
              <a:gd name="adj" fmla="val 36667"/>
            </a:avLst>
          </a:prstGeom>
          <a:solidFill>
            <a:srgbClr val="FFFFFF"/>
          </a:solidFill>
          <a:ln/>
          <a:effectLst>
            <a:outerShdw blurRad="101600" dist="3048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38912" y="4059936"/>
            <a:ext cx="8875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Organization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75827" y="4612673"/>
            <a:ext cx="328306" cy="328306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編號"/>
          <p:cNvSpPr/>
          <p:nvPr/>
        </p:nvSpPr>
        <p:spPr>
          <a:xfrm>
            <a:off x="915621" y="4652467"/>
            <a:ext cx="248717" cy="248717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75750" y="4612673"/>
            <a:ext cx="328306" cy="328306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編號"/>
          <p:cNvSpPr/>
          <p:nvPr/>
        </p:nvSpPr>
        <p:spPr>
          <a:xfrm>
            <a:off x="1215544" y="4652467"/>
            <a:ext cx="248717" cy="248717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  <p:sp>
        <p:nvSpPr>
          <p:cNvPr id="53" name="標籤"/>
          <p:cNvSpPr/>
          <p:nvPr/>
        </p:nvSpPr>
        <p:spPr>
          <a:xfrm>
            <a:off x="1537413" y="4659782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094710" y="4612673"/>
            <a:ext cx="328306" cy="328306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編號"/>
          <p:cNvSpPr/>
          <p:nvPr/>
        </p:nvSpPr>
        <p:spPr>
          <a:xfrm>
            <a:off x="3134504" y="4652467"/>
            <a:ext cx="248717" cy="248717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394633" y="4612673"/>
            <a:ext cx="328306" cy="328306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編號"/>
          <p:cNvSpPr/>
          <p:nvPr/>
        </p:nvSpPr>
        <p:spPr>
          <a:xfrm>
            <a:off x="3434427" y="4652467"/>
            <a:ext cx="248717" cy="248717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  <p:sp>
        <p:nvSpPr>
          <p:cNvPr id="58" name="標籤"/>
          <p:cNvSpPr/>
          <p:nvPr/>
        </p:nvSpPr>
        <p:spPr>
          <a:xfrm>
            <a:off x="3756296" y="4659782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463554" y="4612673"/>
            <a:ext cx="328306" cy="328306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編號"/>
          <p:cNvSpPr/>
          <p:nvPr/>
        </p:nvSpPr>
        <p:spPr>
          <a:xfrm>
            <a:off x="5503349" y="4652467"/>
            <a:ext cx="248717" cy="248717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  <p:sp>
        <p:nvSpPr>
          <p:cNvPr id="61" name="標籤"/>
          <p:cNvSpPr/>
          <p:nvPr/>
        </p:nvSpPr>
        <p:spPr>
          <a:xfrm>
            <a:off x="5825218" y="4659782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532476" y="4612673"/>
            <a:ext cx="328306" cy="328306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編號"/>
          <p:cNvSpPr/>
          <p:nvPr/>
        </p:nvSpPr>
        <p:spPr>
          <a:xfrm>
            <a:off x="7572270" y="4652467"/>
            <a:ext cx="248717" cy="248717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832399" y="4612673"/>
            <a:ext cx="328306" cy="328306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編號"/>
          <p:cNvSpPr/>
          <p:nvPr/>
        </p:nvSpPr>
        <p:spPr>
          <a:xfrm>
            <a:off x="7872194" y="4652467"/>
            <a:ext cx="248717" cy="248717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  <p:sp>
        <p:nvSpPr>
          <p:cNvPr id="66" name="標籤"/>
          <p:cNvSpPr/>
          <p:nvPr/>
        </p:nvSpPr>
        <p:spPr>
          <a:xfrm>
            <a:off x="8194062" y="4659782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13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能力成長地圖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38912" y="929030"/>
            <a:ext cx="329184" cy="73152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5878" y="826618"/>
            <a:ext cx="804672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從個人特質到可遷移能力的三階段路徑</a:t>
            </a:r>
            <a:endParaRPr lang="en-US" sz="1300" dirty="0"/>
          </a:p>
        </p:txBody>
      </p:sp>
      <p:sp>
        <p:nvSpPr>
          <p:cNvPr id="5" name="漸隱箭頭"/>
          <p:cNvSpPr/>
          <p:nvPr/>
        </p:nvSpPr>
        <p:spPr>
          <a:xfrm>
            <a:off x="4590288" y="1865376"/>
            <a:ext cx="285293" cy="2689360"/>
          </a:xfrm>
          <a:prstGeom prst="rect">
            <a:avLst/>
          </a:prstGeom>
          <a:solidFill>
            <a:srgbClr val="F2A54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漸隱箭頭"/>
          <p:cNvSpPr/>
          <p:nvPr/>
        </p:nvSpPr>
        <p:spPr>
          <a:xfrm>
            <a:off x="4590288" y="2312383"/>
            <a:ext cx="285293" cy="2242353"/>
          </a:xfrm>
          <a:prstGeom prst="rect">
            <a:avLst/>
          </a:prstGeom>
          <a:solidFill>
            <a:srgbClr val="F2A54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4590288" y="2759391"/>
            <a:ext cx="285293" cy="1795345"/>
          </a:xfrm>
          <a:prstGeom prst="rect">
            <a:avLst/>
          </a:prstGeom>
          <a:solidFill>
            <a:srgbClr val="F2A54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4590288" y="3206398"/>
            <a:ext cx="285293" cy="1348338"/>
          </a:xfrm>
          <a:prstGeom prst="rect">
            <a:avLst/>
          </a:prstGeom>
          <a:solidFill>
            <a:srgbClr val="F2A54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4590288" y="3653406"/>
            <a:ext cx="285293" cy="901330"/>
          </a:xfrm>
          <a:prstGeom prst="rect">
            <a:avLst/>
          </a:prstGeom>
          <a:solidFill>
            <a:srgbClr val="F2A54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4590288" y="4100413"/>
            <a:ext cx="285293" cy="454323"/>
          </a:xfrm>
          <a:prstGeom prst="rect">
            <a:avLst/>
          </a:prstGeom>
          <a:solidFill>
            <a:srgbClr val="F2A54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漸隱箭頭"/>
          <p:cNvSpPr/>
          <p:nvPr/>
        </p:nvSpPr>
        <p:spPr>
          <a:xfrm>
            <a:off x="4447642" y="4547421"/>
            <a:ext cx="570586" cy="353763"/>
          </a:xfrm>
          <a:custGeom>
            <a:avLst/>
            <a:gdLst/>
            <a:ahLst/>
            <a:cxnLst/>
            <a:rect l="l" t="t" r="r" b="b"/>
            <a:pathLst>
              <a:path w="570586" h="353763">
                <a:moveTo>
                  <a:pt x="0" y="0"/>
                </a:moveTo>
                <a:lnTo>
                  <a:pt x="570586" y="0"/>
                </a:lnTo>
                <a:lnTo>
                  <a:pt x="285293" y="353763"/>
                </a:lnTo>
                <a:close/>
              </a:path>
            </a:pathLst>
          </a:custGeom>
          <a:solidFill>
            <a:srgbClr val="F2A541">
              <a:alpha val="5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06010" y="4608576"/>
            <a:ext cx="95097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950" dirty="0"/>
          </a:p>
        </p:txBody>
      </p:sp>
      <p:sp>
        <p:nvSpPr>
          <p:cNvPr id="13" name="處理"/>
          <p:cNvSpPr/>
          <p:nvPr/>
        </p:nvSpPr>
        <p:spPr>
          <a:xfrm>
            <a:off x="438912" y="3035808"/>
            <a:ext cx="694944" cy="438912"/>
          </a:xfrm>
          <a:prstGeom prst="roundRect">
            <a:avLst>
              <a:gd name="adj" fmla="val 36667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533242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850" dirty="0"/>
          </a:p>
        </p:txBody>
      </p:sp>
      <p:sp>
        <p:nvSpPr>
          <p:cNvPr id="15" name="處理"/>
          <p:cNvSpPr/>
          <p:nvPr/>
        </p:nvSpPr>
        <p:spPr>
          <a:xfrm>
            <a:off x="1499616" y="2399386"/>
            <a:ext cx="731520" cy="395021"/>
          </a:xfrm>
          <a:prstGeom prst="roundRect">
            <a:avLst>
              <a:gd name="adj" fmla="val 40741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100" dirty="0"/>
          </a:p>
        </p:txBody>
      </p:sp>
      <p:sp>
        <p:nvSpPr>
          <p:cNvPr id="16" name="處理"/>
          <p:cNvSpPr/>
          <p:nvPr/>
        </p:nvSpPr>
        <p:spPr>
          <a:xfrm>
            <a:off x="1499616" y="3716122"/>
            <a:ext cx="731520" cy="395021"/>
          </a:xfrm>
          <a:prstGeom prst="roundRect">
            <a:avLst>
              <a:gd name="adj" fmla="val 40741"/>
            </a:avLst>
          </a:prstGeom>
          <a:solidFill>
            <a:srgbClr val="E0F0F0"/>
          </a:solidFill>
          <a:ln/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63040" y="2194560"/>
            <a:ext cx="80467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463040" y="4140403"/>
            <a:ext cx="80467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850" dirty="0"/>
          </a:p>
        </p:txBody>
      </p:sp>
      <p:sp>
        <p:nvSpPr>
          <p:cNvPr id="19" name="處理"/>
          <p:cNvSpPr/>
          <p:nvPr/>
        </p:nvSpPr>
        <p:spPr>
          <a:xfrm>
            <a:off x="2596896" y="3035808"/>
            <a:ext cx="694944" cy="438912"/>
          </a:xfrm>
          <a:prstGeom prst="roundRect">
            <a:avLst>
              <a:gd name="adj" fmla="val 36667"/>
            </a:avLst>
          </a:prstGeom>
          <a:solidFill>
            <a:srgbClr val="0F7C8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23744" y="3533242"/>
            <a:ext cx="84124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850" dirty="0"/>
          </a:p>
        </p:txBody>
      </p:sp>
      <p:sp>
        <p:nvSpPr>
          <p:cNvPr id="21" name="連接線"/>
          <p:cNvSpPr/>
          <p:nvPr/>
        </p:nvSpPr>
        <p:spPr>
          <a:xfrm>
            <a:off x="1177747" y="2596896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658368"/>
                </a:moveTo>
                <a:lnTo>
                  <a:pt x="138989" y="658368"/>
                </a:lnTo>
                <a:lnTo>
                  <a:pt x="138989" y="0"/>
                </a:lnTo>
                <a:lnTo>
                  <a:pt x="277978" y="0"/>
                </a:lnTo>
              </a:path>
            </a:pathLst>
          </a:custGeom>
          <a:ln w="12700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連接線"/>
          <p:cNvSpPr/>
          <p:nvPr/>
        </p:nvSpPr>
        <p:spPr>
          <a:xfrm>
            <a:off x="1177747" y="3255264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0"/>
                </a:moveTo>
                <a:lnTo>
                  <a:pt x="138989" y="0"/>
                </a:lnTo>
                <a:lnTo>
                  <a:pt x="138989" y="658368"/>
                </a:lnTo>
                <a:lnTo>
                  <a:pt x="277978" y="658368"/>
                </a:lnTo>
              </a:path>
            </a:pathLst>
          </a:custGeom>
          <a:ln w="12700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2275027" y="2596896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0"/>
                </a:moveTo>
                <a:lnTo>
                  <a:pt x="138989" y="0"/>
                </a:lnTo>
                <a:lnTo>
                  <a:pt x="138989" y="658368"/>
                </a:lnTo>
                <a:lnTo>
                  <a:pt x="277978" y="658368"/>
                </a:lnTo>
              </a:path>
            </a:pathLst>
          </a:custGeom>
          <a:ln w="12700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2275027" y="3255264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658368"/>
                </a:moveTo>
                <a:lnTo>
                  <a:pt x="138989" y="658368"/>
                </a:lnTo>
                <a:lnTo>
                  <a:pt x="138989" y="0"/>
                </a:lnTo>
                <a:lnTo>
                  <a:pt x="277978" y="0"/>
                </a:lnTo>
              </a:path>
            </a:pathLst>
          </a:custGeom>
          <a:ln w="12700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連接線"/>
          <p:cNvSpPr/>
          <p:nvPr/>
        </p:nvSpPr>
        <p:spPr>
          <a:xfrm>
            <a:off x="3335731" y="2194560"/>
            <a:ext cx="460858" cy="1060704"/>
          </a:xfrm>
          <a:custGeom>
            <a:avLst/>
            <a:gdLst/>
            <a:ahLst/>
            <a:cxnLst/>
            <a:rect l="l" t="t" r="r" b="b"/>
            <a:pathLst>
              <a:path w="460858" h="1060704">
                <a:moveTo>
                  <a:pt x="0" y="1060704"/>
                </a:moveTo>
                <a:lnTo>
                  <a:pt x="230429" y="1060704"/>
                </a:lnTo>
                <a:lnTo>
                  <a:pt x="230429" y="0"/>
                </a:lnTo>
                <a:lnTo>
                  <a:pt x="460858" y="0"/>
                </a:lnTo>
              </a:path>
            </a:pathLst>
          </a:custGeom>
          <a:ln w="12700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線條"/>
          <p:cNvSpPr/>
          <p:nvPr/>
        </p:nvSpPr>
        <p:spPr>
          <a:xfrm>
            <a:off x="3335731" y="3255264"/>
            <a:ext cx="460858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  <a:tailEnd type="triangle" w="lg" len="lg"/>
          </a:ln>
        </p:spPr>
      </p:sp>
      <p:sp>
        <p:nvSpPr>
          <p:cNvPr id="27" name="連接線"/>
          <p:cNvSpPr/>
          <p:nvPr/>
        </p:nvSpPr>
        <p:spPr>
          <a:xfrm>
            <a:off x="3335731" y="3255264"/>
            <a:ext cx="460858" cy="1060704"/>
          </a:xfrm>
          <a:custGeom>
            <a:avLst/>
            <a:gdLst/>
            <a:ahLst/>
            <a:cxnLst/>
            <a:rect l="l" t="t" r="r" b="b"/>
            <a:pathLst>
              <a:path w="460858" h="1060704">
                <a:moveTo>
                  <a:pt x="0" y="0"/>
                </a:moveTo>
                <a:lnTo>
                  <a:pt x="230429" y="0"/>
                </a:lnTo>
                <a:lnTo>
                  <a:pt x="230429" y="1060704"/>
                </a:lnTo>
                <a:lnTo>
                  <a:pt x="460858" y="1060704"/>
                </a:lnTo>
              </a:path>
            </a:pathLst>
          </a:custGeom>
          <a:ln w="12700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卡片"/>
          <p:cNvSpPr/>
          <p:nvPr/>
        </p:nvSpPr>
        <p:spPr>
          <a:xfrm>
            <a:off x="3840480" y="1931213"/>
            <a:ext cx="1463040" cy="526694"/>
          </a:xfrm>
          <a:prstGeom prst="roundRect">
            <a:avLst>
              <a:gd name="adj" fmla="val 30556"/>
            </a:avLst>
          </a:prstGeom>
          <a:solidFill>
            <a:srgbClr val="FFFFFF"/>
          </a:solidFill>
          <a:ln/>
          <a:effectLst>
            <a:outerShdw blurRad="101600" dist="3048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840480" y="1931213"/>
            <a:ext cx="146304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1300" dirty="0"/>
          </a:p>
        </p:txBody>
      </p:sp>
      <p:sp>
        <p:nvSpPr>
          <p:cNvPr id="30" name="標籤"/>
          <p:cNvSpPr/>
          <p:nvPr/>
        </p:nvSpPr>
        <p:spPr>
          <a:xfrm>
            <a:off x="4800397" y="1828800"/>
            <a:ext cx="393395" cy="204826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800" dirty="0"/>
          </a:p>
        </p:txBody>
      </p:sp>
      <p:sp>
        <p:nvSpPr>
          <p:cNvPr id="31" name="標籤"/>
          <p:cNvSpPr/>
          <p:nvPr/>
        </p:nvSpPr>
        <p:spPr>
          <a:xfrm>
            <a:off x="3950208" y="2355494"/>
            <a:ext cx="494995" cy="20482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800" dirty="0"/>
          </a:p>
        </p:txBody>
      </p:sp>
      <p:sp>
        <p:nvSpPr>
          <p:cNvPr id="32" name="卡片"/>
          <p:cNvSpPr/>
          <p:nvPr/>
        </p:nvSpPr>
        <p:spPr>
          <a:xfrm>
            <a:off x="3840480" y="2991917"/>
            <a:ext cx="1463040" cy="526694"/>
          </a:xfrm>
          <a:prstGeom prst="roundRect">
            <a:avLst>
              <a:gd name="adj" fmla="val 30556"/>
            </a:avLst>
          </a:prstGeom>
          <a:solidFill>
            <a:srgbClr val="FFFFFF"/>
          </a:solidFill>
          <a:ln/>
          <a:effectLst>
            <a:outerShdw blurRad="101600" dist="3048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840480" y="2991917"/>
            <a:ext cx="146304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1300" dirty="0"/>
          </a:p>
        </p:txBody>
      </p:sp>
      <p:sp>
        <p:nvSpPr>
          <p:cNvPr id="34" name="標籤"/>
          <p:cNvSpPr/>
          <p:nvPr/>
        </p:nvSpPr>
        <p:spPr>
          <a:xfrm>
            <a:off x="4800397" y="2889504"/>
            <a:ext cx="393395" cy="204826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800" dirty="0"/>
          </a:p>
        </p:txBody>
      </p:sp>
      <p:sp>
        <p:nvSpPr>
          <p:cNvPr id="35" name="標籤"/>
          <p:cNvSpPr/>
          <p:nvPr/>
        </p:nvSpPr>
        <p:spPr>
          <a:xfrm>
            <a:off x="3950208" y="3416198"/>
            <a:ext cx="494995" cy="20482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800" dirty="0"/>
          </a:p>
        </p:txBody>
      </p:sp>
      <p:sp>
        <p:nvSpPr>
          <p:cNvPr id="36" name="卡片"/>
          <p:cNvSpPr/>
          <p:nvPr/>
        </p:nvSpPr>
        <p:spPr>
          <a:xfrm>
            <a:off x="3840480" y="4052621"/>
            <a:ext cx="1463040" cy="526694"/>
          </a:xfrm>
          <a:prstGeom prst="roundRect">
            <a:avLst>
              <a:gd name="adj" fmla="val 30556"/>
            </a:avLst>
          </a:prstGeom>
          <a:solidFill>
            <a:srgbClr val="FFFFFF"/>
          </a:solidFill>
          <a:ln/>
          <a:effectLst>
            <a:outerShdw blurRad="101600" dist="3048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840480" y="4052621"/>
            <a:ext cx="146304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1300" dirty="0"/>
          </a:p>
        </p:txBody>
      </p:sp>
      <p:sp>
        <p:nvSpPr>
          <p:cNvPr id="38" name="標籤"/>
          <p:cNvSpPr/>
          <p:nvPr/>
        </p:nvSpPr>
        <p:spPr>
          <a:xfrm>
            <a:off x="4800397" y="3950208"/>
            <a:ext cx="393395" cy="204826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800" dirty="0"/>
          </a:p>
        </p:txBody>
      </p:sp>
      <p:sp>
        <p:nvSpPr>
          <p:cNvPr id="39" name="標籤"/>
          <p:cNvSpPr/>
          <p:nvPr/>
        </p:nvSpPr>
        <p:spPr>
          <a:xfrm>
            <a:off x="3950208" y="4476902"/>
            <a:ext cx="494995" cy="20482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  <a:effectLst>
            <a:outerShdw blurRad="60960" dist="1524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800" dirty="0"/>
          </a:p>
        </p:txBody>
      </p:sp>
      <p:sp>
        <p:nvSpPr>
          <p:cNvPr id="40" name="寬欄條"/>
          <p:cNvSpPr/>
          <p:nvPr/>
        </p:nvSpPr>
        <p:spPr>
          <a:xfrm>
            <a:off x="5669280" y="1645920"/>
            <a:ext cx="438912" cy="310896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寬欄條"/>
          <p:cNvSpPr/>
          <p:nvPr/>
        </p:nvSpPr>
        <p:spPr>
          <a:xfrm>
            <a:off x="6254496" y="1645920"/>
            <a:ext cx="438912" cy="310896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413248" y="1404518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56990" y="1962814"/>
            <a:ext cx="463491" cy="463491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編號"/>
          <p:cNvSpPr/>
          <p:nvPr/>
        </p:nvSpPr>
        <p:spPr>
          <a:xfrm>
            <a:off x="5713171" y="2018995"/>
            <a:ext cx="351130" cy="351130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42206" y="1962814"/>
            <a:ext cx="463491" cy="463491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編號"/>
          <p:cNvSpPr/>
          <p:nvPr/>
        </p:nvSpPr>
        <p:spPr>
          <a:xfrm>
            <a:off x="6298387" y="2018995"/>
            <a:ext cx="351130" cy="351130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100" dirty="0"/>
          </a:p>
        </p:txBody>
      </p:sp>
      <p:sp>
        <p:nvSpPr>
          <p:cNvPr id="47" name="線條"/>
          <p:cNvSpPr/>
          <p:nvPr/>
        </p:nvSpPr>
        <p:spPr>
          <a:xfrm>
            <a:off x="5362042" y="2194560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56990" y="3023518"/>
            <a:ext cx="463491" cy="463491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編號"/>
          <p:cNvSpPr/>
          <p:nvPr/>
        </p:nvSpPr>
        <p:spPr>
          <a:xfrm>
            <a:off x="5713171" y="3079699"/>
            <a:ext cx="351130" cy="351130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42206" y="3023518"/>
            <a:ext cx="463491" cy="463491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編號"/>
          <p:cNvSpPr/>
          <p:nvPr/>
        </p:nvSpPr>
        <p:spPr>
          <a:xfrm>
            <a:off x="6298387" y="3079699"/>
            <a:ext cx="351130" cy="351130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100" dirty="0"/>
          </a:p>
        </p:txBody>
      </p:sp>
      <p:sp>
        <p:nvSpPr>
          <p:cNvPr id="52" name="線條"/>
          <p:cNvSpPr/>
          <p:nvPr/>
        </p:nvSpPr>
        <p:spPr>
          <a:xfrm>
            <a:off x="5362042" y="3255264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56990" y="4084222"/>
            <a:ext cx="463491" cy="463491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編號"/>
          <p:cNvSpPr/>
          <p:nvPr/>
        </p:nvSpPr>
        <p:spPr>
          <a:xfrm>
            <a:off x="5713171" y="4140403"/>
            <a:ext cx="351130" cy="351130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242206" y="4084222"/>
            <a:ext cx="463491" cy="463491"/>
          </a:xfrm>
          <a:prstGeom prst="ellipse">
            <a:avLst/>
          </a:prstGeom>
          <a:solidFill>
            <a:srgbClr val="E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編號"/>
          <p:cNvSpPr/>
          <p:nvPr/>
        </p:nvSpPr>
        <p:spPr>
          <a:xfrm>
            <a:off x="6298387" y="4140403"/>
            <a:ext cx="351130" cy="351130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100" dirty="0"/>
          </a:p>
        </p:txBody>
      </p:sp>
      <p:sp>
        <p:nvSpPr>
          <p:cNvPr id="57" name="線條"/>
          <p:cNvSpPr/>
          <p:nvPr/>
        </p:nvSpPr>
        <p:spPr>
          <a:xfrm>
            <a:off x="5362042" y="4315968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8" name="線條"/>
          <p:cNvSpPr/>
          <p:nvPr/>
        </p:nvSpPr>
        <p:spPr>
          <a:xfrm>
            <a:off x="6693408" y="2194560"/>
            <a:ext cx="18288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59" name="連接線"/>
          <p:cNvSpPr/>
          <p:nvPr/>
        </p:nvSpPr>
        <p:spPr>
          <a:xfrm>
            <a:off x="6876288" y="1960474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ln w="12700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132320" y="185074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900" dirty="0"/>
          </a:p>
        </p:txBody>
      </p:sp>
      <p:sp>
        <p:nvSpPr>
          <p:cNvPr id="61" name="連接線"/>
          <p:cNvSpPr/>
          <p:nvPr/>
        </p:nvSpPr>
        <p:spPr>
          <a:xfrm>
            <a:off x="6876288" y="2194560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ln w="12700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132320" y="231891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900" dirty="0"/>
          </a:p>
        </p:txBody>
      </p:sp>
      <p:sp>
        <p:nvSpPr>
          <p:cNvPr id="63" name="線條"/>
          <p:cNvSpPr/>
          <p:nvPr/>
        </p:nvSpPr>
        <p:spPr>
          <a:xfrm>
            <a:off x="6693408" y="3255264"/>
            <a:ext cx="18288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64" name="連接線"/>
          <p:cNvSpPr/>
          <p:nvPr/>
        </p:nvSpPr>
        <p:spPr>
          <a:xfrm>
            <a:off x="6876288" y="3021178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ln w="12700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132320" y="291145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900" dirty="0"/>
          </a:p>
        </p:txBody>
      </p:sp>
      <p:sp>
        <p:nvSpPr>
          <p:cNvPr id="66" name="連接線"/>
          <p:cNvSpPr/>
          <p:nvPr/>
        </p:nvSpPr>
        <p:spPr>
          <a:xfrm>
            <a:off x="6876288" y="3255264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ln w="12700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7132320" y="3379622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900" dirty="0"/>
          </a:p>
        </p:txBody>
      </p:sp>
      <p:sp>
        <p:nvSpPr>
          <p:cNvPr id="68" name="線條"/>
          <p:cNvSpPr/>
          <p:nvPr/>
        </p:nvSpPr>
        <p:spPr>
          <a:xfrm>
            <a:off x="6693408" y="4315968"/>
            <a:ext cx="18288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69" name="連接線"/>
          <p:cNvSpPr/>
          <p:nvPr/>
        </p:nvSpPr>
        <p:spPr>
          <a:xfrm>
            <a:off x="6876288" y="4081882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ln w="12700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7132320" y="397215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900" dirty="0"/>
          </a:p>
        </p:txBody>
      </p:sp>
      <p:sp>
        <p:nvSpPr>
          <p:cNvPr id="71" name="連接線"/>
          <p:cNvSpPr/>
          <p:nvPr/>
        </p:nvSpPr>
        <p:spPr>
          <a:xfrm>
            <a:off x="6876288" y="4315968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ln w="12700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7132320" y="444032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900" dirty="0"/>
          </a:p>
        </p:txBody>
      </p:sp>
      <p:sp>
        <p:nvSpPr>
          <p:cNvPr id="73" name="漸隱直條"/>
          <p:cNvSpPr/>
          <p:nvPr/>
        </p:nvSpPr>
        <p:spPr>
          <a:xfrm>
            <a:off x="9067190" y="1798808"/>
            <a:ext cx="138989" cy="2810500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漸隱直條"/>
          <p:cNvSpPr/>
          <p:nvPr/>
        </p:nvSpPr>
        <p:spPr>
          <a:xfrm>
            <a:off x="9067190" y="2032406"/>
            <a:ext cx="138989" cy="2343302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漸隱直條"/>
          <p:cNvSpPr/>
          <p:nvPr/>
        </p:nvSpPr>
        <p:spPr>
          <a:xfrm>
            <a:off x="9067190" y="2266005"/>
            <a:ext cx="138989" cy="1876105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漸隱直條"/>
          <p:cNvSpPr/>
          <p:nvPr/>
        </p:nvSpPr>
        <p:spPr>
          <a:xfrm>
            <a:off x="9067190" y="2499604"/>
            <a:ext cx="138989" cy="1408908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漸隱直條"/>
          <p:cNvSpPr/>
          <p:nvPr/>
        </p:nvSpPr>
        <p:spPr>
          <a:xfrm>
            <a:off x="9067190" y="2733203"/>
            <a:ext cx="138989" cy="941710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漸隱直條"/>
          <p:cNvSpPr/>
          <p:nvPr/>
        </p:nvSpPr>
        <p:spPr>
          <a:xfrm>
            <a:off x="9067190" y="2966801"/>
            <a:ext cx="138989" cy="474513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8997696" y="1645920"/>
            <a:ext cx="277978" cy="152888"/>
          </a:xfrm>
          <a:custGeom>
            <a:avLst/>
            <a:gdLst/>
            <a:ahLst/>
            <a:cxnLst/>
            <a:rect l="l" t="t" r="r" b="b"/>
            <a:pathLst>
              <a:path w="277978" h="152888">
                <a:moveTo>
                  <a:pt x="0" y="152888"/>
                </a:moveTo>
                <a:lnTo>
                  <a:pt x="138989" y="0"/>
                </a:lnTo>
                <a:lnTo>
                  <a:pt x="277978" y="152888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8997696" y="4601992"/>
            <a:ext cx="277978" cy="152888"/>
          </a:xfrm>
          <a:custGeom>
            <a:avLst/>
            <a:gdLst/>
            <a:ahLst/>
            <a:cxnLst/>
            <a:rect l="l" t="t" r="r" b="b"/>
            <a:pathLst>
              <a:path w="277978" h="152888">
                <a:moveTo>
                  <a:pt x="0" y="0"/>
                </a:moveTo>
                <a:lnTo>
                  <a:pt x="277978" y="0"/>
                </a:lnTo>
                <a:lnTo>
                  <a:pt x="138989" y="152888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8302752" y="140451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302752" y="4791456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13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青綠科技</dc:title>
  <dc:subject>PptxGenJS Presentation</dc:subject>
  <dc:creator>PPT Style Studio</dc:creator>
  <cp:lastModifiedBy>PPT Style Studio</cp:lastModifiedBy>
  <cp:revision>1</cp:revision>
  <dcterms:created xsi:type="dcterms:W3CDTF">2026-10-09T02:33:47Z</dcterms:created>
  <dcterms:modified xsi:type="dcterms:W3CDTF">2026-10-09T02:33:47Z</dcterms:modified>
</cp:coreProperties>
</file>