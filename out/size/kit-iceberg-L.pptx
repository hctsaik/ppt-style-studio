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5239619" cy="8572500"/>
  <p:notesSz cx="8572500" cy="15239619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85750" y="285750"/>
            <a:ext cx="14668119" cy="800100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85800" y="571500"/>
            <a:ext cx="80010" cy="11658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標題"/>
          <p:cNvSpPr/>
          <p:nvPr/>
        </p:nvSpPr>
        <p:spPr>
          <a:xfrm>
            <a:off x="982980" y="45720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5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元件總表 Element Catalog</a:t>
            </a:r>
            <a:endParaRPr lang="en-US" sz="4250" dirty="0"/>
          </a:p>
        </p:txBody>
      </p:sp>
      <p:sp>
        <p:nvSpPr>
          <p:cNvPr id="5" name="Text 3"/>
          <p:cNvSpPr/>
          <p:nvPr/>
        </p:nvSpPr>
        <p:spPr>
          <a:xfrm>
            <a:off x="982980" y="1257300"/>
            <a:ext cx="12573000" cy="434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B9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一頁看完本風格的所有元件變化：挑好樣式，直接複製圖形使用</a:t>
            </a:r>
            <a:endParaRPr lang="en-US" sz="2000" dirty="0"/>
          </a:p>
        </p:txBody>
      </p:sp>
      <p:sp>
        <p:nvSpPr>
          <p:cNvPr id="6" name="類別"/>
          <p:cNvSpPr/>
          <p:nvPr/>
        </p:nvSpPr>
        <p:spPr>
          <a:xfrm>
            <a:off x="685800" y="2063115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流程方塊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Process</a:t>
            </a:r>
            <a:endParaRPr lang="en-US" sz="1750" dirty="0"/>
          </a:p>
        </p:txBody>
      </p:sp>
      <p:sp>
        <p:nvSpPr>
          <p:cNvPr id="7" name="流程方塊"/>
          <p:cNvSpPr/>
          <p:nvPr/>
        </p:nvSpPr>
        <p:spPr>
          <a:xfrm>
            <a:off x="2497700" y="1977390"/>
            <a:ext cx="1371600" cy="4800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875">
            <a:solidFill>
              <a:srgbClr val="BFBFBF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450" dirty="0"/>
          </a:p>
        </p:txBody>
      </p:sp>
      <p:sp>
        <p:nvSpPr>
          <p:cNvPr id="8" name="圖說"/>
          <p:cNvSpPr/>
          <p:nvPr/>
        </p:nvSpPr>
        <p:spPr>
          <a:xfrm>
            <a:off x="2343150" y="24974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無陰影・外框</a:t>
            </a:r>
            <a:endParaRPr lang="en-US" sz="1050" dirty="0"/>
          </a:p>
        </p:txBody>
      </p:sp>
      <p:sp>
        <p:nvSpPr>
          <p:cNvPr id="9" name="流程方塊"/>
          <p:cNvSpPr/>
          <p:nvPr/>
        </p:nvSpPr>
        <p:spPr>
          <a:xfrm>
            <a:off x="4246980" y="1977390"/>
            <a:ext cx="1371600" cy="4800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8001">
            <a:solidFill>
              <a:srgbClr val="D9D9D9"/>
            </a:solidFill>
            <a:prstDash val="solid"/>
          </a:ln>
          <a:effectLst>
            <a:outerShdw blurRad="106045" dist="30353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450" dirty="0"/>
          </a:p>
        </p:txBody>
      </p:sp>
      <p:sp>
        <p:nvSpPr>
          <p:cNvPr id="10" name="圖說"/>
          <p:cNvSpPr/>
          <p:nvPr/>
        </p:nvSpPr>
        <p:spPr>
          <a:xfrm>
            <a:off x="4092430" y="24974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1050" dirty="0"/>
          </a:p>
        </p:txBody>
      </p:sp>
      <p:sp>
        <p:nvSpPr>
          <p:cNvPr id="11" name="流程方塊"/>
          <p:cNvSpPr/>
          <p:nvPr/>
        </p:nvSpPr>
        <p:spPr>
          <a:xfrm>
            <a:off x="5996260" y="1977390"/>
            <a:ext cx="1371600" cy="480060"/>
          </a:xfrm>
          <a:prstGeom prst="roundRect">
            <a:avLst>
              <a:gd name="adj" fmla="val 7143"/>
            </a:avLst>
          </a:prstGeom>
          <a:solidFill>
            <a:srgbClr val="E7E7E7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450" dirty="0"/>
          </a:p>
        </p:txBody>
      </p:sp>
      <p:sp>
        <p:nvSpPr>
          <p:cNvPr id="12" name="圖說"/>
          <p:cNvSpPr/>
          <p:nvPr/>
        </p:nvSpPr>
        <p:spPr>
          <a:xfrm>
            <a:off x="5841710" y="24974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1050" dirty="0"/>
          </a:p>
        </p:txBody>
      </p:sp>
      <p:sp>
        <p:nvSpPr>
          <p:cNvPr id="13" name="流程方塊"/>
          <p:cNvSpPr/>
          <p:nvPr/>
        </p:nvSpPr>
        <p:spPr>
          <a:xfrm>
            <a:off x="7745540" y="1977390"/>
            <a:ext cx="1371600" cy="480060"/>
          </a:xfrm>
          <a:prstGeom prst="roundRect">
            <a:avLst>
              <a:gd name="adj" fmla="val 7143"/>
            </a:avLst>
          </a:prstGeom>
          <a:solidFill>
            <a:srgbClr val="E6E6E6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450" dirty="0"/>
          </a:p>
        </p:txBody>
      </p:sp>
      <p:sp>
        <p:nvSpPr>
          <p:cNvPr id="14" name="圖說"/>
          <p:cNvSpPr/>
          <p:nvPr/>
        </p:nvSpPr>
        <p:spPr>
          <a:xfrm>
            <a:off x="7590990" y="24974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淺灰底</a:t>
            </a:r>
            <a:endParaRPr lang="en-US" sz="1050" dirty="0"/>
          </a:p>
        </p:txBody>
      </p:sp>
      <p:sp>
        <p:nvSpPr>
          <p:cNvPr id="15" name="流程方塊"/>
          <p:cNvSpPr/>
          <p:nvPr/>
        </p:nvSpPr>
        <p:spPr>
          <a:xfrm>
            <a:off x="9494819" y="1977390"/>
            <a:ext cx="1371600" cy="4800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7813">
            <a:solidFill>
              <a:srgbClr val="404040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450" dirty="0"/>
          </a:p>
        </p:txBody>
      </p:sp>
      <p:sp>
        <p:nvSpPr>
          <p:cNvPr id="16" name="圖說"/>
          <p:cNvSpPr/>
          <p:nvPr/>
        </p:nvSpPr>
        <p:spPr>
          <a:xfrm>
            <a:off x="9340269" y="24974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主色粗外框</a:t>
            </a:r>
            <a:endParaRPr lang="en-US" sz="1050" dirty="0"/>
          </a:p>
        </p:txBody>
      </p:sp>
      <p:sp>
        <p:nvSpPr>
          <p:cNvPr id="17" name="流程方塊"/>
          <p:cNvSpPr/>
          <p:nvPr/>
        </p:nvSpPr>
        <p:spPr>
          <a:xfrm>
            <a:off x="11244099" y="1977390"/>
            <a:ext cx="1371600" cy="480060"/>
          </a:xfrm>
          <a:prstGeom prst="roundRect">
            <a:avLst>
              <a:gd name="adj" fmla="val 7143"/>
            </a:avLst>
          </a:prstGeom>
          <a:solidFill>
            <a:srgbClr val="404040"/>
          </a:solidFill>
          <a:ln>
            <a:noFill/>
          </a:ln>
          <a:effectLst>
            <a:outerShdw blurRad="66675" dist="23876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關鍵步驟</a:t>
            </a:r>
            <a:endParaRPr lang="en-US" sz="1450" dirty="0"/>
          </a:p>
        </p:txBody>
      </p:sp>
      <p:sp>
        <p:nvSpPr>
          <p:cNvPr id="18" name="圖說"/>
          <p:cNvSpPr/>
          <p:nvPr/>
        </p:nvSpPr>
        <p:spPr>
          <a:xfrm>
            <a:off x="11089549" y="24974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1050" dirty="0"/>
          </a:p>
        </p:txBody>
      </p:sp>
      <p:sp>
        <p:nvSpPr>
          <p:cNvPr id="19" name="流程方塊"/>
          <p:cNvSpPr/>
          <p:nvPr/>
        </p:nvSpPr>
        <p:spPr>
          <a:xfrm>
            <a:off x="12993379" y="1977390"/>
            <a:ext cx="1371600" cy="4800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待定步驟</a:t>
            </a:r>
            <a:endParaRPr lang="en-US" sz="1450" dirty="0"/>
          </a:p>
        </p:txBody>
      </p:sp>
      <p:sp>
        <p:nvSpPr>
          <p:cNvPr id="20" name="圖說"/>
          <p:cNvSpPr/>
          <p:nvPr/>
        </p:nvSpPr>
        <p:spPr>
          <a:xfrm>
            <a:off x="12838829" y="24974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虛線・待定</a:t>
            </a:r>
            <a:endParaRPr lang="en-US" sz="1050" dirty="0"/>
          </a:p>
        </p:txBody>
      </p:sp>
      <p:sp>
        <p:nvSpPr>
          <p:cNvPr id="21" name="線條"/>
          <p:cNvSpPr/>
          <p:nvPr/>
        </p:nvSpPr>
        <p:spPr>
          <a:xfrm>
            <a:off x="685800" y="2714625"/>
            <a:ext cx="13868019" cy="0"/>
          </a:xfrm>
          <a:prstGeom prst="line">
            <a:avLst/>
          </a:prstGeom>
          <a:noFill/>
          <a:ln w="8001">
            <a:solidFill>
              <a:srgbClr val="EAEAEA"/>
            </a:solidFill>
            <a:prstDash val="solid"/>
          </a:ln>
        </p:spPr>
      </p:sp>
      <p:sp>
        <p:nvSpPr>
          <p:cNvPr id="22" name="類別"/>
          <p:cNvSpPr/>
          <p:nvPr/>
        </p:nvSpPr>
        <p:spPr>
          <a:xfrm>
            <a:off x="685800" y="2920365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判斷菱形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Decision</a:t>
            </a:r>
            <a:endParaRPr lang="en-US" sz="1750" dirty="0"/>
          </a:p>
        </p:txBody>
      </p:sp>
      <p:sp>
        <p:nvSpPr>
          <p:cNvPr id="23" name="判斷菱形"/>
          <p:cNvSpPr/>
          <p:nvPr/>
        </p:nvSpPr>
        <p:spPr>
          <a:xfrm>
            <a:off x="2583425" y="2777490"/>
            <a:ext cx="1200150" cy="59436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300" dirty="0"/>
          </a:p>
        </p:txBody>
      </p:sp>
      <p:sp>
        <p:nvSpPr>
          <p:cNvPr id="24" name="圖說"/>
          <p:cNvSpPr/>
          <p:nvPr/>
        </p:nvSpPr>
        <p:spPr>
          <a:xfrm>
            <a:off x="2343150" y="34118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</a:t>
            </a:r>
            <a:endParaRPr lang="en-US" sz="1050" dirty="0"/>
          </a:p>
        </p:txBody>
      </p:sp>
      <p:sp>
        <p:nvSpPr>
          <p:cNvPr id="25" name="判斷菱形"/>
          <p:cNvSpPr/>
          <p:nvPr/>
        </p:nvSpPr>
        <p:spPr>
          <a:xfrm>
            <a:off x="4332705" y="2777490"/>
            <a:ext cx="1200150" cy="594360"/>
          </a:xfrm>
          <a:prstGeom prst="diamond">
            <a:avLst/>
          </a:prstGeom>
          <a:solidFill>
            <a:srgbClr val="FFFFFF"/>
          </a:solidFill>
          <a:ln w="8001">
            <a:solidFill>
              <a:srgbClr val="D9D9D9"/>
            </a:solidFill>
            <a:prstDash val="solid"/>
          </a:ln>
          <a:effectLst>
            <a:outerShdw blurRad="111125" dist="3175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300" dirty="0"/>
          </a:p>
        </p:txBody>
      </p:sp>
      <p:sp>
        <p:nvSpPr>
          <p:cNvPr id="26" name="圖說"/>
          <p:cNvSpPr/>
          <p:nvPr/>
        </p:nvSpPr>
        <p:spPr>
          <a:xfrm>
            <a:off x="4092430" y="34118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1050" dirty="0"/>
          </a:p>
        </p:txBody>
      </p:sp>
      <p:sp>
        <p:nvSpPr>
          <p:cNvPr id="27" name="判斷菱形"/>
          <p:cNvSpPr/>
          <p:nvPr/>
        </p:nvSpPr>
        <p:spPr>
          <a:xfrm>
            <a:off x="6081985" y="2777490"/>
            <a:ext cx="1200150" cy="594360"/>
          </a:xfrm>
          <a:prstGeom prst="diamond">
            <a:avLst/>
          </a:prstGeom>
          <a:solidFill>
            <a:srgbClr val="E7E7E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300" dirty="0"/>
          </a:p>
        </p:txBody>
      </p:sp>
      <p:sp>
        <p:nvSpPr>
          <p:cNvPr id="28" name="圖說"/>
          <p:cNvSpPr/>
          <p:nvPr/>
        </p:nvSpPr>
        <p:spPr>
          <a:xfrm>
            <a:off x="5841710" y="34118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1050" dirty="0"/>
          </a:p>
        </p:txBody>
      </p:sp>
      <p:sp>
        <p:nvSpPr>
          <p:cNvPr id="29" name="判斷菱形"/>
          <p:cNvSpPr/>
          <p:nvPr/>
        </p:nvSpPr>
        <p:spPr>
          <a:xfrm>
            <a:off x="7831265" y="2777490"/>
            <a:ext cx="1200150" cy="594360"/>
          </a:xfrm>
          <a:prstGeom prst="diamond">
            <a:avLst/>
          </a:prstGeom>
          <a:solidFill>
            <a:srgbClr val="FFFFFF"/>
          </a:solidFill>
          <a:ln w="23876">
            <a:solidFill>
              <a:srgbClr val="40404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300" dirty="0"/>
          </a:p>
        </p:txBody>
      </p:sp>
      <p:sp>
        <p:nvSpPr>
          <p:cNvPr id="30" name="圖說"/>
          <p:cNvSpPr/>
          <p:nvPr/>
        </p:nvSpPr>
        <p:spPr>
          <a:xfrm>
            <a:off x="7590990" y="34118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主色外框</a:t>
            </a:r>
            <a:endParaRPr lang="en-US" sz="1050" dirty="0"/>
          </a:p>
        </p:txBody>
      </p:sp>
      <p:sp>
        <p:nvSpPr>
          <p:cNvPr id="31" name="判斷菱形"/>
          <p:cNvSpPr/>
          <p:nvPr/>
        </p:nvSpPr>
        <p:spPr>
          <a:xfrm>
            <a:off x="9580544" y="2777490"/>
            <a:ext cx="1200150" cy="594360"/>
          </a:xfrm>
          <a:prstGeom prst="diamond">
            <a:avLst/>
          </a:prstGeom>
          <a:solidFill>
            <a:srgbClr val="404040"/>
          </a:solidFill>
          <a:ln>
            <a:noFill/>
          </a:ln>
          <a:effectLst>
            <a:outerShdw blurRad="66675" dist="23876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300" dirty="0"/>
          </a:p>
        </p:txBody>
      </p:sp>
      <p:sp>
        <p:nvSpPr>
          <p:cNvPr id="32" name="圖說"/>
          <p:cNvSpPr/>
          <p:nvPr/>
        </p:nvSpPr>
        <p:spPr>
          <a:xfrm>
            <a:off x="9340269" y="34118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1050" dirty="0"/>
          </a:p>
        </p:txBody>
      </p:sp>
      <p:sp>
        <p:nvSpPr>
          <p:cNvPr id="33" name="判斷菱形"/>
          <p:cNvSpPr/>
          <p:nvPr/>
        </p:nvSpPr>
        <p:spPr>
          <a:xfrm>
            <a:off x="11329824" y="2777490"/>
            <a:ext cx="1200150" cy="59436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300" dirty="0"/>
          </a:p>
        </p:txBody>
      </p:sp>
      <p:sp>
        <p:nvSpPr>
          <p:cNvPr id="34" name="圖說"/>
          <p:cNvSpPr/>
          <p:nvPr/>
        </p:nvSpPr>
        <p:spPr>
          <a:xfrm>
            <a:off x="11089549" y="34118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虛線・待確認</a:t>
            </a:r>
            <a:endParaRPr lang="en-US" sz="1050" dirty="0"/>
          </a:p>
        </p:txBody>
      </p:sp>
      <p:grpSp>
        <p:nvGrpSpPr>
          <p:cNvPr id="5000" name="判斷＋分岔箭頭"/>
          <p:cNvGrpSpPr/>
          <p:nvPr/>
        </p:nvGrpSpPr>
        <p:grpSpPr>
          <a:xfrm>
            <a:off x="12913369" y="2777490"/>
            <a:ext cx="1394460" cy="594360"/>
            <a:chOff x="12913369" y="2777490"/>
            <a:chExt cx="1394460" cy="594360"/>
          </a:xfrm>
        </p:grpSpPr>
        <p:sp>
          <p:nvSpPr>
            <p:cNvPr id="35" name="判斷菱形"/>
            <p:cNvSpPr/>
            <p:nvPr/>
          </p:nvSpPr>
          <p:spPr>
            <a:xfrm>
              <a:off x="12913369" y="2777490"/>
              <a:ext cx="708660" cy="594360"/>
            </a:xfrm>
            <a:prstGeom prst="diamond">
              <a:avLst/>
            </a:prstGeom>
            <a:solidFill>
              <a:srgbClr val="FFFFFF"/>
            </a:solidFill>
            <a:ln w="19812">
              <a:solidFill>
                <a:srgbClr val="404040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36" name="線條"/>
            <p:cNvSpPr/>
            <p:nvPr/>
          </p:nvSpPr>
          <p:spPr>
            <a:xfrm>
              <a:off x="13622029" y="3074670"/>
              <a:ext cx="685800" cy="0"/>
            </a:xfrm>
            <a:prstGeom prst="line">
              <a:avLst/>
            </a:prstGeom>
            <a:noFill/>
            <a:ln w="15875">
              <a:solidFill>
                <a:srgbClr val="595959"/>
              </a:solidFill>
              <a:prstDash val="solid"/>
              <a:tailEnd type="triangle" w="lg" len="lg"/>
            </a:ln>
          </p:spPr>
        </p:sp>
        <p:sp>
          <p:nvSpPr>
            <p:cNvPr id="37" name="標註"/>
            <p:cNvSpPr/>
            <p:nvPr/>
          </p:nvSpPr>
          <p:spPr>
            <a:xfrm>
              <a:off x="13644889" y="2846070"/>
              <a:ext cx="342900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是</a:t>
              </a:r>
              <a:endParaRPr lang="en-US" sz="1000" dirty="0"/>
            </a:p>
          </p:txBody>
        </p:sp>
      </p:grpSp>
      <p:sp>
        <p:nvSpPr>
          <p:cNvPr id="38" name="圖說"/>
          <p:cNvSpPr/>
          <p:nvPr/>
        </p:nvSpPr>
        <p:spPr>
          <a:xfrm>
            <a:off x="12838829" y="34118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判斷＋分岔箭頭</a:t>
            </a:r>
            <a:endParaRPr lang="en-US" sz="1050" dirty="0"/>
          </a:p>
        </p:txBody>
      </p:sp>
      <p:sp>
        <p:nvSpPr>
          <p:cNvPr id="39" name="線條"/>
          <p:cNvSpPr/>
          <p:nvPr/>
        </p:nvSpPr>
        <p:spPr>
          <a:xfrm>
            <a:off x="685800" y="3629025"/>
            <a:ext cx="13868019" cy="0"/>
          </a:xfrm>
          <a:prstGeom prst="line">
            <a:avLst/>
          </a:prstGeom>
          <a:noFill/>
          <a:ln w="8001">
            <a:solidFill>
              <a:srgbClr val="EAEAEA"/>
            </a:solidFill>
            <a:prstDash val="solid"/>
          </a:ln>
        </p:spPr>
      </p:sp>
      <p:sp>
        <p:nvSpPr>
          <p:cNvPr id="40" name="類別"/>
          <p:cNvSpPr/>
          <p:nvPr/>
        </p:nvSpPr>
        <p:spPr>
          <a:xfrm>
            <a:off x="685800" y="3754755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Start / End</a:t>
            </a:r>
            <a:endParaRPr lang="en-US" sz="1750" dirty="0"/>
          </a:p>
        </p:txBody>
      </p:sp>
      <p:sp>
        <p:nvSpPr>
          <p:cNvPr id="41" name="開始／結束"/>
          <p:cNvSpPr/>
          <p:nvPr/>
        </p:nvSpPr>
        <p:spPr>
          <a:xfrm>
            <a:off x="2497700" y="3691890"/>
            <a:ext cx="1371600" cy="4343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812">
            <a:solidFill>
              <a:srgbClr val="404040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450" dirty="0"/>
          </a:p>
        </p:txBody>
      </p:sp>
      <p:sp>
        <p:nvSpPr>
          <p:cNvPr id="42" name="圖說"/>
          <p:cNvSpPr/>
          <p:nvPr/>
        </p:nvSpPr>
        <p:spPr>
          <a:xfrm>
            <a:off x="2343150" y="41662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</a:t>
            </a:r>
            <a:endParaRPr lang="en-US" sz="1050" dirty="0"/>
          </a:p>
        </p:txBody>
      </p:sp>
      <p:sp>
        <p:nvSpPr>
          <p:cNvPr id="43" name="開始／結束"/>
          <p:cNvSpPr/>
          <p:nvPr/>
        </p:nvSpPr>
        <p:spPr>
          <a:xfrm>
            <a:off x="4246980" y="3691890"/>
            <a:ext cx="1371600" cy="434340"/>
          </a:xfrm>
          <a:prstGeom prst="roundRect">
            <a:avLst>
              <a:gd name="adj" fmla="val 50000"/>
            </a:avLst>
          </a:prstGeom>
          <a:solidFill>
            <a:srgbClr val="E7E7E7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450" dirty="0"/>
          </a:p>
        </p:txBody>
      </p:sp>
      <p:sp>
        <p:nvSpPr>
          <p:cNvPr id="44" name="圖說"/>
          <p:cNvSpPr/>
          <p:nvPr/>
        </p:nvSpPr>
        <p:spPr>
          <a:xfrm>
            <a:off x="4092430" y="41662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1050" dirty="0"/>
          </a:p>
        </p:txBody>
      </p:sp>
      <p:sp>
        <p:nvSpPr>
          <p:cNvPr id="45" name="開始／結束"/>
          <p:cNvSpPr/>
          <p:nvPr/>
        </p:nvSpPr>
        <p:spPr>
          <a:xfrm>
            <a:off x="5996260" y="3691890"/>
            <a:ext cx="1371600" cy="43434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450" dirty="0"/>
          </a:p>
        </p:txBody>
      </p:sp>
      <p:sp>
        <p:nvSpPr>
          <p:cNvPr id="46" name="圖說"/>
          <p:cNvSpPr/>
          <p:nvPr/>
        </p:nvSpPr>
        <p:spPr>
          <a:xfrm>
            <a:off x="5841710" y="41662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淺灰底</a:t>
            </a:r>
            <a:endParaRPr lang="en-US" sz="1050" dirty="0"/>
          </a:p>
        </p:txBody>
      </p:sp>
      <p:sp>
        <p:nvSpPr>
          <p:cNvPr id="47" name="開始／結束"/>
          <p:cNvSpPr/>
          <p:nvPr/>
        </p:nvSpPr>
        <p:spPr>
          <a:xfrm>
            <a:off x="7745540" y="3691890"/>
            <a:ext cx="1371600" cy="4343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001">
            <a:solidFill>
              <a:srgbClr val="D9D9D9"/>
            </a:solidFill>
            <a:prstDash val="solid"/>
          </a:ln>
          <a:effectLst>
            <a:outerShdw blurRad="96012" dist="27432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450" dirty="0"/>
          </a:p>
        </p:txBody>
      </p:sp>
      <p:sp>
        <p:nvSpPr>
          <p:cNvPr id="48" name="圖說"/>
          <p:cNvSpPr/>
          <p:nvPr/>
        </p:nvSpPr>
        <p:spPr>
          <a:xfrm>
            <a:off x="7590990" y="41662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1050" dirty="0"/>
          </a:p>
        </p:txBody>
      </p:sp>
      <p:sp>
        <p:nvSpPr>
          <p:cNvPr id="49" name="開始／結束"/>
          <p:cNvSpPr/>
          <p:nvPr/>
        </p:nvSpPr>
        <p:spPr>
          <a:xfrm>
            <a:off x="9494819" y="3691890"/>
            <a:ext cx="1371600" cy="434340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  <a:effectLst>
            <a:outerShdw blurRad="66675" dist="23876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450" dirty="0"/>
          </a:p>
        </p:txBody>
      </p:sp>
      <p:sp>
        <p:nvSpPr>
          <p:cNvPr id="50" name="圖說"/>
          <p:cNvSpPr/>
          <p:nvPr/>
        </p:nvSpPr>
        <p:spPr>
          <a:xfrm>
            <a:off x="9340269" y="41662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1050" dirty="0"/>
          </a:p>
        </p:txBody>
      </p:sp>
      <p:sp>
        <p:nvSpPr>
          <p:cNvPr id="51" name="開始／結束"/>
          <p:cNvSpPr/>
          <p:nvPr/>
        </p:nvSpPr>
        <p:spPr>
          <a:xfrm>
            <a:off x="11244099" y="3691890"/>
            <a:ext cx="1371600" cy="434340"/>
          </a:xfrm>
          <a:prstGeom prst="roundRect">
            <a:avLst>
              <a:gd name="adj" fmla="val 50000"/>
            </a:avLst>
          </a:prstGeom>
          <a:solidFill>
            <a:srgbClr val="5B9BD5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450" dirty="0"/>
          </a:p>
        </p:txBody>
      </p:sp>
      <p:sp>
        <p:nvSpPr>
          <p:cNvPr id="52" name="圖說"/>
          <p:cNvSpPr/>
          <p:nvPr/>
        </p:nvSpPr>
        <p:spPr>
          <a:xfrm>
            <a:off x="11089549" y="41662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強調色</a:t>
            </a:r>
            <a:endParaRPr lang="en-US" sz="1050" dirty="0"/>
          </a:p>
        </p:txBody>
      </p:sp>
      <p:sp>
        <p:nvSpPr>
          <p:cNvPr id="53" name="線條"/>
          <p:cNvSpPr/>
          <p:nvPr/>
        </p:nvSpPr>
        <p:spPr>
          <a:xfrm>
            <a:off x="685800" y="4383405"/>
            <a:ext cx="13868019" cy="0"/>
          </a:xfrm>
          <a:prstGeom prst="line">
            <a:avLst/>
          </a:prstGeom>
          <a:noFill/>
          <a:ln w="8001">
            <a:solidFill>
              <a:srgbClr val="EAEAEA"/>
            </a:solidFill>
            <a:prstDash val="solid"/>
          </a:ln>
        </p:spPr>
      </p:sp>
      <p:sp>
        <p:nvSpPr>
          <p:cNvPr id="54" name="類別"/>
          <p:cNvSpPr/>
          <p:nvPr/>
        </p:nvSpPr>
        <p:spPr>
          <a:xfrm>
            <a:off x="685800" y="4520565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箭頭與連接線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Arrows</a:t>
            </a:r>
            <a:endParaRPr lang="en-US" sz="1750" dirty="0"/>
          </a:p>
        </p:txBody>
      </p:sp>
      <p:sp>
        <p:nvSpPr>
          <p:cNvPr id="55" name="線條"/>
          <p:cNvSpPr/>
          <p:nvPr/>
        </p:nvSpPr>
        <p:spPr>
          <a:xfrm>
            <a:off x="2520560" y="4674870"/>
            <a:ext cx="132588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56" name="圖說"/>
          <p:cNvSpPr/>
          <p:nvPr/>
        </p:nvSpPr>
        <p:spPr>
          <a:xfrm>
            <a:off x="2343150" y="494347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細直線箭頭</a:t>
            </a:r>
            <a:endParaRPr lang="en-US" sz="1050" dirty="0"/>
          </a:p>
        </p:txBody>
      </p:sp>
      <p:sp>
        <p:nvSpPr>
          <p:cNvPr id="57" name="線條"/>
          <p:cNvSpPr/>
          <p:nvPr/>
        </p:nvSpPr>
        <p:spPr>
          <a:xfrm>
            <a:off x="4269840" y="4674870"/>
            <a:ext cx="1325880" cy="0"/>
          </a:xfrm>
          <a:prstGeom prst="line">
            <a:avLst/>
          </a:prstGeom>
          <a:noFill/>
          <a:ln w="35687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58" name="圖說"/>
          <p:cNvSpPr/>
          <p:nvPr/>
        </p:nvSpPr>
        <p:spPr>
          <a:xfrm>
            <a:off x="4092430" y="494347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粗箭頭</a:t>
            </a:r>
            <a:endParaRPr lang="en-US" sz="1050" dirty="0"/>
          </a:p>
        </p:txBody>
      </p:sp>
      <p:sp>
        <p:nvSpPr>
          <p:cNvPr id="59" name="連接線"/>
          <p:cNvSpPr/>
          <p:nvPr/>
        </p:nvSpPr>
        <p:spPr>
          <a:xfrm>
            <a:off x="6019120" y="4503420"/>
            <a:ext cx="1325880" cy="342900"/>
          </a:xfrm>
          <a:custGeom>
            <a:avLst/>
            <a:gdLst/>
            <a:ahLst/>
            <a:cxnLst/>
            <a:rect l="l" t="t" r="r" b="b"/>
            <a:pathLst>
              <a:path w="1325880" h="342900">
                <a:moveTo>
                  <a:pt x="0" y="0"/>
                </a:moveTo>
                <a:lnTo>
                  <a:pt x="662940" y="0"/>
                </a:lnTo>
                <a:lnTo>
                  <a:pt x="662940" y="342900"/>
                </a:lnTo>
                <a:lnTo>
                  <a:pt x="1325880" y="342900"/>
                </a:lnTo>
              </a:path>
            </a:pathLst>
          </a:custGeom>
          <a:noFill/>
          <a:ln w="15875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圖說"/>
          <p:cNvSpPr/>
          <p:nvPr/>
        </p:nvSpPr>
        <p:spPr>
          <a:xfrm>
            <a:off x="5841710" y="494347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折線連接</a:t>
            </a:r>
            <a:endParaRPr lang="en-US" sz="1050" dirty="0"/>
          </a:p>
        </p:txBody>
      </p:sp>
      <p:sp>
        <p:nvSpPr>
          <p:cNvPr id="61" name="線條"/>
          <p:cNvSpPr/>
          <p:nvPr/>
        </p:nvSpPr>
        <p:spPr>
          <a:xfrm>
            <a:off x="7768400" y="4674870"/>
            <a:ext cx="1325880" cy="0"/>
          </a:xfrm>
          <a:prstGeom prst="line">
            <a:avLst/>
          </a:prstGeom>
          <a:noFill/>
          <a:ln w="15875">
            <a:solidFill>
              <a:srgbClr val="707070"/>
            </a:solidFill>
            <a:prstDash val="sysDash"/>
            <a:tailEnd type="arrow"/>
          </a:ln>
        </p:spPr>
      </p:sp>
      <p:sp>
        <p:nvSpPr>
          <p:cNvPr id="62" name="圖說"/>
          <p:cNvSpPr/>
          <p:nvPr/>
        </p:nvSpPr>
        <p:spPr>
          <a:xfrm>
            <a:off x="7590990" y="494347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虛線（次要／回饋）</a:t>
            </a:r>
            <a:endParaRPr lang="en-US" sz="1050" dirty="0"/>
          </a:p>
        </p:txBody>
      </p:sp>
      <p:sp>
        <p:nvSpPr>
          <p:cNvPr id="63" name="線條"/>
          <p:cNvSpPr/>
          <p:nvPr/>
        </p:nvSpPr>
        <p:spPr>
          <a:xfrm>
            <a:off x="9517679" y="4674870"/>
            <a:ext cx="132588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headEnd type="triangle" w="lg" len="lg"/>
            <a:tailEnd type="triangle" w="lg" len="lg"/>
          </a:ln>
        </p:spPr>
      </p:sp>
      <p:sp>
        <p:nvSpPr>
          <p:cNvPr id="64" name="圖說"/>
          <p:cNvSpPr/>
          <p:nvPr/>
        </p:nvSpPr>
        <p:spPr>
          <a:xfrm>
            <a:off x="9340269" y="494347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雙向箭頭</a:t>
            </a:r>
            <a:endParaRPr lang="en-US" sz="1050" dirty="0"/>
          </a:p>
        </p:txBody>
      </p:sp>
      <p:grpSp>
        <p:nvGrpSpPr>
          <p:cNvPr id="5001" name="▶ 三角／V 形分隔"/>
          <p:cNvGrpSpPr/>
          <p:nvPr/>
        </p:nvGrpSpPr>
        <p:grpSpPr>
          <a:xfrm>
            <a:off x="11518419" y="4514850"/>
            <a:ext cx="800100" cy="320040"/>
            <a:chOff x="11518419" y="4514850"/>
            <a:chExt cx="800100" cy="320040"/>
          </a:xfrm>
        </p:grpSpPr>
        <p:sp>
          <p:nvSpPr>
            <p:cNvPr id="65" name="三角分隔"/>
            <p:cNvSpPr/>
            <p:nvPr/>
          </p:nvSpPr>
          <p:spPr>
            <a:xfrm>
              <a:off x="11518419" y="4549140"/>
              <a:ext cx="194310" cy="251460"/>
            </a:xfrm>
            <a:custGeom>
              <a:avLst/>
              <a:gdLst/>
              <a:ahLst/>
              <a:cxnLst/>
              <a:rect l="l" t="t" r="r" b="b"/>
              <a:pathLst>
                <a:path w="194310" h="251460">
                  <a:moveTo>
                    <a:pt x="0" y="0"/>
                  </a:moveTo>
                  <a:lnTo>
                    <a:pt x="194310" y="125730"/>
                  </a:lnTo>
                  <a:lnTo>
                    <a:pt x="0" y="25146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6" name="V 形分隔"/>
            <p:cNvSpPr/>
            <p:nvPr/>
          </p:nvSpPr>
          <p:spPr>
            <a:xfrm>
              <a:off x="12135639" y="4514850"/>
              <a:ext cx="182880" cy="320040"/>
            </a:xfrm>
            <a:prstGeom prst="chevron">
              <a:avLst>
                <a:gd name="adj" fmla="val 62500"/>
              </a:avLst>
            </a:prstGeom>
            <a:solidFill>
              <a:srgbClr val="40404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67" name="圖說"/>
          <p:cNvSpPr/>
          <p:nvPr/>
        </p:nvSpPr>
        <p:spPr>
          <a:xfrm>
            <a:off x="11089549" y="494347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三角／V 形分隔</a:t>
            </a:r>
            <a:endParaRPr lang="en-US" sz="1050" dirty="0"/>
          </a:p>
        </p:txBody>
      </p:sp>
      <p:sp>
        <p:nvSpPr>
          <p:cNvPr id="68" name="區塊箭頭"/>
          <p:cNvSpPr/>
          <p:nvPr/>
        </p:nvSpPr>
        <p:spPr>
          <a:xfrm>
            <a:off x="13050529" y="4446270"/>
            <a:ext cx="1257300" cy="457200"/>
          </a:xfrm>
          <a:custGeom>
            <a:avLst/>
            <a:gdLst/>
            <a:ahLst/>
            <a:cxnLst/>
            <a:rect l="l" t="t" r="r" b="b"/>
            <a:pathLst>
              <a:path w="1257300" h="457200">
                <a:moveTo>
                  <a:pt x="0" y="137160"/>
                </a:moveTo>
                <a:lnTo>
                  <a:pt x="982980" y="137160"/>
                </a:lnTo>
                <a:lnTo>
                  <a:pt x="982980" y="0"/>
                </a:lnTo>
                <a:lnTo>
                  <a:pt x="1257300" y="228600"/>
                </a:lnTo>
                <a:lnTo>
                  <a:pt x="982980" y="457200"/>
                </a:lnTo>
                <a:lnTo>
                  <a:pt x="982980" y="320040"/>
                </a:lnTo>
                <a:lnTo>
                  <a:pt x="0" y="32004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圖說"/>
          <p:cNvSpPr/>
          <p:nvPr/>
        </p:nvSpPr>
        <p:spPr>
          <a:xfrm>
            <a:off x="12838829" y="494347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區塊箭頭</a:t>
            </a:r>
            <a:endParaRPr lang="en-US" sz="1050" dirty="0"/>
          </a:p>
        </p:txBody>
      </p:sp>
      <p:sp>
        <p:nvSpPr>
          <p:cNvPr id="70" name="線條"/>
          <p:cNvSpPr/>
          <p:nvPr/>
        </p:nvSpPr>
        <p:spPr>
          <a:xfrm>
            <a:off x="685800" y="5160645"/>
            <a:ext cx="13868019" cy="0"/>
          </a:xfrm>
          <a:prstGeom prst="line">
            <a:avLst/>
          </a:prstGeom>
          <a:noFill/>
          <a:ln w="8001">
            <a:solidFill>
              <a:srgbClr val="EAEAEA"/>
            </a:solidFill>
            <a:prstDash val="solid"/>
          </a:ln>
        </p:spPr>
      </p:sp>
      <p:sp>
        <p:nvSpPr>
          <p:cNvPr id="71" name="類別"/>
          <p:cNvSpPr/>
          <p:nvPr/>
        </p:nvSpPr>
        <p:spPr>
          <a:xfrm>
            <a:off x="685800" y="5320665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例外與警示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Exception</a:t>
            </a:r>
            <a:endParaRPr lang="en-US" sz="1750" dirty="0"/>
          </a:p>
        </p:txBody>
      </p:sp>
      <p:sp>
        <p:nvSpPr>
          <p:cNvPr id="72" name="警示方塊"/>
          <p:cNvSpPr/>
          <p:nvPr/>
        </p:nvSpPr>
        <p:spPr>
          <a:xfrm>
            <a:off x="2497700" y="5223510"/>
            <a:ext cx="1371600" cy="50292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23876">
            <a:solidFill>
              <a:srgbClr val="C0504D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903C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例外狀況</a:t>
            </a:r>
            <a:endParaRPr lang="en-US" sz="1450" dirty="0"/>
          </a:p>
        </p:txBody>
      </p:sp>
      <p:sp>
        <p:nvSpPr>
          <p:cNvPr id="73" name="圖說"/>
          <p:cNvSpPr/>
          <p:nvPr/>
        </p:nvSpPr>
        <p:spPr>
          <a:xfrm>
            <a:off x="2343150" y="57664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警示外框</a:t>
            </a:r>
            <a:endParaRPr lang="en-US" sz="1050" dirty="0"/>
          </a:p>
        </p:txBody>
      </p:sp>
      <p:sp>
        <p:nvSpPr>
          <p:cNvPr id="74" name="警示方塊"/>
          <p:cNvSpPr/>
          <p:nvPr/>
        </p:nvSpPr>
        <p:spPr>
          <a:xfrm>
            <a:off x="4246980" y="5223510"/>
            <a:ext cx="1371600" cy="502920"/>
          </a:xfrm>
          <a:prstGeom prst="roundRect">
            <a:avLst>
              <a:gd name="adj" fmla="val 6818"/>
            </a:avLst>
          </a:prstGeom>
          <a:solidFill>
            <a:srgbClr val="F6E6E6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903C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注意事項</a:t>
            </a:r>
            <a:endParaRPr lang="en-US" sz="1450" dirty="0"/>
          </a:p>
        </p:txBody>
      </p:sp>
      <p:sp>
        <p:nvSpPr>
          <p:cNvPr id="75" name="圖說"/>
          <p:cNvSpPr/>
          <p:nvPr/>
        </p:nvSpPr>
        <p:spPr>
          <a:xfrm>
            <a:off x="4092430" y="57664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警示淺底</a:t>
            </a:r>
            <a:endParaRPr lang="en-US" sz="1050" dirty="0"/>
          </a:p>
        </p:txBody>
      </p:sp>
      <p:sp>
        <p:nvSpPr>
          <p:cNvPr id="76" name="警示方塊"/>
          <p:cNvSpPr/>
          <p:nvPr/>
        </p:nvSpPr>
        <p:spPr>
          <a:xfrm>
            <a:off x="5996260" y="5223510"/>
            <a:ext cx="1371600" cy="502920"/>
          </a:xfrm>
          <a:prstGeom prst="roundRect">
            <a:avLst>
              <a:gd name="adj" fmla="val 6818"/>
            </a:avLst>
          </a:prstGeom>
          <a:solidFill>
            <a:srgbClr val="C0504D"/>
          </a:solidFill>
          <a:ln>
            <a:noFill/>
          </a:ln>
          <a:effectLst>
            <a:outerShdw blurRad="66675" dist="23876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中止</a:t>
            </a:r>
            <a:endParaRPr lang="en-US" sz="1450" dirty="0"/>
          </a:p>
        </p:txBody>
      </p:sp>
      <p:sp>
        <p:nvSpPr>
          <p:cNvPr id="77" name="圖說"/>
          <p:cNvSpPr/>
          <p:nvPr/>
        </p:nvSpPr>
        <p:spPr>
          <a:xfrm>
            <a:off x="5841710" y="57664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深底警示</a:t>
            </a:r>
            <a:endParaRPr lang="en-US" sz="1050" dirty="0"/>
          </a:p>
        </p:txBody>
      </p:sp>
      <p:grpSp>
        <p:nvGrpSpPr>
          <p:cNvPr id="5002" name="警告三角"/>
          <p:cNvGrpSpPr/>
          <p:nvPr/>
        </p:nvGrpSpPr>
        <p:grpSpPr>
          <a:xfrm>
            <a:off x="8133812" y="5218481"/>
            <a:ext cx="595055" cy="512978"/>
            <a:chOff x="8133812" y="5218481"/>
            <a:chExt cx="595055" cy="512978"/>
          </a:xfrm>
        </p:grpSpPr>
        <p:sp>
          <p:nvSpPr>
            <p:cNvPr id="78" name="警告三角"/>
            <p:cNvSpPr/>
            <p:nvPr/>
          </p:nvSpPr>
          <p:spPr>
            <a:xfrm>
              <a:off x="8133812" y="5218481"/>
              <a:ext cx="595055" cy="512978"/>
            </a:xfrm>
            <a:custGeom>
              <a:avLst/>
              <a:gdLst/>
              <a:ahLst/>
              <a:cxnLst/>
              <a:rect l="l" t="t" r="r" b="b"/>
              <a:pathLst>
                <a:path w="595055" h="512978">
                  <a:moveTo>
                    <a:pt x="0" y="512978"/>
                  </a:moveTo>
                  <a:lnTo>
                    <a:pt x="297527" y="0"/>
                  </a:lnTo>
                  <a:lnTo>
                    <a:pt x="595055" y="512978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9" name="驚嘆號"/>
            <p:cNvSpPr/>
            <p:nvPr/>
          </p:nvSpPr>
          <p:spPr>
            <a:xfrm>
              <a:off x="8133812" y="5372374"/>
              <a:ext cx="595055" cy="3488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15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!</a:t>
              </a:r>
              <a:endParaRPr lang="en-US" sz="2150" dirty="0"/>
            </a:p>
          </p:txBody>
        </p:sp>
      </p:grpSp>
      <p:sp>
        <p:nvSpPr>
          <p:cNvPr id="80" name="圖說"/>
          <p:cNvSpPr/>
          <p:nvPr/>
        </p:nvSpPr>
        <p:spPr>
          <a:xfrm>
            <a:off x="7590990" y="57664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警告三角</a:t>
            </a:r>
            <a:endParaRPr lang="en-US" sz="1050" dirty="0"/>
          </a:p>
        </p:txBody>
      </p:sp>
      <p:sp>
        <p:nvSpPr>
          <p:cNvPr id="81" name="錯誤標記"/>
          <p:cNvSpPr/>
          <p:nvPr/>
        </p:nvSpPr>
        <p:spPr>
          <a:xfrm>
            <a:off x="9974422" y="5268773"/>
            <a:ext cx="412394" cy="412394"/>
          </a:xfrm>
          <a:prstGeom prst="ellipse">
            <a:avLst/>
          </a:prstGeom>
          <a:solidFill>
            <a:srgbClr val="C0504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000" dirty="0"/>
          </a:p>
        </p:txBody>
      </p:sp>
      <p:sp>
        <p:nvSpPr>
          <p:cNvPr id="82" name="圖說"/>
          <p:cNvSpPr/>
          <p:nvPr/>
        </p:nvSpPr>
        <p:spPr>
          <a:xfrm>
            <a:off x="9340269" y="57664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 錯誤標記</a:t>
            </a:r>
            <a:endParaRPr lang="en-US" sz="1050" dirty="0"/>
          </a:p>
        </p:txBody>
      </p:sp>
      <p:grpSp>
        <p:nvGrpSpPr>
          <p:cNvPr id="5003" name="紅點提示"/>
          <p:cNvGrpSpPr/>
          <p:nvPr/>
        </p:nvGrpSpPr>
        <p:grpSpPr>
          <a:xfrm>
            <a:off x="11244099" y="5149215"/>
            <a:ext cx="1445895" cy="577215"/>
            <a:chOff x="11244099" y="5149215"/>
            <a:chExt cx="1445895" cy="577215"/>
          </a:xfrm>
        </p:grpSpPr>
        <p:sp>
          <p:nvSpPr>
            <p:cNvPr id="83" name="流程方塊"/>
            <p:cNvSpPr/>
            <p:nvPr/>
          </p:nvSpPr>
          <p:spPr>
            <a:xfrm>
              <a:off x="11244099" y="5223510"/>
              <a:ext cx="1371600" cy="502920"/>
            </a:xfrm>
            <a:prstGeom prst="roundRect">
              <a:avLst>
                <a:gd name="adj" fmla="val 6818"/>
              </a:avLst>
            </a:prstGeom>
            <a:solidFill>
              <a:srgbClr val="FFFFFF"/>
            </a:solidFill>
            <a:ln w="15875">
              <a:solidFill>
                <a:srgbClr val="BFBFBF"/>
              </a:solidFill>
              <a:prstDash val="solid"/>
            </a:ln>
          </p:spPr>
          <p:txBody>
            <a:bodyPr wrap="square" lIns="31750" tIns="0" rIns="31750" bIns="0" rtlCol="0" anchor="ctr"/>
            <a:lstStyle/>
            <a:p>
              <a:pPr algn="ctr" indent="0" marL="0">
                <a:buNone/>
              </a:pPr>
              <a:r>
                <a:rPr lang="en-US" sz="14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待處理</a:t>
              </a:r>
              <a:endParaRPr lang="en-US" sz="1450" dirty="0"/>
            </a:p>
          </p:txBody>
        </p:sp>
        <p:sp>
          <p:nvSpPr>
            <p:cNvPr id="84" name="提示紅點"/>
            <p:cNvSpPr/>
            <p:nvPr/>
          </p:nvSpPr>
          <p:spPr>
            <a:xfrm>
              <a:off x="12495684" y="5149215"/>
              <a:ext cx="194310" cy="194310"/>
            </a:xfrm>
            <a:prstGeom prst="ellipse">
              <a:avLst/>
            </a:prstGeom>
            <a:solidFill>
              <a:srgbClr val="C0504D"/>
            </a:solidFill>
            <a:ln w="19812">
              <a:solidFill>
                <a:srgbClr val="FFFFF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85" name="圖說"/>
          <p:cNvSpPr/>
          <p:nvPr/>
        </p:nvSpPr>
        <p:spPr>
          <a:xfrm>
            <a:off x="11089549" y="57664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紅點提示</a:t>
            </a:r>
            <a:endParaRPr lang="en-US" sz="1050" dirty="0"/>
          </a:p>
        </p:txBody>
      </p:sp>
      <p:sp>
        <p:nvSpPr>
          <p:cNvPr id="86" name="連接線"/>
          <p:cNvSpPr/>
          <p:nvPr/>
        </p:nvSpPr>
        <p:spPr>
          <a:xfrm>
            <a:off x="13016239" y="5292090"/>
            <a:ext cx="1325880" cy="365760"/>
          </a:xfrm>
          <a:custGeom>
            <a:avLst/>
            <a:gdLst/>
            <a:ahLst/>
            <a:cxnLst/>
            <a:rect l="l" t="t" r="r" b="b"/>
            <a:pathLst>
              <a:path w="1325880" h="365760">
                <a:moveTo>
                  <a:pt x="0" y="0"/>
                </a:moveTo>
                <a:lnTo>
                  <a:pt x="548640" y="0"/>
                </a:lnTo>
                <a:lnTo>
                  <a:pt x="548640" y="365760"/>
                </a:lnTo>
                <a:lnTo>
                  <a:pt x="1325880" y="365760"/>
                </a:lnTo>
              </a:path>
            </a:pathLst>
          </a:custGeom>
          <a:noFill/>
          <a:ln w="19812">
            <a:solidFill>
              <a:srgbClr val="C0504D"/>
            </a:solidFill>
            <a:prstDash val="sysDash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圖說"/>
          <p:cNvSpPr/>
          <p:nvPr/>
        </p:nvSpPr>
        <p:spPr>
          <a:xfrm>
            <a:off x="12838829" y="57664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例外路徑（虛線）</a:t>
            </a:r>
            <a:endParaRPr lang="en-US" sz="1050" dirty="0"/>
          </a:p>
        </p:txBody>
      </p:sp>
      <p:sp>
        <p:nvSpPr>
          <p:cNvPr id="88" name="線條"/>
          <p:cNvSpPr/>
          <p:nvPr/>
        </p:nvSpPr>
        <p:spPr>
          <a:xfrm>
            <a:off x="685800" y="5983605"/>
            <a:ext cx="13868019" cy="0"/>
          </a:xfrm>
          <a:prstGeom prst="line">
            <a:avLst/>
          </a:prstGeom>
          <a:noFill/>
          <a:ln w="8001">
            <a:solidFill>
              <a:srgbClr val="EAEAEA"/>
            </a:solidFill>
            <a:prstDash val="solid"/>
          </a:ln>
        </p:spPr>
      </p:sp>
      <p:sp>
        <p:nvSpPr>
          <p:cNvPr id="89" name="類別"/>
          <p:cNvSpPr/>
          <p:nvPr/>
        </p:nvSpPr>
        <p:spPr>
          <a:xfrm>
            <a:off x="685800" y="6246495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圓形・編號・標籤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Circle / Badge / Tag</a:t>
            </a:r>
            <a:endParaRPr lang="en-US" sz="1750" dirty="0"/>
          </a:p>
        </p:txBody>
      </p:sp>
      <p:sp>
        <p:nvSpPr>
          <p:cNvPr id="90" name="大圓"/>
          <p:cNvSpPr/>
          <p:nvPr/>
        </p:nvSpPr>
        <p:spPr>
          <a:xfrm>
            <a:off x="2829170" y="6046470"/>
            <a:ext cx="708660" cy="7086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07070"/>
            </a:solidFill>
            <a:prstDash val="solid"/>
          </a:ln>
          <a:effectLst>
            <a:outerShdw blurRad="106680" dist="19050" dir="5400000" sx="100840" sy="100840" algn="ctr" rotWithShape="0">
              <a:srgbClr val="000000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圖說"/>
          <p:cNvSpPr/>
          <p:nvPr/>
        </p:nvSpPr>
        <p:spPr>
          <a:xfrm>
            <a:off x="2343150" y="67951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光暈大圓</a:t>
            </a:r>
            <a:endParaRPr lang="en-US" sz="1050" dirty="0"/>
          </a:p>
        </p:txBody>
      </p:sp>
      <p:grpSp>
        <p:nvGrpSpPr>
          <p:cNvPr id="5004" name="光暈＋外圈細環"/>
          <p:cNvGrpSpPr/>
          <p:nvPr/>
        </p:nvGrpSpPr>
        <p:grpSpPr>
          <a:xfrm>
            <a:off x="4509870" y="5977890"/>
            <a:ext cx="845820" cy="845820"/>
            <a:chOff x="4509870" y="5977890"/>
            <a:chExt cx="845820" cy="845820"/>
          </a:xfrm>
        </p:grpSpPr>
        <p:sp>
          <p:nvSpPr>
            <p:cNvPr id="92" name="外圈細環"/>
            <p:cNvSpPr/>
            <p:nvPr/>
          </p:nvSpPr>
          <p:spPr>
            <a:xfrm>
              <a:off x="4509870" y="5977890"/>
              <a:ext cx="845820" cy="845820"/>
            </a:xfrm>
            <a:prstGeom prst="ellipse">
              <a:avLst/>
            </a:prstGeom>
            <a:noFill/>
            <a:ln w="11938">
              <a:solidFill>
                <a:srgbClr val="E6E6E6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3" name="大圓"/>
            <p:cNvSpPr/>
            <p:nvPr/>
          </p:nvSpPr>
          <p:spPr>
            <a:xfrm>
              <a:off x="4578450" y="6046470"/>
              <a:ext cx="708660" cy="708660"/>
            </a:xfrm>
            <a:prstGeom prst="ellipse">
              <a:avLst/>
            </a:prstGeom>
            <a:solidFill>
              <a:srgbClr val="FFFFFF"/>
            </a:solidFill>
            <a:ln w="15875">
              <a:solidFill>
                <a:srgbClr val="707070"/>
              </a:solidFill>
              <a:prstDash val="solid"/>
            </a:ln>
            <a:effectLst>
              <a:outerShdw blurRad="106680" dist="19050" dir="5400000" sx="100840" sy="100840" algn="ctr" rotWithShape="0">
                <a:srgbClr val="000000">
                  <a:alpha val="28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94" name="圖說"/>
          <p:cNvSpPr/>
          <p:nvPr/>
        </p:nvSpPr>
        <p:spPr>
          <a:xfrm>
            <a:off x="4092430" y="67951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光暈＋外圈細環</a:t>
            </a:r>
            <a:endParaRPr lang="en-US" sz="1050" dirty="0"/>
          </a:p>
        </p:txBody>
      </p:sp>
      <p:sp>
        <p:nvSpPr>
          <p:cNvPr id="95" name="外框圓"/>
          <p:cNvSpPr/>
          <p:nvPr/>
        </p:nvSpPr>
        <p:spPr>
          <a:xfrm>
            <a:off x="6327730" y="6046470"/>
            <a:ext cx="708660" cy="7086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6" name="圖說"/>
          <p:cNvSpPr/>
          <p:nvPr/>
        </p:nvSpPr>
        <p:spPr>
          <a:xfrm>
            <a:off x="5841710" y="67951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無陰影外框圓</a:t>
            </a:r>
            <a:endParaRPr lang="en-US" sz="1050" dirty="0"/>
          </a:p>
        </p:txBody>
      </p:sp>
      <p:grpSp>
        <p:nvGrpSpPr>
          <p:cNvPr id="5005" name="編號徽章"/>
          <p:cNvGrpSpPr/>
          <p:nvPr/>
        </p:nvGrpSpPr>
        <p:grpSpPr>
          <a:xfrm>
            <a:off x="7756970" y="6206490"/>
            <a:ext cx="1348740" cy="388620"/>
            <a:chOff x="7756970" y="6206490"/>
            <a:chExt cx="1348740" cy="388620"/>
          </a:xfrm>
        </p:grpSpPr>
        <p:sp>
          <p:nvSpPr>
            <p:cNvPr id="97" name="編號"/>
            <p:cNvSpPr/>
            <p:nvPr/>
          </p:nvSpPr>
          <p:spPr>
            <a:xfrm>
              <a:off x="7756970" y="6206490"/>
              <a:ext cx="388620" cy="388620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2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1</a:t>
              </a:r>
              <a:endParaRPr lang="en-US" sz="1250" dirty="0"/>
            </a:p>
          </p:txBody>
        </p:sp>
        <p:sp>
          <p:nvSpPr>
            <p:cNvPr id="98" name="編號"/>
            <p:cNvSpPr/>
            <p:nvPr/>
          </p:nvSpPr>
          <p:spPr>
            <a:xfrm>
              <a:off x="8237030" y="6206490"/>
              <a:ext cx="388620" cy="388620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2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</a:t>
              </a:r>
              <a:endParaRPr lang="en-US" sz="1250" dirty="0"/>
            </a:p>
          </p:txBody>
        </p:sp>
        <p:sp>
          <p:nvSpPr>
            <p:cNvPr id="99" name="編號"/>
            <p:cNvSpPr/>
            <p:nvPr/>
          </p:nvSpPr>
          <p:spPr>
            <a:xfrm>
              <a:off x="8717090" y="6206490"/>
              <a:ext cx="388620" cy="388620"/>
            </a:xfrm>
            <a:prstGeom prst="ellipse">
              <a:avLst/>
            </a:prstGeom>
            <a:solidFill>
              <a:srgbClr val="5B9BD5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2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3</a:t>
              </a:r>
              <a:endParaRPr lang="en-US" sz="1250" dirty="0"/>
            </a:p>
          </p:txBody>
        </p:sp>
      </p:grpSp>
      <p:sp>
        <p:nvSpPr>
          <p:cNvPr id="100" name="圖說"/>
          <p:cNvSpPr/>
          <p:nvPr/>
        </p:nvSpPr>
        <p:spPr>
          <a:xfrm>
            <a:off x="7590990" y="67951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編號徽章</a:t>
            </a:r>
            <a:endParaRPr lang="en-US" sz="1050" dirty="0"/>
          </a:p>
        </p:txBody>
      </p:sp>
      <p:sp>
        <p:nvSpPr>
          <p:cNvPr id="101" name="標籤"/>
          <p:cNvSpPr/>
          <p:nvPr/>
        </p:nvSpPr>
        <p:spPr>
          <a:xfrm>
            <a:off x="9677750" y="6217920"/>
            <a:ext cx="1005738" cy="36576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主要標籤</a:t>
            </a:r>
            <a:endParaRPr lang="en-US" sz="1400" dirty="0"/>
          </a:p>
        </p:txBody>
      </p:sp>
      <p:sp>
        <p:nvSpPr>
          <p:cNvPr id="102" name="圖說"/>
          <p:cNvSpPr/>
          <p:nvPr/>
        </p:nvSpPr>
        <p:spPr>
          <a:xfrm>
            <a:off x="9340269" y="67951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深色標籤</a:t>
            </a:r>
            <a:endParaRPr lang="en-US" sz="1050" dirty="0"/>
          </a:p>
        </p:txBody>
      </p:sp>
      <p:grpSp>
        <p:nvGrpSpPr>
          <p:cNvPr id="5006" name="淺色／灰階標籤"/>
          <p:cNvGrpSpPr/>
          <p:nvPr/>
        </p:nvGrpSpPr>
        <p:grpSpPr>
          <a:xfrm>
            <a:off x="11237749" y="6229350"/>
            <a:ext cx="1384300" cy="342900"/>
            <a:chOff x="11237749" y="6229350"/>
            <a:chExt cx="1384300" cy="342900"/>
          </a:xfrm>
        </p:grpSpPr>
        <p:sp>
          <p:nvSpPr>
            <p:cNvPr id="103" name="標籤"/>
            <p:cNvSpPr/>
            <p:nvPr/>
          </p:nvSpPr>
          <p:spPr>
            <a:xfrm>
              <a:off x="11237749" y="6229350"/>
              <a:ext cx="646430" cy="342900"/>
            </a:xfrm>
            <a:prstGeom prst="rect">
              <a:avLst/>
            </a:prstGeom>
            <a:solidFill>
              <a:srgbClr val="5B9BD5"/>
            </a:solidFill>
            <a:ln>
              <a:noFill/>
            </a:ln>
          </p:spPr>
          <p:txBody>
            <a:bodyPr wrap="square" lIns="31750" tIns="0" rIns="31750" bIns="0" rtlCol="0" anchor="ctr"/>
            <a:lstStyle/>
            <a:p>
              <a:pPr algn="ctr" indent="0" marL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輔助</a:t>
              </a:r>
              <a:endParaRPr lang="en-US" sz="1400" dirty="0"/>
            </a:p>
          </p:txBody>
        </p:sp>
        <p:sp>
          <p:nvSpPr>
            <p:cNvPr id="104" name="標籤"/>
            <p:cNvSpPr/>
            <p:nvPr/>
          </p:nvSpPr>
          <p:spPr>
            <a:xfrm>
              <a:off x="11975619" y="6229350"/>
              <a:ext cx="646430" cy="342900"/>
            </a:xfrm>
            <a:prstGeom prst="rect">
              <a:avLst/>
            </a:prstGeom>
            <a:solidFill>
              <a:srgbClr val="DBDBDB"/>
            </a:solidFill>
            <a:ln>
              <a:noFill/>
            </a:ln>
          </p:spPr>
          <p:txBody>
            <a:bodyPr wrap="square" lIns="31750" tIns="0" rIns="31750" bIns="0" rtlCol="0" anchor="ctr"/>
            <a:lstStyle/>
            <a:p>
              <a:pPr algn="ctr" indent="0" marL="0">
                <a:buNone/>
              </a:pPr>
              <a:r>
                <a:rPr lang="en-US" sz="14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灰階</a:t>
              </a:r>
              <a:endParaRPr lang="en-US" sz="1400" dirty="0"/>
            </a:p>
          </p:txBody>
        </p:sp>
      </p:grpSp>
      <p:sp>
        <p:nvSpPr>
          <p:cNvPr id="105" name="圖說"/>
          <p:cNvSpPr/>
          <p:nvPr/>
        </p:nvSpPr>
        <p:spPr>
          <a:xfrm>
            <a:off x="11089549" y="67951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淺色／灰階標籤</a:t>
            </a:r>
            <a:endParaRPr lang="en-US" sz="1050" dirty="0"/>
          </a:p>
        </p:txBody>
      </p:sp>
      <p:grpSp>
        <p:nvGrpSpPr>
          <p:cNvPr id="5007" name="小圓點"/>
          <p:cNvGrpSpPr/>
          <p:nvPr/>
        </p:nvGrpSpPr>
        <p:grpSpPr>
          <a:xfrm>
            <a:off x="13250554" y="6315075"/>
            <a:ext cx="857250" cy="171450"/>
            <a:chOff x="13250554" y="6315075"/>
            <a:chExt cx="857250" cy="171450"/>
          </a:xfrm>
        </p:grpSpPr>
        <p:sp>
          <p:nvSpPr>
            <p:cNvPr id="106" name="圓點"/>
            <p:cNvSpPr/>
            <p:nvPr/>
          </p:nvSpPr>
          <p:spPr>
            <a:xfrm>
              <a:off x="13250554" y="6315075"/>
              <a:ext cx="171450" cy="171450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07" name="圓點"/>
            <p:cNvSpPr/>
            <p:nvPr/>
          </p:nvSpPr>
          <p:spPr>
            <a:xfrm>
              <a:off x="13593454" y="6315075"/>
              <a:ext cx="171450" cy="171450"/>
            </a:xfrm>
            <a:prstGeom prst="ellipse">
              <a:avLst/>
            </a:prstGeom>
            <a:solidFill>
              <a:srgbClr val="5B9BD5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08" name="圓點"/>
            <p:cNvSpPr/>
            <p:nvPr/>
          </p:nvSpPr>
          <p:spPr>
            <a:xfrm>
              <a:off x="13936354" y="6315075"/>
              <a:ext cx="171450" cy="17145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09" name="圖說"/>
          <p:cNvSpPr/>
          <p:nvPr/>
        </p:nvSpPr>
        <p:spPr>
          <a:xfrm>
            <a:off x="12838829" y="67951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小圓點</a:t>
            </a:r>
            <a:endParaRPr lang="en-US" sz="1050" dirty="0"/>
          </a:p>
        </p:txBody>
      </p:sp>
      <p:sp>
        <p:nvSpPr>
          <p:cNvPr id="110" name="線條"/>
          <p:cNvSpPr/>
          <p:nvPr/>
        </p:nvSpPr>
        <p:spPr>
          <a:xfrm>
            <a:off x="685800" y="7012305"/>
            <a:ext cx="13868019" cy="0"/>
          </a:xfrm>
          <a:prstGeom prst="line">
            <a:avLst/>
          </a:prstGeom>
          <a:noFill/>
          <a:ln w="8001">
            <a:solidFill>
              <a:srgbClr val="EAEAEA"/>
            </a:solidFill>
            <a:prstDash val="solid"/>
          </a:ln>
        </p:spPr>
      </p:sp>
      <p:sp>
        <p:nvSpPr>
          <p:cNvPr id="111" name="類別"/>
          <p:cNvSpPr/>
          <p:nvPr/>
        </p:nvSpPr>
        <p:spPr>
          <a:xfrm>
            <a:off x="685800" y="7183755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容器與群組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Container</a:t>
            </a:r>
            <a:endParaRPr lang="en-US" sz="1750" dirty="0"/>
          </a:p>
        </p:txBody>
      </p:sp>
      <p:grpSp>
        <p:nvGrpSpPr>
          <p:cNvPr id="5008" name="虛線群組框"/>
          <p:cNvGrpSpPr/>
          <p:nvPr/>
        </p:nvGrpSpPr>
        <p:grpSpPr>
          <a:xfrm>
            <a:off x="2497700" y="7040880"/>
            <a:ext cx="1371600" cy="560070"/>
            <a:chOff x="2497700" y="7040880"/>
            <a:chExt cx="1371600" cy="560070"/>
          </a:xfrm>
        </p:grpSpPr>
        <p:sp>
          <p:nvSpPr>
            <p:cNvPr id="112" name="群組框"/>
            <p:cNvSpPr/>
            <p:nvPr/>
          </p:nvSpPr>
          <p:spPr>
            <a:xfrm>
              <a:off x="2497700" y="7143750"/>
              <a:ext cx="1371600" cy="457200"/>
            </a:xfrm>
            <a:prstGeom prst="roundRect">
              <a:avLst>
                <a:gd name="adj" fmla="val 7500"/>
              </a:avLst>
            </a:prstGeom>
            <a:noFill/>
            <a:ln w="11938">
              <a:solidFill>
                <a:srgbClr val="8C8C8C"/>
              </a:solidFill>
              <a:prstDash val="dash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13" name="群組名稱"/>
            <p:cNvSpPr/>
            <p:nvPr/>
          </p:nvSpPr>
          <p:spPr>
            <a:xfrm>
              <a:off x="2612000" y="7040880"/>
              <a:ext cx="708660" cy="20574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群組 A</a:t>
              </a:r>
              <a:endParaRPr lang="en-US" sz="1000" dirty="0"/>
            </a:p>
          </p:txBody>
        </p:sp>
      </p:grpSp>
      <p:sp>
        <p:nvSpPr>
          <p:cNvPr id="114" name="圖說"/>
          <p:cNvSpPr/>
          <p:nvPr/>
        </p:nvSpPr>
        <p:spPr>
          <a:xfrm>
            <a:off x="2343150" y="76409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虛線群組框</a:t>
            </a:r>
            <a:endParaRPr lang="en-US" sz="1050" dirty="0"/>
          </a:p>
        </p:txBody>
      </p:sp>
      <p:sp>
        <p:nvSpPr>
          <p:cNvPr id="115" name="淺灰面板"/>
          <p:cNvSpPr/>
          <p:nvPr/>
        </p:nvSpPr>
        <p:spPr>
          <a:xfrm>
            <a:off x="4246980" y="7075170"/>
            <a:ext cx="1371600" cy="525780"/>
          </a:xfrm>
          <a:prstGeom prst="roundRect">
            <a:avLst>
              <a:gd name="adj" fmla="val 6522"/>
            </a:avLst>
          </a:prstGeom>
          <a:solidFill>
            <a:srgbClr val="E6E6E6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6" name="圖說"/>
          <p:cNvSpPr/>
          <p:nvPr/>
        </p:nvSpPr>
        <p:spPr>
          <a:xfrm>
            <a:off x="4092430" y="76409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淺灰面板</a:t>
            </a:r>
            <a:endParaRPr lang="en-US" sz="1050" dirty="0"/>
          </a:p>
        </p:txBody>
      </p:sp>
      <p:sp>
        <p:nvSpPr>
          <p:cNvPr id="117" name="卡片"/>
          <p:cNvSpPr/>
          <p:nvPr/>
        </p:nvSpPr>
        <p:spPr>
          <a:xfrm>
            <a:off x="5996260" y="7075170"/>
            <a:ext cx="1371600" cy="52578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5875">
            <a:solidFill>
              <a:srgbClr val="7F7F7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8" name="圖說"/>
          <p:cNvSpPr/>
          <p:nvPr/>
        </p:nvSpPr>
        <p:spPr>
          <a:xfrm>
            <a:off x="5841710" y="76409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本風格卡片</a:t>
            </a:r>
            <a:endParaRPr lang="en-US" sz="1050" dirty="0"/>
          </a:p>
        </p:txBody>
      </p:sp>
      <p:sp>
        <p:nvSpPr>
          <p:cNvPr id="119" name="卡片"/>
          <p:cNvSpPr/>
          <p:nvPr/>
        </p:nvSpPr>
        <p:spPr>
          <a:xfrm>
            <a:off x="7745540" y="7075170"/>
            <a:ext cx="1371600" cy="52578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5875">
            <a:solidFill>
              <a:srgbClr val="7F7F7F"/>
            </a:solidFill>
            <a:prstDash val="solid"/>
          </a:ln>
          <a:effectLst>
            <a:outerShdw blurRad="111125" dist="3175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0" name="圖說"/>
          <p:cNvSpPr/>
          <p:nvPr/>
        </p:nvSpPr>
        <p:spPr>
          <a:xfrm>
            <a:off x="7590990" y="76409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卡片＋陰影</a:t>
            </a:r>
            <a:endParaRPr lang="en-US" sz="1050" dirty="0"/>
          </a:p>
        </p:txBody>
      </p:sp>
      <p:grpSp>
        <p:nvGrpSpPr>
          <p:cNvPr id="5009" name="表頭色帶卡"/>
          <p:cNvGrpSpPr/>
          <p:nvPr/>
        </p:nvGrpSpPr>
        <p:grpSpPr>
          <a:xfrm>
            <a:off x="9494819" y="7075170"/>
            <a:ext cx="1371600" cy="525780"/>
            <a:chOff x="9494819" y="7075170"/>
            <a:chExt cx="1371600" cy="525780"/>
          </a:xfrm>
        </p:grpSpPr>
        <p:sp>
          <p:nvSpPr>
            <p:cNvPr id="121" name="卡片"/>
            <p:cNvSpPr/>
            <p:nvPr/>
          </p:nvSpPr>
          <p:spPr>
            <a:xfrm>
              <a:off x="9494819" y="7075170"/>
              <a:ext cx="1371600" cy="525780"/>
            </a:xfrm>
            <a:prstGeom prst="roundRect">
              <a:avLst>
                <a:gd name="adj" fmla="val 6522"/>
              </a:avLst>
            </a:prstGeom>
            <a:solidFill>
              <a:srgbClr val="FFFFFF"/>
            </a:solidFill>
            <a:ln w="11938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2" name="表頭"/>
            <p:cNvSpPr/>
            <p:nvPr/>
          </p:nvSpPr>
          <p:spPr>
            <a:xfrm>
              <a:off x="9494819" y="7075170"/>
              <a:ext cx="1371600" cy="182880"/>
            </a:xfrm>
            <a:custGeom>
              <a:avLst/>
              <a:gdLst/>
              <a:ahLst/>
              <a:cxnLst/>
              <a:rect l="l" t="t" r="r" b="b"/>
              <a:pathLst>
                <a:path w="1371600" h="182880">
                  <a:moveTo>
                    <a:pt x="0" y="182880"/>
                  </a:moveTo>
                  <a:lnTo>
                    <a:pt x="0" y="34290"/>
                  </a:lnTo>
                  <a:arcTo hR="34290" wR="34290" stAng="10800000" swAng="5400000"/>
                  <a:lnTo>
                    <a:pt x="1337310" y="0"/>
                  </a:lnTo>
                  <a:arcTo hR="34290" wR="34290" stAng="16200000" swAng="5400000"/>
                  <a:lnTo>
                    <a:pt x="1371600" y="182880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3" name="圖說"/>
          <p:cNvSpPr/>
          <p:nvPr/>
        </p:nvSpPr>
        <p:spPr>
          <a:xfrm>
            <a:off x="9340269" y="76409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表頭色帶卡</a:t>
            </a:r>
            <a:endParaRPr lang="en-US" sz="1050" dirty="0"/>
          </a:p>
        </p:txBody>
      </p:sp>
      <p:grpSp>
        <p:nvGrpSpPr>
          <p:cNvPr id="5010" name="頂邊／側邊色條"/>
          <p:cNvGrpSpPr/>
          <p:nvPr/>
        </p:nvGrpSpPr>
        <p:grpSpPr>
          <a:xfrm>
            <a:off x="11244099" y="7075170"/>
            <a:ext cx="1371600" cy="525780"/>
            <a:chOff x="11244099" y="7075170"/>
            <a:chExt cx="1371600" cy="525780"/>
          </a:xfrm>
        </p:grpSpPr>
        <p:sp>
          <p:nvSpPr>
            <p:cNvPr id="124" name="卡片"/>
            <p:cNvSpPr/>
            <p:nvPr/>
          </p:nvSpPr>
          <p:spPr>
            <a:xfrm>
              <a:off x="11244099" y="7075170"/>
              <a:ext cx="1371600" cy="52578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5" name="側邊色條"/>
            <p:cNvSpPr/>
            <p:nvPr/>
          </p:nvSpPr>
          <p:spPr>
            <a:xfrm>
              <a:off x="11244099" y="7075170"/>
              <a:ext cx="68580" cy="525780"/>
            </a:xfrm>
            <a:prstGeom prst="rect">
              <a:avLst/>
            </a:prstGeom>
            <a:solidFill>
              <a:srgbClr val="5B9BD5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6" name="圖說"/>
          <p:cNvSpPr/>
          <p:nvPr/>
        </p:nvSpPr>
        <p:spPr>
          <a:xfrm>
            <a:off x="11089549" y="76409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頂邊／側邊色條</a:t>
            </a:r>
            <a:endParaRPr lang="en-US" sz="1050" dirty="0"/>
          </a:p>
        </p:txBody>
      </p:sp>
      <p:grpSp>
        <p:nvGrpSpPr>
          <p:cNvPr id="5011" name="半透明寬欄條"/>
          <p:cNvGrpSpPr/>
          <p:nvPr/>
        </p:nvGrpSpPr>
        <p:grpSpPr>
          <a:xfrm>
            <a:off x="13221979" y="7075170"/>
            <a:ext cx="914400" cy="525780"/>
            <a:chOff x="13221979" y="7075170"/>
            <a:chExt cx="914400" cy="525780"/>
          </a:xfrm>
        </p:grpSpPr>
        <p:sp>
          <p:nvSpPr>
            <p:cNvPr id="127" name="寬欄條"/>
            <p:cNvSpPr/>
            <p:nvPr/>
          </p:nvSpPr>
          <p:spPr>
            <a:xfrm>
              <a:off x="13221979" y="7075170"/>
              <a:ext cx="388620" cy="525780"/>
            </a:xfrm>
            <a:prstGeom prst="roundRect">
              <a:avLst>
                <a:gd name="adj" fmla="val 50000"/>
              </a:avLst>
            </a:prstGeom>
            <a:solidFill>
              <a:srgbClr val="A6A6A6">
                <a:alpha val="38000"/>
              </a:srgbClr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8" name="寬欄條"/>
            <p:cNvSpPr/>
            <p:nvPr/>
          </p:nvSpPr>
          <p:spPr>
            <a:xfrm>
              <a:off x="13747759" y="7075170"/>
              <a:ext cx="388620" cy="525780"/>
            </a:xfrm>
            <a:prstGeom prst="roundRect">
              <a:avLst>
                <a:gd name="adj" fmla="val 50000"/>
              </a:avLst>
            </a:prstGeom>
            <a:solidFill>
              <a:srgbClr val="A6A6A6">
                <a:alpha val="38000"/>
              </a:srgbClr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9" name="圖說"/>
          <p:cNvSpPr/>
          <p:nvPr/>
        </p:nvSpPr>
        <p:spPr>
          <a:xfrm>
            <a:off x="12838829" y="76409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半透明寬欄條</a:t>
            </a:r>
            <a:endParaRPr lang="en-US" sz="1050" dirty="0"/>
          </a:p>
        </p:txBody>
      </p:sp>
      <p:sp>
        <p:nvSpPr>
          <p:cNvPr id="130" name="線條"/>
          <p:cNvSpPr/>
          <p:nvPr/>
        </p:nvSpPr>
        <p:spPr>
          <a:xfrm>
            <a:off x="2171700" y="2125980"/>
            <a:ext cx="0" cy="5669280"/>
          </a:xfrm>
          <a:prstGeom prst="line">
            <a:avLst/>
          </a:prstGeom>
          <a:noFill/>
          <a:ln w="8001">
            <a:solidFill>
              <a:srgbClr val="E4E4E4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685800" y="78867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冰山能力圖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132" name="Text 130"/>
          <p:cNvSpPr/>
          <p:nvPr/>
        </p:nvSpPr>
        <p:spPr>
          <a:xfrm>
            <a:off x="12839319" y="78867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/ 14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85750" y="285750"/>
            <a:ext cx="14668119" cy="800100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85800" y="571500"/>
            <a:ext cx="80010" cy="11658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標題"/>
          <p:cNvSpPr/>
          <p:nvPr/>
        </p:nvSpPr>
        <p:spPr>
          <a:xfrm>
            <a:off x="982980" y="45720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5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常見組合 Common Patterns</a:t>
            </a:r>
            <a:endParaRPr lang="en-US" sz="4250" dirty="0"/>
          </a:p>
        </p:txBody>
      </p:sp>
      <p:sp>
        <p:nvSpPr>
          <p:cNvPr id="5" name="Text 3"/>
          <p:cNvSpPr/>
          <p:nvPr/>
        </p:nvSpPr>
        <p:spPr>
          <a:xfrm>
            <a:off x="982980" y="1257300"/>
            <a:ext cx="12573000" cy="434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B9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已排好、已連線的流程小組合：整組複製即可使用（純流程圖語意）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2205990"/>
            <a:ext cx="57150" cy="2514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組合名稱"/>
          <p:cNvSpPr/>
          <p:nvPr/>
        </p:nvSpPr>
        <p:spPr>
          <a:xfrm>
            <a:off x="880110" y="2171700"/>
            <a:ext cx="30841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三步驟流程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Linear Process</a:t>
            </a:r>
            <a:endParaRPr lang="en-US" sz="1750" dirty="0"/>
          </a:p>
        </p:txBody>
      </p:sp>
      <p:sp>
        <p:nvSpPr>
          <p:cNvPr id="8" name="線條"/>
          <p:cNvSpPr/>
          <p:nvPr/>
        </p:nvSpPr>
        <p:spPr>
          <a:xfrm>
            <a:off x="685800" y="256032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0" name="三步驟流程"/>
          <p:cNvGrpSpPr/>
          <p:nvPr/>
        </p:nvGrpSpPr>
        <p:grpSpPr>
          <a:xfrm>
            <a:off x="685800" y="2846070"/>
            <a:ext cx="3278410" cy="971550"/>
            <a:chOff x="685800" y="2846070"/>
            <a:chExt cx="3278410" cy="971550"/>
          </a:xfrm>
        </p:grpSpPr>
        <p:sp>
          <p:nvSpPr>
            <p:cNvPr id="9" name="處理"/>
            <p:cNvSpPr/>
            <p:nvPr/>
          </p:nvSpPr>
          <p:spPr>
            <a:xfrm>
              <a:off x="685800" y="3337560"/>
              <a:ext cx="845820" cy="48006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5875">
              <a:solidFill>
                <a:srgbClr val="707070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步驟一</a:t>
              </a:r>
              <a:endParaRPr lang="en-US" sz="1300" dirty="0"/>
            </a:p>
          </p:txBody>
        </p:sp>
        <p:sp>
          <p:nvSpPr>
            <p:cNvPr id="10" name="編號"/>
            <p:cNvSpPr/>
            <p:nvPr/>
          </p:nvSpPr>
          <p:spPr>
            <a:xfrm>
              <a:off x="960120" y="2846070"/>
              <a:ext cx="297180" cy="297180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1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1</a:t>
              </a:r>
              <a:endParaRPr lang="en-US" sz="1150" dirty="0"/>
            </a:p>
          </p:txBody>
        </p:sp>
        <p:sp>
          <p:nvSpPr>
            <p:cNvPr id="11" name="處理"/>
            <p:cNvSpPr/>
            <p:nvPr/>
          </p:nvSpPr>
          <p:spPr>
            <a:xfrm>
              <a:off x="1902095" y="3337560"/>
              <a:ext cx="845820" cy="48006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5875">
              <a:solidFill>
                <a:srgbClr val="707070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步驟二</a:t>
              </a:r>
              <a:endParaRPr lang="en-US" sz="1300" dirty="0"/>
            </a:p>
          </p:txBody>
        </p:sp>
        <p:sp>
          <p:nvSpPr>
            <p:cNvPr id="12" name="編號"/>
            <p:cNvSpPr/>
            <p:nvPr/>
          </p:nvSpPr>
          <p:spPr>
            <a:xfrm>
              <a:off x="2176415" y="2846070"/>
              <a:ext cx="297180" cy="297180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1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</a:t>
              </a:r>
              <a:endParaRPr lang="en-US" sz="1150" dirty="0"/>
            </a:p>
          </p:txBody>
        </p:sp>
        <p:sp>
          <p:nvSpPr>
            <p:cNvPr id="13" name="處理"/>
            <p:cNvSpPr/>
            <p:nvPr/>
          </p:nvSpPr>
          <p:spPr>
            <a:xfrm>
              <a:off x="3118390" y="3337560"/>
              <a:ext cx="845820" cy="480060"/>
            </a:xfrm>
            <a:prstGeom prst="roundRect">
              <a:avLst>
                <a:gd name="adj" fmla="val 7143"/>
              </a:avLst>
            </a:prstGeom>
            <a:solidFill>
              <a:srgbClr val="404040"/>
            </a:solidFill>
            <a:ln>
              <a:noFill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步驟三</a:t>
              </a:r>
              <a:endParaRPr lang="en-US" sz="1300" dirty="0"/>
            </a:p>
          </p:txBody>
        </p:sp>
        <p:sp>
          <p:nvSpPr>
            <p:cNvPr id="14" name="編號"/>
            <p:cNvSpPr/>
            <p:nvPr/>
          </p:nvSpPr>
          <p:spPr>
            <a:xfrm>
              <a:off x="3392710" y="2846070"/>
              <a:ext cx="297180" cy="297180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1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3</a:t>
              </a:r>
              <a:endParaRPr lang="en-US" sz="1150" dirty="0"/>
            </a:p>
          </p:txBody>
        </p:sp>
        <p:cxnSp>
          <p:nvCxnSpPr>
            <p:cNvPr id="15" name="連接線"/>
            <p:cNvCxnSpPr>
              <a:stCxn id="9" idx="3"/>
              <a:endCxn id="11" idx="1"/>
            </p:cNvCxnSpPr>
            <p:nvPr/>
          </p:nvCxnSpPr>
          <p:spPr>
            <a:xfrm>
              <a:off x="1531620" y="3577590"/>
              <a:ext cx="370475" cy="0"/>
            </a:xfrm>
            <a:prstGeom prst="straightConnector1">
              <a:avLst/>
            </a:prstGeom>
            <a:ln w="15875">
              <a:solidFill>
                <a:srgbClr val="595959"/>
              </a:solidFill>
              <a:prstDash val="solid"/>
              <a:tailEnd type="triangle" w="lg" len="lg"/>
            </a:ln>
          </p:spPr>
        </p:cxnSp>
        <p:cxnSp>
          <p:nvCxnSpPr>
            <p:cNvPr id="16" name="連接線"/>
            <p:cNvCxnSpPr>
              <a:stCxn id="11" idx="3"/>
              <a:endCxn id="13" idx="1"/>
            </p:cNvCxnSpPr>
            <p:nvPr/>
          </p:nvCxnSpPr>
          <p:spPr>
            <a:xfrm>
              <a:off x="2747915" y="3577590"/>
              <a:ext cx="370475" cy="0"/>
            </a:xfrm>
            <a:prstGeom prst="straightConnector1">
              <a:avLst/>
            </a:prstGeom>
            <a:ln w="15875">
              <a:solidFill>
                <a:srgbClr val="595959"/>
              </a:solidFill>
              <a:prstDash val="solid"/>
              <a:tailEnd type="triangle" w="lg" len="lg"/>
            </a:ln>
          </p:spPr>
        </p:cxnSp>
      </p:grpSp>
      <p:sp>
        <p:nvSpPr>
          <p:cNvPr id="17" name="Text 15"/>
          <p:cNvSpPr/>
          <p:nvPr/>
        </p:nvSpPr>
        <p:spPr>
          <a:xfrm>
            <a:off x="4215670" y="2205990"/>
            <a:ext cx="57150" cy="2514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組合名稱"/>
          <p:cNvSpPr/>
          <p:nvPr/>
        </p:nvSpPr>
        <p:spPr>
          <a:xfrm>
            <a:off x="4409980" y="2171700"/>
            <a:ext cx="30841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判斷分岔（是／否）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Decision Branch</a:t>
            </a:r>
            <a:endParaRPr lang="en-US" sz="1750" dirty="0"/>
          </a:p>
        </p:txBody>
      </p:sp>
      <p:sp>
        <p:nvSpPr>
          <p:cNvPr id="19" name="線條"/>
          <p:cNvSpPr/>
          <p:nvPr/>
        </p:nvSpPr>
        <p:spPr>
          <a:xfrm>
            <a:off x="4215670" y="256032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1" name="判斷分岔（是／否）"/>
          <p:cNvGrpSpPr/>
          <p:nvPr/>
        </p:nvGrpSpPr>
        <p:grpSpPr>
          <a:xfrm>
            <a:off x="4215670" y="2777490"/>
            <a:ext cx="3278410" cy="1771650"/>
            <a:chOff x="4215670" y="2777490"/>
            <a:chExt cx="3278410" cy="1771650"/>
          </a:xfrm>
        </p:grpSpPr>
        <p:sp>
          <p:nvSpPr>
            <p:cNvPr id="20" name="處理"/>
            <p:cNvSpPr/>
            <p:nvPr/>
          </p:nvSpPr>
          <p:spPr>
            <a:xfrm>
              <a:off x="4215670" y="2903220"/>
              <a:ext cx="822960" cy="48006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5875">
              <a:solidFill>
                <a:srgbClr val="707070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檢查</a:t>
              </a:r>
              <a:endParaRPr lang="en-US" sz="1300" dirty="0"/>
            </a:p>
          </p:txBody>
        </p:sp>
        <p:sp>
          <p:nvSpPr>
            <p:cNvPr id="21" name="判斷"/>
            <p:cNvSpPr/>
            <p:nvPr/>
          </p:nvSpPr>
          <p:spPr>
            <a:xfrm>
              <a:off x="5335810" y="2777490"/>
              <a:ext cx="960120" cy="731520"/>
            </a:xfrm>
            <a:prstGeom prst="diamond">
              <a:avLst/>
            </a:prstGeom>
            <a:solidFill>
              <a:srgbClr val="FFFFFF"/>
            </a:solidFill>
            <a:ln w="15875">
              <a:solidFill>
                <a:srgbClr val="707070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2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通過？</a:t>
              </a:r>
              <a:endParaRPr lang="en-US" sz="1200" dirty="0"/>
            </a:p>
          </p:txBody>
        </p:sp>
        <p:cxnSp>
          <p:nvCxnSpPr>
            <p:cNvPr id="22" name="連接線"/>
            <p:cNvCxnSpPr>
              <a:stCxn id="20" idx="3"/>
              <a:endCxn id="21" idx="1"/>
            </p:cNvCxnSpPr>
            <p:nvPr/>
          </p:nvCxnSpPr>
          <p:spPr>
            <a:xfrm>
              <a:off x="5038630" y="3143250"/>
              <a:ext cx="297180" cy="0"/>
            </a:xfrm>
            <a:prstGeom prst="straightConnector1">
              <a:avLst/>
            </a:prstGeom>
            <a:ln w="15875">
              <a:solidFill>
                <a:srgbClr val="595959"/>
              </a:solidFill>
              <a:prstDash val="solid"/>
              <a:tailEnd type="triangle" w="lg" len="lg"/>
            </a:ln>
          </p:spPr>
        </p:cxnSp>
        <p:sp>
          <p:nvSpPr>
            <p:cNvPr id="23" name="處理"/>
            <p:cNvSpPr/>
            <p:nvPr/>
          </p:nvSpPr>
          <p:spPr>
            <a:xfrm>
              <a:off x="6648260" y="2903220"/>
              <a:ext cx="845820" cy="480060"/>
            </a:xfrm>
            <a:prstGeom prst="roundRect">
              <a:avLst>
                <a:gd name="adj" fmla="val 7143"/>
              </a:avLst>
            </a:prstGeom>
            <a:solidFill>
              <a:srgbClr val="404040"/>
            </a:solidFill>
            <a:ln>
              <a:noFill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執行</a:t>
              </a:r>
              <a:endParaRPr lang="en-US" sz="1300" dirty="0"/>
            </a:p>
          </p:txBody>
        </p:sp>
        <p:cxnSp>
          <p:nvCxnSpPr>
            <p:cNvPr id="24" name="連接線"/>
            <p:cNvCxnSpPr>
              <a:stCxn id="21" idx="3"/>
              <a:endCxn id="23" idx="1"/>
            </p:cNvCxnSpPr>
            <p:nvPr/>
          </p:nvCxnSpPr>
          <p:spPr>
            <a:xfrm>
              <a:off x="6295930" y="3143250"/>
              <a:ext cx="352330" cy="0"/>
            </a:xfrm>
            <a:prstGeom prst="straightConnector1">
              <a:avLst/>
            </a:prstGeom>
            <a:ln w="15875">
              <a:solidFill>
                <a:srgbClr val="595959"/>
              </a:solidFill>
              <a:prstDash val="solid"/>
              <a:tailEnd type="triangle" w="lg" len="lg"/>
            </a:ln>
          </p:spPr>
        </p:cxnSp>
        <p:sp>
          <p:nvSpPr>
            <p:cNvPr id="25" name="標註"/>
            <p:cNvSpPr/>
            <p:nvPr/>
          </p:nvSpPr>
          <p:spPr>
            <a:xfrm>
              <a:off x="6295930" y="2868930"/>
              <a:ext cx="457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是</a:t>
              </a:r>
              <a:endParaRPr lang="en-US" sz="1050" dirty="0"/>
            </a:p>
          </p:txBody>
        </p:sp>
        <p:sp>
          <p:nvSpPr>
            <p:cNvPr id="26" name="處理"/>
            <p:cNvSpPr/>
            <p:nvPr/>
          </p:nvSpPr>
          <p:spPr>
            <a:xfrm>
              <a:off x="5392960" y="4069080"/>
              <a:ext cx="845820" cy="48006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5875">
              <a:solidFill>
                <a:srgbClr val="707070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修正</a:t>
              </a:r>
              <a:endParaRPr lang="en-US" sz="1300" dirty="0"/>
            </a:p>
          </p:txBody>
        </p:sp>
        <p:cxnSp>
          <p:nvCxnSpPr>
            <p:cNvPr id="27" name="連接線"/>
            <p:cNvCxnSpPr>
              <a:stCxn id="21" idx="2"/>
              <a:endCxn id="26" idx="0"/>
            </p:cNvCxnSpPr>
            <p:nvPr/>
          </p:nvCxnSpPr>
          <p:spPr>
            <a:xfrm>
              <a:off x="5815870" y="3509010"/>
              <a:ext cx="0" cy="560070"/>
            </a:xfrm>
            <a:prstGeom prst="straightConnector1">
              <a:avLst/>
            </a:prstGeom>
            <a:ln w="15875">
              <a:solidFill>
                <a:srgbClr val="595959"/>
              </a:solidFill>
              <a:prstDash val="solid"/>
              <a:tailEnd type="triangle" w="lg" len="lg"/>
            </a:ln>
          </p:spPr>
        </p:cxnSp>
        <p:sp>
          <p:nvSpPr>
            <p:cNvPr id="28" name="標註"/>
            <p:cNvSpPr/>
            <p:nvPr/>
          </p:nvSpPr>
          <p:spPr>
            <a:xfrm>
              <a:off x="5838730" y="3554730"/>
              <a:ext cx="342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否</a:t>
              </a:r>
              <a:endParaRPr lang="en-US" sz="1050" dirty="0"/>
            </a:p>
          </p:txBody>
        </p:sp>
      </p:grpSp>
      <p:sp>
        <p:nvSpPr>
          <p:cNvPr id="29" name="Text 27"/>
          <p:cNvSpPr/>
          <p:nvPr/>
        </p:nvSpPr>
        <p:spPr>
          <a:xfrm>
            <a:off x="7745540" y="2205990"/>
            <a:ext cx="57150" cy="2514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組合名稱"/>
          <p:cNvSpPr/>
          <p:nvPr/>
        </p:nvSpPr>
        <p:spPr>
          <a:xfrm>
            <a:off x="7939850" y="2171700"/>
            <a:ext cx="30841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例外退回路徑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Exception Return</a:t>
            </a:r>
            <a:endParaRPr lang="en-US" sz="1750" dirty="0"/>
          </a:p>
        </p:txBody>
      </p:sp>
      <p:sp>
        <p:nvSpPr>
          <p:cNvPr id="31" name="線條"/>
          <p:cNvSpPr/>
          <p:nvPr/>
        </p:nvSpPr>
        <p:spPr>
          <a:xfrm>
            <a:off x="7745540" y="256032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2" name="例外退回路徑"/>
          <p:cNvGrpSpPr/>
          <p:nvPr/>
        </p:nvGrpSpPr>
        <p:grpSpPr>
          <a:xfrm>
            <a:off x="7745540" y="3040380"/>
            <a:ext cx="3278410" cy="1234440"/>
            <a:chOff x="7745540" y="3040380"/>
            <a:chExt cx="3278410" cy="1234440"/>
          </a:xfrm>
        </p:grpSpPr>
        <p:sp>
          <p:nvSpPr>
            <p:cNvPr id="32" name="處理"/>
            <p:cNvSpPr/>
            <p:nvPr/>
          </p:nvSpPr>
          <p:spPr>
            <a:xfrm>
              <a:off x="7745540" y="3040380"/>
              <a:ext cx="845820" cy="48006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5875">
              <a:solidFill>
                <a:srgbClr val="707070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受理</a:t>
              </a:r>
              <a:endParaRPr lang="en-US" sz="1300" dirty="0"/>
            </a:p>
          </p:txBody>
        </p:sp>
        <p:sp>
          <p:nvSpPr>
            <p:cNvPr id="33" name="處理"/>
            <p:cNvSpPr/>
            <p:nvPr/>
          </p:nvSpPr>
          <p:spPr>
            <a:xfrm>
              <a:off x="8961834" y="3040380"/>
              <a:ext cx="845820" cy="48006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5875">
              <a:solidFill>
                <a:srgbClr val="707070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審查</a:t>
              </a:r>
              <a:endParaRPr lang="en-US" sz="1300" dirty="0"/>
            </a:p>
          </p:txBody>
        </p:sp>
        <p:sp>
          <p:nvSpPr>
            <p:cNvPr id="34" name="處理"/>
            <p:cNvSpPr/>
            <p:nvPr/>
          </p:nvSpPr>
          <p:spPr>
            <a:xfrm>
              <a:off x="10178129" y="3040380"/>
              <a:ext cx="845820" cy="480060"/>
            </a:xfrm>
            <a:prstGeom prst="roundRect">
              <a:avLst>
                <a:gd name="adj" fmla="val 7143"/>
              </a:avLst>
            </a:prstGeom>
            <a:solidFill>
              <a:srgbClr val="404040"/>
            </a:solidFill>
            <a:ln>
              <a:noFill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完成</a:t>
              </a:r>
              <a:endParaRPr lang="en-US" sz="1300" dirty="0"/>
            </a:p>
          </p:txBody>
        </p:sp>
        <p:cxnSp>
          <p:nvCxnSpPr>
            <p:cNvPr id="35" name="連接線"/>
            <p:cNvCxnSpPr>
              <a:stCxn id="32" idx="3"/>
              <a:endCxn id="33" idx="1"/>
            </p:cNvCxnSpPr>
            <p:nvPr/>
          </p:nvCxnSpPr>
          <p:spPr>
            <a:xfrm>
              <a:off x="8591360" y="3280410"/>
              <a:ext cx="370475" cy="0"/>
            </a:xfrm>
            <a:prstGeom prst="straightConnector1">
              <a:avLst/>
            </a:prstGeom>
            <a:ln w="15875">
              <a:solidFill>
                <a:srgbClr val="595959"/>
              </a:solidFill>
              <a:prstDash val="solid"/>
              <a:tailEnd type="triangle" w="lg" len="lg"/>
            </a:ln>
          </p:spPr>
        </p:cxnSp>
        <p:cxnSp>
          <p:nvCxnSpPr>
            <p:cNvPr id="36" name="連接線"/>
            <p:cNvCxnSpPr>
              <a:stCxn id="33" idx="3"/>
              <a:endCxn id="34" idx="1"/>
            </p:cNvCxnSpPr>
            <p:nvPr/>
          </p:nvCxnSpPr>
          <p:spPr>
            <a:xfrm>
              <a:off x="9807654" y="3280410"/>
              <a:ext cx="370475" cy="0"/>
            </a:xfrm>
            <a:prstGeom prst="straightConnector1">
              <a:avLst/>
            </a:prstGeom>
            <a:ln w="15875">
              <a:solidFill>
                <a:srgbClr val="595959"/>
              </a:solidFill>
              <a:prstDash val="solid"/>
              <a:tailEnd type="triangle" w="lg" len="lg"/>
            </a:ln>
          </p:spPr>
        </p:cxnSp>
        <p:cxnSp>
          <p:nvCxnSpPr>
            <p:cNvPr id="37" name="連接線"/>
            <p:cNvCxnSpPr>
              <a:stCxn id="33" idx="2"/>
              <a:endCxn id="32" idx="2"/>
            </p:cNvCxnSpPr>
            <p:nvPr/>
          </p:nvCxnSpPr>
          <p:spPr>
            <a:xfrm rot="5400000">
              <a:off x="8773854" y="2915036"/>
              <a:ext cx="5486" cy="1216295"/>
            </a:xfrm>
            <a:prstGeom prst="bentConnector3">
              <a:avLst>
                <a:gd name="adj1" fmla="val 8750000"/>
              </a:avLst>
            </a:prstGeom>
            <a:ln w="19812">
              <a:solidFill>
                <a:srgbClr val="C0504D"/>
              </a:solidFill>
              <a:prstDash val="sysDash"/>
              <a:tailEnd type="triangle"/>
            </a:ln>
          </p:spPr>
        </p:cxnSp>
        <p:sp>
          <p:nvSpPr>
            <p:cNvPr id="38" name="標註"/>
            <p:cNvSpPr/>
            <p:nvPr/>
          </p:nvSpPr>
          <p:spPr>
            <a:xfrm>
              <a:off x="8168450" y="4046220"/>
              <a:ext cx="121629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903C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例外：退回補件</a:t>
              </a:r>
              <a:endParaRPr lang="en-US" sz="1050" dirty="0"/>
            </a:p>
          </p:txBody>
        </p:sp>
      </p:grpSp>
      <p:sp>
        <p:nvSpPr>
          <p:cNvPr id="39" name="Text 37"/>
          <p:cNvSpPr/>
          <p:nvPr/>
        </p:nvSpPr>
        <p:spPr>
          <a:xfrm>
            <a:off x="11275409" y="2205990"/>
            <a:ext cx="57150" cy="2514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組合名稱"/>
          <p:cNvSpPr/>
          <p:nvPr/>
        </p:nvSpPr>
        <p:spPr>
          <a:xfrm>
            <a:off x="11469719" y="2171700"/>
            <a:ext cx="30841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審核迴圈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Approval Loop</a:t>
            </a:r>
            <a:endParaRPr lang="en-US" sz="1750" dirty="0"/>
          </a:p>
        </p:txBody>
      </p:sp>
      <p:sp>
        <p:nvSpPr>
          <p:cNvPr id="41" name="線條"/>
          <p:cNvSpPr/>
          <p:nvPr/>
        </p:nvSpPr>
        <p:spPr>
          <a:xfrm>
            <a:off x="11275409" y="256032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3" name="審核迴圈"/>
          <p:cNvGrpSpPr/>
          <p:nvPr/>
        </p:nvGrpSpPr>
        <p:grpSpPr>
          <a:xfrm>
            <a:off x="11275409" y="2651760"/>
            <a:ext cx="3278410" cy="1451610"/>
            <a:chOff x="11275409" y="2651760"/>
            <a:chExt cx="3278410" cy="1451610"/>
          </a:xfrm>
        </p:grpSpPr>
        <p:sp>
          <p:nvSpPr>
            <p:cNvPr id="42" name="處理"/>
            <p:cNvSpPr/>
            <p:nvPr/>
          </p:nvSpPr>
          <p:spPr>
            <a:xfrm>
              <a:off x="11275409" y="3520440"/>
              <a:ext cx="914400" cy="48006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5875">
              <a:solidFill>
                <a:srgbClr val="707070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提出申請</a:t>
              </a:r>
              <a:endParaRPr lang="en-US" sz="1300" dirty="0"/>
            </a:p>
          </p:txBody>
        </p:sp>
        <p:sp>
          <p:nvSpPr>
            <p:cNvPr id="43" name="判斷"/>
            <p:cNvSpPr/>
            <p:nvPr/>
          </p:nvSpPr>
          <p:spPr>
            <a:xfrm>
              <a:off x="12418409" y="3417570"/>
              <a:ext cx="845820" cy="685800"/>
            </a:xfrm>
            <a:prstGeom prst="diamond">
              <a:avLst/>
            </a:prstGeom>
            <a:solidFill>
              <a:srgbClr val="FFFFFF"/>
            </a:solidFill>
            <a:ln w="15875">
              <a:solidFill>
                <a:srgbClr val="707070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2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審核</a:t>
              </a:r>
              <a:endParaRPr lang="en-US" sz="1200" dirty="0"/>
            </a:p>
          </p:txBody>
        </p:sp>
        <p:cxnSp>
          <p:nvCxnSpPr>
            <p:cNvPr id="44" name="連接線"/>
            <p:cNvCxnSpPr>
              <a:stCxn id="42" idx="3"/>
              <a:endCxn id="43" idx="1"/>
            </p:cNvCxnSpPr>
            <p:nvPr/>
          </p:nvCxnSpPr>
          <p:spPr>
            <a:xfrm>
              <a:off x="12189809" y="3760470"/>
              <a:ext cx="228600" cy="0"/>
            </a:xfrm>
            <a:prstGeom prst="straightConnector1">
              <a:avLst/>
            </a:prstGeom>
            <a:ln w="15875">
              <a:solidFill>
                <a:srgbClr val="595959"/>
              </a:solidFill>
              <a:prstDash val="solid"/>
              <a:tailEnd type="triangle" w="lg" len="lg"/>
            </a:ln>
          </p:spPr>
        </p:cxnSp>
        <p:sp>
          <p:nvSpPr>
            <p:cNvPr id="45" name="處理"/>
            <p:cNvSpPr/>
            <p:nvPr/>
          </p:nvSpPr>
          <p:spPr>
            <a:xfrm>
              <a:off x="13845159" y="3520440"/>
              <a:ext cx="708660" cy="480060"/>
            </a:xfrm>
            <a:prstGeom prst="roundRect">
              <a:avLst>
                <a:gd name="adj" fmla="val 7143"/>
              </a:avLst>
            </a:prstGeom>
            <a:solidFill>
              <a:srgbClr val="404040"/>
            </a:solidFill>
            <a:ln>
              <a:noFill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核准</a:t>
              </a:r>
              <a:endParaRPr lang="en-US" sz="1300" dirty="0"/>
            </a:p>
          </p:txBody>
        </p:sp>
        <p:cxnSp>
          <p:nvCxnSpPr>
            <p:cNvPr id="46" name="連接線"/>
            <p:cNvCxnSpPr>
              <a:stCxn id="43" idx="3"/>
              <a:endCxn id="45" idx="1"/>
            </p:cNvCxnSpPr>
            <p:nvPr/>
          </p:nvCxnSpPr>
          <p:spPr>
            <a:xfrm>
              <a:off x="13264229" y="3760470"/>
              <a:ext cx="580930" cy="0"/>
            </a:xfrm>
            <a:prstGeom prst="straightConnector1">
              <a:avLst/>
            </a:prstGeom>
            <a:ln w="15875">
              <a:solidFill>
                <a:srgbClr val="595959"/>
              </a:solidFill>
              <a:prstDash val="solid"/>
              <a:tailEnd type="triangle" w="lg" len="lg"/>
            </a:ln>
          </p:spPr>
        </p:cxnSp>
        <p:sp>
          <p:nvSpPr>
            <p:cNvPr id="47" name="標註"/>
            <p:cNvSpPr/>
            <p:nvPr/>
          </p:nvSpPr>
          <p:spPr>
            <a:xfrm>
              <a:off x="13264229" y="3486150"/>
              <a:ext cx="5809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通過</a:t>
              </a:r>
              <a:endParaRPr lang="en-US" sz="1050" dirty="0"/>
            </a:p>
          </p:txBody>
        </p:sp>
        <p:cxnSp>
          <p:nvCxnSpPr>
            <p:cNvPr id="48" name="連接線"/>
            <p:cNvCxnSpPr>
              <a:stCxn id="43" idx="0"/>
              <a:endCxn id="42" idx="0"/>
            </p:cNvCxnSpPr>
            <p:nvPr/>
          </p:nvCxnSpPr>
          <p:spPr>
            <a:xfrm rot="5400000">
              <a:off x="12235529" y="2914650"/>
              <a:ext cx="102870" cy="1108710"/>
            </a:xfrm>
            <a:prstGeom prst="bentConnector3">
              <a:avLst>
                <a:gd name="adj1" fmla="val -500000"/>
              </a:avLst>
            </a:prstGeom>
            <a:ln w="15875">
              <a:solidFill>
                <a:srgbClr val="595959"/>
              </a:solidFill>
              <a:prstDash val="solid"/>
              <a:tailEnd type="triangle" w="lg" len="lg"/>
            </a:ln>
          </p:spPr>
        </p:cxnSp>
        <p:sp>
          <p:nvSpPr>
            <p:cNvPr id="49" name="標註"/>
            <p:cNvSpPr/>
            <p:nvPr/>
          </p:nvSpPr>
          <p:spPr>
            <a:xfrm>
              <a:off x="11755469" y="2651760"/>
              <a:ext cx="10858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退回修改後重送</a:t>
              </a:r>
              <a:endParaRPr lang="en-US" sz="1050" dirty="0"/>
            </a:p>
          </p:txBody>
        </p:sp>
      </p:grpSp>
      <p:sp>
        <p:nvSpPr>
          <p:cNvPr id="50" name="Text 48"/>
          <p:cNvSpPr/>
          <p:nvPr/>
        </p:nvSpPr>
        <p:spPr>
          <a:xfrm>
            <a:off x="685800" y="5086350"/>
            <a:ext cx="57150" cy="2514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組合名稱"/>
          <p:cNvSpPr/>
          <p:nvPr/>
        </p:nvSpPr>
        <p:spPr>
          <a:xfrm>
            <a:off x="880110" y="5052060"/>
            <a:ext cx="30841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泳道（雙道）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Swimlane</a:t>
            </a:r>
            <a:endParaRPr lang="en-US" sz="1750" dirty="0"/>
          </a:p>
        </p:txBody>
      </p:sp>
      <p:sp>
        <p:nvSpPr>
          <p:cNvPr id="52" name="線條"/>
          <p:cNvSpPr/>
          <p:nvPr/>
        </p:nvSpPr>
        <p:spPr>
          <a:xfrm>
            <a:off x="685800" y="544068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4" name="泳道（雙道）"/>
          <p:cNvGrpSpPr/>
          <p:nvPr/>
        </p:nvGrpSpPr>
        <p:grpSpPr>
          <a:xfrm>
            <a:off x="685800" y="5554980"/>
            <a:ext cx="3278410" cy="1897380"/>
            <a:chOff x="685800" y="5554980"/>
            <a:chExt cx="3278410" cy="1897380"/>
          </a:xfrm>
        </p:grpSpPr>
        <p:sp>
          <p:nvSpPr>
            <p:cNvPr id="53" name="泳道"/>
            <p:cNvSpPr/>
            <p:nvPr/>
          </p:nvSpPr>
          <p:spPr>
            <a:xfrm>
              <a:off x="685800" y="5554980"/>
              <a:ext cx="3278410" cy="91440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4" name="泳道標題"/>
            <p:cNvSpPr/>
            <p:nvPr/>
          </p:nvSpPr>
          <p:spPr>
            <a:xfrm>
              <a:off x="685800" y="5554980"/>
              <a:ext cx="525780" cy="9144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申</a:t>
              </a:r>
              <a:endParaRPr lang="en-US" sz="10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請</a:t>
              </a:r>
              <a:endParaRPr lang="en-US" sz="10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人</a:t>
              </a:r>
              <a:endParaRPr lang="en-US" sz="1050" dirty="0"/>
            </a:p>
          </p:txBody>
        </p:sp>
        <p:sp>
          <p:nvSpPr>
            <p:cNvPr id="55" name="泳道"/>
            <p:cNvSpPr/>
            <p:nvPr/>
          </p:nvSpPr>
          <p:spPr>
            <a:xfrm>
              <a:off x="685800" y="6537960"/>
              <a:ext cx="3278410" cy="91440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6" name="泳道標題"/>
            <p:cNvSpPr/>
            <p:nvPr/>
          </p:nvSpPr>
          <p:spPr>
            <a:xfrm>
              <a:off x="685800" y="6537960"/>
              <a:ext cx="525780" cy="9144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主</a:t>
              </a:r>
              <a:endParaRPr lang="en-US" sz="10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管</a:t>
              </a:r>
              <a:endParaRPr lang="en-US" sz="1050" dirty="0"/>
            </a:p>
          </p:txBody>
        </p:sp>
        <p:sp>
          <p:nvSpPr>
            <p:cNvPr id="57" name="處理"/>
            <p:cNvSpPr/>
            <p:nvPr/>
          </p:nvSpPr>
          <p:spPr>
            <a:xfrm>
              <a:off x="1371600" y="5772150"/>
              <a:ext cx="800100" cy="48006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5875">
              <a:solidFill>
                <a:srgbClr val="707070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填寫</a:t>
              </a:r>
              <a:endParaRPr lang="en-US" sz="1300" dirty="0"/>
            </a:p>
          </p:txBody>
        </p:sp>
        <p:sp>
          <p:nvSpPr>
            <p:cNvPr id="58" name="處理"/>
            <p:cNvSpPr/>
            <p:nvPr/>
          </p:nvSpPr>
          <p:spPr>
            <a:xfrm>
              <a:off x="2514600" y="6755130"/>
              <a:ext cx="800100" cy="48006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5875">
              <a:solidFill>
                <a:srgbClr val="707070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審核</a:t>
              </a:r>
              <a:endParaRPr lang="en-US" sz="1300" dirty="0"/>
            </a:p>
          </p:txBody>
        </p:sp>
        <p:sp>
          <p:nvSpPr>
            <p:cNvPr id="59" name="處理"/>
            <p:cNvSpPr/>
            <p:nvPr/>
          </p:nvSpPr>
          <p:spPr>
            <a:xfrm>
              <a:off x="3072670" y="5772150"/>
              <a:ext cx="800100" cy="480060"/>
            </a:xfrm>
            <a:prstGeom prst="roundRect">
              <a:avLst>
                <a:gd name="adj" fmla="val 7143"/>
              </a:avLst>
            </a:prstGeom>
            <a:solidFill>
              <a:srgbClr val="404040"/>
            </a:solidFill>
            <a:ln>
              <a:noFill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歸檔</a:t>
              </a:r>
              <a:endParaRPr lang="en-US" sz="1300" dirty="0"/>
            </a:p>
          </p:txBody>
        </p:sp>
        <p:cxnSp>
          <p:nvCxnSpPr>
            <p:cNvPr id="60" name="連接線"/>
            <p:cNvCxnSpPr>
              <a:stCxn id="57" idx="3"/>
              <a:endCxn id="58" idx="0"/>
            </p:cNvCxnSpPr>
            <p:nvPr/>
          </p:nvCxnSpPr>
          <p:spPr>
            <a:xfrm>
              <a:off x="2171700" y="6012180"/>
              <a:ext cx="742950" cy="742950"/>
            </a:xfrm>
            <a:prstGeom prst="bentConnector2">
              <a:avLst/>
            </a:prstGeom>
            <a:ln w="15875">
              <a:solidFill>
                <a:srgbClr val="595959"/>
              </a:solidFill>
              <a:prstDash val="solid"/>
              <a:tailEnd type="triangle" w="lg" len="lg"/>
            </a:ln>
          </p:spPr>
        </p:cxnSp>
        <p:cxnSp>
          <p:nvCxnSpPr>
            <p:cNvPr id="61" name="連接線"/>
            <p:cNvCxnSpPr>
              <a:stCxn id="58" idx="3"/>
              <a:endCxn id="59" idx="2"/>
            </p:cNvCxnSpPr>
            <p:nvPr/>
          </p:nvCxnSpPr>
          <p:spPr>
            <a:xfrm flipV="1">
              <a:off x="3314700" y="6252210"/>
              <a:ext cx="158020" cy="742950"/>
            </a:xfrm>
            <a:prstGeom prst="bentConnector2">
              <a:avLst/>
            </a:prstGeom>
            <a:ln w="15875">
              <a:solidFill>
                <a:srgbClr val="595959"/>
              </a:solidFill>
              <a:prstDash val="solid"/>
              <a:tailEnd type="triangle" w="lg" len="lg"/>
            </a:ln>
          </p:spPr>
        </p:cxnSp>
      </p:grpSp>
      <p:sp>
        <p:nvSpPr>
          <p:cNvPr id="62" name="Text 60"/>
          <p:cNvSpPr/>
          <p:nvPr/>
        </p:nvSpPr>
        <p:spPr>
          <a:xfrm>
            <a:off x="4215670" y="5086350"/>
            <a:ext cx="57150" cy="2514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組合名稱"/>
          <p:cNvSpPr/>
          <p:nvPr/>
        </p:nvSpPr>
        <p:spPr>
          <a:xfrm>
            <a:off x="4409980" y="5052060"/>
            <a:ext cx="30841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平行分流／合流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Parallel Split / Merge</a:t>
            </a:r>
            <a:endParaRPr lang="en-US" sz="1750" dirty="0"/>
          </a:p>
        </p:txBody>
      </p:sp>
      <p:sp>
        <p:nvSpPr>
          <p:cNvPr id="64" name="線條"/>
          <p:cNvSpPr/>
          <p:nvPr/>
        </p:nvSpPr>
        <p:spPr>
          <a:xfrm>
            <a:off x="4215670" y="544068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5" name="平行分流／合流"/>
          <p:cNvGrpSpPr/>
          <p:nvPr/>
        </p:nvGrpSpPr>
        <p:grpSpPr>
          <a:xfrm>
            <a:off x="4215670" y="5623560"/>
            <a:ext cx="3278410" cy="1691640"/>
            <a:chOff x="4215670" y="5623560"/>
            <a:chExt cx="3278410" cy="1691640"/>
          </a:xfrm>
        </p:grpSpPr>
        <p:sp>
          <p:nvSpPr>
            <p:cNvPr id="65" name="處理"/>
            <p:cNvSpPr/>
            <p:nvPr/>
          </p:nvSpPr>
          <p:spPr>
            <a:xfrm>
              <a:off x="4215670" y="6229350"/>
              <a:ext cx="640080" cy="48006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5875">
              <a:solidFill>
                <a:srgbClr val="707070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開始</a:t>
              </a:r>
              <a:endParaRPr lang="en-US" sz="1300" dirty="0"/>
            </a:p>
          </p:txBody>
        </p:sp>
        <p:sp>
          <p:nvSpPr>
            <p:cNvPr id="66" name="分流"/>
            <p:cNvSpPr/>
            <p:nvPr/>
          </p:nvSpPr>
          <p:spPr>
            <a:xfrm>
              <a:off x="5084350" y="5623560"/>
              <a:ext cx="80010" cy="1691640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7" name="處理"/>
            <p:cNvSpPr/>
            <p:nvPr/>
          </p:nvSpPr>
          <p:spPr>
            <a:xfrm>
              <a:off x="5404390" y="5703570"/>
              <a:ext cx="845820" cy="48006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5875">
              <a:solidFill>
                <a:srgbClr val="707070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作業 A</a:t>
              </a:r>
              <a:endParaRPr lang="en-US" sz="1300" dirty="0"/>
            </a:p>
          </p:txBody>
        </p:sp>
        <p:sp>
          <p:nvSpPr>
            <p:cNvPr id="68" name="處理"/>
            <p:cNvSpPr/>
            <p:nvPr/>
          </p:nvSpPr>
          <p:spPr>
            <a:xfrm>
              <a:off x="5404390" y="6755130"/>
              <a:ext cx="845820" cy="48006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5875">
              <a:solidFill>
                <a:srgbClr val="707070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作業 B</a:t>
              </a:r>
              <a:endParaRPr lang="en-US" sz="1300" dirty="0"/>
            </a:p>
          </p:txBody>
        </p:sp>
        <p:sp>
          <p:nvSpPr>
            <p:cNvPr id="69" name="合流"/>
            <p:cNvSpPr/>
            <p:nvPr/>
          </p:nvSpPr>
          <p:spPr>
            <a:xfrm>
              <a:off x="6282500" y="5623560"/>
              <a:ext cx="80010" cy="1691640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0" name="處理"/>
            <p:cNvSpPr/>
            <p:nvPr/>
          </p:nvSpPr>
          <p:spPr>
            <a:xfrm>
              <a:off x="6785420" y="6229350"/>
              <a:ext cx="708660" cy="480060"/>
            </a:xfrm>
            <a:prstGeom prst="roundRect">
              <a:avLst>
                <a:gd name="adj" fmla="val 7143"/>
              </a:avLst>
            </a:prstGeom>
            <a:solidFill>
              <a:srgbClr val="404040"/>
            </a:solidFill>
            <a:ln>
              <a:noFill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彙整</a:t>
              </a:r>
              <a:endParaRPr lang="en-US" sz="1300" dirty="0"/>
            </a:p>
          </p:txBody>
        </p:sp>
        <p:cxnSp>
          <p:nvCxnSpPr>
            <p:cNvPr id="71" name="連接線"/>
            <p:cNvCxnSpPr>
              <a:stCxn id="65" idx="3"/>
              <a:endCxn id="66" idx="1"/>
            </p:cNvCxnSpPr>
            <p:nvPr/>
          </p:nvCxnSpPr>
          <p:spPr>
            <a:xfrm>
              <a:off x="4855750" y="6469380"/>
              <a:ext cx="228600" cy="0"/>
            </a:xfrm>
            <a:prstGeom prst="straightConnector1">
              <a:avLst/>
            </a:prstGeom>
            <a:ln w="15875">
              <a:solidFill>
                <a:srgbClr val="595959"/>
              </a:solidFill>
              <a:prstDash val="solid"/>
              <a:tailEnd type="triangle" w="lg" len="lg"/>
            </a:ln>
          </p:spPr>
        </p:cxnSp>
        <p:cxnSp>
          <p:nvCxnSpPr>
            <p:cNvPr id="72" name="連接線"/>
            <p:cNvCxnSpPr>
              <a:endCxn id="67" idx="1"/>
            </p:cNvCxnSpPr>
            <p:nvPr/>
          </p:nvCxnSpPr>
          <p:spPr>
            <a:xfrm>
              <a:off x="5164360" y="5943600"/>
              <a:ext cx="240030" cy="0"/>
            </a:xfrm>
            <a:prstGeom prst="straightConnector1">
              <a:avLst/>
            </a:prstGeom>
            <a:ln w="15875">
              <a:solidFill>
                <a:srgbClr val="595959"/>
              </a:solidFill>
              <a:prstDash val="solid"/>
              <a:tailEnd type="triangle" w="lg" len="lg"/>
            </a:ln>
          </p:spPr>
        </p:cxnSp>
        <p:cxnSp>
          <p:nvCxnSpPr>
            <p:cNvPr id="73" name="連接線"/>
            <p:cNvCxnSpPr>
              <a:endCxn id="68" idx="1"/>
            </p:cNvCxnSpPr>
            <p:nvPr/>
          </p:nvCxnSpPr>
          <p:spPr>
            <a:xfrm>
              <a:off x="5164360" y="6995160"/>
              <a:ext cx="240030" cy="0"/>
            </a:xfrm>
            <a:prstGeom prst="straightConnector1">
              <a:avLst/>
            </a:prstGeom>
            <a:ln w="15875">
              <a:solidFill>
                <a:srgbClr val="595959"/>
              </a:solidFill>
              <a:prstDash val="solid"/>
              <a:tailEnd type="triangle" w="lg" len="lg"/>
            </a:ln>
          </p:spPr>
        </p:cxnSp>
        <p:cxnSp>
          <p:nvCxnSpPr>
            <p:cNvPr id="74" name="連接線"/>
            <p:cNvCxnSpPr>
              <a:stCxn id="67" idx="3"/>
            </p:cNvCxnSpPr>
            <p:nvPr/>
          </p:nvCxnSpPr>
          <p:spPr>
            <a:xfrm>
              <a:off x="6250210" y="5943600"/>
              <a:ext cx="32290" cy="0"/>
            </a:xfrm>
            <a:prstGeom prst="straightConnector1">
              <a:avLst/>
            </a:prstGeom>
            <a:ln w="15875">
              <a:solidFill>
                <a:srgbClr val="595959"/>
              </a:solidFill>
              <a:prstDash val="solid"/>
              <a:tailEnd type="triangle" w="lg" len="lg"/>
            </a:ln>
          </p:spPr>
        </p:cxnSp>
        <p:cxnSp>
          <p:nvCxnSpPr>
            <p:cNvPr id="75" name="連接線"/>
            <p:cNvCxnSpPr>
              <a:stCxn id="68" idx="3"/>
            </p:cNvCxnSpPr>
            <p:nvPr/>
          </p:nvCxnSpPr>
          <p:spPr>
            <a:xfrm>
              <a:off x="6250210" y="6995160"/>
              <a:ext cx="32290" cy="0"/>
            </a:xfrm>
            <a:prstGeom prst="straightConnector1">
              <a:avLst/>
            </a:prstGeom>
            <a:ln w="15875">
              <a:solidFill>
                <a:srgbClr val="595959"/>
              </a:solidFill>
              <a:prstDash val="solid"/>
              <a:tailEnd type="triangle" w="lg" len="lg"/>
            </a:ln>
          </p:spPr>
        </p:cxnSp>
        <p:cxnSp>
          <p:nvCxnSpPr>
            <p:cNvPr id="76" name="連接線"/>
            <p:cNvCxnSpPr>
              <a:stCxn id="69" idx="3"/>
              <a:endCxn id="70" idx="1"/>
            </p:cNvCxnSpPr>
            <p:nvPr/>
          </p:nvCxnSpPr>
          <p:spPr>
            <a:xfrm>
              <a:off x="6362510" y="6469380"/>
              <a:ext cx="422910" cy="0"/>
            </a:xfrm>
            <a:prstGeom prst="straightConnector1">
              <a:avLst/>
            </a:prstGeom>
            <a:ln w="15875">
              <a:solidFill>
                <a:srgbClr val="595959"/>
              </a:solidFill>
              <a:prstDash val="solid"/>
              <a:tailEnd type="triangle" w="lg" len="lg"/>
            </a:ln>
          </p:spPr>
        </p:cxnSp>
      </p:grpSp>
      <p:sp>
        <p:nvSpPr>
          <p:cNvPr id="77" name="Text 75"/>
          <p:cNvSpPr/>
          <p:nvPr/>
        </p:nvSpPr>
        <p:spPr>
          <a:xfrm>
            <a:off x="7745540" y="5086350"/>
            <a:ext cx="57150" cy="2514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組合名稱"/>
          <p:cNvSpPr/>
          <p:nvPr/>
        </p:nvSpPr>
        <p:spPr>
          <a:xfrm>
            <a:off x="7939850" y="5052060"/>
            <a:ext cx="30841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輸入→處理→輸出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Input / Process / Output</a:t>
            </a:r>
            <a:endParaRPr lang="en-US" sz="1750" dirty="0"/>
          </a:p>
        </p:txBody>
      </p:sp>
      <p:sp>
        <p:nvSpPr>
          <p:cNvPr id="79" name="線條"/>
          <p:cNvSpPr/>
          <p:nvPr/>
        </p:nvSpPr>
        <p:spPr>
          <a:xfrm>
            <a:off x="7745540" y="544068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6" name="輸入→處理→輸出"/>
          <p:cNvGrpSpPr/>
          <p:nvPr/>
        </p:nvGrpSpPr>
        <p:grpSpPr>
          <a:xfrm>
            <a:off x="7688390" y="6023610"/>
            <a:ext cx="3392710" cy="971550"/>
            <a:chOff x="7688390" y="6023610"/>
            <a:chExt cx="3392710" cy="971550"/>
          </a:xfrm>
        </p:grpSpPr>
        <p:sp>
          <p:nvSpPr>
            <p:cNvPr id="80" name="輸入輸出"/>
            <p:cNvSpPr/>
            <p:nvPr/>
          </p:nvSpPr>
          <p:spPr>
            <a:xfrm>
              <a:off x="7745540" y="6080760"/>
              <a:ext cx="937260" cy="480060"/>
            </a:xfrm>
            <a:prstGeom prst="parallelogram">
              <a:avLst>
                <a:gd name="adj" fmla="val 42000"/>
              </a:avLst>
            </a:prstGeom>
            <a:solidFill>
              <a:srgbClr val="FFFFFF"/>
            </a:solidFill>
            <a:ln w="15875">
              <a:solidFill>
                <a:srgbClr val="707070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輸入</a:t>
              </a:r>
              <a:endParaRPr lang="en-US" sz="1300" dirty="0"/>
            </a:p>
          </p:txBody>
        </p:sp>
        <p:sp>
          <p:nvSpPr>
            <p:cNvPr id="81" name="標註"/>
            <p:cNvSpPr/>
            <p:nvPr/>
          </p:nvSpPr>
          <p:spPr>
            <a:xfrm>
              <a:off x="7688390" y="6766560"/>
              <a:ext cx="10515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資料來源</a:t>
              </a:r>
              <a:endParaRPr lang="en-US" sz="1050" dirty="0"/>
            </a:p>
          </p:txBody>
        </p:sp>
        <p:sp>
          <p:nvSpPr>
            <p:cNvPr id="82" name="處理"/>
            <p:cNvSpPr/>
            <p:nvPr/>
          </p:nvSpPr>
          <p:spPr>
            <a:xfrm>
              <a:off x="8984694" y="6080760"/>
              <a:ext cx="800100" cy="480060"/>
            </a:xfrm>
            <a:prstGeom prst="roundRect">
              <a:avLst>
                <a:gd name="adj" fmla="val 7143"/>
              </a:avLst>
            </a:prstGeom>
            <a:solidFill>
              <a:srgbClr val="404040"/>
            </a:solidFill>
            <a:ln>
              <a:noFill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處理</a:t>
              </a:r>
              <a:endParaRPr lang="en-US" sz="1300" dirty="0"/>
            </a:p>
          </p:txBody>
        </p:sp>
        <p:sp>
          <p:nvSpPr>
            <p:cNvPr id="83" name="標註"/>
            <p:cNvSpPr/>
            <p:nvPr/>
          </p:nvSpPr>
          <p:spPr>
            <a:xfrm>
              <a:off x="8927544" y="6766560"/>
              <a:ext cx="914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整理運算</a:t>
              </a:r>
              <a:endParaRPr lang="en-US" sz="1050" dirty="0"/>
            </a:p>
          </p:txBody>
        </p:sp>
        <p:sp>
          <p:nvSpPr>
            <p:cNvPr id="84" name="文件"/>
            <p:cNvSpPr/>
            <p:nvPr/>
          </p:nvSpPr>
          <p:spPr>
            <a:xfrm>
              <a:off x="10086689" y="6023610"/>
              <a:ext cx="937260" cy="594360"/>
            </a:xfrm>
            <a:prstGeom prst="flowChartDocument">
              <a:avLst/>
            </a:prstGeom>
            <a:solidFill>
              <a:srgbClr val="FFFFFF"/>
            </a:solidFill>
            <a:ln w="15875">
              <a:solidFill>
                <a:srgbClr val="707070"/>
              </a:solidFill>
              <a:prstDash val="solid"/>
            </a:ln>
          </p:spPr>
          <p:txBody>
            <a:bodyPr wrap="square" lIns="47625" tIns="0" rIns="47625" bIns="0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報表</a:t>
              </a:r>
              <a:endParaRPr lang="en-US" sz="1300" dirty="0"/>
            </a:p>
          </p:txBody>
        </p:sp>
        <p:sp>
          <p:nvSpPr>
            <p:cNvPr id="85" name="標註"/>
            <p:cNvSpPr/>
            <p:nvPr/>
          </p:nvSpPr>
          <p:spPr>
            <a:xfrm>
              <a:off x="10029539" y="6766560"/>
              <a:ext cx="10515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產出結果</a:t>
              </a:r>
              <a:endParaRPr lang="en-US" sz="1050" dirty="0"/>
            </a:p>
          </p:txBody>
        </p:sp>
        <p:cxnSp>
          <p:nvCxnSpPr>
            <p:cNvPr id="86" name="連接線"/>
            <p:cNvCxnSpPr>
              <a:stCxn id="80" idx="2"/>
              <a:endCxn id="82" idx="1"/>
            </p:cNvCxnSpPr>
            <p:nvPr/>
          </p:nvCxnSpPr>
          <p:spPr>
            <a:xfrm>
              <a:off x="8581987" y="6320790"/>
              <a:ext cx="402707" cy="0"/>
            </a:xfrm>
            <a:prstGeom prst="straightConnector1">
              <a:avLst/>
            </a:prstGeom>
            <a:ln w="15875">
              <a:solidFill>
                <a:srgbClr val="595959"/>
              </a:solidFill>
              <a:prstDash val="solid"/>
              <a:tailEnd type="triangle" w="lg" len="lg"/>
            </a:ln>
          </p:spPr>
        </p:cxnSp>
        <p:cxnSp>
          <p:nvCxnSpPr>
            <p:cNvPr id="87" name="連接線"/>
            <p:cNvCxnSpPr>
              <a:stCxn id="82" idx="3"/>
              <a:endCxn id="84" idx="1"/>
            </p:cNvCxnSpPr>
            <p:nvPr/>
          </p:nvCxnSpPr>
          <p:spPr>
            <a:xfrm>
              <a:off x="9784794" y="6320790"/>
              <a:ext cx="301895" cy="0"/>
            </a:xfrm>
            <a:prstGeom prst="straightConnector1">
              <a:avLst/>
            </a:prstGeom>
            <a:ln w="15875">
              <a:solidFill>
                <a:srgbClr val="595959"/>
              </a:solidFill>
              <a:prstDash val="solid"/>
              <a:tailEnd type="triangle" w="lg" len="lg"/>
            </a:ln>
          </p:spPr>
        </p:cxnSp>
      </p:grpSp>
      <p:sp>
        <p:nvSpPr>
          <p:cNvPr id="88" name="Text 86"/>
          <p:cNvSpPr/>
          <p:nvPr/>
        </p:nvSpPr>
        <p:spPr>
          <a:xfrm>
            <a:off x="11275409" y="5086350"/>
            <a:ext cx="57150" cy="2514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組合名稱"/>
          <p:cNvSpPr/>
          <p:nvPr/>
        </p:nvSpPr>
        <p:spPr>
          <a:xfrm>
            <a:off x="11469719" y="5052060"/>
            <a:ext cx="30841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前後對照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Before / After</a:t>
            </a:r>
            <a:endParaRPr lang="en-US" sz="1750" dirty="0"/>
          </a:p>
        </p:txBody>
      </p:sp>
      <p:sp>
        <p:nvSpPr>
          <p:cNvPr id="90" name="線條"/>
          <p:cNvSpPr/>
          <p:nvPr/>
        </p:nvSpPr>
        <p:spPr>
          <a:xfrm>
            <a:off x="11275409" y="544068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7" name="前後對照"/>
          <p:cNvGrpSpPr/>
          <p:nvPr/>
        </p:nvGrpSpPr>
        <p:grpSpPr>
          <a:xfrm>
            <a:off x="11275409" y="5737860"/>
            <a:ext cx="3278410" cy="1485900"/>
            <a:chOff x="11275409" y="5737860"/>
            <a:chExt cx="3278410" cy="1485900"/>
          </a:xfrm>
        </p:grpSpPr>
        <p:sp>
          <p:nvSpPr>
            <p:cNvPr id="91" name="卡片"/>
            <p:cNvSpPr/>
            <p:nvPr/>
          </p:nvSpPr>
          <p:spPr>
            <a:xfrm>
              <a:off x="11275409" y="5737860"/>
              <a:ext cx="1348740" cy="1485900"/>
            </a:xfrm>
            <a:prstGeom prst="roundRect">
              <a:avLst>
                <a:gd name="adj" fmla="val 2542"/>
              </a:avLst>
            </a:prstGeom>
            <a:solidFill>
              <a:srgbClr val="FFFFFF"/>
            </a:solidFill>
            <a:ln w="15875">
              <a:solidFill>
                <a:srgbClr val="7F7F7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2" name="卡片標題"/>
            <p:cNvSpPr/>
            <p:nvPr/>
          </p:nvSpPr>
          <p:spPr>
            <a:xfrm>
              <a:off x="11435429" y="5875020"/>
              <a:ext cx="10287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4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現況 </a:t>
              </a:r>
              <a:r>
                <a:rPr lang="en-US" sz="10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Before</a:t>
              </a:r>
              <a:endParaRPr lang="en-US" sz="1400" dirty="0"/>
            </a:p>
          </p:txBody>
        </p:sp>
        <p:sp>
          <p:nvSpPr>
            <p:cNvPr id="93" name="卡片內文"/>
            <p:cNvSpPr/>
            <p:nvPr/>
          </p:nvSpPr>
          <p:spPr>
            <a:xfrm>
              <a:off x="11435429" y="6286500"/>
              <a:ext cx="10287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流程分散</a:t>
              </a:r>
              <a:endParaRPr lang="en-US" sz="1200" dirty="0"/>
            </a:p>
            <a:p>
              <a:pPr algn="l" indent="0" marL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交接常出錯</a:t>
              </a:r>
              <a:endParaRPr lang="en-US" sz="1200" dirty="0"/>
            </a:p>
          </p:txBody>
        </p:sp>
        <p:sp>
          <p:nvSpPr>
            <p:cNvPr id="94" name="線條"/>
            <p:cNvSpPr/>
            <p:nvPr/>
          </p:nvSpPr>
          <p:spPr>
            <a:xfrm>
              <a:off x="12640294" y="6480810"/>
              <a:ext cx="548640" cy="0"/>
            </a:xfrm>
            <a:prstGeom prst="line">
              <a:avLst/>
            </a:prstGeom>
            <a:noFill/>
            <a:ln w="15875">
              <a:solidFill>
                <a:srgbClr val="595959"/>
              </a:solidFill>
              <a:prstDash val="solid"/>
              <a:tailEnd type="triangle" w="lg" len="lg"/>
            </a:ln>
          </p:spPr>
        </p:sp>
        <p:sp>
          <p:nvSpPr>
            <p:cNvPr id="95" name="強調卡片"/>
            <p:cNvSpPr/>
            <p:nvPr/>
          </p:nvSpPr>
          <p:spPr>
            <a:xfrm>
              <a:off x="13205079" y="5737860"/>
              <a:ext cx="1348740" cy="1485900"/>
            </a:xfrm>
            <a:prstGeom prst="roundRect">
              <a:avLst>
                <a:gd name="adj" fmla="val 2542"/>
              </a:avLst>
            </a:prstGeom>
            <a:solidFill>
              <a:srgbClr val="FFFFFF"/>
            </a:solidFill>
            <a:ln w="27813">
              <a:solidFill>
                <a:srgbClr val="404040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6" name="卡片標題"/>
            <p:cNvSpPr/>
            <p:nvPr/>
          </p:nvSpPr>
          <p:spPr>
            <a:xfrm>
              <a:off x="13365099" y="5875020"/>
              <a:ext cx="10287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400" b="1" dirty="0">
                  <a:solidFill>
                    <a:srgbClr val="40404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改善後 </a:t>
              </a:r>
              <a:r>
                <a:rPr lang="en-US" sz="10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After</a:t>
              </a:r>
              <a:endParaRPr lang="en-US" sz="1400" dirty="0"/>
            </a:p>
          </p:txBody>
        </p:sp>
        <p:sp>
          <p:nvSpPr>
            <p:cNvPr id="97" name="卡片內文"/>
            <p:cNvSpPr/>
            <p:nvPr/>
          </p:nvSpPr>
          <p:spPr>
            <a:xfrm>
              <a:off x="13365099" y="6286500"/>
              <a:ext cx="10287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單一窗口</a:t>
              </a:r>
              <a:endParaRPr lang="en-US" sz="1200" dirty="0"/>
            </a:p>
            <a:p>
              <a:pPr algn="l" indent="0" marL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進度一目了然</a:t>
              </a:r>
              <a:endParaRPr lang="en-US" sz="1200" dirty="0"/>
            </a:p>
          </p:txBody>
        </p:sp>
      </p:grpSp>
      <p:sp>
        <p:nvSpPr>
          <p:cNvPr id="98" name="Text 96"/>
          <p:cNvSpPr/>
          <p:nvPr/>
        </p:nvSpPr>
        <p:spPr>
          <a:xfrm>
            <a:off x="685800" y="78867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冰山能力圖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99" name="Text 97"/>
          <p:cNvSpPr/>
          <p:nvPr/>
        </p:nvSpPr>
        <p:spPr>
          <a:xfrm>
            <a:off x="12839319" y="78867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/ 14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85750" y="285750"/>
            <a:ext cx="14668119" cy="800100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85800" y="571500"/>
            <a:ext cx="80010" cy="11658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標題"/>
          <p:cNvSpPr/>
          <p:nvPr/>
        </p:nvSpPr>
        <p:spPr>
          <a:xfrm>
            <a:off x="982980" y="45720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5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常見組合（二）Common Patterns II</a:t>
            </a:r>
            <a:endParaRPr lang="en-US" sz="4250" dirty="0"/>
          </a:p>
        </p:txBody>
      </p:sp>
      <p:sp>
        <p:nvSpPr>
          <p:cNvPr id="5" name="Text 3"/>
          <p:cNvSpPr/>
          <p:nvPr/>
        </p:nvSpPr>
        <p:spPr>
          <a:xfrm>
            <a:off x="982980" y="1257300"/>
            <a:ext cx="12573000" cy="434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B9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分工表、前後對照、問題對策、方案比較、KPI 數字卡與 PDCA：整組複製即可使用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2205990"/>
            <a:ext cx="57150" cy="2514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組合名稱"/>
          <p:cNvSpPr/>
          <p:nvPr/>
        </p:nvSpPr>
        <p:spPr>
          <a:xfrm>
            <a:off x="880110" y="2171700"/>
            <a:ext cx="4169283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責任分工 RACI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RACI Matrix</a:t>
            </a:r>
            <a:endParaRPr lang="en-US" sz="1750" dirty="0"/>
          </a:p>
        </p:txBody>
      </p:sp>
      <p:sp>
        <p:nvSpPr>
          <p:cNvPr id="8" name="線條"/>
          <p:cNvSpPr/>
          <p:nvPr/>
        </p:nvSpPr>
        <p:spPr>
          <a:xfrm>
            <a:off x="685800" y="2560320"/>
            <a:ext cx="4363593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628900"/>
          <a:ext cx="4363593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759428"/>
                <a:gridCol w="759428"/>
                <a:gridCol w="759428"/>
                <a:gridCol w="759428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工作項目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PM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設計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工程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業務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需求定義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方案設計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開發測試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上線推廣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RACI 標記"/>
          <p:cNvSpPr/>
          <p:nvPr/>
        </p:nvSpPr>
        <p:spPr>
          <a:xfrm>
            <a:off x="2197084" y="306895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5B9BD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00" dirty="0"/>
          </a:p>
        </p:txBody>
      </p:sp>
      <p:sp>
        <p:nvSpPr>
          <p:cNvPr id="11" name="RACI 標記"/>
          <p:cNvSpPr/>
          <p:nvPr/>
        </p:nvSpPr>
        <p:spPr>
          <a:xfrm>
            <a:off x="2956512" y="306895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E7E7E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000" dirty="0"/>
          </a:p>
        </p:txBody>
      </p:sp>
      <p:sp>
        <p:nvSpPr>
          <p:cNvPr id="12" name="RACI 標記"/>
          <p:cNvSpPr/>
          <p:nvPr/>
        </p:nvSpPr>
        <p:spPr>
          <a:xfrm>
            <a:off x="3715941" y="306895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E7E7E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000" dirty="0"/>
          </a:p>
        </p:txBody>
      </p:sp>
      <p:sp>
        <p:nvSpPr>
          <p:cNvPr id="13" name="RACI 標記"/>
          <p:cNvSpPr/>
          <p:nvPr/>
        </p:nvSpPr>
        <p:spPr>
          <a:xfrm>
            <a:off x="4475369" y="306895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1000" dirty="0"/>
          </a:p>
        </p:txBody>
      </p:sp>
      <p:sp>
        <p:nvSpPr>
          <p:cNvPr id="14" name="RACI 標記"/>
          <p:cNvSpPr/>
          <p:nvPr/>
        </p:nvSpPr>
        <p:spPr>
          <a:xfrm>
            <a:off x="2197084" y="345757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5B9BD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00" dirty="0"/>
          </a:p>
        </p:txBody>
      </p:sp>
      <p:sp>
        <p:nvSpPr>
          <p:cNvPr id="15" name="RACI 標記"/>
          <p:cNvSpPr/>
          <p:nvPr/>
        </p:nvSpPr>
        <p:spPr>
          <a:xfrm>
            <a:off x="2956512" y="345757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1000" dirty="0"/>
          </a:p>
        </p:txBody>
      </p:sp>
      <p:sp>
        <p:nvSpPr>
          <p:cNvPr id="16" name="RACI 標記"/>
          <p:cNvSpPr/>
          <p:nvPr/>
        </p:nvSpPr>
        <p:spPr>
          <a:xfrm>
            <a:off x="3715941" y="345757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E7E7E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000" dirty="0"/>
          </a:p>
        </p:txBody>
      </p:sp>
      <p:sp>
        <p:nvSpPr>
          <p:cNvPr id="17" name="RACI 標記"/>
          <p:cNvSpPr/>
          <p:nvPr/>
        </p:nvSpPr>
        <p:spPr>
          <a:xfrm>
            <a:off x="4475369" y="345757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38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1000" dirty="0"/>
          </a:p>
        </p:txBody>
      </p:sp>
      <p:sp>
        <p:nvSpPr>
          <p:cNvPr id="18" name="RACI 標記"/>
          <p:cNvSpPr/>
          <p:nvPr/>
        </p:nvSpPr>
        <p:spPr>
          <a:xfrm>
            <a:off x="2197084" y="384619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5B9BD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00" dirty="0"/>
          </a:p>
        </p:txBody>
      </p:sp>
      <p:sp>
        <p:nvSpPr>
          <p:cNvPr id="19" name="RACI 標記"/>
          <p:cNvSpPr/>
          <p:nvPr/>
        </p:nvSpPr>
        <p:spPr>
          <a:xfrm>
            <a:off x="2956512" y="384619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E7E7E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000" dirty="0"/>
          </a:p>
        </p:txBody>
      </p:sp>
      <p:sp>
        <p:nvSpPr>
          <p:cNvPr id="20" name="RACI 標記"/>
          <p:cNvSpPr/>
          <p:nvPr/>
        </p:nvSpPr>
        <p:spPr>
          <a:xfrm>
            <a:off x="3715941" y="384619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1000" dirty="0"/>
          </a:p>
        </p:txBody>
      </p:sp>
      <p:sp>
        <p:nvSpPr>
          <p:cNvPr id="21" name="RACI 標記"/>
          <p:cNvSpPr/>
          <p:nvPr/>
        </p:nvSpPr>
        <p:spPr>
          <a:xfrm>
            <a:off x="4475369" y="384619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38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1000" dirty="0"/>
          </a:p>
        </p:txBody>
      </p:sp>
      <p:sp>
        <p:nvSpPr>
          <p:cNvPr id="22" name="RACI 標記"/>
          <p:cNvSpPr/>
          <p:nvPr/>
        </p:nvSpPr>
        <p:spPr>
          <a:xfrm>
            <a:off x="2197084" y="423481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5B9BD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00" dirty="0"/>
          </a:p>
        </p:txBody>
      </p:sp>
      <p:sp>
        <p:nvSpPr>
          <p:cNvPr id="23" name="RACI 標記"/>
          <p:cNvSpPr/>
          <p:nvPr/>
        </p:nvSpPr>
        <p:spPr>
          <a:xfrm>
            <a:off x="2956512" y="423481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38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1000" dirty="0"/>
          </a:p>
        </p:txBody>
      </p:sp>
      <p:sp>
        <p:nvSpPr>
          <p:cNvPr id="24" name="RACI 標記"/>
          <p:cNvSpPr/>
          <p:nvPr/>
        </p:nvSpPr>
        <p:spPr>
          <a:xfrm>
            <a:off x="3715941" y="423481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E7E7E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000" dirty="0"/>
          </a:p>
        </p:txBody>
      </p:sp>
      <p:sp>
        <p:nvSpPr>
          <p:cNvPr id="25" name="RACI 標記"/>
          <p:cNvSpPr/>
          <p:nvPr/>
        </p:nvSpPr>
        <p:spPr>
          <a:xfrm>
            <a:off x="4475369" y="423481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1000" dirty="0"/>
          </a:p>
        </p:txBody>
      </p:sp>
      <p:sp>
        <p:nvSpPr>
          <p:cNvPr id="26" name="圖例"/>
          <p:cNvSpPr/>
          <p:nvPr/>
        </p:nvSpPr>
        <p:spPr>
          <a:xfrm>
            <a:off x="685800" y="4663440"/>
            <a:ext cx="251460" cy="182880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800" dirty="0"/>
          </a:p>
        </p:txBody>
      </p:sp>
      <p:sp>
        <p:nvSpPr>
          <p:cNvPr id="27" name="圖例"/>
          <p:cNvSpPr/>
          <p:nvPr/>
        </p:nvSpPr>
        <p:spPr>
          <a:xfrm>
            <a:off x="982980" y="4640580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1000" dirty="0"/>
          </a:p>
        </p:txBody>
      </p:sp>
      <p:sp>
        <p:nvSpPr>
          <p:cNvPr id="28" name="圖例"/>
          <p:cNvSpPr/>
          <p:nvPr/>
        </p:nvSpPr>
        <p:spPr>
          <a:xfrm>
            <a:off x="1668780" y="4663440"/>
            <a:ext cx="251460" cy="182880"/>
          </a:xfrm>
          <a:prstGeom prst="roundRect">
            <a:avLst>
              <a:gd name="adj" fmla="val 50000"/>
            </a:avLst>
          </a:prstGeom>
          <a:solidFill>
            <a:srgbClr val="5B9BD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800" dirty="0"/>
          </a:p>
        </p:txBody>
      </p:sp>
      <p:sp>
        <p:nvSpPr>
          <p:cNvPr id="29" name="圖例"/>
          <p:cNvSpPr/>
          <p:nvPr/>
        </p:nvSpPr>
        <p:spPr>
          <a:xfrm>
            <a:off x="1965960" y="4640580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當責</a:t>
            </a:r>
            <a:endParaRPr lang="en-US" sz="1000" dirty="0"/>
          </a:p>
        </p:txBody>
      </p:sp>
      <p:sp>
        <p:nvSpPr>
          <p:cNvPr id="30" name="圖例"/>
          <p:cNvSpPr/>
          <p:nvPr/>
        </p:nvSpPr>
        <p:spPr>
          <a:xfrm>
            <a:off x="2651760" y="4663440"/>
            <a:ext cx="251460" cy="182880"/>
          </a:xfrm>
          <a:prstGeom prst="roundRect">
            <a:avLst>
              <a:gd name="adj" fmla="val 50000"/>
            </a:avLst>
          </a:prstGeom>
          <a:solidFill>
            <a:srgbClr val="E7E7E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800" dirty="0"/>
          </a:p>
        </p:txBody>
      </p:sp>
      <p:sp>
        <p:nvSpPr>
          <p:cNvPr id="31" name="圖例"/>
          <p:cNvSpPr/>
          <p:nvPr/>
        </p:nvSpPr>
        <p:spPr>
          <a:xfrm>
            <a:off x="2948940" y="4640580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諮詢</a:t>
            </a:r>
            <a:endParaRPr lang="en-US" sz="1000" dirty="0"/>
          </a:p>
        </p:txBody>
      </p:sp>
      <p:sp>
        <p:nvSpPr>
          <p:cNvPr id="32" name="圖例"/>
          <p:cNvSpPr/>
          <p:nvPr/>
        </p:nvSpPr>
        <p:spPr>
          <a:xfrm>
            <a:off x="3634740" y="4663440"/>
            <a:ext cx="25146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001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800" dirty="0"/>
          </a:p>
        </p:txBody>
      </p:sp>
      <p:sp>
        <p:nvSpPr>
          <p:cNvPr id="33" name="圖例"/>
          <p:cNvSpPr/>
          <p:nvPr/>
        </p:nvSpPr>
        <p:spPr>
          <a:xfrm>
            <a:off x="3931920" y="4640580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知會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438013" y="2205990"/>
            <a:ext cx="57150" cy="2514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組合名稱"/>
          <p:cNvSpPr/>
          <p:nvPr/>
        </p:nvSpPr>
        <p:spPr>
          <a:xfrm>
            <a:off x="5632323" y="2171700"/>
            <a:ext cx="4169283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改善前後對照表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Before / After Table</a:t>
            </a:r>
            <a:endParaRPr lang="en-US" sz="1750" dirty="0"/>
          </a:p>
        </p:txBody>
      </p:sp>
      <p:sp>
        <p:nvSpPr>
          <p:cNvPr id="36" name="線條"/>
          <p:cNvSpPr/>
          <p:nvPr/>
        </p:nvSpPr>
        <p:spPr>
          <a:xfrm>
            <a:off x="5438013" y="2560320"/>
            <a:ext cx="4363593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38013" y="2628900"/>
          <a:ext cx="4363593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610297"/>
                <a:gridCol w="1610297"/>
              </a:tblGrid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改善前 Before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改善後 After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交期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 天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4040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 天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不良率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3.2%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4040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1.1%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人力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 人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4040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 人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客訴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 件／月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4040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 件／月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8" name="Text 34"/>
          <p:cNvSpPr/>
          <p:nvPr/>
        </p:nvSpPr>
        <p:spPr>
          <a:xfrm>
            <a:off x="5438013" y="4732020"/>
            <a:ext cx="4363593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改善後一欄以主色粗體標示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10190226" y="2205990"/>
            <a:ext cx="57150" cy="2514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組合名稱"/>
          <p:cNvSpPr/>
          <p:nvPr/>
        </p:nvSpPr>
        <p:spPr>
          <a:xfrm>
            <a:off x="10384536" y="2171700"/>
            <a:ext cx="4169283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 → 原因 → 對策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Problem / Cause / Countermeasure</a:t>
            </a:r>
            <a:endParaRPr lang="en-US" sz="1750" dirty="0"/>
          </a:p>
        </p:txBody>
      </p:sp>
      <p:sp>
        <p:nvSpPr>
          <p:cNvPr id="41" name="線條"/>
          <p:cNvSpPr/>
          <p:nvPr/>
        </p:nvSpPr>
        <p:spPr>
          <a:xfrm>
            <a:off x="10190226" y="2560320"/>
            <a:ext cx="4363593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2" name="問題 → 原因 → 對策"/>
          <p:cNvGrpSpPr/>
          <p:nvPr/>
        </p:nvGrpSpPr>
        <p:grpSpPr>
          <a:xfrm>
            <a:off x="10190226" y="2880360"/>
            <a:ext cx="4363593" cy="1325880"/>
            <a:chOff x="10190226" y="2880360"/>
            <a:chExt cx="4363593" cy="1325880"/>
          </a:xfrm>
        </p:grpSpPr>
        <p:sp>
          <p:nvSpPr>
            <p:cNvPr id="42" name="問題"/>
            <p:cNvSpPr/>
            <p:nvPr/>
          </p:nvSpPr>
          <p:spPr>
            <a:xfrm>
              <a:off x="10190226" y="2880360"/>
              <a:ext cx="1165860" cy="1325880"/>
            </a:xfrm>
            <a:prstGeom prst="roundRect">
              <a:avLst>
                <a:gd name="adj" fmla="val 2941"/>
              </a:avLst>
            </a:prstGeom>
            <a:solidFill>
              <a:srgbClr val="FFFFFF"/>
            </a:solidFill>
            <a:ln w="23876">
              <a:solidFill>
                <a:srgbClr val="C0504D"/>
              </a:solidFill>
              <a:prstDash val="solid"/>
            </a:ln>
          </p:spPr>
          <p:txBody>
            <a:bodyPr wrap="square" lIns="111125" tIns="127000" rIns="79375" bIns="6350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1450" b="1" dirty="0">
                  <a:solidFill>
                    <a:srgbClr val="903C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問題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9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Problem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交期常延誤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客戶抱怨增加</a:t>
              </a:r>
              <a:endParaRPr lang="en-US" sz="1050" dirty="0"/>
            </a:p>
          </p:txBody>
        </p:sp>
        <p:sp>
          <p:nvSpPr>
            <p:cNvPr id="43" name="原因"/>
            <p:cNvSpPr/>
            <p:nvPr/>
          </p:nvSpPr>
          <p:spPr>
            <a:xfrm>
              <a:off x="11789093" y="2880360"/>
              <a:ext cx="1165860" cy="1325880"/>
            </a:xfrm>
            <a:prstGeom prst="roundRect">
              <a:avLst>
                <a:gd name="adj" fmla="val 2941"/>
              </a:avLst>
            </a:prstGeom>
            <a:solidFill>
              <a:srgbClr val="E6E6E6"/>
            </a:solidFill>
            <a:ln>
              <a:noFill/>
            </a:ln>
          </p:spPr>
          <p:txBody>
            <a:bodyPr wrap="square" lIns="111125" tIns="127000" rIns="79375" bIns="6350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14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原因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9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Cause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需求變更頻繁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排程未同步</a:t>
              </a:r>
              <a:endParaRPr lang="en-US" sz="1050" dirty="0"/>
            </a:p>
          </p:txBody>
        </p:sp>
        <p:sp>
          <p:nvSpPr>
            <p:cNvPr id="44" name="對策"/>
            <p:cNvSpPr/>
            <p:nvPr/>
          </p:nvSpPr>
          <p:spPr>
            <a:xfrm>
              <a:off x="13387959" y="2880360"/>
              <a:ext cx="1165860" cy="1325880"/>
            </a:xfrm>
            <a:prstGeom prst="roundRect">
              <a:avLst>
                <a:gd name="adj" fmla="val 2941"/>
              </a:avLst>
            </a:prstGeom>
            <a:solidFill>
              <a:srgbClr val="404040"/>
            </a:solidFill>
            <a:ln>
              <a:noFill/>
            </a:ln>
          </p:spPr>
          <p:txBody>
            <a:bodyPr wrap="square" lIns="111125" tIns="127000" rIns="79375" bIns="6350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14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對策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900" dirty="0">
                  <a:solidFill>
                    <a:srgbClr val="C6C6C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Countermeasure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需求凍結點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每週排程會議</a:t>
              </a:r>
              <a:endParaRPr lang="en-US" sz="1050" dirty="0"/>
            </a:p>
          </p:txBody>
        </p:sp>
        <p:cxnSp>
          <p:nvCxnSpPr>
            <p:cNvPr id="45" name="連接線"/>
            <p:cNvCxnSpPr>
              <a:stCxn id="42" idx="3"/>
              <a:endCxn id="43" idx="1"/>
            </p:cNvCxnSpPr>
            <p:nvPr/>
          </p:nvCxnSpPr>
          <p:spPr>
            <a:xfrm>
              <a:off x="11356086" y="3543300"/>
              <a:ext cx="433007" cy="0"/>
            </a:xfrm>
            <a:prstGeom prst="straightConnector1">
              <a:avLst/>
            </a:prstGeom>
            <a:ln w="15875">
              <a:solidFill>
                <a:srgbClr val="595959"/>
              </a:solidFill>
              <a:prstDash val="solid"/>
              <a:tailEnd type="triangle" w="lg" len="lg"/>
            </a:ln>
          </p:spPr>
        </p:cxnSp>
        <p:cxnSp>
          <p:nvCxnSpPr>
            <p:cNvPr id="46" name="連接線"/>
            <p:cNvCxnSpPr>
              <a:stCxn id="43" idx="3"/>
              <a:endCxn id="44" idx="1"/>
            </p:cNvCxnSpPr>
            <p:nvPr/>
          </p:nvCxnSpPr>
          <p:spPr>
            <a:xfrm>
              <a:off x="12954953" y="3543300"/>
              <a:ext cx="433006" cy="0"/>
            </a:xfrm>
            <a:prstGeom prst="straightConnector1">
              <a:avLst/>
            </a:prstGeom>
            <a:ln w="15875">
              <a:solidFill>
                <a:srgbClr val="595959"/>
              </a:solidFill>
              <a:prstDash val="solid"/>
              <a:tailEnd type="triangle" w="lg" len="lg"/>
            </a:ln>
          </p:spPr>
        </p:cxnSp>
      </p:grpSp>
      <p:sp>
        <p:nvSpPr>
          <p:cNvPr id="47" name="Text 43"/>
          <p:cNvSpPr/>
          <p:nvPr/>
        </p:nvSpPr>
        <p:spPr>
          <a:xfrm>
            <a:off x="685800" y="5063490"/>
            <a:ext cx="57150" cy="2514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組合名稱"/>
          <p:cNvSpPr/>
          <p:nvPr/>
        </p:nvSpPr>
        <p:spPr>
          <a:xfrm>
            <a:off x="880110" y="5029200"/>
            <a:ext cx="4169283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三方案比較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3-Column Comparison</a:t>
            </a:r>
            <a:endParaRPr lang="en-US" sz="1750" dirty="0"/>
          </a:p>
        </p:txBody>
      </p:sp>
      <p:sp>
        <p:nvSpPr>
          <p:cNvPr id="49" name="線條"/>
          <p:cNvSpPr/>
          <p:nvPr/>
        </p:nvSpPr>
        <p:spPr>
          <a:xfrm>
            <a:off x="685800" y="5417820"/>
            <a:ext cx="4363593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3" name="三方案比較"/>
          <p:cNvGrpSpPr/>
          <p:nvPr/>
        </p:nvGrpSpPr>
        <p:grpSpPr>
          <a:xfrm>
            <a:off x="685800" y="5554980"/>
            <a:ext cx="4363593" cy="2217420"/>
            <a:chOff x="685800" y="5554980"/>
            <a:chExt cx="4363593" cy="2217420"/>
          </a:xfrm>
        </p:grpSpPr>
        <p:sp>
          <p:nvSpPr>
            <p:cNvPr id="50" name="方案"/>
            <p:cNvSpPr/>
            <p:nvPr/>
          </p:nvSpPr>
          <p:spPr>
            <a:xfrm>
              <a:off x="685800" y="5554980"/>
              <a:ext cx="1363091" cy="2057400"/>
            </a:xfrm>
            <a:prstGeom prst="roundRect">
              <a:avLst>
                <a:gd name="adj" fmla="val 2516"/>
              </a:avLst>
            </a:prstGeom>
            <a:solidFill>
              <a:srgbClr val="FFFFFF"/>
            </a:solidFill>
            <a:ln w="15875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1" name="表頭底"/>
            <p:cNvSpPr/>
            <p:nvPr/>
          </p:nvSpPr>
          <p:spPr>
            <a:xfrm>
              <a:off x="686943" y="5556123"/>
              <a:ext cx="1360805" cy="4572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2" name="方案名稱"/>
            <p:cNvSpPr/>
            <p:nvPr/>
          </p:nvSpPr>
          <p:spPr>
            <a:xfrm>
              <a:off x="685800" y="5554980"/>
              <a:ext cx="136309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A</a:t>
              </a:r>
              <a:endParaRPr lang="en-US" sz="17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9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A</a:t>
              </a:r>
              <a:endParaRPr lang="en-US" sz="1750" dirty="0"/>
            </a:p>
          </p:txBody>
        </p:sp>
        <p:sp>
          <p:nvSpPr>
            <p:cNvPr id="53" name="項目"/>
            <p:cNvSpPr/>
            <p:nvPr/>
          </p:nvSpPr>
          <p:spPr>
            <a:xfrm>
              <a:off x="822960" y="6172200"/>
              <a:ext cx="10887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950" dirty="0"/>
            </a:p>
          </p:txBody>
        </p:sp>
        <p:sp>
          <p:nvSpPr>
            <p:cNvPr id="54" name="內容"/>
            <p:cNvSpPr/>
            <p:nvPr/>
          </p:nvSpPr>
          <p:spPr>
            <a:xfrm>
              <a:off x="822960" y="6343650"/>
              <a:ext cx="10887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低</a:t>
              </a:r>
              <a:endParaRPr lang="en-US" sz="1200" dirty="0"/>
            </a:p>
          </p:txBody>
        </p:sp>
        <p:sp>
          <p:nvSpPr>
            <p:cNvPr id="55" name="項目"/>
            <p:cNvSpPr/>
            <p:nvPr/>
          </p:nvSpPr>
          <p:spPr>
            <a:xfrm>
              <a:off x="822960" y="6583680"/>
              <a:ext cx="10887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950" dirty="0"/>
            </a:p>
          </p:txBody>
        </p:sp>
        <p:sp>
          <p:nvSpPr>
            <p:cNvPr id="56" name="內容"/>
            <p:cNvSpPr/>
            <p:nvPr/>
          </p:nvSpPr>
          <p:spPr>
            <a:xfrm>
              <a:off x="822960" y="6755130"/>
              <a:ext cx="10887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 週</a:t>
              </a:r>
              <a:endParaRPr lang="en-US" sz="1200" dirty="0"/>
            </a:p>
          </p:txBody>
        </p:sp>
        <p:sp>
          <p:nvSpPr>
            <p:cNvPr id="57" name="項目"/>
            <p:cNvSpPr/>
            <p:nvPr/>
          </p:nvSpPr>
          <p:spPr>
            <a:xfrm>
              <a:off x="822960" y="6995160"/>
              <a:ext cx="10887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950" dirty="0"/>
            </a:p>
          </p:txBody>
        </p:sp>
        <p:sp>
          <p:nvSpPr>
            <p:cNvPr id="58" name="內容"/>
            <p:cNvSpPr/>
            <p:nvPr/>
          </p:nvSpPr>
          <p:spPr>
            <a:xfrm>
              <a:off x="822960" y="7166610"/>
              <a:ext cx="10887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有限</a:t>
              </a:r>
              <a:endParaRPr lang="en-US" sz="1200" dirty="0"/>
            </a:p>
          </p:txBody>
        </p:sp>
        <p:sp>
          <p:nvSpPr>
            <p:cNvPr id="59" name="推薦方案"/>
            <p:cNvSpPr/>
            <p:nvPr/>
          </p:nvSpPr>
          <p:spPr>
            <a:xfrm>
              <a:off x="2186051" y="5554980"/>
              <a:ext cx="1363091" cy="2057400"/>
            </a:xfrm>
            <a:prstGeom prst="roundRect">
              <a:avLst>
                <a:gd name="adj" fmla="val 2516"/>
              </a:avLst>
            </a:prstGeom>
            <a:solidFill>
              <a:srgbClr val="FFFFFF"/>
            </a:solidFill>
            <a:ln w="27813">
              <a:solidFill>
                <a:srgbClr val="404040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0" name="表頭"/>
            <p:cNvSpPr/>
            <p:nvPr/>
          </p:nvSpPr>
          <p:spPr>
            <a:xfrm>
              <a:off x="2186051" y="5554980"/>
              <a:ext cx="1363091" cy="457200"/>
            </a:xfrm>
            <a:custGeom>
              <a:avLst/>
              <a:gdLst/>
              <a:ahLst/>
              <a:cxnLst/>
              <a:rect l="l" t="t" r="r" b="b"/>
              <a:pathLst>
                <a:path w="1363091" h="457200">
                  <a:moveTo>
                    <a:pt x="0" y="457200"/>
                  </a:moveTo>
                  <a:lnTo>
                    <a:pt x="0" y="34290"/>
                  </a:lnTo>
                  <a:arcTo hR="34290" wR="34290" stAng="10800000" swAng="5400000"/>
                  <a:lnTo>
                    <a:pt x="1328801" y="0"/>
                  </a:lnTo>
                  <a:arcTo hR="34290" wR="34290" stAng="16200000" swAng="5400000"/>
                  <a:lnTo>
                    <a:pt x="1363091" y="457200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1" name="方案名稱"/>
            <p:cNvSpPr/>
            <p:nvPr/>
          </p:nvSpPr>
          <p:spPr>
            <a:xfrm>
              <a:off x="2186051" y="5554980"/>
              <a:ext cx="136309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B</a:t>
              </a:r>
              <a:endParaRPr lang="en-US" sz="17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900" dirty="0">
                  <a:solidFill>
                    <a:srgbClr val="C6C6C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B</a:t>
              </a:r>
              <a:endParaRPr lang="en-US" sz="1750" dirty="0"/>
            </a:p>
          </p:txBody>
        </p:sp>
        <p:sp>
          <p:nvSpPr>
            <p:cNvPr id="62" name="項目"/>
            <p:cNvSpPr/>
            <p:nvPr/>
          </p:nvSpPr>
          <p:spPr>
            <a:xfrm>
              <a:off x="2323211" y="6172200"/>
              <a:ext cx="10887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950" dirty="0"/>
            </a:p>
          </p:txBody>
        </p:sp>
        <p:sp>
          <p:nvSpPr>
            <p:cNvPr id="63" name="內容"/>
            <p:cNvSpPr/>
            <p:nvPr/>
          </p:nvSpPr>
          <p:spPr>
            <a:xfrm>
              <a:off x="2323211" y="6343650"/>
              <a:ext cx="10887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40404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中</a:t>
              </a:r>
              <a:endParaRPr lang="en-US" sz="1200" dirty="0"/>
            </a:p>
          </p:txBody>
        </p:sp>
        <p:sp>
          <p:nvSpPr>
            <p:cNvPr id="64" name="項目"/>
            <p:cNvSpPr/>
            <p:nvPr/>
          </p:nvSpPr>
          <p:spPr>
            <a:xfrm>
              <a:off x="2323211" y="6583680"/>
              <a:ext cx="10887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950" dirty="0"/>
            </a:p>
          </p:txBody>
        </p:sp>
        <p:sp>
          <p:nvSpPr>
            <p:cNvPr id="65" name="內容"/>
            <p:cNvSpPr/>
            <p:nvPr/>
          </p:nvSpPr>
          <p:spPr>
            <a:xfrm>
              <a:off x="2323211" y="6755130"/>
              <a:ext cx="10887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40404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4 週</a:t>
              </a:r>
              <a:endParaRPr lang="en-US" sz="1200" dirty="0"/>
            </a:p>
          </p:txBody>
        </p:sp>
        <p:sp>
          <p:nvSpPr>
            <p:cNvPr id="66" name="項目"/>
            <p:cNvSpPr/>
            <p:nvPr/>
          </p:nvSpPr>
          <p:spPr>
            <a:xfrm>
              <a:off x="2323211" y="6995160"/>
              <a:ext cx="10887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950" dirty="0"/>
            </a:p>
          </p:txBody>
        </p:sp>
        <p:sp>
          <p:nvSpPr>
            <p:cNvPr id="67" name="內容"/>
            <p:cNvSpPr/>
            <p:nvPr/>
          </p:nvSpPr>
          <p:spPr>
            <a:xfrm>
              <a:off x="2323211" y="7166610"/>
              <a:ext cx="10887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40404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佳</a:t>
              </a:r>
              <a:endParaRPr lang="en-US" sz="1200" dirty="0"/>
            </a:p>
          </p:txBody>
        </p:sp>
        <p:sp>
          <p:nvSpPr>
            <p:cNvPr id="68" name="標籤"/>
            <p:cNvSpPr/>
            <p:nvPr/>
          </p:nvSpPr>
          <p:spPr>
            <a:xfrm>
              <a:off x="2592007" y="7520940"/>
              <a:ext cx="551180" cy="251460"/>
            </a:xfrm>
            <a:prstGeom prst="rect">
              <a:avLst/>
            </a:prstGeom>
            <a:solidFill>
              <a:srgbClr val="5B9BD5"/>
            </a:solidFill>
            <a:ln>
              <a:noFill/>
            </a:ln>
          </p:spPr>
          <p:txBody>
            <a:bodyPr wrap="square" lIns="31750" tIns="0" rIns="3175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推薦</a:t>
              </a:r>
              <a:endParaRPr lang="en-US" sz="1000" dirty="0"/>
            </a:p>
          </p:txBody>
        </p:sp>
        <p:sp>
          <p:nvSpPr>
            <p:cNvPr id="69" name="方案"/>
            <p:cNvSpPr/>
            <p:nvPr/>
          </p:nvSpPr>
          <p:spPr>
            <a:xfrm>
              <a:off x="3686302" y="5554980"/>
              <a:ext cx="1363091" cy="2057400"/>
            </a:xfrm>
            <a:prstGeom prst="roundRect">
              <a:avLst>
                <a:gd name="adj" fmla="val 2516"/>
              </a:avLst>
            </a:prstGeom>
            <a:solidFill>
              <a:srgbClr val="FFFFFF"/>
            </a:solidFill>
            <a:ln w="15875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0" name="表頭底"/>
            <p:cNvSpPr/>
            <p:nvPr/>
          </p:nvSpPr>
          <p:spPr>
            <a:xfrm>
              <a:off x="3687445" y="5556123"/>
              <a:ext cx="1360805" cy="4572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1" name="方案名稱"/>
            <p:cNvSpPr/>
            <p:nvPr/>
          </p:nvSpPr>
          <p:spPr>
            <a:xfrm>
              <a:off x="3686302" y="5554980"/>
              <a:ext cx="136309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C</a:t>
              </a:r>
              <a:endParaRPr lang="en-US" sz="17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9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C</a:t>
              </a:r>
              <a:endParaRPr lang="en-US" sz="1750" dirty="0"/>
            </a:p>
          </p:txBody>
        </p:sp>
        <p:sp>
          <p:nvSpPr>
            <p:cNvPr id="72" name="項目"/>
            <p:cNvSpPr/>
            <p:nvPr/>
          </p:nvSpPr>
          <p:spPr>
            <a:xfrm>
              <a:off x="3823462" y="6172200"/>
              <a:ext cx="10887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950" dirty="0"/>
            </a:p>
          </p:txBody>
        </p:sp>
        <p:sp>
          <p:nvSpPr>
            <p:cNvPr id="73" name="內容"/>
            <p:cNvSpPr/>
            <p:nvPr/>
          </p:nvSpPr>
          <p:spPr>
            <a:xfrm>
              <a:off x="3823462" y="6343650"/>
              <a:ext cx="10887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高</a:t>
              </a:r>
              <a:endParaRPr lang="en-US" sz="1200" dirty="0"/>
            </a:p>
          </p:txBody>
        </p:sp>
        <p:sp>
          <p:nvSpPr>
            <p:cNvPr id="74" name="項目"/>
            <p:cNvSpPr/>
            <p:nvPr/>
          </p:nvSpPr>
          <p:spPr>
            <a:xfrm>
              <a:off x="3823462" y="6583680"/>
              <a:ext cx="10887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950" dirty="0"/>
            </a:p>
          </p:txBody>
        </p:sp>
        <p:sp>
          <p:nvSpPr>
            <p:cNvPr id="75" name="內容"/>
            <p:cNvSpPr/>
            <p:nvPr/>
          </p:nvSpPr>
          <p:spPr>
            <a:xfrm>
              <a:off x="3823462" y="6755130"/>
              <a:ext cx="10887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8 週</a:t>
              </a:r>
              <a:endParaRPr lang="en-US" sz="1200" dirty="0"/>
            </a:p>
          </p:txBody>
        </p:sp>
        <p:sp>
          <p:nvSpPr>
            <p:cNvPr id="76" name="項目"/>
            <p:cNvSpPr/>
            <p:nvPr/>
          </p:nvSpPr>
          <p:spPr>
            <a:xfrm>
              <a:off x="3823462" y="6995160"/>
              <a:ext cx="10887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950" dirty="0"/>
            </a:p>
          </p:txBody>
        </p:sp>
        <p:sp>
          <p:nvSpPr>
            <p:cNvPr id="77" name="內容"/>
            <p:cNvSpPr/>
            <p:nvPr/>
          </p:nvSpPr>
          <p:spPr>
            <a:xfrm>
              <a:off x="3823462" y="7166610"/>
              <a:ext cx="10887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最佳</a:t>
              </a:r>
              <a:endParaRPr lang="en-US" sz="1200" dirty="0"/>
            </a:p>
          </p:txBody>
        </p:sp>
      </p:grpSp>
      <p:sp>
        <p:nvSpPr>
          <p:cNvPr id="78" name="Text 74"/>
          <p:cNvSpPr/>
          <p:nvPr/>
        </p:nvSpPr>
        <p:spPr>
          <a:xfrm>
            <a:off x="5438013" y="5063490"/>
            <a:ext cx="57150" cy="2514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組合名稱"/>
          <p:cNvSpPr/>
          <p:nvPr/>
        </p:nvSpPr>
        <p:spPr>
          <a:xfrm>
            <a:off x="5632323" y="5029200"/>
            <a:ext cx="4169283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KPI 數字卡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KPI Cards</a:t>
            </a:r>
            <a:endParaRPr lang="en-US" sz="1750" dirty="0"/>
          </a:p>
        </p:txBody>
      </p:sp>
      <p:sp>
        <p:nvSpPr>
          <p:cNvPr id="80" name="線條"/>
          <p:cNvSpPr/>
          <p:nvPr/>
        </p:nvSpPr>
        <p:spPr>
          <a:xfrm>
            <a:off x="5438013" y="5417820"/>
            <a:ext cx="4363593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4" name="KPI 數字卡"/>
          <p:cNvGrpSpPr/>
          <p:nvPr/>
        </p:nvGrpSpPr>
        <p:grpSpPr>
          <a:xfrm>
            <a:off x="5438013" y="5737860"/>
            <a:ext cx="4363593" cy="1554480"/>
            <a:chOff x="5438013" y="5737860"/>
            <a:chExt cx="4363593" cy="1554480"/>
          </a:xfrm>
        </p:grpSpPr>
        <p:sp>
          <p:nvSpPr>
            <p:cNvPr id="81" name="卡片"/>
            <p:cNvSpPr/>
            <p:nvPr/>
          </p:nvSpPr>
          <p:spPr>
            <a:xfrm>
              <a:off x="5438013" y="5737860"/>
              <a:ext cx="1347851" cy="1554480"/>
            </a:xfrm>
            <a:prstGeom prst="roundRect">
              <a:avLst>
                <a:gd name="adj" fmla="val 2544"/>
              </a:avLst>
            </a:prstGeom>
            <a:solidFill>
              <a:srgbClr val="FFFFFF"/>
            </a:solidFill>
            <a:ln w="15875">
              <a:solidFill>
                <a:srgbClr val="7F7F7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2" name="色條"/>
            <p:cNvSpPr/>
            <p:nvPr/>
          </p:nvSpPr>
          <p:spPr>
            <a:xfrm>
              <a:off x="5598033" y="5920740"/>
              <a:ext cx="274320" cy="45720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3" name="指標名稱"/>
            <p:cNvSpPr/>
            <p:nvPr/>
          </p:nvSpPr>
          <p:spPr>
            <a:xfrm>
              <a:off x="5598033" y="6035040"/>
              <a:ext cx="1119251" cy="2514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準時交貨率</a:t>
              </a:r>
              <a:endParaRPr lang="en-US" sz="1050" dirty="0"/>
            </a:p>
          </p:txBody>
        </p:sp>
        <p:sp>
          <p:nvSpPr>
            <p:cNvPr id="84" name="數值"/>
            <p:cNvSpPr/>
            <p:nvPr/>
          </p:nvSpPr>
          <p:spPr>
            <a:xfrm>
              <a:off x="5575173" y="6309360"/>
              <a:ext cx="1142111" cy="5257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3000" b="1" dirty="0">
                  <a:solidFill>
                    <a:srgbClr val="40404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98.6</a:t>
              </a: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%</a:t>
              </a:r>
              <a:endParaRPr lang="en-US" sz="1750" dirty="0"/>
            </a:p>
          </p:txBody>
        </p:sp>
        <p:sp>
          <p:nvSpPr>
            <p:cNvPr id="85" name="變化"/>
            <p:cNvSpPr/>
            <p:nvPr/>
          </p:nvSpPr>
          <p:spPr>
            <a:xfrm>
              <a:off x="5598033" y="6880860"/>
              <a:ext cx="11192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40404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▲ 2.1 pt</a:t>
              </a:r>
              <a:r>
                <a:rPr lang="en-US" sz="9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750" dirty="0"/>
            </a:p>
          </p:txBody>
        </p:sp>
        <p:sp>
          <p:nvSpPr>
            <p:cNvPr id="86" name="卡片"/>
            <p:cNvSpPr/>
            <p:nvPr/>
          </p:nvSpPr>
          <p:spPr>
            <a:xfrm>
              <a:off x="6945884" y="5737860"/>
              <a:ext cx="1347851" cy="1554480"/>
            </a:xfrm>
            <a:prstGeom prst="roundRect">
              <a:avLst>
                <a:gd name="adj" fmla="val 2544"/>
              </a:avLst>
            </a:prstGeom>
            <a:solidFill>
              <a:srgbClr val="FFFFFF"/>
            </a:solidFill>
            <a:ln w="15875">
              <a:solidFill>
                <a:srgbClr val="7F7F7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7" name="色條"/>
            <p:cNvSpPr/>
            <p:nvPr/>
          </p:nvSpPr>
          <p:spPr>
            <a:xfrm>
              <a:off x="7105904" y="5920740"/>
              <a:ext cx="274320" cy="4572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8" name="指標名稱"/>
            <p:cNvSpPr/>
            <p:nvPr/>
          </p:nvSpPr>
          <p:spPr>
            <a:xfrm>
              <a:off x="7105904" y="6035040"/>
              <a:ext cx="1119251" cy="2514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平均交期</a:t>
              </a:r>
              <a:endParaRPr lang="en-US" sz="1050" dirty="0"/>
            </a:p>
          </p:txBody>
        </p:sp>
        <p:sp>
          <p:nvSpPr>
            <p:cNvPr id="89" name="數值"/>
            <p:cNvSpPr/>
            <p:nvPr/>
          </p:nvSpPr>
          <p:spPr>
            <a:xfrm>
              <a:off x="7083044" y="6309360"/>
              <a:ext cx="1142111" cy="5257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30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6.2</a:t>
              </a: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天</a:t>
              </a:r>
              <a:endParaRPr lang="en-US" sz="1750" dirty="0"/>
            </a:p>
          </p:txBody>
        </p:sp>
        <p:sp>
          <p:nvSpPr>
            <p:cNvPr id="90" name="變化"/>
            <p:cNvSpPr/>
            <p:nvPr/>
          </p:nvSpPr>
          <p:spPr>
            <a:xfrm>
              <a:off x="7105904" y="6880860"/>
              <a:ext cx="11192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40404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▼ 1.8 天</a:t>
              </a:r>
              <a:r>
                <a:rPr lang="en-US" sz="9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750" dirty="0"/>
            </a:p>
          </p:txBody>
        </p:sp>
        <p:sp>
          <p:nvSpPr>
            <p:cNvPr id="91" name="卡片"/>
            <p:cNvSpPr/>
            <p:nvPr/>
          </p:nvSpPr>
          <p:spPr>
            <a:xfrm>
              <a:off x="8453755" y="5737860"/>
              <a:ext cx="1347851" cy="1554480"/>
            </a:xfrm>
            <a:prstGeom prst="roundRect">
              <a:avLst>
                <a:gd name="adj" fmla="val 2544"/>
              </a:avLst>
            </a:prstGeom>
            <a:solidFill>
              <a:srgbClr val="FFFFFF"/>
            </a:solidFill>
            <a:ln w="15875">
              <a:solidFill>
                <a:srgbClr val="7F7F7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2" name="色條"/>
            <p:cNvSpPr/>
            <p:nvPr/>
          </p:nvSpPr>
          <p:spPr>
            <a:xfrm>
              <a:off x="8613775" y="5920740"/>
              <a:ext cx="274320" cy="4572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3" name="指標名稱"/>
            <p:cNvSpPr/>
            <p:nvPr/>
          </p:nvSpPr>
          <p:spPr>
            <a:xfrm>
              <a:off x="8613775" y="6035040"/>
              <a:ext cx="1119251" cy="2514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客訴件數</a:t>
              </a:r>
              <a:endParaRPr lang="en-US" sz="1050" dirty="0"/>
            </a:p>
          </p:txBody>
        </p:sp>
        <p:sp>
          <p:nvSpPr>
            <p:cNvPr id="94" name="數值"/>
            <p:cNvSpPr/>
            <p:nvPr/>
          </p:nvSpPr>
          <p:spPr>
            <a:xfrm>
              <a:off x="8590915" y="6309360"/>
              <a:ext cx="1142111" cy="5257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30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</a:t>
              </a: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件／月</a:t>
              </a:r>
              <a:endParaRPr lang="en-US" sz="1750" dirty="0"/>
            </a:p>
          </p:txBody>
        </p:sp>
        <p:sp>
          <p:nvSpPr>
            <p:cNvPr id="95" name="變化"/>
            <p:cNvSpPr/>
            <p:nvPr/>
          </p:nvSpPr>
          <p:spPr>
            <a:xfrm>
              <a:off x="8613775" y="6880860"/>
              <a:ext cx="11192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40404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▼ 75%</a:t>
              </a:r>
              <a:r>
                <a:rPr lang="en-US" sz="9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750" dirty="0"/>
            </a:p>
          </p:txBody>
        </p:sp>
      </p:grpSp>
      <p:sp>
        <p:nvSpPr>
          <p:cNvPr id="96" name="Text 92"/>
          <p:cNvSpPr/>
          <p:nvPr/>
        </p:nvSpPr>
        <p:spPr>
          <a:xfrm>
            <a:off x="10190226" y="5063490"/>
            <a:ext cx="57150" cy="2514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7" name="組合名稱"/>
          <p:cNvSpPr/>
          <p:nvPr/>
        </p:nvSpPr>
        <p:spPr>
          <a:xfrm>
            <a:off x="10384536" y="5029200"/>
            <a:ext cx="4169283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PDCA 循環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PDCA Cycle</a:t>
            </a:r>
            <a:endParaRPr lang="en-US" sz="1750" dirty="0"/>
          </a:p>
        </p:txBody>
      </p:sp>
      <p:sp>
        <p:nvSpPr>
          <p:cNvPr id="98" name="線條"/>
          <p:cNvSpPr/>
          <p:nvPr/>
        </p:nvSpPr>
        <p:spPr>
          <a:xfrm>
            <a:off x="10190226" y="5417820"/>
            <a:ext cx="4363593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5" name="PDCA 循環"/>
          <p:cNvGrpSpPr/>
          <p:nvPr/>
        </p:nvGrpSpPr>
        <p:grpSpPr>
          <a:xfrm>
            <a:off x="10190226" y="5554980"/>
            <a:ext cx="4363593" cy="2057400"/>
            <a:chOff x="10190226" y="5554980"/>
            <a:chExt cx="4363593" cy="2057400"/>
          </a:xfrm>
        </p:grpSpPr>
        <p:sp>
          <p:nvSpPr>
            <p:cNvPr id="99" name="PDCA Plan"/>
            <p:cNvSpPr/>
            <p:nvPr/>
          </p:nvSpPr>
          <p:spPr>
            <a:xfrm>
              <a:off x="10190226" y="5554980"/>
              <a:ext cx="1645920" cy="777240"/>
            </a:xfrm>
            <a:prstGeom prst="roundRect">
              <a:avLst>
                <a:gd name="adj" fmla="val 4412"/>
              </a:avLst>
            </a:prstGeom>
            <a:solidFill>
              <a:srgbClr val="FFFFFF"/>
            </a:solidFill>
            <a:ln w="15875">
              <a:solidFill>
                <a:srgbClr val="707070"/>
              </a:solidFill>
              <a:prstDash val="solid"/>
            </a:ln>
          </p:spPr>
          <p:txBody>
            <a:bodyPr wrap="square" lIns="127000" tIns="0" rIns="635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900" b="1" dirty="0">
                  <a:solidFill>
                    <a:srgbClr val="40404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</a:t>
              </a: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計畫 </a:t>
              </a: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Plan</a:t>
              </a:r>
              <a:endParaRPr lang="en-US" sz="10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設定目標與做法</a:t>
              </a:r>
              <a:endParaRPr lang="en-US" sz="1050" dirty="0"/>
            </a:p>
          </p:txBody>
        </p:sp>
        <p:sp>
          <p:nvSpPr>
            <p:cNvPr id="100" name="PDCA Do"/>
            <p:cNvSpPr/>
            <p:nvPr/>
          </p:nvSpPr>
          <p:spPr>
            <a:xfrm>
              <a:off x="12907899" y="5554980"/>
              <a:ext cx="1645920" cy="777240"/>
            </a:xfrm>
            <a:prstGeom prst="roundRect">
              <a:avLst>
                <a:gd name="adj" fmla="val 4412"/>
              </a:avLst>
            </a:prstGeom>
            <a:solidFill>
              <a:srgbClr val="FFFFFF"/>
            </a:solidFill>
            <a:ln w="15875">
              <a:solidFill>
                <a:srgbClr val="707070"/>
              </a:solidFill>
              <a:prstDash val="solid"/>
            </a:ln>
          </p:spPr>
          <p:txBody>
            <a:bodyPr wrap="square" lIns="127000" tIns="0" rIns="635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900" b="1" dirty="0">
                  <a:solidFill>
                    <a:srgbClr val="40404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D</a:t>
              </a: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執行 </a:t>
              </a: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Do</a:t>
              </a:r>
              <a:endParaRPr lang="en-US" sz="10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依計畫小步執行</a:t>
              </a:r>
              <a:endParaRPr lang="en-US" sz="1050" dirty="0"/>
            </a:p>
          </p:txBody>
        </p:sp>
        <p:sp>
          <p:nvSpPr>
            <p:cNvPr id="101" name="PDCA Check"/>
            <p:cNvSpPr/>
            <p:nvPr/>
          </p:nvSpPr>
          <p:spPr>
            <a:xfrm>
              <a:off x="12907899" y="6835140"/>
              <a:ext cx="1645920" cy="777240"/>
            </a:xfrm>
            <a:prstGeom prst="roundRect">
              <a:avLst>
                <a:gd name="adj" fmla="val 4412"/>
              </a:avLst>
            </a:prstGeom>
            <a:solidFill>
              <a:srgbClr val="FFFFFF"/>
            </a:solidFill>
            <a:ln w="15875">
              <a:solidFill>
                <a:srgbClr val="707070"/>
              </a:solidFill>
              <a:prstDash val="solid"/>
            </a:ln>
          </p:spPr>
          <p:txBody>
            <a:bodyPr wrap="square" lIns="127000" tIns="0" rIns="635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900" b="1" dirty="0">
                  <a:solidFill>
                    <a:srgbClr val="40404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</a:t>
              </a: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查核 </a:t>
              </a: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Check</a:t>
              </a:r>
              <a:endParaRPr lang="en-US" sz="10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量測結果與差異</a:t>
              </a:r>
              <a:endParaRPr lang="en-US" sz="1050" dirty="0"/>
            </a:p>
          </p:txBody>
        </p:sp>
        <p:sp>
          <p:nvSpPr>
            <p:cNvPr id="102" name="PDCA Act"/>
            <p:cNvSpPr/>
            <p:nvPr/>
          </p:nvSpPr>
          <p:spPr>
            <a:xfrm>
              <a:off x="10190226" y="6835140"/>
              <a:ext cx="1645920" cy="777240"/>
            </a:xfrm>
            <a:prstGeom prst="roundRect">
              <a:avLst>
                <a:gd name="adj" fmla="val 4412"/>
              </a:avLst>
            </a:prstGeom>
            <a:solidFill>
              <a:srgbClr val="FFFFFF"/>
            </a:solidFill>
            <a:ln w="15875">
              <a:solidFill>
                <a:srgbClr val="707070"/>
              </a:solidFill>
              <a:prstDash val="solid"/>
            </a:ln>
          </p:spPr>
          <p:txBody>
            <a:bodyPr wrap="square" lIns="127000" tIns="0" rIns="635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900" b="1" dirty="0">
                  <a:solidFill>
                    <a:srgbClr val="40404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</a:t>
              </a: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行動 </a:t>
              </a: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Act</a:t>
              </a:r>
              <a:endParaRPr lang="en-US" sz="10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標準化並修正</a:t>
              </a:r>
              <a:endParaRPr lang="en-US" sz="1050" dirty="0"/>
            </a:p>
          </p:txBody>
        </p:sp>
        <p:cxnSp>
          <p:nvCxnSpPr>
            <p:cNvPr id="103" name="連接線"/>
            <p:cNvCxnSpPr>
              <a:stCxn id="99" idx="3"/>
              <a:endCxn id="100" idx="1"/>
            </p:cNvCxnSpPr>
            <p:nvPr/>
          </p:nvCxnSpPr>
          <p:spPr>
            <a:xfrm>
              <a:off x="11836146" y="5943600"/>
              <a:ext cx="1071753" cy="0"/>
            </a:xfrm>
            <a:prstGeom prst="straightConnector1">
              <a:avLst/>
            </a:prstGeom>
            <a:ln w="15875">
              <a:solidFill>
                <a:srgbClr val="595959"/>
              </a:solidFill>
              <a:prstDash val="solid"/>
              <a:tailEnd type="triangle" w="lg" len="lg"/>
            </a:ln>
          </p:spPr>
        </p:cxnSp>
        <p:cxnSp>
          <p:nvCxnSpPr>
            <p:cNvPr id="104" name="連接線"/>
            <p:cNvCxnSpPr>
              <a:stCxn id="100" idx="2"/>
              <a:endCxn id="101" idx="0"/>
            </p:cNvCxnSpPr>
            <p:nvPr/>
          </p:nvCxnSpPr>
          <p:spPr>
            <a:xfrm>
              <a:off x="13730859" y="6332220"/>
              <a:ext cx="0" cy="502920"/>
            </a:xfrm>
            <a:prstGeom prst="straightConnector1">
              <a:avLst/>
            </a:prstGeom>
            <a:ln w="15875">
              <a:solidFill>
                <a:srgbClr val="595959"/>
              </a:solidFill>
              <a:prstDash val="solid"/>
              <a:tailEnd type="triangle" w="lg" len="lg"/>
            </a:ln>
          </p:spPr>
        </p:cxnSp>
        <p:cxnSp>
          <p:nvCxnSpPr>
            <p:cNvPr id="105" name="連接線"/>
            <p:cNvCxnSpPr>
              <a:stCxn id="101" idx="1"/>
              <a:endCxn id="102" idx="3"/>
            </p:cNvCxnSpPr>
            <p:nvPr/>
          </p:nvCxnSpPr>
          <p:spPr>
            <a:xfrm flipH="1">
              <a:off x="11836146" y="7223760"/>
              <a:ext cx="1071753" cy="0"/>
            </a:xfrm>
            <a:prstGeom prst="straightConnector1">
              <a:avLst/>
            </a:prstGeom>
            <a:ln w="15875">
              <a:solidFill>
                <a:srgbClr val="595959"/>
              </a:solidFill>
              <a:prstDash val="solid"/>
              <a:tailEnd type="triangle" w="lg" len="lg"/>
            </a:ln>
          </p:spPr>
        </p:cxnSp>
        <p:cxnSp>
          <p:nvCxnSpPr>
            <p:cNvPr id="106" name="連接線"/>
            <p:cNvCxnSpPr>
              <a:stCxn id="102" idx="0"/>
              <a:endCxn id="99" idx="2"/>
            </p:cNvCxnSpPr>
            <p:nvPr/>
          </p:nvCxnSpPr>
          <p:spPr>
            <a:xfrm flipV="1">
              <a:off x="11013186" y="6332220"/>
              <a:ext cx="0" cy="502920"/>
            </a:xfrm>
            <a:prstGeom prst="straightConnector1">
              <a:avLst/>
            </a:prstGeom>
            <a:ln w="15875">
              <a:solidFill>
                <a:srgbClr val="595959"/>
              </a:solidFill>
              <a:prstDash val="solid"/>
              <a:tailEnd type="triangle" w="lg" len="lg"/>
            </a:ln>
          </p:spPr>
        </p:cxnSp>
        <p:sp>
          <p:nvSpPr>
            <p:cNvPr id="107" name="中心標籤"/>
            <p:cNvSpPr/>
            <p:nvPr/>
          </p:nvSpPr>
          <p:spPr>
            <a:xfrm>
              <a:off x="11800523" y="6435090"/>
              <a:ext cx="1143000" cy="29718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1938">
              <a:solidFill>
                <a:srgbClr val="D9D9D9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40404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PDCA</a:t>
              </a:r>
              <a:r>
                <a:rPr lang="en-US" sz="9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持續改善</a:t>
              </a:r>
              <a:endParaRPr lang="en-US" sz="1000" dirty="0"/>
            </a:p>
          </p:txBody>
        </p:sp>
      </p:grpSp>
      <p:sp>
        <p:nvSpPr>
          <p:cNvPr id="108" name="Text 104"/>
          <p:cNvSpPr/>
          <p:nvPr/>
        </p:nvSpPr>
        <p:spPr>
          <a:xfrm>
            <a:off x="685800" y="78867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冰山能力圖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109" name="Text 105"/>
          <p:cNvSpPr/>
          <p:nvPr/>
        </p:nvSpPr>
        <p:spPr>
          <a:xfrm>
            <a:off x="12839319" y="78867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/ 14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85750" y="285750"/>
            <a:ext cx="14668119" cy="800100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85800" y="571500"/>
            <a:ext cx="80010" cy="11658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標題"/>
          <p:cNvSpPr/>
          <p:nvPr/>
        </p:nvSpPr>
        <p:spPr>
          <a:xfrm>
            <a:off x="982980" y="45720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5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圖示庫 Icon Library</a:t>
            </a:r>
            <a:endParaRPr lang="en-US" sz="4250" dirty="0"/>
          </a:p>
        </p:txBody>
      </p:sp>
      <p:sp>
        <p:nvSpPr>
          <p:cNvPr id="5" name="Text 3"/>
          <p:cNvSpPr/>
          <p:nvPr/>
        </p:nvSpPr>
        <p:spPr>
          <a:xfrm>
            <a:off x="982980" y="1257300"/>
            <a:ext cx="12573000" cy="434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B9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60 個線條圖示：顏色、線寬跟著風格；每個都是可編輯的 PowerPoint 圖案，點一下即可複製</a:t>
            </a:r>
            <a:endParaRPr lang="en-US" sz="2000" dirty="0"/>
          </a:p>
        </p:txBody>
      </p:sp>
      <p:sp>
        <p:nvSpPr>
          <p:cNvPr id="6" name="圖示 人員"/>
          <p:cNvSpPr/>
          <p:nvPr/>
        </p:nvSpPr>
        <p:spPr>
          <a:xfrm>
            <a:off x="1035034" y="212598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61954" y="400050"/>
                </a:moveTo>
                <a:lnTo>
                  <a:pt x="361954" y="361954"/>
                </a:lnTo>
                <a:cubicBezTo>
                  <a:pt x="361954" y="319869"/>
                  <a:pt x="327835" y="285750"/>
                  <a:pt x="285750" y="285750"/>
                </a:cubicBezTo>
                <a:lnTo>
                  <a:pt x="171450" y="285750"/>
                </a:lnTo>
                <a:cubicBezTo>
                  <a:pt x="129365" y="285750"/>
                  <a:pt x="95246" y="319869"/>
                  <a:pt x="95246" y="361954"/>
                </a:cubicBezTo>
                <a:lnTo>
                  <a:pt x="95246" y="400050"/>
                </a:lnTo>
                <a:moveTo>
                  <a:pt x="304804" y="133354"/>
                </a:moveTo>
                <a:cubicBezTo>
                  <a:pt x="304804" y="175439"/>
                  <a:pt x="270685" y="209546"/>
                  <a:pt x="228600" y="209546"/>
                </a:cubicBezTo>
                <a:cubicBezTo>
                  <a:pt x="186515" y="209546"/>
                  <a:pt x="152396" y="175439"/>
                  <a:pt x="152396" y="133354"/>
                </a:cubicBezTo>
                <a:cubicBezTo>
                  <a:pt x="152396" y="91269"/>
                  <a:pt x="186515" y="57150"/>
                  <a:pt x="228600" y="57150"/>
                </a:cubicBezTo>
                <a:cubicBezTo>
                  <a:pt x="270685" y="57150"/>
                  <a:pt x="304804" y="91269"/>
                  <a:pt x="304804" y="133354"/>
                </a:cubicBezTo>
                <a:close/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圖說"/>
          <p:cNvSpPr/>
          <p:nvPr/>
        </p:nvSpPr>
        <p:spPr>
          <a:xfrm>
            <a:off x="685800" y="262890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人員</a:t>
            </a:r>
            <a:endParaRPr lang="en-US" sz="1000" dirty="0"/>
          </a:p>
        </p:txBody>
      </p:sp>
      <p:sp>
        <p:nvSpPr>
          <p:cNvPr id="8" name="圖示 團隊"/>
          <p:cNvSpPr/>
          <p:nvPr/>
        </p:nvSpPr>
        <p:spPr>
          <a:xfrm>
            <a:off x="2190702" y="212598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04804" y="400050"/>
                </a:moveTo>
                <a:lnTo>
                  <a:pt x="304804" y="361954"/>
                </a:lnTo>
                <a:cubicBezTo>
                  <a:pt x="304804" y="319869"/>
                  <a:pt x="270685" y="285750"/>
                  <a:pt x="228600" y="285750"/>
                </a:cubicBezTo>
                <a:lnTo>
                  <a:pt x="114300" y="285750"/>
                </a:lnTo>
                <a:cubicBezTo>
                  <a:pt x="72215" y="285750"/>
                  <a:pt x="38096" y="319869"/>
                  <a:pt x="38096" y="361954"/>
                </a:cubicBezTo>
                <a:lnTo>
                  <a:pt x="38096" y="400050"/>
                </a:lnTo>
                <a:moveTo>
                  <a:pt x="304804" y="59585"/>
                </a:moveTo>
                <a:cubicBezTo>
                  <a:pt x="338408" y="68306"/>
                  <a:pt x="361874" y="98629"/>
                  <a:pt x="361874" y="133354"/>
                </a:cubicBezTo>
                <a:cubicBezTo>
                  <a:pt x="361874" y="168067"/>
                  <a:pt x="338408" y="198402"/>
                  <a:pt x="304804" y="207112"/>
                </a:cubicBezTo>
                <a:moveTo>
                  <a:pt x="419104" y="400050"/>
                </a:moveTo>
                <a:lnTo>
                  <a:pt x="419104" y="361954"/>
                </a:lnTo>
                <a:cubicBezTo>
                  <a:pt x="419070" y="327229"/>
                  <a:pt x="395569" y="296906"/>
                  <a:pt x="361954" y="288230"/>
                </a:cubicBezTo>
                <a:moveTo>
                  <a:pt x="247654" y="133354"/>
                </a:moveTo>
                <a:cubicBezTo>
                  <a:pt x="247654" y="175439"/>
                  <a:pt x="213535" y="209546"/>
                  <a:pt x="171450" y="209546"/>
                </a:cubicBezTo>
                <a:cubicBezTo>
                  <a:pt x="129365" y="209546"/>
                  <a:pt x="95246" y="175439"/>
                  <a:pt x="95246" y="133354"/>
                </a:cubicBezTo>
                <a:cubicBezTo>
                  <a:pt x="95246" y="91269"/>
                  <a:pt x="129365" y="57150"/>
                  <a:pt x="171450" y="57150"/>
                </a:cubicBezTo>
                <a:cubicBezTo>
                  <a:pt x="213535" y="57150"/>
                  <a:pt x="247654" y="91269"/>
                  <a:pt x="247654" y="133354"/>
                </a:cubicBezTo>
                <a:close/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圖說"/>
          <p:cNvSpPr/>
          <p:nvPr/>
        </p:nvSpPr>
        <p:spPr>
          <a:xfrm>
            <a:off x="1841468" y="262890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團隊</a:t>
            </a:r>
            <a:endParaRPr lang="en-US" sz="1000" dirty="0"/>
          </a:p>
        </p:txBody>
      </p:sp>
      <p:sp>
        <p:nvSpPr>
          <p:cNvPr id="10" name="圖示 負責人"/>
          <p:cNvSpPr/>
          <p:nvPr/>
        </p:nvSpPr>
        <p:spPr>
          <a:xfrm>
            <a:off x="3346371" y="212598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04804" y="209546"/>
                </a:moveTo>
                <a:lnTo>
                  <a:pt x="342900" y="247654"/>
                </a:lnTo>
                <a:lnTo>
                  <a:pt x="419104" y="171450"/>
                </a:lnTo>
                <a:moveTo>
                  <a:pt x="304804" y="400050"/>
                </a:moveTo>
                <a:lnTo>
                  <a:pt x="304804" y="361954"/>
                </a:lnTo>
                <a:cubicBezTo>
                  <a:pt x="304804" y="319869"/>
                  <a:pt x="270685" y="285750"/>
                  <a:pt x="228600" y="285750"/>
                </a:cubicBezTo>
                <a:lnTo>
                  <a:pt x="114300" y="285750"/>
                </a:lnTo>
                <a:cubicBezTo>
                  <a:pt x="72215" y="285750"/>
                  <a:pt x="38096" y="319869"/>
                  <a:pt x="38096" y="361954"/>
                </a:cubicBezTo>
                <a:lnTo>
                  <a:pt x="38096" y="400050"/>
                </a:lnTo>
                <a:moveTo>
                  <a:pt x="247654" y="133354"/>
                </a:moveTo>
                <a:cubicBezTo>
                  <a:pt x="247654" y="175439"/>
                  <a:pt x="213535" y="209546"/>
                  <a:pt x="171450" y="209546"/>
                </a:cubicBezTo>
                <a:cubicBezTo>
                  <a:pt x="129365" y="209546"/>
                  <a:pt x="95246" y="175439"/>
                  <a:pt x="95246" y="133354"/>
                </a:cubicBezTo>
                <a:cubicBezTo>
                  <a:pt x="95246" y="91269"/>
                  <a:pt x="129365" y="57150"/>
                  <a:pt x="171450" y="57150"/>
                </a:cubicBezTo>
                <a:cubicBezTo>
                  <a:pt x="213535" y="57150"/>
                  <a:pt x="247654" y="91269"/>
                  <a:pt x="247654" y="133354"/>
                </a:cubicBezTo>
                <a:close/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圖說"/>
          <p:cNvSpPr/>
          <p:nvPr/>
        </p:nvSpPr>
        <p:spPr>
          <a:xfrm>
            <a:off x="2997137" y="262890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負責人</a:t>
            </a:r>
            <a:endParaRPr lang="en-US" sz="1000" dirty="0"/>
          </a:p>
        </p:txBody>
      </p:sp>
      <p:sp>
        <p:nvSpPr>
          <p:cNvPr id="12" name="圖示 合作"/>
          <p:cNvSpPr/>
          <p:nvPr/>
        </p:nvSpPr>
        <p:spPr>
          <a:xfrm>
            <a:off x="4502039" y="212598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09546" y="323846"/>
                </a:moveTo>
                <a:lnTo>
                  <a:pt x="247654" y="361954"/>
                </a:lnTo>
                <a:cubicBezTo>
                  <a:pt x="263427" y="377727"/>
                  <a:pt x="289019" y="377727"/>
                  <a:pt x="304804" y="361954"/>
                </a:cubicBezTo>
                <a:cubicBezTo>
                  <a:pt x="320577" y="346169"/>
                  <a:pt x="320577" y="320577"/>
                  <a:pt x="304804" y="304804"/>
                </a:cubicBezTo>
                <a:moveTo>
                  <a:pt x="266696" y="266696"/>
                </a:moveTo>
                <a:lnTo>
                  <a:pt x="314325" y="314325"/>
                </a:lnTo>
                <a:cubicBezTo>
                  <a:pt x="330110" y="330110"/>
                  <a:pt x="355690" y="330110"/>
                  <a:pt x="371475" y="314325"/>
                </a:cubicBezTo>
                <a:cubicBezTo>
                  <a:pt x="387260" y="298540"/>
                  <a:pt x="387260" y="272960"/>
                  <a:pt x="371475" y="257175"/>
                </a:cubicBezTo>
                <a:lnTo>
                  <a:pt x="297557" y="183257"/>
                </a:lnTo>
                <a:cubicBezTo>
                  <a:pt x="275246" y="160980"/>
                  <a:pt x="239104" y="160980"/>
                  <a:pt x="216793" y="183257"/>
                </a:cubicBezTo>
                <a:lnTo>
                  <a:pt x="200025" y="200025"/>
                </a:lnTo>
                <a:cubicBezTo>
                  <a:pt x="184240" y="215810"/>
                  <a:pt x="158660" y="215810"/>
                  <a:pt x="142875" y="200025"/>
                </a:cubicBezTo>
                <a:cubicBezTo>
                  <a:pt x="127090" y="184240"/>
                  <a:pt x="127090" y="158660"/>
                  <a:pt x="142875" y="142875"/>
                </a:cubicBezTo>
                <a:lnTo>
                  <a:pt x="196402" y="89348"/>
                </a:lnTo>
                <a:cubicBezTo>
                  <a:pt x="232155" y="53687"/>
                  <a:pt x="287556" y="46863"/>
                  <a:pt x="330898" y="72775"/>
                </a:cubicBezTo>
                <a:lnTo>
                  <a:pt x="339848" y="78101"/>
                </a:lnTo>
                <a:cubicBezTo>
                  <a:pt x="347963" y="83005"/>
                  <a:pt x="357610" y="84696"/>
                  <a:pt x="366903" y="82868"/>
                </a:cubicBezTo>
                <a:lnTo>
                  <a:pt x="400050" y="76204"/>
                </a:lnTo>
                <a:moveTo>
                  <a:pt x="400050" y="57150"/>
                </a:moveTo>
                <a:lnTo>
                  <a:pt x="419104" y="266696"/>
                </a:lnTo>
                <a:lnTo>
                  <a:pt x="380996" y="266696"/>
                </a:lnTo>
                <a:moveTo>
                  <a:pt x="57150" y="57150"/>
                </a:moveTo>
                <a:lnTo>
                  <a:pt x="38096" y="266696"/>
                </a:lnTo>
                <a:lnTo>
                  <a:pt x="161929" y="390529"/>
                </a:lnTo>
                <a:cubicBezTo>
                  <a:pt x="177702" y="406302"/>
                  <a:pt x="203294" y="406302"/>
                  <a:pt x="219079" y="390529"/>
                </a:cubicBezTo>
                <a:cubicBezTo>
                  <a:pt x="234852" y="374744"/>
                  <a:pt x="234852" y="349152"/>
                  <a:pt x="219079" y="333379"/>
                </a:cubicBezTo>
                <a:moveTo>
                  <a:pt x="57150" y="76204"/>
                </a:moveTo>
                <a:lnTo>
                  <a:pt x="209546" y="76204"/>
                </a:lnTo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圖說"/>
          <p:cNvSpPr/>
          <p:nvPr/>
        </p:nvSpPr>
        <p:spPr>
          <a:xfrm>
            <a:off x="4152805" y="262890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合作</a:t>
            </a:r>
            <a:endParaRPr lang="en-US" sz="1000" dirty="0"/>
          </a:p>
        </p:txBody>
      </p:sp>
      <p:sp>
        <p:nvSpPr>
          <p:cNvPr id="14" name="圖示 機台"/>
          <p:cNvSpPr/>
          <p:nvPr/>
        </p:nvSpPr>
        <p:spPr>
          <a:xfrm>
            <a:off x="5657707" y="212598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95246" y="114300"/>
                </a:moveTo>
                <a:lnTo>
                  <a:pt x="361954" y="114300"/>
                </a:lnTo>
                <a:cubicBezTo>
                  <a:pt x="382996" y="114300"/>
                  <a:pt x="400050" y="131354"/>
                  <a:pt x="400050" y="152396"/>
                </a:cubicBezTo>
                <a:lnTo>
                  <a:pt x="400050" y="323846"/>
                </a:lnTo>
                <a:cubicBezTo>
                  <a:pt x="400050" y="344889"/>
                  <a:pt x="382996" y="361954"/>
                  <a:pt x="361954" y="361954"/>
                </a:cubicBezTo>
                <a:lnTo>
                  <a:pt x="95246" y="361954"/>
                </a:lnTo>
                <a:cubicBezTo>
                  <a:pt x="74204" y="361954"/>
                  <a:pt x="57150" y="344889"/>
                  <a:pt x="57150" y="323846"/>
                </a:cubicBezTo>
                <a:lnTo>
                  <a:pt x="57150" y="152396"/>
                </a:lnTo>
                <a:cubicBezTo>
                  <a:pt x="57150" y="131354"/>
                  <a:pt x="74204" y="114300"/>
                  <a:pt x="95246" y="114300"/>
                </a:cubicBezTo>
                <a:close/>
                <a:moveTo>
                  <a:pt x="133354" y="171450"/>
                </a:moveTo>
                <a:lnTo>
                  <a:pt x="228600" y="171450"/>
                </a:lnTo>
                <a:cubicBezTo>
                  <a:pt x="239116" y="171450"/>
                  <a:pt x="247654" y="179977"/>
                  <a:pt x="247654" y="190504"/>
                </a:cubicBezTo>
                <a:lnTo>
                  <a:pt x="247654" y="266696"/>
                </a:lnTo>
                <a:cubicBezTo>
                  <a:pt x="247654" y="277223"/>
                  <a:pt x="239116" y="285750"/>
                  <a:pt x="228600" y="285750"/>
                </a:cubicBezTo>
                <a:lnTo>
                  <a:pt x="133354" y="285750"/>
                </a:lnTo>
                <a:cubicBezTo>
                  <a:pt x="122827" y="285750"/>
                  <a:pt x="114300" y="277223"/>
                  <a:pt x="114300" y="266696"/>
                </a:cubicBezTo>
                <a:lnTo>
                  <a:pt x="114300" y="190504"/>
                </a:lnTo>
                <a:cubicBezTo>
                  <a:pt x="114300" y="179977"/>
                  <a:pt x="122827" y="171450"/>
                  <a:pt x="133354" y="171450"/>
                </a:cubicBezTo>
                <a:close/>
                <a:moveTo>
                  <a:pt x="314325" y="190504"/>
                </a:moveTo>
                <a:lnTo>
                  <a:pt x="342900" y="190504"/>
                </a:lnTo>
                <a:moveTo>
                  <a:pt x="314325" y="247654"/>
                </a:moveTo>
                <a:lnTo>
                  <a:pt x="342900" y="247654"/>
                </a:lnTo>
                <a:moveTo>
                  <a:pt x="133354" y="361954"/>
                </a:moveTo>
                <a:lnTo>
                  <a:pt x="133354" y="400050"/>
                </a:lnTo>
                <a:moveTo>
                  <a:pt x="323846" y="361954"/>
                </a:moveTo>
                <a:lnTo>
                  <a:pt x="323846" y="400050"/>
                </a:lnTo>
                <a:moveTo>
                  <a:pt x="152396" y="114300"/>
                </a:moveTo>
                <a:lnTo>
                  <a:pt x="152396" y="66671"/>
                </a:lnTo>
                <a:lnTo>
                  <a:pt x="228600" y="66671"/>
                </a:lnTo>
                <a:lnTo>
                  <a:pt x="228600" y="114300"/>
                </a:lnTo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圖說"/>
          <p:cNvSpPr/>
          <p:nvPr/>
        </p:nvSpPr>
        <p:spPr>
          <a:xfrm>
            <a:off x="5308473" y="262890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機台</a:t>
            </a:r>
            <a:endParaRPr lang="en-US" sz="1000" dirty="0"/>
          </a:p>
        </p:txBody>
      </p:sp>
      <p:sp>
        <p:nvSpPr>
          <p:cNvPr id="16" name="圖示 晶圓"/>
          <p:cNvSpPr/>
          <p:nvPr/>
        </p:nvSpPr>
        <p:spPr>
          <a:xfrm>
            <a:off x="6813375" y="212598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50110" y="380996"/>
                </a:moveTo>
                <a:cubicBezTo>
                  <a:pt x="79759" y="344775"/>
                  <a:pt x="43331" y="265096"/>
                  <a:pt x="61973" y="188195"/>
                </a:cubicBezTo>
                <a:cubicBezTo>
                  <a:pt x="80616" y="111282"/>
                  <a:pt x="149470" y="57116"/>
                  <a:pt x="228600" y="57116"/>
                </a:cubicBezTo>
                <a:cubicBezTo>
                  <a:pt x="307730" y="57116"/>
                  <a:pt x="376584" y="111282"/>
                  <a:pt x="395227" y="188195"/>
                </a:cubicBezTo>
                <a:cubicBezTo>
                  <a:pt x="413869" y="265096"/>
                  <a:pt x="377441" y="344775"/>
                  <a:pt x="307090" y="380996"/>
                </a:cubicBezTo>
                <a:close/>
                <a:moveTo>
                  <a:pt x="171450" y="95246"/>
                </a:moveTo>
                <a:lnTo>
                  <a:pt x="171450" y="342900"/>
                </a:lnTo>
                <a:moveTo>
                  <a:pt x="285750" y="95246"/>
                </a:moveTo>
                <a:lnTo>
                  <a:pt x="285750" y="342900"/>
                </a:lnTo>
                <a:moveTo>
                  <a:pt x="95246" y="171450"/>
                </a:moveTo>
                <a:lnTo>
                  <a:pt x="361954" y="171450"/>
                </a:lnTo>
                <a:moveTo>
                  <a:pt x="95246" y="285750"/>
                </a:moveTo>
                <a:lnTo>
                  <a:pt x="361954" y="285750"/>
                </a:lnTo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圖說"/>
          <p:cNvSpPr/>
          <p:nvPr/>
        </p:nvSpPr>
        <p:spPr>
          <a:xfrm>
            <a:off x="6464141" y="262890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晶圓</a:t>
            </a:r>
            <a:endParaRPr lang="en-US" sz="1000" dirty="0"/>
          </a:p>
        </p:txBody>
      </p:sp>
      <p:sp>
        <p:nvSpPr>
          <p:cNvPr id="18" name="圖示 晶片"/>
          <p:cNvSpPr/>
          <p:nvPr/>
        </p:nvSpPr>
        <p:spPr>
          <a:xfrm>
            <a:off x="7969044" y="212598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380996"/>
                </a:moveTo>
                <a:lnTo>
                  <a:pt x="228600" y="419104"/>
                </a:lnTo>
                <a:moveTo>
                  <a:pt x="228600" y="38096"/>
                </a:moveTo>
                <a:lnTo>
                  <a:pt x="228600" y="76204"/>
                </a:lnTo>
                <a:moveTo>
                  <a:pt x="323846" y="380996"/>
                </a:moveTo>
                <a:lnTo>
                  <a:pt x="323846" y="419104"/>
                </a:lnTo>
                <a:moveTo>
                  <a:pt x="323846" y="38096"/>
                </a:moveTo>
                <a:lnTo>
                  <a:pt x="323846" y="76204"/>
                </a:lnTo>
                <a:moveTo>
                  <a:pt x="38096" y="228600"/>
                </a:moveTo>
                <a:lnTo>
                  <a:pt x="76204" y="228600"/>
                </a:lnTo>
                <a:moveTo>
                  <a:pt x="38096" y="323846"/>
                </a:moveTo>
                <a:lnTo>
                  <a:pt x="76204" y="323846"/>
                </a:lnTo>
                <a:moveTo>
                  <a:pt x="38096" y="133354"/>
                </a:moveTo>
                <a:lnTo>
                  <a:pt x="76204" y="133354"/>
                </a:lnTo>
                <a:moveTo>
                  <a:pt x="380996" y="228600"/>
                </a:moveTo>
                <a:lnTo>
                  <a:pt x="419104" y="228600"/>
                </a:lnTo>
                <a:moveTo>
                  <a:pt x="380996" y="323846"/>
                </a:moveTo>
                <a:lnTo>
                  <a:pt x="419104" y="323846"/>
                </a:lnTo>
                <a:moveTo>
                  <a:pt x="380996" y="133354"/>
                </a:moveTo>
                <a:lnTo>
                  <a:pt x="419104" y="133354"/>
                </a:lnTo>
                <a:moveTo>
                  <a:pt x="133354" y="380996"/>
                </a:moveTo>
                <a:lnTo>
                  <a:pt x="133354" y="419104"/>
                </a:lnTo>
                <a:moveTo>
                  <a:pt x="133354" y="38096"/>
                </a:moveTo>
                <a:lnTo>
                  <a:pt x="133354" y="76204"/>
                </a:lnTo>
                <a:moveTo>
                  <a:pt x="114300" y="76204"/>
                </a:moveTo>
                <a:lnTo>
                  <a:pt x="342900" y="76204"/>
                </a:lnTo>
                <a:cubicBezTo>
                  <a:pt x="363943" y="76204"/>
                  <a:pt x="380996" y="93257"/>
                  <a:pt x="380996" y="114300"/>
                </a:cubicBezTo>
                <a:lnTo>
                  <a:pt x="380996" y="342900"/>
                </a:lnTo>
                <a:cubicBezTo>
                  <a:pt x="380996" y="363943"/>
                  <a:pt x="363943" y="380996"/>
                  <a:pt x="342900" y="380996"/>
                </a:cubicBezTo>
                <a:lnTo>
                  <a:pt x="114300" y="380996"/>
                </a:lnTo>
                <a:cubicBezTo>
                  <a:pt x="93257" y="380996"/>
                  <a:pt x="76204" y="363943"/>
                  <a:pt x="76204" y="342900"/>
                </a:cubicBezTo>
                <a:lnTo>
                  <a:pt x="76204" y="114300"/>
                </a:lnTo>
                <a:cubicBezTo>
                  <a:pt x="76204" y="93257"/>
                  <a:pt x="93257" y="76204"/>
                  <a:pt x="114300" y="76204"/>
                </a:cubicBezTo>
                <a:close/>
                <a:moveTo>
                  <a:pt x="171450" y="152396"/>
                </a:moveTo>
                <a:lnTo>
                  <a:pt x="285750" y="152396"/>
                </a:lnTo>
                <a:cubicBezTo>
                  <a:pt x="296266" y="152396"/>
                  <a:pt x="304804" y="160934"/>
                  <a:pt x="304804" y="171450"/>
                </a:cubicBezTo>
                <a:lnTo>
                  <a:pt x="304804" y="285750"/>
                </a:lnTo>
                <a:cubicBezTo>
                  <a:pt x="304804" y="296266"/>
                  <a:pt x="296266" y="304804"/>
                  <a:pt x="285750" y="304804"/>
                </a:cubicBezTo>
                <a:lnTo>
                  <a:pt x="171450" y="304804"/>
                </a:lnTo>
                <a:cubicBezTo>
                  <a:pt x="160934" y="304804"/>
                  <a:pt x="152396" y="296266"/>
                  <a:pt x="152396" y="285750"/>
                </a:cubicBezTo>
                <a:lnTo>
                  <a:pt x="152396" y="171450"/>
                </a:lnTo>
                <a:cubicBezTo>
                  <a:pt x="152396" y="160934"/>
                  <a:pt x="160934" y="152396"/>
                  <a:pt x="171450" y="152396"/>
                </a:cubicBezTo>
                <a:close/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圖說"/>
          <p:cNvSpPr/>
          <p:nvPr/>
        </p:nvSpPr>
        <p:spPr>
          <a:xfrm>
            <a:off x="7619809" y="262890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晶片</a:t>
            </a:r>
            <a:endParaRPr lang="en-US" sz="1000" dirty="0"/>
          </a:p>
        </p:txBody>
      </p:sp>
      <p:sp>
        <p:nvSpPr>
          <p:cNvPr id="20" name="圖示 工廠"/>
          <p:cNvSpPr/>
          <p:nvPr/>
        </p:nvSpPr>
        <p:spPr>
          <a:xfrm>
            <a:off x="9124712" y="212598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304804"/>
                </a:moveTo>
                <a:lnTo>
                  <a:pt x="228794" y="304804"/>
                </a:lnTo>
                <a:moveTo>
                  <a:pt x="304804" y="304804"/>
                </a:moveTo>
                <a:lnTo>
                  <a:pt x="304987" y="304804"/>
                </a:lnTo>
                <a:moveTo>
                  <a:pt x="57150" y="361954"/>
                </a:moveTo>
                <a:cubicBezTo>
                  <a:pt x="57150" y="382996"/>
                  <a:pt x="74204" y="400050"/>
                  <a:pt x="95246" y="400050"/>
                </a:cubicBezTo>
                <a:lnTo>
                  <a:pt x="361954" y="400050"/>
                </a:lnTo>
                <a:cubicBezTo>
                  <a:pt x="382996" y="400050"/>
                  <a:pt x="400050" y="382996"/>
                  <a:pt x="400050" y="361954"/>
                </a:cubicBezTo>
                <a:lnTo>
                  <a:pt x="400050" y="161929"/>
                </a:lnTo>
                <a:cubicBezTo>
                  <a:pt x="400050" y="158443"/>
                  <a:pt x="398164" y="155242"/>
                  <a:pt x="395112" y="153562"/>
                </a:cubicBezTo>
                <a:cubicBezTo>
                  <a:pt x="392060" y="151893"/>
                  <a:pt x="388334" y="152019"/>
                  <a:pt x="385397" y="153882"/>
                </a:cubicBezTo>
                <a:lnTo>
                  <a:pt x="300403" y="208060"/>
                </a:lnTo>
                <a:cubicBezTo>
                  <a:pt x="297466" y="209935"/>
                  <a:pt x="293740" y="210061"/>
                  <a:pt x="290688" y="208380"/>
                </a:cubicBezTo>
                <a:cubicBezTo>
                  <a:pt x="287636" y="206712"/>
                  <a:pt x="285750" y="203511"/>
                  <a:pt x="285750" y="200025"/>
                </a:cubicBezTo>
                <a:lnTo>
                  <a:pt x="285750" y="161929"/>
                </a:lnTo>
                <a:cubicBezTo>
                  <a:pt x="285750" y="158443"/>
                  <a:pt x="283864" y="155242"/>
                  <a:pt x="280812" y="153562"/>
                </a:cubicBezTo>
                <a:cubicBezTo>
                  <a:pt x="277760" y="151893"/>
                  <a:pt x="274034" y="152019"/>
                  <a:pt x="271097" y="153882"/>
                </a:cubicBezTo>
                <a:lnTo>
                  <a:pt x="186115" y="208060"/>
                </a:lnTo>
                <a:cubicBezTo>
                  <a:pt x="183189" y="209946"/>
                  <a:pt x="179451" y="210072"/>
                  <a:pt x="176399" y="208403"/>
                </a:cubicBezTo>
                <a:cubicBezTo>
                  <a:pt x="173336" y="206723"/>
                  <a:pt x="171439" y="203511"/>
                  <a:pt x="171450" y="200025"/>
                </a:cubicBezTo>
                <a:lnTo>
                  <a:pt x="171450" y="95246"/>
                </a:lnTo>
                <a:cubicBezTo>
                  <a:pt x="171450" y="74204"/>
                  <a:pt x="154396" y="57150"/>
                  <a:pt x="133354" y="57150"/>
                </a:cubicBezTo>
                <a:lnTo>
                  <a:pt x="95246" y="57150"/>
                </a:lnTo>
                <a:cubicBezTo>
                  <a:pt x="74204" y="57150"/>
                  <a:pt x="57150" y="74204"/>
                  <a:pt x="57150" y="95246"/>
                </a:cubicBezTo>
                <a:close/>
                <a:moveTo>
                  <a:pt x="152396" y="304804"/>
                </a:moveTo>
                <a:lnTo>
                  <a:pt x="152591" y="304804"/>
                </a:lnTo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圖說"/>
          <p:cNvSpPr/>
          <p:nvPr/>
        </p:nvSpPr>
        <p:spPr>
          <a:xfrm>
            <a:off x="8775478" y="262890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工廠</a:t>
            </a:r>
            <a:endParaRPr lang="en-US" sz="1000" dirty="0"/>
          </a:p>
        </p:txBody>
      </p:sp>
      <p:sp>
        <p:nvSpPr>
          <p:cNvPr id="22" name="圖示 伺服器"/>
          <p:cNvSpPr/>
          <p:nvPr/>
        </p:nvSpPr>
        <p:spPr>
          <a:xfrm>
            <a:off x="10280380" y="212598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4" y="38096"/>
                </a:moveTo>
                <a:lnTo>
                  <a:pt x="380996" y="38096"/>
                </a:lnTo>
                <a:cubicBezTo>
                  <a:pt x="402039" y="38096"/>
                  <a:pt x="419104" y="55161"/>
                  <a:pt x="419104" y="76204"/>
                </a:cubicBezTo>
                <a:lnTo>
                  <a:pt x="419104" y="152396"/>
                </a:lnTo>
                <a:cubicBezTo>
                  <a:pt x="419104" y="173439"/>
                  <a:pt x="402039" y="190504"/>
                  <a:pt x="380996" y="190504"/>
                </a:cubicBezTo>
                <a:lnTo>
                  <a:pt x="76204" y="190504"/>
                </a:lnTo>
                <a:cubicBezTo>
                  <a:pt x="55161" y="190504"/>
                  <a:pt x="38096" y="173439"/>
                  <a:pt x="38096" y="152396"/>
                </a:cubicBezTo>
                <a:lnTo>
                  <a:pt x="38096" y="76204"/>
                </a:lnTo>
                <a:cubicBezTo>
                  <a:pt x="38096" y="55161"/>
                  <a:pt x="55161" y="38096"/>
                  <a:pt x="76204" y="38096"/>
                </a:cubicBezTo>
                <a:close/>
                <a:moveTo>
                  <a:pt x="76204" y="266696"/>
                </a:moveTo>
                <a:lnTo>
                  <a:pt x="380996" y="266696"/>
                </a:lnTo>
                <a:cubicBezTo>
                  <a:pt x="402039" y="266696"/>
                  <a:pt x="419104" y="283761"/>
                  <a:pt x="419104" y="304804"/>
                </a:cubicBezTo>
                <a:lnTo>
                  <a:pt x="419104" y="380996"/>
                </a:lnTo>
                <a:cubicBezTo>
                  <a:pt x="419104" y="402039"/>
                  <a:pt x="402039" y="419104"/>
                  <a:pt x="380996" y="419104"/>
                </a:cubicBezTo>
                <a:lnTo>
                  <a:pt x="76204" y="419104"/>
                </a:lnTo>
                <a:cubicBezTo>
                  <a:pt x="55161" y="419104"/>
                  <a:pt x="38096" y="402039"/>
                  <a:pt x="38096" y="380996"/>
                </a:cubicBezTo>
                <a:lnTo>
                  <a:pt x="38096" y="304804"/>
                </a:lnTo>
                <a:cubicBezTo>
                  <a:pt x="38096" y="283761"/>
                  <a:pt x="55161" y="266696"/>
                  <a:pt x="76204" y="266696"/>
                </a:cubicBezTo>
                <a:close/>
                <a:moveTo>
                  <a:pt x="114300" y="114300"/>
                </a:moveTo>
                <a:lnTo>
                  <a:pt x="114494" y="114300"/>
                </a:lnTo>
                <a:moveTo>
                  <a:pt x="114300" y="342900"/>
                </a:moveTo>
                <a:lnTo>
                  <a:pt x="114494" y="342900"/>
                </a:lnTo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圖說"/>
          <p:cNvSpPr/>
          <p:nvPr/>
        </p:nvSpPr>
        <p:spPr>
          <a:xfrm>
            <a:off x="9931146" y="262890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伺服器</a:t>
            </a:r>
            <a:endParaRPr lang="en-US" sz="1000" dirty="0"/>
          </a:p>
        </p:txBody>
      </p:sp>
      <p:sp>
        <p:nvSpPr>
          <p:cNvPr id="24" name="圖示 資料庫"/>
          <p:cNvSpPr/>
          <p:nvPr/>
        </p:nvSpPr>
        <p:spPr>
          <a:xfrm>
            <a:off x="11436048" y="212598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00050" y="95246"/>
                </a:moveTo>
                <a:cubicBezTo>
                  <a:pt x="400050" y="126816"/>
                  <a:pt x="323286" y="152396"/>
                  <a:pt x="228600" y="152396"/>
                </a:cubicBezTo>
                <a:cubicBezTo>
                  <a:pt x="133914" y="152396"/>
                  <a:pt x="57150" y="126816"/>
                  <a:pt x="57150" y="95246"/>
                </a:cubicBezTo>
                <a:cubicBezTo>
                  <a:pt x="57150" y="63688"/>
                  <a:pt x="133914" y="38096"/>
                  <a:pt x="228600" y="38096"/>
                </a:cubicBezTo>
                <a:cubicBezTo>
                  <a:pt x="323286" y="38096"/>
                  <a:pt x="400050" y="63688"/>
                  <a:pt x="400050" y="95246"/>
                </a:cubicBezTo>
                <a:close/>
                <a:moveTo>
                  <a:pt x="57150" y="95246"/>
                </a:moveTo>
                <a:lnTo>
                  <a:pt x="57150" y="361954"/>
                </a:lnTo>
                <a:cubicBezTo>
                  <a:pt x="57150" y="393512"/>
                  <a:pt x="133914" y="419104"/>
                  <a:pt x="228600" y="419104"/>
                </a:cubicBezTo>
                <a:cubicBezTo>
                  <a:pt x="323286" y="419104"/>
                  <a:pt x="400050" y="393512"/>
                  <a:pt x="400050" y="361954"/>
                </a:cubicBezTo>
                <a:lnTo>
                  <a:pt x="400050" y="95246"/>
                </a:lnTo>
                <a:moveTo>
                  <a:pt x="57150" y="228600"/>
                </a:moveTo>
                <a:cubicBezTo>
                  <a:pt x="57150" y="260158"/>
                  <a:pt x="133914" y="285750"/>
                  <a:pt x="228600" y="285750"/>
                </a:cubicBezTo>
                <a:cubicBezTo>
                  <a:pt x="323286" y="285750"/>
                  <a:pt x="400050" y="260158"/>
                  <a:pt x="400050" y="228600"/>
                </a:cubicBezTo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圖說"/>
          <p:cNvSpPr/>
          <p:nvPr/>
        </p:nvSpPr>
        <p:spPr>
          <a:xfrm>
            <a:off x="11086814" y="262890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000" dirty="0"/>
          </a:p>
        </p:txBody>
      </p:sp>
      <p:sp>
        <p:nvSpPr>
          <p:cNvPr id="26" name="圖示 雲端"/>
          <p:cNvSpPr/>
          <p:nvPr/>
        </p:nvSpPr>
        <p:spPr>
          <a:xfrm>
            <a:off x="12591717" y="212598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33379" y="361954"/>
                </a:moveTo>
                <a:lnTo>
                  <a:pt x="171450" y="361954"/>
                </a:lnTo>
                <a:cubicBezTo>
                  <a:pt x="102790" y="361931"/>
                  <a:pt x="45366" y="309776"/>
                  <a:pt x="38759" y="241436"/>
                </a:cubicBezTo>
                <a:cubicBezTo>
                  <a:pt x="32141" y="173096"/>
                  <a:pt x="78513" y="110905"/>
                  <a:pt x="145893" y="97727"/>
                </a:cubicBezTo>
                <a:cubicBezTo>
                  <a:pt x="213284" y="84548"/>
                  <a:pt x="279658" y="124701"/>
                  <a:pt x="299272" y="190504"/>
                </a:cubicBezTo>
                <a:lnTo>
                  <a:pt x="333379" y="190504"/>
                </a:lnTo>
                <a:cubicBezTo>
                  <a:pt x="380722" y="190504"/>
                  <a:pt x="419104" y="228886"/>
                  <a:pt x="419104" y="276229"/>
                </a:cubicBezTo>
                <a:cubicBezTo>
                  <a:pt x="419104" y="323572"/>
                  <a:pt x="380722" y="361954"/>
                  <a:pt x="333379" y="361954"/>
                </a:cubicBezTo>
                <a:close/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圖說"/>
          <p:cNvSpPr/>
          <p:nvPr/>
        </p:nvSpPr>
        <p:spPr>
          <a:xfrm>
            <a:off x="12242483" y="262890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</a:t>
            </a:r>
            <a:endParaRPr lang="en-US" sz="1000" dirty="0"/>
          </a:p>
        </p:txBody>
      </p:sp>
      <p:sp>
        <p:nvSpPr>
          <p:cNvPr id="28" name="圖示 電腦"/>
          <p:cNvSpPr/>
          <p:nvPr/>
        </p:nvSpPr>
        <p:spPr>
          <a:xfrm>
            <a:off x="13747385" y="212598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4" y="57150"/>
                </a:moveTo>
                <a:lnTo>
                  <a:pt x="380996" y="57150"/>
                </a:lnTo>
                <a:cubicBezTo>
                  <a:pt x="402039" y="57150"/>
                  <a:pt x="419104" y="74204"/>
                  <a:pt x="419104" y="95246"/>
                </a:cubicBezTo>
                <a:lnTo>
                  <a:pt x="419104" y="285750"/>
                </a:lnTo>
                <a:cubicBezTo>
                  <a:pt x="419104" y="306793"/>
                  <a:pt x="402039" y="323846"/>
                  <a:pt x="380996" y="323846"/>
                </a:cubicBezTo>
                <a:lnTo>
                  <a:pt x="76204" y="323846"/>
                </a:lnTo>
                <a:cubicBezTo>
                  <a:pt x="55161" y="323846"/>
                  <a:pt x="38096" y="306793"/>
                  <a:pt x="38096" y="285750"/>
                </a:cubicBezTo>
                <a:lnTo>
                  <a:pt x="38096" y="95246"/>
                </a:lnTo>
                <a:cubicBezTo>
                  <a:pt x="38096" y="74204"/>
                  <a:pt x="55161" y="57150"/>
                  <a:pt x="76204" y="57150"/>
                </a:cubicBezTo>
                <a:close/>
                <a:moveTo>
                  <a:pt x="152396" y="400050"/>
                </a:moveTo>
                <a:lnTo>
                  <a:pt x="304804" y="400050"/>
                </a:lnTo>
                <a:moveTo>
                  <a:pt x="228600" y="323846"/>
                </a:moveTo>
                <a:lnTo>
                  <a:pt x="228600" y="400050"/>
                </a:lnTo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圖說"/>
          <p:cNvSpPr/>
          <p:nvPr/>
        </p:nvSpPr>
        <p:spPr>
          <a:xfrm>
            <a:off x="13398151" y="262890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電腦</a:t>
            </a:r>
            <a:endParaRPr lang="en-US" sz="1000" dirty="0"/>
          </a:p>
        </p:txBody>
      </p:sp>
      <p:sp>
        <p:nvSpPr>
          <p:cNvPr id="30" name="圖示 物料"/>
          <p:cNvSpPr/>
          <p:nvPr/>
        </p:nvSpPr>
        <p:spPr>
          <a:xfrm>
            <a:off x="1035034" y="293751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09546" y="413960"/>
                </a:moveTo>
                <a:cubicBezTo>
                  <a:pt x="221342" y="420761"/>
                  <a:pt x="235858" y="420761"/>
                  <a:pt x="247654" y="413960"/>
                </a:cubicBezTo>
                <a:lnTo>
                  <a:pt x="380996" y="337757"/>
                </a:lnTo>
                <a:cubicBezTo>
                  <a:pt x="392781" y="330956"/>
                  <a:pt x="400039" y="318394"/>
                  <a:pt x="400050" y="304804"/>
                </a:cubicBezTo>
                <a:lnTo>
                  <a:pt x="400050" y="152396"/>
                </a:lnTo>
                <a:cubicBezTo>
                  <a:pt x="400039" y="138806"/>
                  <a:pt x="392781" y="126244"/>
                  <a:pt x="380996" y="119443"/>
                </a:cubicBezTo>
                <a:lnTo>
                  <a:pt x="247654" y="43240"/>
                </a:lnTo>
                <a:cubicBezTo>
                  <a:pt x="235858" y="36439"/>
                  <a:pt x="221342" y="36439"/>
                  <a:pt x="209546" y="43240"/>
                </a:cubicBezTo>
                <a:lnTo>
                  <a:pt x="76204" y="119443"/>
                </a:lnTo>
                <a:cubicBezTo>
                  <a:pt x="64419" y="126244"/>
                  <a:pt x="57161" y="138806"/>
                  <a:pt x="57150" y="152396"/>
                </a:cubicBezTo>
                <a:lnTo>
                  <a:pt x="57150" y="304804"/>
                </a:lnTo>
                <a:cubicBezTo>
                  <a:pt x="57161" y="318394"/>
                  <a:pt x="64419" y="330956"/>
                  <a:pt x="76204" y="337757"/>
                </a:cubicBezTo>
                <a:close/>
                <a:moveTo>
                  <a:pt x="228600" y="419104"/>
                </a:moveTo>
                <a:lnTo>
                  <a:pt x="228600" y="228600"/>
                </a:lnTo>
                <a:moveTo>
                  <a:pt x="62671" y="133354"/>
                </a:moveTo>
                <a:lnTo>
                  <a:pt x="228600" y="228600"/>
                </a:lnTo>
                <a:lnTo>
                  <a:pt x="394529" y="133354"/>
                </a:lnTo>
                <a:moveTo>
                  <a:pt x="142875" y="81347"/>
                </a:moveTo>
                <a:lnTo>
                  <a:pt x="314325" y="179451"/>
                </a:lnTo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圖說"/>
          <p:cNvSpPr/>
          <p:nvPr/>
        </p:nvSpPr>
        <p:spPr>
          <a:xfrm>
            <a:off x="685800" y="344043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物料</a:t>
            </a:r>
            <a:endParaRPr lang="en-US" sz="1000" dirty="0"/>
          </a:p>
        </p:txBody>
      </p:sp>
      <p:sp>
        <p:nvSpPr>
          <p:cNvPr id="32" name="圖示 警示"/>
          <p:cNvSpPr/>
          <p:nvPr/>
        </p:nvSpPr>
        <p:spPr>
          <a:xfrm>
            <a:off x="2190702" y="293751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13960" y="342900"/>
                </a:moveTo>
                <a:lnTo>
                  <a:pt x="261553" y="76204"/>
                </a:lnTo>
                <a:cubicBezTo>
                  <a:pt x="254786" y="64259"/>
                  <a:pt x="242133" y="56887"/>
                  <a:pt x="228406" y="56887"/>
                </a:cubicBezTo>
                <a:cubicBezTo>
                  <a:pt x="214690" y="56887"/>
                  <a:pt x="202025" y="64259"/>
                  <a:pt x="195259" y="76204"/>
                </a:cubicBezTo>
                <a:lnTo>
                  <a:pt x="42863" y="342900"/>
                </a:lnTo>
                <a:cubicBezTo>
                  <a:pt x="36027" y="354741"/>
                  <a:pt x="36062" y="369338"/>
                  <a:pt x="42943" y="381145"/>
                </a:cubicBezTo>
                <a:cubicBezTo>
                  <a:pt x="49835" y="392963"/>
                  <a:pt x="62522" y="400176"/>
                  <a:pt x="76204" y="400050"/>
                </a:cubicBezTo>
                <a:lnTo>
                  <a:pt x="380996" y="400050"/>
                </a:lnTo>
                <a:cubicBezTo>
                  <a:pt x="394609" y="400039"/>
                  <a:pt x="407171" y="392769"/>
                  <a:pt x="413972" y="380985"/>
                </a:cubicBezTo>
                <a:cubicBezTo>
                  <a:pt x="420761" y="369200"/>
                  <a:pt x="420761" y="354684"/>
                  <a:pt x="413960" y="342900"/>
                </a:cubicBezTo>
                <a:moveTo>
                  <a:pt x="228600" y="171450"/>
                </a:moveTo>
                <a:lnTo>
                  <a:pt x="228600" y="247654"/>
                </a:lnTo>
                <a:moveTo>
                  <a:pt x="228600" y="323846"/>
                </a:moveTo>
                <a:lnTo>
                  <a:pt x="228794" y="323846"/>
                </a:lnTo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圖說"/>
          <p:cNvSpPr/>
          <p:nvPr/>
        </p:nvSpPr>
        <p:spPr>
          <a:xfrm>
            <a:off x="1841468" y="344043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</a:t>
            </a:r>
            <a:endParaRPr lang="en-US" sz="1000" dirty="0"/>
          </a:p>
        </p:txBody>
      </p:sp>
      <p:sp>
        <p:nvSpPr>
          <p:cNvPr id="34" name="圖示 完成"/>
          <p:cNvSpPr/>
          <p:nvPr/>
        </p:nvSpPr>
        <p:spPr>
          <a:xfrm>
            <a:off x="3346371" y="293751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19104" y="228600"/>
                </a:moveTo>
                <a:cubicBezTo>
                  <a:pt x="419104" y="333813"/>
                  <a:pt x="333813" y="419104"/>
                  <a:pt x="228600" y="419104"/>
                </a:cubicBezTo>
                <a:cubicBezTo>
                  <a:pt x="123387" y="419104"/>
                  <a:pt x="38096" y="333813"/>
                  <a:pt x="38096" y="228600"/>
                </a:cubicBezTo>
                <a:cubicBezTo>
                  <a:pt x="38096" y="123387"/>
                  <a:pt x="123387" y="38096"/>
                  <a:pt x="228600" y="38096"/>
                </a:cubicBezTo>
                <a:cubicBezTo>
                  <a:pt x="333813" y="38096"/>
                  <a:pt x="419104" y="123387"/>
                  <a:pt x="419104" y="228600"/>
                </a:cubicBezTo>
                <a:close/>
                <a:moveTo>
                  <a:pt x="304804" y="171450"/>
                </a:moveTo>
                <a:lnTo>
                  <a:pt x="200025" y="276229"/>
                </a:lnTo>
                <a:lnTo>
                  <a:pt x="152396" y="228600"/>
                </a:lnTo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圖說"/>
          <p:cNvSpPr/>
          <p:nvPr/>
        </p:nvSpPr>
        <p:spPr>
          <a:xfrm>
            <a:off x="2997137" y="344043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</a:t>
            </a:r>
            <a:endParaRPr lang="en-US" sz="1000" dirty="0"/>
          </a:p>
        </p:txBody>
      </p:sp>
      <p:sp>
        <p:nvSpPr>
          <p:cNvPr id="36" name="圖示 錯誤"/>
          <p:cNvSpPr/>
          <p:nvPr/>
        </p:nvSpPr>
        <p:spPr>
          <a:xfrm>
            <a:off x="4502039" y="293751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19104" y="228600"/>
                </a:moveTo>
                <a:cubicBezTo>
                  <a:pt x="419104" y="333813"/>
                  <a:pt x="333813" y="419104"/>
                  <a:pt x="228600" y="419104"/>
                </a:cubicBezTo>
                <a:cubicBezTo>
                  <a:pt x="123387" y="419104"/>
                  <a:pt x="38096" y="333813"/>
                  <a:pt x="38096" y="228600"/>
                </a:cubicBezTo>
                <a:cubicBezTo>
                  <a:pt x="38096" y="123387"/>
                  <a:pt x="123387" y="38096"/>
                  <a:pt x="228600" y="38096"/>
                </a:cubicBezTo>
                <a:cubicBezTo>
                  <a:pt x="333813" y="38096"/>
                  <a:pt x="419104" y="123387"/>
                  <a:pt x="419104" y="228600"/>
                </a:cubicBezTo>
                <a:close/>
                <a:moveTo>
                  <a:pt x="285750" y="171450"/>
                </a:moveTo>
                <a:lnTo>
                  <a:pt x="171450" y="285750"/>
                </a:lnTo>
                <a:moveTo>
                  <a:pt x="171450" y="171450"/>
                </a:moveTo>
                <a:lnTo>
                  <a:pt x="285750" y="285750"/>
                </a:lnTo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圖說"/>
          <p:cNvSpPr/>
          <p:nvPr/>
        </p:nvSpPr>
        <p:spPr>
          <a:xfrm>
            <a:off x="4152805" y="344043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錯誤</a:t>
            </a:r>
            <a:endParaRPr lang="en-US" sz="1000" dirty="0"/>
          </a:p>
        </p:txBody>
      </p:sp>
      <p:sp>
        <p:nvSpPr>
          <p:cNvPr id="38" name="圖示 時間"/>
          <p:cNvSpPr/>
          <p:nvPr/>
        </p:nvSpPr>
        <p:spPr>
          <a:xfrm>
            <a:off x="5657707" y="293751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19104" y="228600"/>
                </a:moveTo>
                <a:cubicBezTo>
                  <a:pt x="419104" y="333813"/>
                  <a:pt x="333813" y="419104"/>
                  <a:pt x="228600" y="419104"/>
                </a:cubicBezTo>
                <a:cubicBezTo>
                  <a:pt x="123387" y="419104"/>
                  <a:pt x="38096" y="333813"/>
                  <a:pt x="38096" y="228600"/>
                </a:cubicBezTo>
                <a:cubicBezTo>
                  <a:pt x="38096" y="123387"/>
                  <a:pt x="123387" y="38096"/>
                  <a:pt x="228600" y="38096"/>
                </a:cubicBezTo>
                <a:cubicBezTo>
                  <a:pt x="333813" y="38096"/>
                  <a:pt x="419104" y="123387"/>
                  <a:pt x="419104" y="228600"/>
                </a:cubicBezTo>
                <a:close/>
                <a:moveTo>
                  <a:pt x="228600" y="114300"/>
                </a:moveTo>
                <a:lnTo>
                  <a:pt x="228600" y="228600"/>
                </a:lnTo>
                <a:lnTo>
                  <a:pt x="304804" y="266696"/>
                </a:lnTo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圖說"/>
          <p:cNvSpPr/>
          <p:nvPr/>
        </p:nvSpPr>
        <p:spPr>
          <a:xfrm>
            <a:off x="5308473" y="344043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</a:t>
            </a:r>
            <a:endParaRPr lang="en-US" sz="1000" dirty="0"/>
          </a:p>
        </p:txBody>
      </p:sp>
      <p:sp>
        <p:nvSpPr>
          <p:cNvPr id="40" name="圖示 日期"/>
          <p:cNvSpPr/>
          <p:nvPr/>
        </p:nvSpPr>
        <p:spPr>
          <a:xfrm>
            <a:off x="6813375" y="293751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52396" y="38096"/>
                </a:moveTo>
                <a:lnTo>
                  <a:pt x="152396" y="95246"/>
                </a:lnTo>
                <a:moveTo>
                  <a:pt x="304804" y="38096"/>
                </a:moveTo>
                <a:lnTo>
                  <a:pt x="304804" y="95246"/>
                </a:lnTo>
                <a:moveTo>
                  <a:pt x="95246" y="57150"/>
                </a:moveTo>
                <a:lnTo>
                  <a:pt x="361954" y="57150"/>
                </a:lnTo>
                <a:cubicBezTo>
                  <a:pt x="382996" y="57150"/>
                  <a:pt x="400050" y="74204"/>
                  <a:pt x="400050" y="95246"/>
                </a:cubicBezTo>
                <a:lnTo>
                  <a:pt x="400050" y="361954"/>
                </a:lnTo>
                <a:cubicBezTo>
                  <a:pt x="400050" y="382996"/>
                  <a:pt x="382996" y="400050"/>
                  <a:pt x="361954" y="400050"/>
                </a:cubicBezTo>
                <a:lnTo>
                  <a:pt x="95246" y="400050"/>
                </a:lnTo>
                <a:cubicBezTo>
                  <a:pt x="74204" y="400050"/>
                  <a:pt x="57150" y="382996"/>
                  <a:pt x="57150" y="361954"/>
                </a:cubicBezTo>
                <a:lnTo>
                  <a:pt x="57150" y="95246"/>
                </a:lnTo>
                <a:cubicBezTo>
                  <a:pt x="57150" y="74204"/>
                  <a:pt x="74204" y="57150"/>
                  <a:pt x="95246" y="57150"/>
                </a:cubicBezTo>
                <a:close/>
                <a:moveTo>
                  <a:pt x="57150" y="171450"/>
                </a:moveTo>
                <a:lnTo>
                  <a:pt x="400050" y="171450"/>
                </a:lnTo>
                <a:moveTo>
                  <a:pt x="152396" y="247654"/>
                </a:moveTo>
                <a:lnTo>
                  <a:pt x="152591" y="247654"/>
                </a:lnTo>
                <a:moveTo>
                  <a:pt x="228600" y="247654"/>
                </a:moveTo>
                <a:lnTo>
                  <a:pt x="228794" y="247654"/>
                </a:lnTo>
                <a:moveTo>
                  <a:pt x="304804" y="247654"/>
                </a:moveTo>
                <a:lnTo>
                  <a:pt x="304987" y="247654"/>
                </a:lnTo>
                <a:moveTo>
                  <a:pt x="152396" y="323846"/>
                </a:moveTo>
                <a:lnTo>
                  <a:pt x="152591" y="323846"/>
                </a:lnTo>
                <a:moveTo>
                  <a:pt x="228600" y="323846"/>
                </a:moveTo>
                <a:lnTo>
                  <a:pt x="228794" y="323846"/>
                </a:lnTo>
                <a:moveTo>
                  <a:pt x="304804" y="323846"/>
                </a:moveTo>
                <a:lnTo>
                  <a:pt x="304987" y="323846"/>
                </a:lnTo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圖說"/>
          <p:cNvSpPr/>
          <p:nvPr/>
        </p:nvSpPr>
        <p:spPr>
          <a:xfrm>
            <a:off x="6464141" y="344043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日期</a:t>
            </a:r>
            <a:endParaRPr lang="en-US" sz="1000" dirty="0"/>
          </a:p>
        </p:txBody>
      </p:sp>
      <p:sp>
        <p:nvSpPr>
          <p:cNvPr id="42" name="圖示 等待"/>
          <p:cNvSpPr/>
          <p:nvPr/>
        </p:nvSpPr>
        <p:spPr>
          <a:xfrm>
            <a:off x="7969044" y="293751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95246" y="419104"/>
                </a:moveTo>
                <a:lnTo>
                  <a:pt x="361954" y="419104"/>
                </a:lnTo>
                <a:moveTo>
                  <a:pt x="95246" y="38096"/>
                </a:moveTo>
                <a:lnTo>
                  <a:pt x="361954" y="38096"/>
                </a:lnTo>
                <a:moveTo>
                  <a:pt x="323846" y="419104"/>
                </a:moveTo>
                <a:lnTo>
                  <a:pt x="323846" y="339620"/>
                </a:lnTo>
                <a:cubicBezTo>
                  <a:pt x="323846" y="329515"/>
                  <a:pt x="319834" y="319834"/>
                  <a:pt x="312691" y="312691"/>
                </a:cubicBezTo>
                <a:lnTo>
                  <a:pt x="228600" y="228600"/>
                </a:lnTo>
                <a:lnTo>
                  <a:pt x="144509" y="312691"/>
                </a:lnTo>
                <a:cubicBezTo>
                  <a:pt x="137366" y="319834"/>
                  <a:pt x="133354" y="329515"/>
                  <a:pt x="133354" y="339620"/>
                </a:cubicBezTo>
                <a:lnTo>
                  <a:pt x="133354" y="419104"/>
                </a:lnTo>
                <a:moveTo>
                  <a:pt x="133354" y="38096"/>
                </a:moveTo>
                <a:lnTo>
                  <a:pt x="133354" y="117580"/>
                </a:lnTo>
                <a:cubicBezTo>
                  <a:pt x="133354" y="127685"/>
                  <a:pt x="137366" y="137366"/>
                  <a:pt x="144509" y="144509"/>
                </a:cubicBezTo>
                <a:lnTo>
                  <a:pt x="228600" y="228600"/>
                </a:lnTo>
                <a:lnTo>
                  <a:pt x="312691" y="144509"/>
                </a:lnTo>
                <a:cubicBezTo>
                  <a:pt x="319834" y="137366"/>
                  <a:pt x="323846" y="127685"/>
                  <a:pt x="323846" y="117580"/>
                </a:cubicBezTo>
                <a:lnTo>
                  <a:pt x="323846" y="38096"/>
                </a:lnTo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圖說"/>
          <p:cNvSpPr/>
          <p:nvPr/>
        </p:nvSpPr>
        <p:spPr>
          <a:xfrm>
            <a:off x="7619809" y="344043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</a:t>
            </a:r>
            <a:endParaRPr lang="en-US" sz="1000" dirty="0"/>
          </a:p>
        </p:txBody>
      </p:sp>
      <p:sp>
        <p:nvSpPr>
          <p:cNvPr id="44" name="圖示 效能"/>
          <p:cNvSpPr/>
          <p:nvPr/>
        </p:nvSpPr>
        <p:spPr>
          <a:xfrm>
            <a:off x="9124712" y="293751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266696"/>
                </a:moveTo>
                <a:lnTo>
                  <a:pt x="304804" y="190504"/>
                </a:lnTo>
                <a:moveTo>
                  <a:pt x="63631" y="361954"/>
                </a:moveTo>
                <a:cubicBezTo>
                  <a:pt x="17396" y="281887"/>
                  <a:pt x="35330" y="180194"/>
                  <a:pt x="106150" y="120758"/>
                </a:cubicBezTo>
                <a:cubicBezTo>
                  <a:pt x="176971" y="61333"/>
                  <a:pt x="280229" y="61333"/>
                  <a:pt x="351050" y="120758"/>
                </a:cubicBezTo>
                <a:cubicBezTo>
                  <a:pt x="421870" y="180194"/>
                  <a:pt x="439804" y="281887"/>
                  <a:pt x="393569" y="361954"/>
                </a:cubicBezTo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圖說"/>
          <p:cNvSpPr/>
          <p:nvPr/>
        </p:nvSpPr>
        <p:spPr>
          <a:xfrm>
            <a:off x="8775478" y="344043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效能</a:t>
            </a:r>
            <a:endParaRPr lang="en-US" sz="1000" dirty="0"/>
          </a:p>
        </p:txBody>
      </p:sp>
      <p:sp>
        <p:nvSpPr>
          <p:cNvPr id="46" name="圖示 文件"/>
          <p:cNvSpPr/>
          <p:nvPr/>
        </p:nvSpPr>
        <p:spPr>
          <a:xfrm>
            <a:off x="10280380" y="293751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419104"/>
                </a:moveTo>
                <a:cubicBezTo>
                  <a:pt x="93257" y="419104"/>
                  <a:pt x="76204" y="402039"/>
                  <a:pt x="76204" y="380996"/>
                </a:cubicBezTo>
                <a:lnTo>
                  <a:pt x="76204" y="76204"/>
                </a:lnTo>
                <a:cubicBezTo>
                  <a:pt x="76204" y="55161"/>
                  <a:pt x="93257" y="38096"/>
                  <a:pt x="114300" y="38096"/>
                </a:cubicBezTo>
                <a:lnTo>
                  <a:pt x="266696" y="38096"/>
                </a:lnTo>
                <a:cubicBezTo>
                  <a:pt x="278881" y="38085"/>
                  <a:pt x="290562" y="42920"/>
                  <a:pt x="299157" y="51549"/>
                </a:cubicBezTo>
                <a:lnTo>
                  <a:pt x="367509" y="119901"/>
                </a:lnTo>
                <a:cubicBezTo>
                  <a:pt x="376161" y="128496"/>
                  <a:pt x="381019" y="140200"/>
                  <a:pt x="380996" y="152396"/>
                </a:cubicBezTo>
                <a:lnTo>
                  <a:pt x="380996" y="380996"/>
                </a:lnTo>
                <a:cubicBezTo>
                  <a:pt x="380996" y="402039"/>
                  <a:pt x="363943" y="419104"/>
                  <a:pt x="342900" y="419104"/>
                </a:cubicBezTo>
                <a:close/>
                <a:moveTo>
                  <a:pt x="266696" y="38096"/>
                </a:moveTo>
                <a:lnTo>
                  <a:pt x="266696" y="133354"/>
                </a:lnTo>
                <a:cubicBezTo>
                  <a:pt x="266696" y="143869"/>
                  <a:pt x="275234" y="152396"/>
                  <a:pt x="285750" y="152396"/>
                </a:cubicBezTo>
                <a:lnTo>
                  <a:pt x="380996" y="152396"/>
                </a:lnTo>
                <a:moveTo>
                  <a:pt x="190504" y="171450"/>
                </a:moveTo>
                <a:lnTo>
                  <a:pt x="152396" y="171450"/>
                </a:lnTo>
                <a:moveTo>
                  <a:pt x="304804" y="247654"/>
                </a:moveTo>
                <a:lnTo>
                  <a:pt x="152396" y="247654"/>
                </a:lnTo>
                <a:moveTo>
                  <a:pt x="304804" y="323846"/>
                </a:moveTo>
                <a:lnTo>
                  <a:pt x="152396" y="323846"/>
                </a:lnTo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圖說"/>
          <p:cNvSpPr/>
          <p:nvPr/>
        </p:nvSpPr>
        <p:spPr>
          <a:xfrm>
            <a:off x="9931146" y="344043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1000" dirty="0"/>
          </a:p>
        </p:txBody>
      </p:sp>
      <p:sp>
        <p:nvSpPr>
          <p:cNvPr id="48" name="圖示 檢核表"/>
          <p:cNvSpPr/>
          <p:nvPr/>
        </p:nvSpPr>
        <p:spPr>
          <a:xfrm>
            <a:off x="11436048" y="293751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71450" y="38096"/>
                </a:moveTo>
                <a:lnTo>
                  <a:pt x="285750" y="38096"/>
                </a:lnTo>
                <a:cubicBezTo>
                  <a:pt x="296266" y="38096"/>
                  <a:pt x="304804" y="46634"/>
                  <a:pt x="304804" y="57150"/>
                </a:cubicBezTo>
                <a:lnTo>
                  <a:pt x="304804" y="95246"/>
                </a:lnTo>
                <a:cubicBezTo>
                  <a:pt x="304804" y="105773"/>
                  <a:pt x="296266" y="114300"/>
                  <a:pt x="285750" y="114300"/>
                </a:cubicBezTo>
                <a:lnTo>
                  <a:pt x="171450" y="114300"/>
                </a:lnTo>
                <a:cubicBezTo>
                  <a:pt x="160934" y="114300"/>
                  <a:pt x="152396" y="105773"/>
                  <a:pt x="152396" y="95246"/>
                </a:cubicBezTo>
                <a:lnTo>
                  <a:pt x="152396" y="57150"/>
                </a:lnTo>
                <a:cubicBezTo>
                  <a:pt x="152396" y="46634"/>
                  <a:pt x="160934" y="38096"/>
                  <a:pt x="171450" y="38096"/>
                </a:cubicBezTo>
                <a:close/>
                <a:moveTo>
                  <a:pt x="304804" y="76204"/>
                </a:moveTo>
                <a:lnTo>
                  <a:pt x="342900" y="76204"/>
                </a:lnTo>
                <a:cubicBezTo>
                  <a:pt x="363943" y="76204"/>
                  <a:pt x="380996" y="93257"/>
                  <a:pt x="380996" y="114300"/>
                </a:cubicBezTo>
                <a:lnTo>
                  <a:pt x="380996" y="380996"/>
                </a:lnTo>
                <a:cubicBezTo>
                  <a:pt x="380996" y="402039"/>
                  <a:pt x="363943" y="419104"/>
                  <a:pt x="342900" y="419104"/>
                </a:cubicBezTo>
                <a:lnTo>
                  <a:pt x="114300" y="419104"/>
                </a:lnTo>
                <a:cubicBezTo>
                  <a:pt x="93257" y="419104"/>
                  <a:pt x="76204" y="402039"/>
                  <a:pt x="76204" y="380996"/>
                </a:cubicBezTo>
                <a:lnTo>
                  <a:pt x="76204" y="114300"/>
                </a:lnTo>
                <a:cubicBezTo>
                  <a:pt x="76204" y="93257"/>
                  <a:pt x="93257" y="76204"/>
                  <a:pt x="114300" y="76204"/>
                </a:cubicBezTo>
                <a:lnTo>
                  <a:pt x="152396" y="76204"/>
                </a:lnTo>
                <a:moveTo>
                  <a:pt x="228600" y="209546"/>
                </a:moveTo>
                <a:lnTo>
                  <a:pt x="304804" y="209546"/>
                </a:lnTo>
                <a:moveTo>
                  <a:pt x="228600" y="304804"/>
                </a:moveTo>
                <a:lnTo>
                  <a:pt x="304804" y="304804"/>
                </a:lnTo>
                <a:moveTo>
                  <a:pt x="152396" y="209546"/>
                </a:moveTo>
                <a:lnTo>
                  <a:pt x="152591" y="209546"/>
                </a:lnTo>
                <a:moveTo>
                  <a:pt x="152396" y="304804"/>
                </a:moveTo>
                <a:lnTo>
                  <a:pt x="152591" y="304804"/>
                </a:lnTo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圖說"/>
          <p:cNvSpPr/>
          <p:nvPr/>
        </p:nvSpPr>
        <p:spPr>
          <a:xfrm>
            <a:off x="11086814" y="344043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檢核表</a:t>
            </a:r>
            <a:endParaRPr lang="en-US" sz="1000" dirty="0"/>
          </a:p>
        </p:txBody>
      </p:sp>
      <p:sp>
        <p:nvSpPr>
          <p:cNvPr id="50" name="圖示 報表"/>
          <p:cNvSpPr/>
          <p:nvPr/>
        </p:nvSpPr>
        <p:spPr>
          <a:xfrm>
            <a:off x="12591717" y="293751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57150"/>
                </a:moveTo>
                <a:lnTo>
                  <a:pt x="57150" y="361954"/>
                </a:lnTo>
                <a:cubicBezTo>
                  <a:pt x="57150" y="382996"/>
                  <a:pt x="74204" y="400050"/>
                  <a:pt x="95246" y="400050"/>
                </a:cubicBezTo>
                <a:lnTo>
                  <a:pt x="400050" y="400050"/>
                </a:lnTo>
                <a:moveTo>
                  <a:pt x="342900" y="323846"/>
                </a:moveTo>
                <a:lnTo>
                  <a:pt x="342900" y="171450"/>
                </a:lnTo>
                <a:moveTo>
                  <a:pt x="247654" y="323846"/>
                </a:moveTo>
                <a:lnTo>
                  <a:pt x="247654" y="95246"/>
                </a:lnTo>
                <a:moveTo>
                  <a:pt x="152396" y="323846"/>
                </a:moveTo>
                <a:lnTo>
                  <a:pt x="152396" y="266696"/>
                </a:lnTo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圖說"/>
          <p:cNvSpPr/>
          <p:nvPr/>
        </p:nvSpPr>
        <p:spPr>
          <a:xfrm>
            <a:off x="12242483" y="344043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報表</a:t>
            </a:r>
            <a:endParaRPr lang="en-US" sz="1000" dirty="0"/>
          </a:p>
        </p:txBody>
      </p:sp>
      <p:sp>
        <p:nvSpPr>
          <p:cNvPr id="52" name="圖示 上升"/>
          <p:cNvSpPr/>
          <p:nvPr/>
        </p:nvSpPr>
        <p:spPr>
          <a:xfrm>
            <a:off x="13747385" y="293751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04804" y="133354"/>
                </a:moveTo>
                <a:lnTo>
                  <a:pt x="419104" y="133354"/>
                </a:lnTo>
                <a:lnTo>
                  <a:pt x="419104" y="247654"/>
                </a:lnTo>
                <a:moveTo>
                  <a:pt x="419104" y="133354"/>
                </a:moveTo>
                <a:lnTo>
                  <a:pt x="257175" y="295271"/>
                </a:lnTo>
                <a:lnTo>
                  <a:pt x="161929" y="200025"/>
                </a:lnTo>
                <a:lnTo>
                  <a:pt x="38096" y="323846"/>
                </a:lnTo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圖說"/>
          <p:cNvSpPr/>
          <p:nvPr/>
        </p:nvSpPr>
        <p:spPr>
          <a:xfrm>
            <a:off x="13398151" y="344043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上升</a:t>
            </a:r>
            <a:endParaRPr lang="en-US" sz="1000" dirty="0"/>
          </a:p>
        </p:txBody>
      </p:sp>
      <p:sp>
        <p:nvSpPr>
          <p:cNvPr id="54" name="圖示 下降"/>
          <p:cNvSpPr/>
          <p:nvPr/>
        </p:nvSpPr>
        <p:spPr>
          <a:xfrm>
            <a:off x="1035034" y="374904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04804" y="323846"/>
                </a:moveTo>
                <a:lnTo>
                  <a:pt x="419104" y="323846"/>
                </a:lnTo>
                <a:lnTo>
                  <a:pt x="419104" y="209546"/>
                </a:lnTo>
                <a:moveTo>
                  <a:pt x="419104" y="323846"/>
                </a:moveTo>
                <a:lnTo>
                  <a:pt x="257175" y="161929"/>
                </a:lnTo>
                <a:lnTo>
                  <a:pt x="161929" y="257175"/>
                </a:lnTo>
                <a:lnTo>
                  <a:pt x="38096" y="133354"/>
                </a:lnTo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圖說"/>
          <p:cNvSpPr/>
          <p:nvPr/>
        </p:nvSpPr>
        <p:spPr>
          <a:xfrm>
            <a:off x="685800" y="425196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下降</a:t>
            </a:r>
            <a:endParaRPr lang="en-US" sz="1000" dirty="0"/>
          </a:p>
        </p:txBody>
      </p:sp>
      <p:sp>
        <p:nvSpPr>
          <p:cNvPr id="56" name="圖示 占比"/>
          <p:cNvSpPr/>
          <p:nvPr/>
        </p:nvSpPr>
        <p:spPr>
          <a:xfrm>
            <a:off x="2190702" y="374904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00050" y="228600"/>
                </a:moveTo>
                <a:cubicBezTo>
                  <a:pt x="410566" y="228600"/>
                  <a:pt x="419195" y="220050"/>
                  <a:pt x="418144" y="209592"/>
                </a:cubicBezTo>
                <a:cubicBezTo>
                  <a:pt x="409091" y="119421"/>
                  <a:pt x="337768" y="48109"/>
                  <a:pt x="247597" y="39068"/>
                </a:cubicBezTo>
                <a:cubicBezTo>
                  <a:pt x="237115" y="38028"/>
                  <a:pt x="228577" y="46657"/>
                  <a:pt x="228577" y="57173"/>
                </a:cubicBezTo>
                <a:lnTo>
                  <a:pt x="228577" y="209569"/>
                </a:lnTo>
                <a:cubicBezTo>
                  <a:pt x="228577" y="220085"/>
                  <a:pt x="237115" y="228623"/>
                  <a:pt x="247631" y="228623"/>
                </a:cubicBezTo>
                <a:close/>
                <a:moveTo>
                  <a:pt x="404050" y="302701"/>
                </a:moveTo>
                <a:cubicBezTo>
                  <a:pt x="370709" y="381545"/>
                  <a:pt x="288870" y="428476"/>
                  <a:pt x="203980" y="417412"/>
                </a:cubicBezTo>
                <a:cubicBezTo>
                  <a:pt x="119101" y="406359"/>
                  <a:pt x="52006" y="340031"/>
                  <a:pt x="39982" y="255278"/>
                </a:cubicBezTo>
                <a:cubicBezTo>
                  <a:pt x="27958" y="170524"/>
                  <a:pt x="73941" y="88148"/>
                  <a:pt x="152396" y="53915"/>
                </a:cubicBezTo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圖說"/>
          <p:cNvSpPr/>
          <p:nvPr/>
        </p:nvSpPr>
        <p:spPr>
          <a:xfrm>
            <a:off x="1841468" y="425196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占比</a:t>
            </a:r>
            <a:endParaRPr lang="en-US" sz="1000" dirty="0"/>
          </a:p>
        </p:txBody>
      </p:sp>
      <p:sp>
        <p:nvSpPr>
          <p:cNvPr id="58" name="圖示 監控"/>
          <p:cNvSpPr/>
          <p:nvPr/>
        </p:nvSpPr>
        <p:spPr>
          <a:xfrm>
            <a:off x="3346371" y="374904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19104" y="228600"/>
                </a:moveTo>
                <a:lnTo>
                  <a:pt x="371852" y="228600"/>
                </a:lnTo>
                <a:cubicBezTo>
                  <a:pt x="354741" y="228566"/>
                  <a:pt x="339711" y="239939"/>
                  <a:pt x="335093" y="256409"/>
                </a:cubicBezTo>
                <a:lnTo>
                  <a:pt x="290322" y="415675"/>
                </a:lnTo>
                <a:cubicBezTo>
                  <a:pt x="289728" y="417698"/>
                  <a:pt x="287865" y="419104"/>
                  <a:pt x="285750" y="419104"/>
                </a:cubicBezTo>
                <a:cubicBezTo>
                  <a:pt x="283635" y="419104"/>
                  <a:pt x="281772" y="417698"/>
                  <a:pt x="281178" y="415675"/>
                </a:cubicBezTo>
                <a:lnTo>
                  <a:pt x="176022" y="41525"/>
                </a:lnTo>
                <a:cubicBezTo>
                  <a:pt x="175428" y="39502"/>
                  <a:pt x="173565" y="38096"/>
                  <a:pt x="171450" y="38096"/>
                </a:cubicBezTo>
                <a:cubicBezTo>
                  <a:pt x="169335" y="38096"/>
                  <a:pt x="167472" y="39502"/>
                  <a:pt x="166878" y="41525"/>
                </a:cubicBezTo>
                <a:lnTo>
                  <a:pt x="122107" y="200791"/>
                </a:lnTo>
                <a:cubicBezTo>
                  <a:pt x="117512" y="217193"/>
                  <a:pt x="102573" y="228554"/>
                  <a:pt x="85531" y="228600"/>
                </a:cubicBezTo>
                <a:lnTo>
                  <a:pt x="38096" y="228600"/>
                </a:lnTo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圖說"/>
          <p:cNvSpPr/>
          <p:nvPr/>
        </p:nvSpPr>
        <p:spPr>
          <a:xfrm>
            <a:off x="2997137" y="425196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監控</a:t>
            </a:r>
            <a:endParaRPr lang="en-US" sz="1000" dirty="0"/>
          </a:p>
        </p:txBody>
      </p:sp>
      <p:sp>
        <p:nvSpPr>
          <p:cNvPr id="60" name="圖示 設定"/>
          <p:cNvSpPr/>
          <p:nvPr/>
        </p:nvSpPr>
        <p:spPr>
          <a:xfrm>
            <a:off x="4502039" y="374904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84229" y="78787"/>
                </a:moveTo>
                <a:cubicBezTo>
                  <a:pt x="186412" y="55904"/>
                  <a:pt x="205626" y="38428"/>
                  <a:pt x="228611" y="38428"/>
                </a:cubicBezTo>
                <a:cubicBezTo>
                  <a:pt x="251597" y="38428"/>
                  <a:pt x="270811" y="55904"/>
                  <a:pt x="272983" y="78787"/>
                </a:cubicBezTo>
                <a:cubicBezTo>
                  <a:pt x="274263" y="93269"/>
                  <a:pt x="282527" y="106208"/>
                  <a:pt x="295111" y="113477"/>
                </a:cubicBezTo>
                <a:cubicBezTo>
                  <a:pt x="307696" y="120735"/>
                  <a:pt x="323035" y="121409"/>
                  <a:pt x="336213" y="115272"/>
                </a:cubicBezTo>
                <a:cubicBezTo>
                  <a:pt x="357096" y="105785"/>
                  <a:pt x="381762" y="113706"/>
                  <a:pt x="393238" y="133560"/>
                </a:cubicBezTo>
                <a:cubicBezTo>
                  <a:pt x="404713" y="153425"/>
                  <a:pt x="399250" y="178742"/>
                  <a:pt x="380596" y="192104"/>
                </a:cubicBezTo>
                <a:cubicBezTo>
                  <a:pt x="368709" y="200448"/>
                  <a:pt x="361622" y="214061"/>
                  <a:pt x="361622" y="228589"/>
                </a:cubicBezTo>
                <a:cubicBezTo>
                  <a:pt x="361622" y="243116"/>
                  <a:pt x="368709" y="256741"/>
                  <a:pt x="380596" y="265085"/>
                </a:cubicBezTo>
                <a:cubicBezTo>
                  <a:pt x="399250" y="278435"/>
                  <a:pt x="404713" y="303764"/>
                  <a:pt x="393238" y="323618"/>
                </a:cubicBezTo>
                <a:cubicBezTo>
                  <a:pt x="381762" y="343483"/>
                  <a:pt x="357096" y="351392"/>
                  <a:pt x="336213" y="341906"/>
                </a:cubicBezTo>
                <a:cubicBezTo>
                  <a:pt x="323035" y="335768"/>
                  <a:pt x="307696" y="336442"/>
                  <a:pt x="295111" y="343712"/>
                </a:cubicBezTo>
                <a:cubicBezTo>
                  <a:pt x="282527" y="350970"/>
                  <a:pt x="274263" y="363908"/>
                  <a:pt x="272983" y="378390"/>
                </a:cubicBezTo>
                <a:cubicBezTo>
                  <a:pt x="270811" y="401273"/>
                  <a:pt x="251597" y="418749"/>
                  <a:pt x="228611" y="418749"/>
                </a:cubicBezTo>
                <a:cubicBezTo>
                  <a:pt x="205626" y="418749"/>
                  <a:pt x="186412" y="401273"/>
                  <a:pt x="184229" y="378390"/>
                </a:cubicBezTo>
                <a:cubicBezTo>
                  <a:pt x="182960" y="363908"/>
                  <a:pt x="174696" y="350958"/>
                  <a:pt x="162100" y="343700"/>
                </a:cubicBezTo>
                <a:cubicBezTo>
                  <a:pt x="149504" y="336431"/>
                  <a:pt x="134165" y="335768"/>
                  <a:pt x="120987" y="341906"/>
                </a:cubicBezTo>
                <a:cubicBezTo>
                  <a:pt x="100104" y="351392"/>
                  <a:pt x="75438" y="343483"/>
                  <a:pt x="63962" y="323618"/>
                </a:cubicBezTo>
                <a:cubicBezTo>
                  <a:pt x="52487" y="303764"/>
                  <a:pt x="57950" y="278435"/>
                  <a:pt x="76604" y="265085"/>
                </a:cubicBezTo>
                <a:cubicBezTo>
                  <a:pt x="88491" y="256741"/>
                  <a:pt x="95578" y="243116"/>
                  <a:pt x="95578" y="228589"/>
                </a:cubicBezTo>
                <a:cubicBezTo>
                  <a:pt x="95578" y="214061"/>
                  <a:pt x="88491" y="200448"/>
                  <a:pt x="76604" y="192104"/>
                </a:cubicBezTo>
                <a:cubicBezTo>
                  <a:pt x="57984" y="178742"/>
                  <a:pt x="52532" y="153436"/>
                  <a:pt x="63985" y="133594"/>
                </a:cubicBezTo>
                <a:cubicBezTo>
                  <a:pt x="75449" y="113751"/>
                  <a:pt x="100093" y="105819"/>
                  <a:pt x="120964" y="115272"/>
                </a:cubicBezTo>
                <a:cubicBezTo>
                  <a:pt x="134142" y="121409"/>
                  <a:pt x="149482" y="120735"/>
                  <a:pt x="162066" y="113477"/>
                </a:cubicBezTo>
                <a:cubicBezTo>
                  <a:pt x="174662" y="106208"/>
                  <a:pt x="182914" y="93269"/>
                  <a:pt x="184194" y="78787"/>
                </a:cubicBezTo>
                <a:moveTo>
                  <a:pt x="285750" y="228600"/>
                </a:moveTo>
                <a:cubicBezTo>
                  <a:pt x="285750" y="260158"/>
                  <a:pt x="260158" y="285750"/>
                  <a:pt x="228600" y="285750"/>
                </a:cubicBezTo>
                <a:cubicBezTo>
                  <a:pt x="197042" y="285750"/>
                  <a:pt x="171450" y="260158"/>
                  <a:pt x="171450" y="228600"/>
                </a:cubicBezTo>
                <a:cubicBezTo>
                  <a:pt x="171450" y="197042"/>
                  <a:pt x="197042" y="171450"/>
                  <a:pt x="228600" y="171450"/>
                </a:cubicBezTo>
                <a:cubicBezTo>
                  <a:pt x="260158" y="171450"/>
                  <a:pt x="285750" y="197042"/>
                  <a:pt x="285750" y="228600"/>
                </a:cubicBezTo>
                <a:close/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圖說"/>
          <p:cNvSpPr/>
          <p:nvPr/>
        </p:nvSpPr>
        <p:spPr>
          <a:xfrm>
            <a:off x="4152805" y="425196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</a:t>
            </a:r>
            <a:endParaRPr lang="en-US" sz="1000" dirty="0"/>
          </a:p>
        </p:txBody>
      </p:sp>
      <p:sp>
        <p:nvSpPr>
          <p:cNvPr id="62" name="圖示 維修"/>
          <p:cNvSpPr/>
          <p:nvPr/>
        </p:nvSpPr>
        <p:spPr>
          <a:xfrm>
            <a:off x="5657707" y="374904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80035" y="120015"/>
                </a:moveTo>
                <a:cubicBezTo>
                  <a:pt x="272777" y="127422"/>
                  <a:pt x="272777" y="139275"/>
                  <a:pt x="280035" y="146681"/>
                </a:cubicBezTo>
                <a:lnTo>
                  <a:pt x="310519" y="177165"/>
                </a:lnTo>
                <a:cubicBezTo>
                  <a:pt x="317925" y="184423"/>
                  <a:pt x="329778" y="184423"/>
                  <a:pt x="337185" y="177165"/>
                </a:cubicBezTo>
                <a:lnTo>
                  <a:pt x="396358" y="118015"/>
                </a:lnTo>
                <a:cubicBezTo>
                  <a:pt x="402450" y="111877"/>
                  <a:pt x="412794" y="113820"/>
                  <a:pt x="415080" y="122164"/>
                </a:cubicBezTo>
                <a:cubicBezTo>
                  <a:pt x="426830" y="164901"/>
                  <a:pt x="412817" y="210575"/>
                  <a:pt x="379122" y="239367"/>
                </a:cubicBezTo>
                <a:cubicBezTo>
                  <a:pt x="345426" y="268159"/>
                  <a:pt x="298129" y="274880"/>
                  <a:pt x="257747" y="256604"/>
                </a:cubicBezTo>
                <a:lnTo>
                  <a:pt x="107065" y="407285"/>
                </a:lnTo>
                <a:cubicBezTo>
                  <a:pt x="91280" y="423070"/>
                  <a:pt x="65700" y="423059"/>
                  <a:pt x="49926" y="407274"/>
                </a:cubicBezTo>
                <a:cubicBezTo>
                  <a:pt x="34141" y="391500"/>
                  <a:pt x="34153" y="365920"/>
                  <a:pt x="49926" y="350135"/>
                </a:cubicBezTo>
                <a:lnTo>
                  <a:pt x="200619" y="199454"/>
                </a:lnTo>
                <a:cubicBezTo>
                  <a:pt x="182343" y="159071"/>
                  <a:pt x="189064" y="111774"/>
                  <a:pt x="217856" y="78078"/>
                </a:cubicBezTo>
                <a:cubicBezTo>
                  <a:pt x="246648" y="44383"/>
                  <a:pt x="292322" y="30370"/>
                  <a:pt x="335048" y="42120"/>
                </a:cubicBezTo>
                <a:cubicBezTo>
                  <a:pt x="343391" y="44406"/>
                  <a:pt x="345335" y="54727"/>
                  <a:pt x="339220" y="60865"/>
                </a:cubicBezTo>
                <a:close/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圖說"/>
          <p:cNvSpPr/>
          <p:nvPr/>
        </p:nvSpPr>
        <p:spPr>
          <a:xfrm>
            <a:off x="5308473" y="425196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維修</a:t>
            </a:r>
            <a:endParaRPr lang="en-US" sz="1000" dirty="0"/>
          </a:p>
        </p:txBody>
      </p:sp>
      <p:sp>
        <p:nvSpPr>
          <p:cNvPr id="64" name="圖示 搜尋"/>
          <p:cNvSpPr/>
          <p:nvPr/>
        </p:nvSpPr>
        <p:spPr>
          <a:xfrm>
            <a:off x="6813375" y="374904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00050" y="400050"/>
                </a:moveTo>
                <a:lnTo>
                  <a:pt x="317377" y="317377"/>
                </a:lnTo>
                <a:moveTo>
                  <a:pt x="361954" y="209546"/>
                </a:moveTo>
                <a:cubicBezTo>
                  <a:pt x="361954" y="293717"/>
                  <a:pt x="293717" y="361954"/>
                  <a:pt x="209546" y="361954"/>
                </a:cubicBezTo>
                <a:cubicBezTo>
                  <a:pt x="125387" y="361954"/>
                  <a:pt x="57150" y="293717"/>
                  <a:pt x="57150" y="209546"/>
                </a:cubicBezTo>
                <a:cubicBezTo>
                  <a:pt x="57150" y="125387"/>
                  <a:pt x="125387" y="57150"/>
                  <a:pt x="209546" y="57150"/>
                </a:cubicBezTo>
                <a:cubicBezTo>
                  <a:pt x="293717" y="57150"/>
                  <a:pt x="361954" y="125387"/>
                  <a:pt x="361954" y="209546"/>
                </a:cubicBezTo>
                <a:close/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圖說"/>
          <p:cNvSpPr/>
          <p:nvPr/>
        </p:nvSpPr>
        <p:spPr>
          <a:xfrm>
            <a:off x="6464141" y="425196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</a:t>
            </a:r>
            <a:endParaRPr lang="en-US" sz="1000" dirty="0"/>
          </a:p>
        </p:txBody>
      </p:sp>
      <p:sp>
        <p:nvSpPr>
          <p:cNvPr id="66" name="圖示 篩選"/>
          <p:cNvSpPr/>
          <p:nvPr/>
        </p:nvSpPr>
        <p:spPr>
          <a:xfrm>
            <a:off x="7969044" y="374904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8096" y="95246"/>
                </a:moveTo>
                <a:lnTo>
                  <a:pt x="419104" y="95246"/>
                </a:lnTo>
                <a:moveTo>
                  <a:pt x="114300" y="228600"/>
                </a:moveTo>
                <a:lnTo>
                  <a:pt x="342900" y="228600"/>
                </a:lnTo>
                <a:moveTo>
                  <a:pt x="171450" y="361954"/>
                </a:moveTo>
                <a:lnTo>
                  <a:pt x="285750" y="361954"/>
                </a:lnTo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圖說"/>
          <p:cNvSpPr/>
          <p:nvPr/>
        </p:nvSpPr>
        <p:spPr>
          <a:xfrm>
            <a:off x="7619809" y="425196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篩選</a:t>
            </a:r>
            <a:endParaRPr lang="en-US" sz="1000" dirty="0"/>
          </a:p>
        </p:txBody>
      </p:sp>
      <p:sp>
        <p:nvSpPr>
          <p:cNvPr id="68" name="圖示 想法"/>
          <p:cNvSpPr/>
          <p:nvPr/>
        </p:nvSpPr>
        <p:spPr>
          <a:xfrm>
            <a:off x="9124712" y="374904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85750" y="266696"/>
                </a:moveTo>
                <a:cubicBezTo>
                  <a:pt x="289556" y="247654"/>
                  <a:pt x="299089" y="234315"/>
                  <a:pt x="314325" y="219079"/>
                </a:cubicBezTo>
                <a:cubicBezTo>
                  <a:pt x="333379" y="201934"/>
                  <a:pt x="342900" y="177165"/>
                  <a:pt x="342900" y="152396"/>
                </a:cubicBezTo>
                <a:cubicBezTo>
                  <a:pt x="342900" y="89268"/>
                  <a:pt x="291728" y="38096"/>
                  <a:pt x="228600" y="38096"/>
                </a:cubicBezTo>
                <a:cubicBezTo>
                  <a:pt x="165472" y="38096"/>
                  <a:pt x="114300" y="89268"/>
                  <a:pt x="114300" y="152396"/>
                </a:cubicBezTo>
                <a:cubicBezTo>
                  <a:pt x="114300" y="171450"/>
                  <a:pt x="118106" y="194310"/>
                  <a:pt x="142875" y="219079"/>
                </a:cubicBezTo>
                <a:cubicBezTo>
                  <a:pt x="156214" y="232406"/>
                  <a:pt x="167644" y="247654"/>
                  <a:pt x="171450" y="266696"/>
                </a:cubicBezTo>
                <a:moveTo>
                  <a:pt x="171450" y="342900"/>
                </a:moveTo>
                <a:lnTo>
                  <a:pt x="285750" y="342900"/>
                </a:lnTo>
                <a:moveTo>
                  <a:pt x="190504" y="419104"/>
                </a:moveTo>
                <a:lnTo>
                  <a:pt x="266696" y="419104"/>
                </a:lnTo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圖說"/>
          <p:cNvSpPr/>
          <p:nvPr/>
        </p:nvSpPr>
        <p:spPr>
          <a:xfrm>
            <a:off x="8775478" y="425196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想法</a:t>
            </a:r>
            <a:endParaRPr lang="en-US" sz="1000" dirty="0"/>
          </a:p>
        </p:txBody>
      </p:sp>
      <p:sp>
        <p:nvSpPr>
          <p:cNvPr id="70" name="圖示 目標"/>
          <p:cNvSpPr/>
          <p:nvPr/>
        </p:nvSpPr>
        <p:spPr>
          <a:xfrm>
            <a:off x="10280380" y="374904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19104" y="228600"/>
                </a:moveTo>
                <a:cubicBezTo>
                  <a:pt x="419104" y="333813"/>
                  <a:pt x="333813" y="419104"/>
                  <a:pt x="228600" y="419104"/>
                </a:cubicBezTo>
                <a:cubicBezTo>
                  <a:pt x="123387" y="419104"/>
                  <a:pt x="38096" y="333813"/>
                  <a:pt x="38096" y="228600"/>
                </a:cubicBezTo>
                <a:cubicBezTo>
                  <a:pt x="38096" y="123387"/>
                  <a:pt x="123387" y="38096"/>
                  <a:pt x="228600" y="38096"/>
                </a:cubicBezTo>
                <a:cubicBezTo>
                  <a:pt x="333813" y="38096"/>
                  <a:pt x="419104" y="123387"/>
                  <a:pt x="419104" y="228600"/>
                </a:cubicBezTo>
                <a:close/>
                <a:moveTo>
                  <a:pt x="342900" y="228600"/>
                </a:moveTo>
                <a:cubicBezTo>
                  <a:pt x="342900" y="291728"/>
                  <a:pt x="291728" y="342900"/>
                  <a:pt x="228600" y="342900"/>
                </a:cubicBezTo>
                <a:cubicBezTo>
                  <a:pt x="165472" y="342900"/>
                  <a:pt x="114300" y="291728"/>
                  <a:pt x="114300" y="228600"/>
                </a:cubicBezTo>
                <a:cubicBezTo>
                  <a:pt x="114300" y="165472"/>
                  <a:pt x="165472" y="114300"/>
                  <a:pt x="228600" y="114300"/>
                </a:cubicBezTo>
                <a:cubicBezTo>
                  <a:pt x="291728" y="114300"/>
                  <a:pt x="342900" y="165472"/>
                  <a:pt x="342900" y="228600"/>
                </a:cubicBezTo>
                <a:close/>
                <a:moveTo>
                  <a:pt x="266696" y="228600"/>
                </a:moveTo>
                <a:cubicBezTo>
                  <a:pt x="266696" y="249643"/>
                  <a:pt x="249643" y="266696"/>
                  <a:pt x="228600" y="266696"/>
                </a:cubicBezTo>
                <a:cubicBezTo>
                  <a:pt x="207557" y="266696"/>
                  <a:pt x="190504" y="249643"/>
                  <a:pt x="190504" y="228600"/>
                </a:cubicBezTo>
                <a:cubicBezTo>
                  <a:pt x="190504" y="207557"/>
                  <a:pt x="207557" y="190504"/>
                  <a:pt x="228600" y="190504"/>
                </a:cubicBezTo>
                <a:cubicBezTo>
                  <a:pt x="249643" y="190504"/>
                  <a:pt x="266696" y="207557"/>
                  <a:pt x="266696" y="228600"/>
                </a:cubicBezTo>
                <a:close/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圖說"/>
          <p:cNvSpPr/>
          <p:nvPr/>
        </p:nvSpPr>
        <p:spPr>
          <a:xfrm>
            <a:off x="9931146" y="425196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000" dirty="0"/>
          </a:p>
        </p:txBody>
      </p:sp>
      <p:sp>
        <p:nvSpPr>
          <p:cNvPr id="72" name="圖示 參數"/>
          <p:cNvSpPr/>
          <p:nvPr/>
        </p:nvSpPr>
        <p:spPr>
          <a:xfrm>
            <a:off x="11436048" y="374904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90504" y="95246"/>
                </a:moveTo>
                <a:lnTo>
                  <a:pt x="57150" y="95246"/>
                </a:lnTo>
                <a:moveTo>
                  <a:pt x="228600" y="361954"/>
                </a:moveTo>
                <a:lnTo>
                  <a:pt x="57150" y="361954"/>
                </a:lnTo>
                <a:moveTo>
                  <a:pt x="266696" y="57150"/>
                </a:moveTo>
                <a:lnTo>
                  <a:pt x="266696" y="133354"/>
                </a:lnTo>
                <a:moveTo>
                  <a:pt x="304804" y="323846"/>
                </a:moveTo>
                <a:lnTo>
                  <a:pt x="304804" y="400050"/>
                </a:lnTo>
                <a:moveTo>
                  <a:pt x="400050" y="228600"/>
                </a:moveTo>
                <a:lnTo>
                  <a:pt x="228600" y="228600"/>
                </a:lnTo>
                <a:moveTo>
                  <a:pt x="400050" y="361954"/>
                </a:moveTo>
                <a:lnTo>
                  <a:pt x="304804" y="361954"/>
                </a:lnTo>
                <a:moveTo>
                  <a:pt x="400050" y="95246"/>
                </a:moveTo>
                <a:lnTo>
                  <a:pt x="266696" y="95246"/>
                </a:lnTo>
                <a:moveTo>
                  <a:pt x="152396" y="190504"/>
                </a:moveTo>
                <a:lnTo>
                  <a:pt x="152396" y="266696"/>
                </a:lnTo>
                <a:moveTo>
                  <a:pt x="152396" y="228600"/>
                </a:moveTo>
                <a:lnTo>
                  <a:pt x="57150" y="228600"/>
                </a:lnTo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圖說"/>
          <p:cNvSpPr/>
          <p:nvPr/>
        </p:nvSpPr>
        <p:spPr>
          <a:xfrm>
            <a:off x="11086814" y="425196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參數</a:t>
            </a:r>
            <a:endParaRPr lang="en-US" sz="1000" dirty="0"/>
          </a:p>
        </p:txBody>
      </p:sp>
      <p:sp>
        <p:nvSpPr>
          <p:cNvPr id="74" name="圖示 整合"/>
          <p:cNvSpPr/>
          <p:nvPr/>
        </p:nvSpPr>
        <p:spPr>
          <a:xfrm>
            <a:off x="12591717" y="374904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93180" y="83633"/>
                </a:moveTo>
                <a:cubicBezTo>
                  <a:pt x="298060" y="88514"/>
                  <a:pt x="305192" y="90377"/>
                  <a:pt x="311833" y="88502"/>
                </a:cubicBezTo>
                <a:cubicBezTo>
                  <a:pt x="318474" y="86628"/>
                  <a:pt x="323583" y="81313"/>
                  <a:pt x="325184" y="74604"/>
                </a:cubicBezTo>
                <a:cubicBezTo>
                  <a:pt x="330658" y="51824"/>
                  <a:pt x="351884" y="36405"/>
                  <a:pt x="375235" y="38245"/>
                </a:cubicBezTo>
                <a:cubicBezTo>
                  <a:pt x="398587" y="40085"/>
                  <a:pt x="417138" y="58636"/>
                  <a:pt x="418967" y="81999"/>
                </a:cubicBezTo>
                <a:cubicBezTo>
                  <a:pt x="420807" y="105350"/>
                  <a:pt x="405376" y="126576"/>
                  <a:pt x="382596" y="132039"/>
                </a:cubicBezTo>
                <a:cubicBezTo>
                  <a:pt x="375887" y="133640"/>
                  <a:pt x="370572" y="138749"/>
                  <a:pt x="368698" y="145390"/>
                </a:cubicBezTo>
                <a:cubicBezTo>
                  <a:pt x="366823" y="152030"/>
                  <a:pt x="368686" y="159163"/>
                  <a:pt x="373567" y="164043"/>
                </a:cubicBezTo>
                <a:lnTo>
                  <a:pt x="405628" y="196082"/>
                </a:lnTo>
                <a:cubicBezTo>
                  <a:pt x="414257" y="204711"/>
                  <a:pt x="419104" y="216404"/>
                  <a:pt x="419104" y="228600"/>
                </a:cubicBezTo>
                <a:cubicBezTo>
                  <a:pt x="419104" y="240796"/>
                  <a:pt x="414257" y="252489"/>
                  <a:pt x="405628" y="261118"/>
                </a:cubicBezTo>
                <a:lnTo>
                  <a:pt x="373567" y="293180"/>
                </a:lnTo>
                <a:cubicBezTo>
                  <a:pt x="368698" y="298060"/>
                  <a:pt x="361565" y="299923"/>
                  <a:pt x="354924" y="298049"/>
                </a:cubicBezTo>
                <a:cubicBezTo>
                  <a:pt x="348284" y="296174"/>
                  <a:pt x="343174" y="290859"/>
                  <a:pt x="341563" y="284150"/>
                </a:cubicBezTo>
                <a:cubicBezTo>
                  <a:pt x="336099" y="261370"/>
                  <a:pt x="314874" y="245951"/>
                  <a:pt x="291511" y="247802"/>
                </a:cubicBezTo>
                <a:cubicBezTo>
                  <a:pt x="268159" y="249643"/>
                  <a:pt x="249620" y="268194"/>
                  <a:pt x="247780" y="291545"/>
                </a:cubicBezTo>
                <a:cubicBezTo>
                  <a:pt x="245951" y="314897"/>
                  <a:pt x="261370" y="336122"/>
                  <a:pt x="284150" y="341586"/>
                </a:cubicBezTo>
                <a:cubicBezTo>
                  <a:pt x="290859" y="343186"/>
                  <a:pt x="296174" y="348295"/>
                  <a:pt x="298049" y="354936"/>
                </a:cubicBezTo>
                <a:cubicBezTo>
                  <a:pt x="299923" y="361577"/>
                  <a:pt x="298060" y="368709"/>
                  <a:pt x="293180" y="373590"/>
                </a:cubicBezTo>
                <a:lnTo>
                  <a:pt x="261118" y="405628"/>
                </a:lnTo>
                <a:cubicBezTo>
                  <a:pt x="252489" y="414257"/>
                  <a:pt x="240796" y="419104"/>
                  <a:pt x="228600" y="419104"/>
                </a:cubicBezTo>
                <a:cubicBezTo>
                  <a:pt x="216404" y="419104"/>
                  <a:pt x="204711" y="414257"/>
                  <a:pt x="196082" y="405628"/>
                </a:cubicBezTo>
                <a:lnTo>
                  <a:pt x="164020" y="373567"/>
                </a:lnTo>
                <a:cubicBezTo>
                  <a:pt x="159140" y="368686"/>
                  <a:pt x="152008" y="366823"/>
                  <a:pt x="145367" y="368698"/>
                </a:cubicBezTo>
                <a:cubicBezTo>
                  <a:pt x="138726" y="370572"/>
                  <a:pt x="133617" y="375887"/>
                  <a:pt x="132017" y="382596"/>
                </a:cubicBezTo>
                <a:cubicBezTo>
                  <a:pt x="126542" y="405376"/>
                  <a:pt x="105316" y="420795"/>
                  <a:pt x="81965" y="418955"/>
                </a:cubicBezTo>
                <a:cubicBezTo>
                  <a:pt x="58613" y="417115"/>
                  <a:pt x="40062" y="398564"/>
                  <a:pt x="38233" y="375201"/>
                </a:cubicBezTo>
                <a:cubicBezTo>
                  <a:pt x="36393" y="351850"/>
                  <a:pt x="51824" y="330624"/>
                  <a:pt x="74604" y="325161"/>
                </a:cubicBezTo>
                <a:cubicBezTo>
                  <a:pt x="81313" y="323560"/>
                  <a:pt x="86628" y="318451"/>
                  <a:pt x="88502" y="311810"/>
                </a:cubicBezTo>
                <a:cubicBezTo>
                  <a:pt x="90377" y="305170"/>
                  <a:pt x="88514" y="298037"/>
                  <a:pt x="83633" y="293157"/>
                </a:cubicBezTo>
                <a:lnTo>
                  <a:pt x="51572" y="261118"/>
                </a:lnTo>
                <a:cubicBezTo>
                  <a:pt x="42943" y="252489"/>
                  <a:pt x="38096" y="240796"/>
                  <a:pt x="38096" y="228600"/>
                </a:cubicBezTo>
                <a:cubicBezTo>
                  <a:pt x="38096" y="216404"/>
                  <a:pt x="42943" y="204711"/>
                  <a:pt x="51572" y="196082"/>
                </a:cubicBezTo>
                <a:lnTo>
                  <a:pt x="83633" y="164020"/>
                </a:lnTo>
                <a:cubicBezTo>
                  <a:pt x="88502" y="159140"/>
                  <a:pt x="95635" y="157277"/>
                  <a:pt x="102276" y="159151"/>
                </a:cubicBezTo>
                <a:cubicBezTo>
                  <a:pt x="108916" y="161026"/>
                  <a:pt x="114026" y="166341"/>
                  <a:pt x="115637" y="173050"/>
                </a:cubicBezTo>
                <a:cubicBezTo>
                  <a:pt x="121101" y="195830"/>
                  <a:pt x="142326" y="211249"/>
                  <a:pt x="165689" y="209398"/>
                </a:cubicBezTo>
                <a:cubicBezTo>
                  <a:pt x="189041" y="207557"/>
                  <a:pt x="207580" y="189006"/>
                  <a:pt x="209420" y="165655"/>
                </a:cubicBezTo>
                <a:cubicBezTo>
                  <a:pt x="211249" y="142304"/>
                  <a:pt x="195830" y="121078"/>
                  <a:pt x="173050" y="115614"/>
                </a:cubicBezTo>
                <a:cubicBezTo>
                  <a:pt x="166341" y="114014"/>
                  <a:pt x="161026" y="108905"/>
                  <a:pt x="159151" y="102264"/>
                </a:cubicBezTo>
                <a:cubicBezTo>
                  <a:pt x="157277" y="95623"/>
                  <a:pt x="159140" y="88491"/>
                  <a:pt x="164020" y="83610"/>
                </a:cubicBezTo>
                <a:lnTo>
                  <a:pt x="196082" y="51572"/>
                </a:lnTo>
                <a:cubicBezTo>
                  <a:pt x="204711" y="42943"/>
                  <a:pt x="216404" y="38096"/>
                  <a:pt x="228600" y="38096"/>
                </a:cubicBezTo>
                <a:cubicBezTo>
                  <a:pt x="240796" y="38096"/>
                  <a:pt x="252489" y="42943"/>
                  <a:pt x="261118" y="51572"/>
                </a:cubicBezTo>
                <a:close/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圖說"/>
          <p:cNvSpPr/>
          <p:nvPr/>
        </p:nvSpPr>
        <p:spPr>
          <a:xfrm>
            <a:off x="12242483" y="425196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</a:t>
            </a:r>
            <a:endParaRPr lang="en-US" sz="1000" dirty="0"/>
          </a:p>
        </p:txBody>
      </p:sp>
      <p:sp>
        <p:nvSpPr>
          <p:cNvPr id="76" name="圖示 安全"/>
          <p:cNvSpPr/>
          <p:nvPr/>
        </p:nvSpPr>
        <p:spPr>
          <a:xfrm>
            <a:off x="13747385" y="374904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80996" y="247654"/>
                </a:moveTo>
                <a:cubicBezTo>
                  <a:pt x="380996" y="342900"/>
                  <a:pt x="314325" y="390529"/>
                  <a:pt x="235081" y="418144"/>
                </a:cubicBezTo>
                <a:cubicBezTo>
                  <a:pt x="230932" y="419550"/>
                  <a:pt x="226417" y="419481"/>
                  <a:pt x="222314" y="417961"/>
                </a:cubicBezTo>
                <a:cubicBezTo>
                  <a:pt x="142875" y="390529"/>
                  <a:pt x="76204" y="342900"/>
                  <a:pt x="76204" y="247654"/>
                </a:cubicBezTo>
                <a:lnTo>
                  <a:pt x="76204" y="114300"/>
                </a:lnTo>
                <a:cubicBezTo>
                  <a:pt x="76204" y="103784"/>
                  <a:pt x="84731" y="95246"/>
                  <a:pt x="95246" y="95246"/>
                </a:cubicBezTo>
                <a:cubicBezTo>
                  <a:pt x="133354" y="95246"/>
                  <a:pt x="180971" y="72386"/>
                  <a:pt x="214118" y="43434"/>
                </a:cubicBezTo>
                <a:cubicBezTo>
                  <a:pt x="222462" y="36313"/>
                  <a:pt x="234738" y="36313"/>
                  <a:pt x="243082" y="43434"/>
                </a:cubicBezTo>
                <a:cubicBezTo>
                  <a:pt x="276412" y="72581"/>
                  <a:pt x="323846" y="95246"/>
                  <a:pt x="361954" y="95246"/>
                </a:cubicBezTo>
                <a:cubicBezTo>
                  <a:pt x="372469" y="95246"/>
                  <a:pt x="380996" y="103784"/>
                  <a:pt x="380996" y="114300"/>
                </a:cubicBezTo>
                <a:close/>
                <a:moveTo>
                  <a:pt x="171450" y="228600"/>
                </a:moveTo>
                <a:lnTo>
                  <a:pt x="209546" y="266696"/>
                </a:lnTo>
                <a:lnTo>
                  <a:pt x="285750" y="190504"/>
                </a:lnTo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圖說"/>
          <p:cNvSpPr/>
          <p:nvPr/>
        </p:nvSpPr>
        <p:spPr>
          <a:xfrm>
            <a:off x="13398151" y="425196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</a:t>
            </a:r>
            <a:endParaRPr lang="en-US" sz="1000" dirty="0"/>
          </a:p>
        </p:txBody>
      </p:sp>
      <p:sp>
        <p:nvSpPr>
          <p:cNvPr id="78" name="圖示 權限"/>
          <p:cNvSpPr/>
          <p:nvPr/>
        </p:nvSpPr>
        <p:spPr>
          <a:xfrm>
            <a:off x="1035034" y="45605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95246" y="209546"/>
                </a:moveTo>
                <a:lnTo>
                  <a:pt x="361954" y="209546"/>
                </a:lnTo>
                <a:cubicBezTo>
                  <a:pt x="382996" y="209546"/>
                  <a:pt x="400050" y="226611"/>
                  <a:pt x="400050" y="247654"/>
                </a:cubicBezTo>
                <a:lnTo>
                  <a:pt x="400050" y="380996"/>
                </a:lnTo>
                <a:cubicBezTo>
                  <a:pt x="400050" y="402039"/>
                  <a:pt x="382996" y="419104"/>
                  <a:pt x="361954" y="419104"/>
                </a:cubicBezTo>
                <a:lnTo>
                  <a:pt x="95246" y="419104"/>
                </a:lnTo>
                <a:cubicBezTo>
                  <a:pt x="74204" y="419104"/>
                  <a:pt x="57150" y="402039"/>
                  <a:pt x="57150" y="380996"/>
                </a:cubicBezTo>
                <a:lnTo>
                  <a:pt x="57150" y="247654"/>
                </a:lnTo>
                <a:cubicBezTo>
                  <a:pt x="57150" y="226611"/>
                  <a:pt x="74204" y="209546"/>
                  <a:pt x="95246" y="209546"/>
                </a:cubicBezTo>
                <a:close/>
                <a:moveTo>
                  <a:pt x="133354" y="209546"/>
                </a:moveTo>
                <a:lnTo>
                  <a:pt x="133354" y="133354"/>
                </a:lnTo>
                <a:cubicBezTo>
                  <a:pt x="133354" y="80742"/>
                  <a:pt x="175999" y="38096"/>
                  <a:pt x="228600" y="38096"/>
                </a:cubicBezTo>
                <a:cubicBezTo>
                  <a:pt x="281201" y="38096"/>
                  <a:pt x="323846" y="80742"/>
                  <a:pt x="323846" y="133354"/>
                </a:cubicBezTo>
                <a:lnTo>
                  <a:pt x="323846" y="209546"/>
                </a:lnTo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圖說"/>
          <p:cNvSpPr/>
          <p:nvPr/>
        </p:nvSpPr>
        <p:spPr>
          <a:xfrm>
            <a:off x="685800" y="506349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權限</a:t>
            </a:r>
            <a:endParaRPr lang="en-US" sz="1000" dirty="0"/>
          </a:p>
        </p:txBody>
      </p:sp>
      <p:sp>
        <p:nvSpPr>
          <p:cNvPr id="80" name="圖示 郵件"/>
          <p:cNvSpPr/>
          <p:nvPr/>
        </p:nvSpPr>
        <p:spPr>
          <a:xfrm>
            <a:off x="2190702" y="45605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19104" y="133354"/>
                </a:moveTo>
                <a:lnTo>
                  <a:pt x="247825" y="242453"/>
                </a:lnTo>
                <a:cubicBezTo>
                  <a:pt x="235995" y="249323"/>
                  <a:pt x="221376" y="249323"/>
                  <a:pt x="209546" y="242453"/>
                </a:cubicBezTo>
                <a:lnTo>
                  <a:pt x="38096" y="133354"/>
                </a:lnTo>
                <a:moveTo>
                  <a:pt x="76204" y="76204"/>
                </a:moveTo>
                <a:lnTo>
                  <a:pt x="380996" y="76204"/>
                </a:lnTo>
                <a:cubicBezTo>
                  <a:pt x="402039" y="76204"/>
                  <a:pt x="419104" y="93257"/>
                  <a:pt x="419104" y="114300"/>
                </a:cubicBezTo>
                <a:lnTo>
                  <a:pt x="419104" y="342900"/>
                </a:lnTo>
                <a:cubicBezTo>
                  <a:pt x="419104" y="363943"/>
                  <a:pt x="402039" y="380996"/>
                  <a:pt x="380996" y="380996"/>
                </a:cubicBezTo>
                <a:lnTo>
                  <a:pt x="76204" y="380996"/>
                </a:lnTo>
                <a:cubicBezTo>
                  <a:pt x="55161" y="380996"/>
                  <a:pt x="38096" y="363943"/>
                  <a:pt x="38096" y="342900"/>
                </a:cubicBezTo>
                <a:lnTo>
                  <a:pt x="38096" y="114300"/>
                </a:lnTo>
                <a:cubicBezTo>
                  <a:pt x="38096" y="93257"/>
                  <a:pt x="55161" y="76204"/>
                  <a:pt x="76204" y="76204"/>
                </a:cubicBezTo>
                <a:close/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圖說"/>
          <p:cNvSpPr/>
          <p:nvPr/>
        </p:nvSpPr>
        <p:spPr>
          <a:xfrm>
            <a:off x="1841468" y="506349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郵件</a:t>
            </a:r>
            <a:endParaRPr lang="en-US" sz="1000" dirty="0"/>
          </a:p>
        </p:txBody>
      </p:sp>
      <p:sp>
        <p:nvSpPr>
          <p:cNvPr id="82" name="圖示 電話"/>
          <p:cNvSpPr/>
          <p:nvPr/>
        </p:nvSpPr>
        <p:spPr>
          <a:xfrm>
            <a:off x="3346371" y="45605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63496" y="315617"/>
                </a:moveTo>
                <a:cubicBezTo>
                  <a:pt x="271600" y="319343"/>
                  <a:pt x="281201" y="316942"/>
                  <a:pt x="286607" y="309844"/>
                </a:cubicBezTo>
                <a:lnTo>
                  <a:pt x="293374" y="300986"/>
                </a:lnTo>
                <a:cubicBezTo>
                  <a:pt x="300563" y="291396"/>
                  <a:pt x="311856" y="285750"/>
                  <a:pt x="323846" y="285750"/>
                </a:cubicBezTo>
                <a:lnTo>
                  <a:pt x="380996" y="285750"/>
                </a:lnTo>
                <a:cubicBezTo>
                  <a:pt x="402039" y="285750"/>
                  <a:pt x="419104" y="302804"/>
                  <a:pt x="419104" y="323846"/>
                </a:cubicBezTo>
                <a:lnTo>
                  <a:pt x="419104" y="380996"/>
                </a:lnTo>
                <a:cubicBezTo>
                  <a:pt x="419104" y="402039"/>
                  <a:pt x="402039" y="419104"/>
                  <a:pt x="380996" y="419104"/>
                </a:cubicBezTo>
                <a:cubicBezTo>
                  <a:pt x="191624" y="419104"/>
                  <a:pt x="38096" y="265576"/>
                  <a:pt x="38096" y="76204"/>
                </a:cubicBezTo>
                <a:cubicBezTo>
                  <a:pt x="38096" y="55161"/>
                  <a:pt x="55161" y="38096"/>
                  <a:pt x="76204" y="38096"/>
                </a:cubicBezTo>
                <a:lnTo>
                  <a:pt x="133354" y="38096"/>
                </a:lnTo>
                <a:cubicBezTo>
                  <a:pt x="154396" y="38096"/>
                  <a:pt x="171450" y="55161"/>
                  <a:pt x="171450" y="76204"/>
                </a:cubicBezTo>
                <a:lnTo>
                  <a:pt x="171450" y="133354"/>
                </a:lnTo>
                <a:cubicBezTo>
                  <a:pt x="171450" y="145344"/>
                  <a:pt x="165804" y="156637"/>
                  <a:pt x="156214" y="163826"/>
                </a:cubicBezTo>
                <a:lnTo>
                  <a:pt x="147298" y="170513"/>
                </a:lnTo>
                <a:cubicBezTo>
                  <a:pt x="140086" y="176022"/>
                  <a:pt x="137754" y="185852"/>
                  <a:pt x="141732" y="194001"/>
                </a:cubicBezTo>
                <a:cubicBezTo>
                  <a:pt x="167770" y="246888"/>
                  <a:pt x="210586" y="289648"/>
                  <a:pt x="263496" y="315617"/>
                </a:cubicBezTo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圖說"/>
          <p:cNvSpPr/>
          <p:nvPr/>
        </p:nvSpPr>
        <p:spPr>
          <a:xfrm>
            <a:off x="2997137" y="506349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電話</a:t>
            </a:r>
            <a:endParaRPr lang="en-US" sz="1000" dirty="0"/>
          </a:p>
        </p:txBody>
      </p:sp>
      <p:sp>
        <p:nvSpPr>
          <p:cNvPr id="84" name="圖示 連結"/>
          <p:cNvSpPr/>
          <p:nvPr/>
        </p:nvSpPr>
        <p:spPr>
          <a:xfrm>
            <a:off x="4502039" y="45605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90504" y="247654"/>
                </a:moveTo>
                <a:cubicBezTo>
                  <a:pt x="207054" y="269782"/>
                  <a:pt x="232406" y="283635"/>
                  <a:pt x="259964" y="285601"/>
                </a:cubicBezTo>
                <a:cubicBezTo>
                  <a:pt x="287533" y="287579"/>
                  <a:pt x="314599" y="277486"/>
                  <a:pt x="334133" y="257941"/>
                </a:cubicBezTo>
                <a:lnTo>
                  <a:pt x="391283" y="200791"/>
                </a:lnTo>
                <a:cubicBezTo>
                  <a:pt x="427379" y="163415"/>
                  <a:pt x="426865" y="104002"/>
                  <a:pt x="390129" y="67266"/>
                </a:cubicBezTo>
                <a:cubicBezTo>
                  <a:pt x="353381" y="30518"/>
                  <a:pt x="293980" y="30004"/>
                  <a:pt x="256604" y="66100"/>
                </a:cubicBezTo>
                <a:lnTo>
                  <a:pt x="223834" y="98675"/>
                </a:lnTo>
                <a:moveTo>
                  <a:pt x="266696" y="209546"/>
                </a:moveTo>
                <a:cubicBezTo>
                  <a:pt x="250146" y="187418"/>
                  <a:pt x="224794" y="173565"/>
                  <a:pt x="197236" y="171599"/>
                </a:cubicBezTo>
                <a:cubicBezTo>
                  <a:pt x="169667" y="169621"/>
                  <a:pt x="142601" y="179714"/>
                  <a:pt x="123067" y="199259"/>
                </a:cubicBezTo>
                <a:lnTo>
                  <a:pt x="65917" y="256409"/>
                </a:lnTo>
                <a:cubicBezTo>
                  <a:pt x="29821" y="293785"/>
                  <a:pt x="30335" y="353198"/>
                  <a:pt x="67071" y="389934"/>
                </a:cubicBezTo>
                <a:cubicBezTo>
                  <a:pt x="103819" y="426682"/>
                  <a:pt x="163220" y="427196"/>
                  <a:pt x="200597" y="391100"/>
                </a:cubicBezTo>
                <a:lnTo>
                  <a:pt x="233172" y="358525"/>
                </a:lnTo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圖說"/>
          <p:cNvSpPr/>
          <p:nvPr/>
        </p:nvSpPr>
        <p:spPr>
          <a:xfrm>
            <a:off x="4152805" y="506349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連結</a:t>
            </a:r>
            <a:endParaRPr lang="en-US" sz="1000" dirty="0"/>
          </a:p>
        </p:txBody>
      </p:sp>
      <p:sp>
        <p:nvSpPr>
          <p:cNvPr id="86" name="圖示 分支"/>
          <p:cNvSpPr/>
          <p:nvPr/>
        </p:nvSpPr>
        <p:spPr>
          <a:xfrm>
            <a:off x="5657707" y="45605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85750" y="114300"/>
                </a:moveTo>
                <a:cubicBezTo>
                  <a:pt x="191064" y="114300"/>
                  <a:pt x="114300" y="191064"/>
                  <a:pt x="114300" y="285750"/>
                </a:cubicBezTo>
                <a:lnTo>
                  <a:pt x="114300" y="57150"/>
                </a:lnTo>
                <a:moveTo>
                  <a:pt x="400050" y="114300"/>
                </a:moveTo>
                <a:cubicBezTo>
                  <a:pt x="400050" y="145858"/>
                  <a:pt x="374458" y="171450"/>
                  <a:pt x="342900" y="171450"/>
                </a:cubicBezTo>
                <a:cubicBezTo>
                  <a:pt x="311342" y="171450"/>
                  <a:pt x="285750" y="145858"/>
                  <a:pt x="285750" y="114300"/>
                </a:cubicBezTo>
                <a:cubicBezTo>
                  <a:pt x="285750" y="82742"/>
                  <a:pt x="311342" y="57150"/>
                  <a:pt x="342900" y="57150"/>
                </a:cubicBezTo>
                <a:cubicBezTo>
                  <a:pt x="374458" y="57150"/>
                  <a:pt x="400050" y="82742"/>
                  <a:pt x="400050" y="114300"/>
                </a:cubicBezTo>
                <a:close/>
                <a:moveTo>
                  <a:pt x="171450" y="342900"/>
                </a:moveTo>
                <a:cubicBezTo>
                  <a:pt x="171450" y="374458"/>
                  <a:pt x="145858" y="400050"/>
                  <a:pt x="114300" y="400050"/>
                </a:cubicBezTo>
                <a:cubicBezTo>
                  <a:pt x="82742" y="400050"/>
                  <a:pt x="57150" y="374458"/>
                  <a:pt x="57150" y="342900"/>
                </a:cubicBezTo>
                <a:cubicBezTo>
                  <a:pt x="57150" y="311342"/>
                  <a:pt x="82742" y="285750"/>
                  <a:pt x="114300" y="285750"/>
                </a:cubicBezTo>
                <a:cubicBezTo>
                  <a:pt x="145858" y="285750"/>
                  <a:pt x="171450" y="311342"/>
                  <a:pt x="171450" y="342900"/>
                </a:cubicBezTo>
                <a:close/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圖說"/>
          <p:cNvSpPr/>
          <p:nvPr/>
        </p:nvSpPr>
        <p:spPr>
          <a:xfrm>
            <a:off x="5308473" y="506349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</a:t>
            </a:r>
            <a:endParaRPr lang="en-US" sz="1000" dirty="0"/>
          </a:p>
        </p:txBody>
      </p:sp>
      <p:sp>
        <p:nvSpPr>
          <p:cNvPr id="88" name="圖示 流程"/>
          <p:cNvSpPr/>
          <p:nvPr/>
        </p:nvSpPr>
        <p:spPr>
          <a:xfrm>
            <a:off x="6813375" y="45605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95246" y="57150"/>
                </a:moveTo>
                <a:lnTo>
                  <a:pt x="171450" y="57150"/>
                </a:lnTo>
                <a:cubicBezTo>
                  <a:pt x="192493" y="57150"/>
                  <a:pt x="209546" y="74204"/>
                  <a:pt x="209546" y="95246"/>
                </a:cubicBezTo>
                <a:lnTo>
                  <a:pt x="209546" y="171450"/>
                </a:lnTo>
                <a:cubicBezTo>
                  <a:pt x="209546" y="192493"/>
                  <a:pt x="192493" y="209546"/>
                  <a:pt x="171450" y="209546"/>
                </a:cubicBezTo>
                <a:lnTo>
                  <a:pt x="95246" y="209546"/>
                </a:lnTo>
                <a:cubicBezTo>
                  <a:pt x="74204" y="209546"/>
                  <a:pt x="57150" y="192493"/>
                  <a:pt x="57150" y="171450"/>
                </a:cubicBezTo>
                <a:lnTo>
                  <a:pt x="57150" y="95246"/>
                </a:lnTo>
                <a:cubicBezTo>
                  <a:pt x="57150" y="74204"/>
                  <a:pt x="74204" y="57150"/>
                  <a:pt x="95246" y="57150"/>
                </a:cubicBezTo>
                <a:close/>
                <a:moveTo>
                  <a:pt x="133354" y="209546"/>
                </a:moveTo>
                <a:lnTo>
                  <a:pt x="133354" y="285750"/>
                </a:lnTo>
                <a:cubicBezTo>
                  <a:pt x="133354" y="306793"/>
                  <a:pt x="150407" y="323846"/>
                  <a:pt x="171450" y="323846"/>
                </a:cubicBezTo>
                <a:lnTo>
                  <a:pt x="247654" y="323846"/>
                </a:lnTo>
                <a:moveTo>
                  <a:pt x="285750" y="247654"/>
                </a:moveTo>
                <a:lnTo>
                  <a:pt x="361954" y="247654"/>
                </a:lnTo>
                <a:cubicBezTo>
                  <a:pt x="382996" y="247654"/>
                  <a:pt x="400050" y="264707"/>
                  <a:pt x="400050" y="285750"/>
                </a:cubicBezTo>
                <a:lnTo>
                  <a:pt x="400050" y="361954"/>
                </a:lnTo>
                <a:cubicBezTo>
                  <a:pt x="400050" y="382996"/>
                  <a:pt x="382996" y="400050"/>
                  <a:pt x="361954" y="400050"/>
                </a:cubicBezTo>
                <a:lnTo>
                  <a:pt x="285750" y="400050"/>
                </a:lnTo>
                <a:cubicBezTo>
                  <a:pt x="264707" y="400050"/>
                  <a:pt x="247654" y="382996"/>
                  <a:pt x="247654" y="361954"/>
                </a:cubicBezTo>
                <a:lnTo>
                  <a:pt x="247654" y="285750"/>
                </a:lnTo>
                <a:cubicBezTo>
                  <a:pt x="247654" y="264707"/>
                  <a:pt x="264707" y="247654"/>
                  <a:pt x="285750" y="247654"/>
                </a:cubicBezTo>
                <a:close/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圖說"/>
          <p:cNvSpPr/>
          <p:nvPr/>
        </p:nvSpPr>
        <p:spPr>
          <a:xfrm>
            <a:off x="6464141" y="506349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</a:t>
            </a:r>
            <a:endParaRPr lang="en-US" sz="1000" dirty="0"/>
          </a:p>
        </p:txBody>
      </p:sp>
      <p:sp>
        <p:nvSpPr>
          <p:cNvPr id="90" name="圖示 討論"/>
          <p:cNvSpPr/>
          <p:nvPr/>
        </p:nvSpPr>
        <p:spPr>
          <a:xfrm>
            <a:off x="7969044" y="45605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19104" y="323846"/>
                </a:moveTo>
                <a:cubicBezTo>
                  <a:pt x="419104" y="344889"/>
                  <a:pt x="402039" y="361954"/>
                  <a:pt x="380996" y="361954"/>
                </a:cubicBezTo>
                <a:lnTo>
                  <a:pt x="130073" y="361954"/>
                </a:lnTo>
                <a:cubicBezTo>
                  <a:pt x="119969" y="361954"/>
                  <a:pt x="110277" y="365966"/>
                  <a:pt x="103133" y="373109"/>
                </a:cubicBezTo>
                <a:lnTo>
                  <a:pt x="61185" y="415058"/>
                </a:lnTo>
                <a:cubicBezTo>
                  <a:pt x="57321" y="418932"/>
                  <a:pt x="51504" y="420087"/>
                  <a:pt x="46452" y="417995"/>
                </a:cubicBezTo>
                <a:cubicBezTo>
                  <a:pt x="41399" y="415903"/>
                  <a:pt x="38096" y="410966"/>
                  <a:pt x="38096" y="405502"/>
                </a:cubicBezTo>
                <a:lnTo>
                  <a:pt x="38096" y="95246"/>
                </a:lnTo>
                <a:cubicBezTo>
                  <a:pt x="38096" y="74204"/>
                  <a:pt x="55161" y="57150"/>
                  <a:pt x="76204" y="57150"/>
                </a:cubicBezTo>
                <a:lnTo>
                  <a:pt x="380996" y="57150"/>
                </a:lnTo>
                <a:cubicBezTo>
                  <a:pt x="402039" y="57150"/>
                  <a:pt x="419104" y="74204"/>
                  <a:pt x="419104" y="95246"/>
                </a:cubicBezTo>
                <a:close/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圖說"/>
          <p:cNvSpPr/>
          <p:nvPr/>
        </p:nvSpPr>
        <p:spPr>
          <a:xfrm>
            <a:off x="7619809" y="506349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討論</a:t>
            </a:r>
            <a:endParaRPr lang="en-US" sz="1000" dirty="0"/>
          </a:p>
        </p:txBody>
      </p:sp>
      <p:sp>
        <p:nvSpPr>
          <p:cNvPr id="92" name="圖示 顯微檢測"/>
          <p:cNvSpPr/>
          <p:nvPr/>
        </p:nvSpPr>
        <p:spPr>
          <a:xfrm>
            <a:off x="9124712" y="45605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342900"/>
                </a:moveTo>
                <a:lnTo>
                  <a:pt x="266696" y="342900"/>
                </a:lnTo>
                <a:moveTo>
                  <a:pt x="57150" y="419104"/>
                </a:moveTo>
                <a:lnTo>
                  <a:pt x="400050" y="419104"/>
                </a:lnTo>
                <a:moveTo>
                  <a:pt x="266696" y="419104"/>
                </a:moveTo>
                <a:cubicBezTo>
                  <a:pt x="340351" y="419104"/>
                  <a:pt x="400050" y="359393"/>
                  <a:pt x="400050" y="285750"/>
                </a:cubicBezTo>
                <a:cubicBezTo>
                  <a:pt x="400050" y="212107"/>
                  <a:pt x="340351" y="152396"/>
                  <a:pt x="266696" y="152396"/>
                </a:cubicBezTo>
                <a:lnTo>
                  <a:pt x="247654" y="152396"/>
                </a:lnTo>
                <a:moveTo>
                  <a:pt x="171450" y="266696"/>
                </a:moveTo>
                <a:lnTo>
                  <a:pt x="209546" y="266696"/>
                </a:lnTo>
                <a:moveTo>
                  <a:pt x="171450" y="228600"/>
                </a:moveTo>
                <a:cubicBezTo>
                  <a:pt x="150407" y="228600"/>
                  <a:pt x="133354" y="211546"/>
                  <a:pt x="133354" y="190504"/>
                </a:cubicBezTo>
                <a:lnTo>
                  <a:pt x="133354" y="114300"/>
                </a:lnTo>
                <a:lnTo>
                  <a:pt x="247654" y="114300"/>
                </a:lnTo>
                <a:lnTo>
                  <a:pt x="247654" y="190504"/>
                </a:lnTo>
                <a:cubicBezTo>
                  <a:pt x="247654" y="211546"/>
                  <a:pt x="230589" y="228600"/>
                  <a:pt x="209546" y="228600"/>
                </a:cubicBezTo>
                <a:close/>
                <a:moveTo>
                  <a:pt x="228600" y="114300"/>
                </a:moveTo>
                <a:lnTo>
                  <a:pt x="228600" y="57150"/>
                </a:lnTo>
                <a:cubicBezTo>
                  <a:pt x="228600" y="46634"/>
                  <a:pt x="220073" y="38096"/>
                  <a:pt x="209546" y="38096"/>
                </a:cubicBezTo>
                <a:lnTo>
                  <a:pt x="171450" y="38096"/>
                </a:lnTo>
                <a:cubicBezTo>
                  <a:pt x="160934" y="38096"/>
                  <a:pt x="152396" y="46634"/>
                  <a:pt x="152396" y="57150"/>
                </a:cubicBezTo>
                <a:lnTo>
                  <a:pt x="152396" y="114300"/>
                </a:lnTo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3" name="圖說"/>
          <p:cNvSpPr/>
          <p:nvPr/>
        </p:nvSpPr>
        <p:spPr>
          <a:xfrm>
            <a:off x="8775478" y="506349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顯微檢測</a:t>
            </a:r>
            <a:endParaRPr lang="en-US" sz="1000" dirty="0"/>
          </a:p>
        </p:txBody>
      </p:sp>
      <p:sp>
        <p:nvSpPr>
          <p:cNvPr id="94" name="圖示 AOI 影像"/>
          <p:cNvSpPr/>
          <p:nvPr/>
        </p:nvSpPr>
        <p:spPr>
          <a:xfrm>
            <a:off x="10280380" y="45605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66639" y="76204"/>
                </a:moveTo>
                <a:cubicBezTo>
                  <a:pt x="280641" y="76204"/>
                  <a:pt x="293522" y="83885"/>
                  <a:pt x="300175" y="96206"/>
                </a:cubicBezTo>
                <a:lnTo>
                  <a:pt x="309433" y="113351"/>
                </a:lnTo>
                <a:cubicBezTo>
                  <a:pt x="316085" y="125673"/>
                  <a:pt x="328955" y="133354"/>
                  <a:pt x="342957" y="133354"/>
                </a:cubicBezTo>
                <a:lnTo>
                  <a:pt x="380996" y="133354"/>
                </a:lnTo>
                <a:cubicBezTo>
                  <a:pt x="402039" y="133354"/>
                  <a:pt x="419104" y="150407"/>
                  <a:pt x="419104" y="171450"/>
                </a:cubicBezTo>
                <a:lnTo>
                  <a:pt x="419104" y="342900"/>
                </a:lnTo>
                <a:cubicBezTo>
                  <a:pt x="419104" y="363943"/>
                  <a:pt x="402039" y="380996"/>
                  <a:pt x="380996" y="380996"/>
                </a:cubicBezTo>
                <a:lnTo>
                  <a:pt x="76204" y="380996"/>
                </a:lnTo>
                <a:cubicBezTo>
                  <a:pt x="55161" y="380996"/>
                  <a:pt x="38096" y="363943"/>
                  <a:pt x="38096" y="342900"/>
                </a:cubicBezTo>
                <a:lnTo>
                  <a:pt x="38096" y="171450"/>
                </a:lnTo>
                <a:cubicBezTo>
                  <a:pt x="38096" y="150407"/>
                  <a:pt x="55161" y="133354"/>
                  <a:pt x="76204" y="133354"/>
                </a:cubicBezTo>
                <a:lnTo>
                  <a:pt x="114243" y="133354"/>
                </a:lnTo>
                <a:cubicBezTo>
                  <a:pt x="128233" y="133354"/>
                  <a:pt x="141092" y="125684"/>
                  <a:pt x="147756" y="113386"/>
                </a:cubicBezTo>
                <a:lnTo>
                  <a:pt x="157071" y="96161"/>
                </a:lnTo>
                <a:cubicBezTo>
                  <a:pt x="163723" y="83862"/>
                  <a:pt x="176594" y="76204"/>
                  <a:pt x="190572" y="76204"/>
                </a:cubicBezTo>
                <a:close/>
                <a:moveTo>
                  <a:pt x="285750" y="247654"/>
                </a:moveTo>
                <a:cubicBezTo>
                  <a:pt x="285750" y="279212"/>
                  <a:pt x="260158" y="304804"/>
                  <a:pt x="228600" y="304804"/>
                </a:cubicBezTo>
                <a:cubicBezTo>
                  <a:pt x="197042" y="304804"/>
                  <a:pt x="171450" y="279212"/>
                  <a:pt x="171450" y="247654"/>
                </a:cubicBezTo>
                <a:cubicBezTo>
                  <a:pt x="171450" y="216084"/>
                  <a:pt x="197042" y="190504"/>
                  <a:pt x="228600" y="190504"/>
                </a:cubicBezTo>
                <a:cubicBezTo>
                  <a:pt x="260158" y="190504"/>
                  <a:pt x="285750" y="216084"/>
                  <a:pt x="285750" y="247654"/>
                </a:cubicBezTo>
                <a:close/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圖說"/>
          <p:cNvSpPr/>
          <p:nvPr/>
        </p:nvSpPr>
        <p:spPr>
          <a:xfrm>
            <a:off x="9931146" y="506349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AOI 影像</a:t>
            </a:r>
            <a:endParaRPr lang="en-US" sz="1000" dirty="0"/>
          </a:p>
        </p:txBody>
      </p:sp>
      <p:sp>
        <p:nvSpPr>
          <p:cNvPr id="96" name="圖示 AI"/>
          <p:cNvSpPr/>
          <p:nvPr/>
        </p:nvSpPr>
        <p:spPr>
          <a:xfrm>
            <a:off x="11436048" y="45605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95246"/>
                </a:moveTo>
                <a:cubicBezTo>
                  <a:pt x="228657" y="74512"/>
                  <a:pt x="217479" y="55367"/>
                  <a:pt x="199385" y="45229"/>
                </a:cubicBezTo>
                <a:cubicBezTo>
                  <a:pt x="181291" y="35090"/>
                  <a:pt x="159117" y="35547"/>
                  <a:pt x="141458" y="46429"/>
                </a:cubicBezTo>
                <a:cubicBezTo>
                  <a:pt x="123810" y="57310"/>
                  <a:pt x="113431" y="76912"/>
                  <a:pt x="114357" y="97635"/>
                </a:cubicBezTo>
                <a:cubicBezTo>
                  <a:pt x="91669" y="103464"/>
                  <a:pt x="72923" y="119409"/>
                  <a:pt x="63528" y="140875"/>
                </a:cubicBezTo>
                <a:cubicBezTo>
                  <a:pt x="54132" y="162329"/>
                  <a:pt x="55127" y="186926"/>
                  <a:pt x="66237" y="207546"/>
                </a:cubicBezTo>
                <a:cubicBezTo>
                  <a:pt x="46669" y="223445"/>
                  <a:pt x="36233" y="247985"/>
                  <a:pt x="38359" y="273097"/>
                </a:cubicBezTo>
                <a:cubicBezTo>
                  <a:pt x="40474" y="298220"/>
                  <a:pt x="54875" y="320657"/>
                  <a:pt x="76832" y="333047"/>
                </a:cubicBezTo>
                <a:cubicBezTo>
                  <a:pt x="73186" y="361199"/>
                  <a:pt x="85496" y="389043"/>
                  <a:pt x="108768" y="405296"/>
                </a:cubicBezTo>
                <a:cubicBezTo>
                  <a:pt x="132039" y="421538"/>
                  <a:pt x="162420" y="423516"/>
                  <a:pt x="187589" y="410406"/>
                </a:cubicBezTo>
                <a:cubicBezTo>
                  <a:pt x="212769" y="397295"/>
                  <a:pt x="228566" y="371281"/>
                  <a:pt x="228600" y="342900"/>
                </a:cubicBezTo>
                <a:close/>
                <a:moveTo>
                  <a:pt x="171450" y="247654"/>
                </a:moveTo>
                <a:cubicBezTo>
                  <a:pt x="204151" y="236144"/>
                  <a:pt x="226714" y="206071"/>
                  <a:pt x="228600" y="171450"/>
                </a:cubicBezTo>
                <a:moveTo>
                  <a:pt x="114357" y="97635"/>
                </a:moveTo>
                <a:cubicBezTo>
                  <a:pt x="114734" y="106848"/>
                  <a:pt x="117340" y="115832"/>
                  <a:pt x="121935" y="123821"/>
                </a:cubicBezTo>
                <a:moveTo>
                  <a:pt x="66237" y="207569"/>
                </a:moveTo>
                <a:cubicBezTo>
                  <a:pt x="69723" y="204734"/>
                  <a:pt x="73449" y="202208"/>
                  <a:pt x="77381" y="200025"/>
                </a:cubicBezTo>
                <a:moveTo>
                  <a:pt x="114300" y="342900"/>
                </a:moveTo>
                <a:cubicBezTo>
                  <a:pt x="101167" y="342911"/>
                  <a:pt x="88262" y="339517"/>
                  <a:pt x="76832" y="333070"/>
                </a:cubicBezTo>
                <a:moveTo>
                  <a:pt x="228600" y="247654"/>
                </a:moveTo>
                <a:lnTo>
                  <a:pt x="304804" y="247654"/>
                </a:lnTo>
                <a:moveTo>
                  <a:pt x="228600" y="342900"/>
                </a:moveTo>
                <a:lnTo>
                  <a:pt x="342900" y="342900"/>
                </a:lnTo>
                <a:cubicBezTo>
                  <a:pt x="363943" y="342900"/>
                  <a:pt x="380996" y="359954"/>
                  <a:pt x="380996" y="380996"/>
                </a:cubicBezTo>
                <a:lnTo>
                  <a:pt x="380996" y="400050"/>
                </a:lnTo>
                <a:moveTo>
                  <a:pt x="228600" y="152396"/>
                </a:moveTo>
                <a:lnTo>
                  <a:pt x="380996" y="152396"/>
                </a:lnTo>
                <a:moveTo>
                  <a:pt x="304804" y="152396"/>
                </a:moveTo>
                <a:lnTo>
                  <a:pt x="304804" y="95246"/>
                </a:lnTo>
                <a:cubicBezTo>
                  <a:pt x="304804" y="74204"/>
                  <a:pt x="321857" y="57150"/>
                  <a:pt x="342900" y="57150"/>
                </a:cubicBezTo>
                <a:moveTo>
                  <a:pt x="314325" y="247654"/>
                </a:moveTo>
                <a:cubicBezTo>
                  <a:pt x="314325" y="252912"/>
                  <a:pt x="310062" y="257175"/>
                  <a:pt x="304804" y="257175"/>
                </a:cubicBezTo>
                <a:cubicBezTo>
                  <a:pt x="299535" y="257175"/>
                  <a:pt x="295271" y="252912"/>
                  <a:pt x="295271" y="247654"/>
                </a:cubicBezTo>
                <a:cubicBezTo>
                  <a:pt x="295271" y="242385"/>
                  <a:pt x="299535" y="238121"/>
                  <a:pt x="304804" y="238121"/>
                </a:cubicBezTo>
                <a:cubicBezTo>
                  <a:pt x="310062" y="238121"/>
                  <a:pt x="314325" y="242385"/>
                  <a:pt x="314325" y="247654"/>
                </a:cubicBezTo>
                <a:close/>
                <a:moveTo>
                  <a:pt x="352421" y="57150"/>
                </a:moveTo>
                <a:cubicBezTo>
                  <a:pt x="352421" y="62408"/>
                  <a:pt x="348158" y="66671"/>
                  <a:pt x="342900" y="66671"/>
                </a:cubicBezTo>
                <a:cubicBezTo>
                  <a:pt x="337642" y="66671"/>
                  <a:pt x="333379" y="62408"/>
                  <a:pt x="333379" y="57150"/>
                </a:cubicBezTo>
                <a:cubicBezTo>
                  <a:pt x="333379" y="51892"/>
                  <a:pt x="337642" y="47629"/>
                  <a:pt x="342900" y="47629"/>
                </a:cubicBezTo>
                <a:cubicBezTo>
                  <a:pt x="348158" y="47629"/>
                  <a:pt x="352421" y="51892"/>
                  <a:pt x="352421" y="57150"/>
                </a:cubicBezTo>
                <a:close/>
                <a:moveTo>
                  <a:pt x="390529" y="400050"/>
                </a:moveTo>
                <a:cubicBezTo>
                  <a:pt x="390529" y="405308"/>
                  <a:pt x="386265" y="409571"/>
                  <a:pt x="380996" y="409571"/>
                </a:cubicBezTo>
                <a:cubicBezTo>
                  <a:pt x="375738" y="409571"/>
                  <a:pt x="371475" y="405308"/>
                  <a:pt x="371475" y="400050"/>
                </a:cubicBezTo>
                <a:cubicBezTo>
                  <a:pt x="371475" y="394792"/>
                  <a:pt x="375738" y="390529"/>
                  <a:pt x="380996" y="390529"/>
                </a:cubicBezTo>
                <a:cubicBezTo>
                  <a:pt x="386265" y="390529"/>
                  <a:pt x="390529" y="394792"/>
                  <a:pt x="390529" y="400050"/>
                </a:cubicBezTo>
                <a:close/>
                <a:moveTo>
                  <a:pt x="390529" y="152396"/>
                </a:moveTo>
                <a:cubicBezTo>
                  <a:pt x="390529" y="157665"/>
                  <a:pt x="386265" y="161929"/>
                  <a:pt x="380996" y="161929"/>
                </a:cubicBezTo>
                <a:cubicBezTo>
                  <a:pt x="375738" y="161929"/>
                  <a:pt x="371475" y="157665"/>
                  <a:pt x="371475" y="152396"/>
                </a:cubicBezTo>
                <a:cubicBezTo>
                  <a:pt x="371475" y="147138"/>
                  <a:pt x="375738" y="142875"/>
                  <a:pt x="380996" y="142875"/>
                </a:cubicBezTo>
                <a:cubicBezTo>
                  <a:pt x="386265" y="142875"/>
                  <a:pt x="390529" y="147138"/>
                  <a:pt x="390529" y="152396"/>
                </a:cubicBezTo>
                <a:close/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7" name="圖說"/>
          <p:cNvSpPr/>
          <p:nvPr/>
        </p:nvSpPr>
        <p:spPr>
          <a:xfrm>
            <a:off x="11086814" y="506349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</a:t>
            </a:r>
            <a:endParaRPr lang="en-US" sz="1000" dirty="0"/>
          </a:p>
        </p:txBody>
      </p:sp>
      <p:sp>
        <p:nvSpPr>
          <p:cNvPr id="98" name="圖示 機器人"/>
          <p:cNvSpPr/>
          <p:nvPr/>
        </p:nvSpPr>
        <p:spPr>
          <a:xfrm>
            <a:off x="12591717" y="45605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152396"/>
                </a:moveTo>
                <a:lnTo>
                  <a:pt x="228600" y="76204"/>
                </a:lnTo>
                <a:lnTo>
                  <a:pt x="152396" y="76204"/>
                </a:lnTo>
                <a:moveTo>
                  <a:pt x="114300" y="152396"/>
                </a:moveTo>
                <a:lnTo>
                  <a:pt x="342900" y="152396"/>
                </a:lnTo>
                <a:cubicBezTo>
                  <a:pt x="363943" y="152396"/>
                  <a:pt x="380996" y="169461"/>
                  <a:pt x="380996" y="190504"/>
                </a:cubicBezTo>
                <a:lnTo>
                  <a:pt x="380996" y="342900"/>
                </a:lnTo>
                <a:cubicBezTo>
                  <a:pt x="380996" y="363943"/>
                  <a:pt x="363943" y="380996"/>
                  <a:pt x="342900" y="380996"/>
                </a:cubicBezTo>
                <a:lnTo>
                  <a:pt x="114300" y="380996"/>
                </a:lnTo>
                <a:cubicBezTo>
                  <a:pt x="93257" y="380996"/>
                  <a:pt x="76204" y="363943"/>
                  <a:pt x="76204" y="342900"/>
                </a:cubicBezTo>
                <a:lnTo>
                  <a:pt x="76204" y="190504"/>
                </a:lnTo>
                <a:cubicBezTo>
                  <a:pt x="76204" y="169461"/>
                  <a:pt x="93257" y="152396"/>
                  <a:pt x="114300" y="152396"/>
                </a:cubicBezTo>
                <a:close/>
                <a:moveTo>
                  <a:pt x="38096" y="266696"/>
                </a:moveTo>
                <a:lnTo>
                  <a:pt x="76204" y="266696"/>
                </a:lnTo>
                <a:moveTo>
                  <a:pt x="380996" y="266696"/>
                </a:moveTo>
                <a:lnTo>
                  <a:pt x="419104" y="266696"/>
                </a:lnTo>
                <a:moveTo>
                  <a:pt x="285750" y="247654"/>
                </a:moveTo>
                <a:lnTo>
                  <a:pt x="285750" y="285750"/>
                </a:lnTo>
                <a:moveTo>
                  <a:pt x="171450" y="247654"/>
                </a:moveTo>
                <a:lnTo>
                  <a:pt x="171450" y="285750"/>
                </a:lnTo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9" name="圖說"/>
          <p:cNvSpPr/>
          <p:nvPr/>
        </p:nvSpPr>
        <p:spPr>
          <a:xfrm>
            <a:off x="12242483" y="506349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機器人</a:t>
            </a:r>
            <a:endParaRPr lang="en-US" sz="1000" dirty="0"/>
          </a:p>
        </p:txBody>
      </p:sp>
      <p:sp>
        <p:nvSpPr>
          <p:cNvPr id="100" name="圖示 物流"/>
          <p:cNvSpPr/>
          <p:nvPr/>
        </p:nvSpPr>
        <p:spPr>
          <a:xfrm>
            <a:off x="13747385" y="45605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66696" y="342900"/>
                </a:moveTo>
                <a:lnTo>
                  <a:pt x="266696" y="114300"/>
                </a:lnTo>
                <a:cubicBezTo>
                  <a:pt x="266696" y="93257"/>
                  <a:pt x="249643" y="76204"/>
                  <a:pt x="228600" y="76204"/>
                </a:cubicBezTo>
                <a:lnTo>
                  <a:pt x="76204" y="76204"/>
                </a:lnTo>
                <a:cubicBezTo>
                  <a:pt x="55161" y="76204"/>
                  <a:pt x="38096" y="93257"/>
                  <a:pt x="38096" y="114300"/>
                </a:cubicBezTo>
                <a:lnTo>
                  <a:pt x="38096" y="323846"/>
                </a:lnTo>
                <a:cubicBezTo>
                  <a:pt x="38096" y="334373"/>
                  <a:pt x="46634" y="342900"/>
                  <a:pt x="57150" y="342900"/>
                </a:cubicBezTo>
                <a:lnTo>
                  <a:pt x="95246" y="342900"/>
                </a:lnTo>
                <a:moveTo>
                  <a:pt x="285750" y="342900"/>
                </a:moveTo>
                <a:lnTo>
                  <a:pt x="171450" y="342900"/>
                </a:lnTo>
                <a:moveTo>
                  <a:pt x="361954" y="342900"/>
                </a:moveTo>
                <a:lnTo>
                  <a:pt x="400050" y="342900"/>
                </a:lnTo>
                <a:cubicBezTo>
                  <a:pt x="410566" y="342900"/>
                  <a:pt x="419104" y="334373"/>
                  <a:pt x="419104" y="323846"/>
                </a:cubicBezTo>
                <a:lnTo>
                  <a:pt x="419104" y="254318"/>
                </a:lnTo>
                <a:cubicBezTo>
                  <a:pt x="419092" y="249997"/>
                  <a:pt x="417618" y="245802"/>
                  <a:pt x="414909" y="242430"/>
                </a:cubicBezTo>
                <a:lnTo>
                  <a:pt x="348615" y="159563"/>
                </a:lnTo>
                <a:cubicBezTo>
                  <a:pt x="345003" y="155048"/>
                  <a:pt x="339540" y="152408"/>
                  <a:pt x="333756" y="152396"/>
                </a:cubicBezTo>
                <a:lnTo>
                  <a:pt x="266696" y="152396"/>
                </a:lnTo>
                <a:moveTo>
                  <a:pt x="361954" y="342900"/>
                </a:moveTo>
                <a:cubicBezTo>
                  <a:pt x="361954" y="363943"/>
                  <a:pt x="344889" y="380996"/>
                  <a:pt x="323846" y="380996"/>
                </a:cubicBezTo>
                <a:cubicBezTo>
                  <a:pt x="302804" y="380996"/>
                  <a:pt x="285750" y="363943"/>
                  <a:pt x="285750" y="342900"/>
                </a:cubicBezTo>
                <a:cubicBezTo>
                  <a:pt x="285750" y="321857"/>
                  <a:pt x="302804" y="304804"/>
                  <a:pt x="323846" y="304804"/>
                </a:cubicBezTo>
                <a:cubicBezTo>
                  <a:pt x="344889" y="304804"/>
                  <a:pt x="361954" y="321857"/>
                  <a:pt x="361954" y="342900"/>
                </a:cubicBezTo>
                <a:close/>
                <a:moveTo>
                  <a:pt x="171450" y="342900"/>
                </a:moveTo>
                <a:cubicBezTo>
                  <a:pt x="171450" y="363943"/>
                  <a:pt x="154396" y="380996"/>
                  <a:pt x="133354" y="380996"/>
                </a:cubicBezTo>
                <a:cubicBezTo>
                  <a:pt x="112311" y="380996"/>
                  <a:pt x="95246" y="363943"/>
                  <a:pt x="95246" y="342900"/>
                </a:cubicBezTo>
                <a:cubicBezTo>
                  <a:pt x="95246" y="321857"/>
                  <a:pt x="112311" y="304804"/>
                  <a:pt x="133354" y="304804"/>
                </a:cubicBezTo>
                <a:cubicBezTo>
                  <a:pt x="154396" y="304804"/>
                  <a:pt x="171450" y="321857"/>
                  <a:pt x="171450" y="342900"/>
                </a:cubicBezTo>
                <a:close/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1" name="圖說"/>
          <p:cNvSpPr/>
          <p:nvPr/>
        </p:nvSpPr>
        <p:spPr>
          <a:xfrm>
            <a:off x="13398151" y="506349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物流</a:t>
            </a:r>
            <a:endParaRPr lang="en-US" sz="1000" dirty="0"/>
          </a:p>
        </p:txBody>
      </p:sp>
      <p:sp>
        <p:nvSpPr>
          <p:cNvPr id="102" name="圖示 成本"/>
          <p:cNvSpPr/>
          <p:nvPr/>
        </p:nvSpPr>
        <p:spPr>
          <a:xfrm>
            <a:off x="1035034" y="537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19104" y="228600"/>
                </a:moveTo>
                <a:cubicBezTo>
                  <a:pt x="419104" y="333813"/>
                  <a:pt x="333813" y="419104"/>
                  <a:pt x="228600" y="419104"/>
                </a:cubicBezTo>
                <a:cubicBezTo>
                  <a:pt x="123387" y="419104"/>
                  <a:pt x="38096" y="333813"/>
                  <a:pt x="38096" y="228600"/>
                </a:cubicBezTo>
                <a:cubicBezTo>
                  <a:pt x="38096" y="123387"/>
                  <a:pt x="123387" y="38096"/>
                  <a:pt x="228600" y="38096"/>
                </a:cubicBezTo>
                <a:cubicBezTo>
                  <a:pt x="333813" y="38096"/>
                  <a:pt x="419104" y="123387"/>
                  <a:pt x="419104" y="228600"/>
                </a:cubicBezTo>
                <a:close/>
                <a:moveTo>
                  <a:pt x="304804" y="152396"/>
                </a:moveTo>
                <a:lnTo>
                  <a:pt x="190504" y="152396"/>
                </a:lnTo>
                <a:cubicBezTo>
                  <a:pt x="169461" y="152396"/>
                  <a:pt x="152396" y="169461"/>
                  <a:pt x="152396" y="190504"/>
                </a:cubicBezTo>
                <a:cubicBezTo>
                  <a:pt x="152396" y="211546"/>
                  <a:pt x="169461" y="228600"/>
                  <a:pt x="190504" y="228600"/>
                </a:cubicBezTo>
                <a:lnTo>
                  <a:pt x="266696" y="228600"/>
                </a:lnTo>
                <a:cubicBezTo>
                  <a:pt x="287739" y="228600"/>
                  <a:pt x="304804" y="245654"/>
                  <a:pt x="304804" y="266696"/>
                </a:cubicBezTo>
                <a:cubicBezTo>
                  <a:pt x="304804" y="287739"/>
                  <a:pt x="287739" y="304804"/>
                  <a:pt x="266696" y="304804"/>
                </a:cubicBezTo>
                <a:lnTo>
                  <a:pt x="152396" y="304804"/>
                </a:lnTo>
                <a:moveTo>
                  <a:pt x="228600" y="342900"/>
                </a:moveTo>
                <a:lnTo>
                  <a:pt x="228600" y="114300"/>
                </a:lnTo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3" name="圖說"/>
          <p:cNvSpPr/>
          <p:nvPr/>
        </p:nvSpPr>
        <p:spPr>
          <a:xfrm>
            <a:off x="685800" y="587502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</a:t>
            </a:r>
            <a:endParaRPr lang="en-US" sz="1000" dirty="0"/>
          </a:p>
        </p:txBody>
      </p:sp>
      <p:sp>
        <p:nvSpPr>
          <p:cNvPr id="104" name="圖示 良率漏斗"/>
          <p:cNvSpPr/>
          <p:nvPr/>
        </p:nvSpPr>
        <p:spPr>
          <a:xfrm>
            <a:off x="2190702" y="537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90504" y="380996"/>
                </a:moveTo>
                <a:cubicBezTo>
                  <a:pt x="190492" y="388220"/>
                  <a:pt x="194573" y="394826"/>
                  <a:pt x="201031" y="398050"/>
                </a:cubicBezTo>
                <a:lnTo>
                  <a:pt x="239138" y="417104"/>
                </a:lnTo>
                <a:cubicBezTo>
                  <a:pt x="245036" y="420053"/>
                  <a:pt x="252054" y="419732"/>
                  <a:pt x="257666" y="416258"/>
                </a:cubicBezTo>
                <a:cubicBezTo>
                  <a:pt x="263290" y="412783"/>
                  <a:pt x="266708" y="406657"/>
                  <a:pt x="266696" y="400050"/>
                </a:cubicBezTo>
                <a:lnTo>
                  <a:pt x="266696" y="266696"/>
                </a:lnTo>
                <a:cubicBezTo>
                  <a:pt x="266708" y="257255"/>
                  <a:pt x="270217" y="248157"/>
                  <a:pt x="276549" y="241150"/>
                </a:cubicBezTo>
                <a:lnTo>
                  <a:pt x="414143" y="88960"/>
                </a:lnTo>
                <a:cubicBezTo>
                  <a:pt x="419184" y="83382"/>
                  <a:pt x="420464" y="75358"/>
                  <a:pt x="417424" y="68477"/>
                </a:cubicBezTo>
                <a:cubicBezTo>
                  <a:pt x="414372" y="61608"/>
                  <a:pt x="407571" y="57173"/>
                  <a:pt x="400050" y="57150"/>
                </a:cubicBezTo>
                <a:lnTo>
                  <a:pt x="57150" y="57150"/>
                </a:lnTo>
                <a:cubicBezTo>
                  <a:pt x="49629" y="57150"/>
                  <a:pt x="42805" y="61585"/>
                  <a:pt x="39754" y="68466"/>
                </a:cubicBezTo>
                <a:cubicBezTo>
                  <a:pt x="36690" y="75347"/>
                  <a:pt x="37970" y="83370"/>
                  <a:pt x="43011" y="88960"/>
                </a:cubicBezTo>
                <a:lnTo>
                  <a:pt x="180651" y="241150"/>
                </a:lnTo>
                <a:cubicBezTo>
                  <a:pt x="186983" y="248157"/>
                  <a:pt x="190492" y="257255"/>
                  <a:pt x="190504" y="266696"/>
                </a:cubicBezTo>
                <a:close/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5" name="圖說"/>
          <p:cNvSpPr/>
          <p:nvPr/>
        </p:nvSpPr>
        <p:spPr>
          <a:xfrm>
            <a:off x="1841468" y="587502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良率漏斗</a:t>
            </a:r>
            <a:endParaRPr lang="en-US" sz="1000" dirty="0"/>
          </a:p>
        </p:txBody>
      </p:sp>
      <p:sp>
        <p:nvSpPr>
          <p:cNvPr id="106" name="圖示 回收"/>
          <p:cNvSpPr/>
          <p:nvPr/>
        </p:nvSpPr>
        <p:spPr>
          <a:xfrm>
            <a:off x="3346371" y="537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33354" y="361954"/>
                </a:moveTo>
                <a:lnTo>
                  <a:pt x="91726" y="361954"/>
                </a:lnTo>
                <a:cubicBezTo>
                  <a:pt x="79507" y="361988"/>
                  <a:pt x="68157" y="355622"/>
                  <a:pt x="61813" y="345163"/>
                </a:cubicBezTo>
                <a:cubicBezTo>
                  <a:pt x="55721" y="334659"/>
                  <a:pt x="55698" y="321709"/>
                  <a:pt x="61745" y="311182"/>
                </a:cubicBezTo>
                <a:lnTo>
                  <a:pt x="137080" y="180971"/>
                </a:lnTo>
                <a:moveTo>
                  <a:pt x="209546" y="361954"/>
                </a:moveTo>
                <a:lnTo>
                  <a:pt x="365817" y="361954"/>
                </a:lnTo>
                <a:cubicBezTo>
                  <a:pt x="377979" y="361851"/>
                  <a:pt x="389214" y="355427"/>
                  <a:pt x="395455" y="344992"/>
                </a:cubicBezTo>
                <a:cubicBezTo>
                  <a:pt x="401467" y="334522"/>
                  <a:pt x="401467" y="321652"/>
                  <a:pt x="395455" y="311182"/>
                </a:cubicBezTo>
                <a:lnTo>
                  <a:pt x="372104" y="270800"/>
                </a:lnTo>
                <a:moveTo>
                  <a:pt x="266696" y="304804"/>
                </a:moveTo>
                <a:lnTo>
                  <a:pt x="209546" y="361954"/>
                </a:lnTo>
                <a:lnTo>
                  <a:pt x="266696" y="419104"/>
                </a:lnTo>
                <a:moveTo>
                  <a:pt x="157985" y="259004"/>
                </a:moveTo>
                <a:lnTo>
                  <a:pt x="137080" y="180971"/>
                </a:lnTo>
                <a:lnTo>
                  <a:pt x="59059" y="201888"/>
                </a:lnTo>
                <a:moveTo>
                  <a:pt x="177999" y="110700"/>
                </a:moveTo>
                <a:lnTo>
                  <a:pt x="198825" y="74661"/>
                </a:lnTo>
                <a:cubicBezTo>
                  <a:pt x="204906" y="64054"/>
                  <a:pt x="216096" y="57413"/>
                  <a:pt x="228314" y="57150"/>
                </a:cubicBezTo>
                <a:cubicBezTo>
                  <a:pt x="240441" y="57127"/>
                  <a:pt x="251677" y="63574"/>
                  <a:pt x="257769" y="74066"/>
                </a:cubicBezTo>
                <a:lnTo>
                  <a:pt x="332876" y="204426"/>
                </a:lnTo>
                <a:moveTo>
                  <a:pt x="254855" y="183509"/>
                </a:moveTo>
                <a:lnTo>
                  <a:pt x="332876" y="204426"/>
                </a:lnTo>
                <a:lnTo>
                  <a:pt x="353781" y="126393"/>
                </a:lnTo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7" name="圖說"/>
          <p:cNvSpPr/>
          <p:nvPr/>
        </p:nvSpPr>
        <p:spPr>
          <a:xfrm>
            <a:off x="2997137" y="587502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回收</a:t>
            </a:r>
            <a:endParaRPr lang="en-US" sz="1000" dirty="0"/>
          </a:p>
        </p:txBody>
      </p:sp>
      <p:sp>
        <p:nvSpPr>
          <p:cNvPr id="108" name="圖示 里程碑"/>
          <p:cNvSpPr/>
          <p:nvPr/>
        </p:nvSpPr>
        <p:spPr>
          <a:xfrm>
            <a:off x="4502039" y="537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4" y="419104"/>
                </a:moveTo>
                <a:lnTo>
                  <a:pt x="76204" y="76204"/>
                </a:lnTo>
                <a:cubicBezTo>
                  <a:pt x="76204" y="70203"/>
                  <a:pt x="79027" y="64557"/>
                  <a:pt x="83816" y="60956"/>
                </a:cubicBezTo>
                <a:cubicBezTo>
                  <a:pt x="103602" y="46120"/>
                  <a:pt x="127673" y="38096"/>
                  <a:pt x="152396" y="38096"/>
                </a:cubicBezTo>
                <a:cubicBezTo>
                  <a:pt x="209546" y="38096"/>
                  <a:pt x="247654" y="76204"/>
                  <a:pt x="292094" y="76204"/>
                </a:cubicBezTo>
                <a:cubicBezTo>
                  <a:pt x="317491" y="76204"/>
                  <a:pt x="336968" y="71117"/>
                  <a:pt x="350524" y="60956"/>
                </a:cubicBezTo>
                <a:cubicBezTo>
                  <a:pt x="356296" y="56636"/>
                  <a:pt x="364011" y="55938"/>
                  <a:pt x="370469" y="59162"/>
                </a:cubicBezTo>
                <a:cubicBezTo>
                  <a:pt x="376927" y="62385"/>
                  <a:pt x="380996" y="68980"/>
                  <a:pt x="380996" y="76204"/>
                </a:cubicBezTo>
                <a:lnTo>
                  <a:pt x="380996" y="266696"/>
                </a:lnTo>
                <a:cubicBezTo>
                  <a:pt x="380996" y="272697"/>
                  <a:pt x="378173" y="278343"/>
                  <a:pt x="373384" y="281944"/>
                </a:cubicBezTo>
                <a:cubicBezTo>
                  <a:pt x="353598" y="296780"/>
                  <a:pt x="329527" y="304804"/>
                  <a:pt x="304804" y="304804"/>
                </a:cubicBezTo>
                <a:cubicBezTo>
                  <a:pt x="247654" y="304804"/>
                  <a:pt x="209546" y="266696"/>
                  <a:pt x="152396" y="266696"/>
                </a:cubicBezTo>
                <a:cubicBezTo>
                  <a:pt x="124290" y="266696"/>
                  <a:pt x="97155" y="277063"/>
                  <a:pt x="76204" y="295808"/>
                </a:cubicBezTo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9" name="圖說"/>
          <p:cNvSpPr/>
          <p:nvPr/>
        </p:nvSpPr>
        <p:spPr>
          <a:xfrm>
            <a:off x="4152805" y="587502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里程碑</a:t>
            </a:r>
            <a:endParaRPr lang="en-US" sz="1000" dirty="0"/>
          </a:p>
        </p:txBody>
      </p:sp>
      <p:sp>
        <p:nvSpPr>
          <p:cNvPr id="110" name="圖示 重點"/>
          <p:cNvSpPr/>
          <p:nvPr/>
        </p:nvSpPr>
        <p:spPr>
          <a:xfrm>
            <a:off x="5657707" y="537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19547" y="43720"/>
                </a:moveTo>
                <a:cubicBezTo>
                  <a:pt x="221251" y="40279"/>
                  <a:pt x="224760" y="38108"/>
                  <a:pt x="228600" y="38108"/>
                </a:cubicBezTo>
                <a:cubicBezTo>
                  <a:pt x="232440" y="38108"/>
                  <a:pt x="235949" y="40279"/>
                  <a:pt x="237653" y="43720"/>
                </a:cubicBezTo>
                <a:lnTo>
                  <a:pt x="281658" y="132851"/>
                </a:lnTo>
                <a:cubicBezTo>
                  <a:pt x="287545" y="144761"/>
                  <a:pt x="298895" y="153025"/>
                  <a:pt x="312039" y="154957"/>
                </a:cubicBezTo>
                <a:lnTo>
                  <a:pt x="410451" y="169358"/>
                </a:lnTo>
                <a:cubicBezTo>
                  <a:pt x="414257" y="169907"/>
                  <a:pt x="417412" y="172570"/>
                  <a:pt x="418601" y="176228"/>
                </a:cubicBezTo>
                <a:cubicBezTo>
                  <a:pt x="419790" y="179874"/>
                  <a:pt x="418807" y="183897"/>
                  <a:pt x="416052" y="186572"/>
                </a:cubicBezTo>
                <a:lnTo>
                  <a:pt x="344877" y="255883"/>
                </a:lnTo>
                <a:cubicBezTo>
                  <a:pt x="335356" y="265165"/>
                  <a:pt x="331001" y="278538"/>
                  <a:pt x="333242" y="291659"/>
                </a:cubicBezTo>
                <a:lnTo>
                  <a:pt x="350044" y="389569"/>
                </a:lnTo>
                <a:cubicBezTo>
                  <a:pt x="350718" y="393375"/>
                  <a:pt x="349164" y="397227"/>
                  <a:pt x="346032" y="399501"/>
                </a:cubicBezTo>
                <a:cubicBezTo>
                  <a:pt x="342911" y="401764"/>
                  <a:pt x="338762" y="402050"/>
                  <a:pt x="335356" y="400244"/>
                </a:cubicBezTo>
                <a:lnTo>
                  <a:pt x="247379" y="353987"/>
                </a:lnTo>
                <a:cubicBezTo>
                  <a:pt x="235618" y="347803"/>
                  <a:pt x="221559" y="347803"/>
                  <a:pt x="209798" y="353987"/>
                </a:cubicBezTo>
                <a:lnTo>
                  <a:pt x="121844" y="400244"/>
                </a:lnTo>
                <a:cubicBezTo>
                  <a:pt x="118438" y="402039"/>
                  <a:pt x="114300" y="401753"/>
                  <a:pt x="111180" y="399478"/>
                </a:cubicBezTo>
                <a:cubicBezTo>
                  <a:pt x="108059" y="397215"/>
                  <a:pt x="106505" y="393375"/>
                  <a:pt x="107179" y="389569"/>
                </a:cubicBezTo>
                <a:lnTo>
                  <a:pt x="123958" y="291671"/>
                </a:lnTo>
                <a:cubicBezTo>
                  <a:pt x="126210" y="278549"/>
                  <a:pt x="121855" y="265165"/>
                  <a:pt x="112323" y="255883"/>
                </a:cubicBezTo>
                <a:lnTo>
                  <a:pt x="41148" y="186595"/>
                </a:lnTo>
                <a:cubicBezTo>
                  <a:pt x="38371" y="183909"/>
                  <a:pt x="37365" y="179885"/>
                  <a:pt x="38553" y="176216"/>
                </a:cubicBezTo>
                <a:cubicBezTo>
                  <a:pt x="39754" y="172547"/>
                  <a:pt x="42931" y="169873"/>
                  <a:pt x="46749" y="169335"/>
                </a:cubicBezTo>
                <a:lnTo>
                  <a:pt x="145138" y="154957"/>
                </a:lnTo>
                <a:cubicBezTo>
                  <a:pt x="158306" y="153036"/>
                  <a:pt x="169678" y="144772"/>
                  <a:pt x="175565" y="132851"/>
                </a:cubicBezTo>
                <a:close/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1" name="圖說"/>
          <p:cNvSpPr/>
          <p:nvPr/>
        </p:nvSpPr>
        <p:spPr>
          <a:xfrm>
            <a:off x="5308473" y="587502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</a:t>
            </a:r>
            <a:endParaRPr lang="en-US" sz="1000" dirty="0"/>
          </a:p>
        </p:txBody>
      </p:sp>
      <p:sp>
        <p:nvSpPr>
          <p:cNvPr id="112" name="圖示 首頁"/>
          <p:cNvSpPr/>
          <p:nvPr/>
        </p:nvSpPr>
        <p:spPr>
          <a:xfrm>
            <a:off x="6813375" y="537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85750" y="400050"/>
                </a:moveTo>
                <a:lnTo>
                  <a:pt x="285750" y="247654"/>
                </a:lnTo>
                <a:cubicBezTo>
                  <a:pt x="285750" y="237127"/>
                  <a:pt x="277223" y="228600"/>
                  <a:pt x="266696" y="228600"/>
                </a:cubicBezTo>
                <a:lnTo>
                  <a:pt x="190504" y="228600"/>
                </a:lnTo>
                <a:cubicBezTo>
                  <a:pt x="179977" y="228600"/>
                  <a:pt x="171450" y="237127"/>
                  <a:pt x="171450" y="247654"/>
                </a:cubicBezTo>
                <a:lnTo>
                  <a:pt x="171450" y="400050"/>
                </a:lnTo>
                <a:moveTo>
                  <a:pt x="57150" y="190504"/>
                </a:moveTo>
                <a:cubicBezTo>
                  <a:pt x="57150" y="179280"/>
                  <a:pt x="62088" y="168638"/>
                  <a:pt x="70660" y="161392"/>
                </a:cubicBezTo>
                <a:lnTo>
                  <a:pt x="204003" y="47092"/>
                </a:lnTo>
                <a:cubicBezTo>
                  <a:pt x="218210" y="35090"/>
                  <a:pt x="238990" y="35090"/>
                  <a:pt x="253197" y="47092"/>
                </a:cubicBezTo>
                <a:lnTo>
                  <a:pt x="386540" y="161392"/>
                </a:lnTo>
                <a:cubicBezTo>
                  <a:pt x="395112" y="168638"/>
                  <a:pt x="400050" y="179280"/>
                  <a:pt x="400050" y="190504"/>
                </a:cubicBezTo>
                <a:lnTo>
                  <a:pt x="400050" y="361954"/>
                </a:lnTo>
                <a:cubicBezTo>
                  <a:pt x="400050" y="382996"/>
                  <a:pt x="382996" y="400050"/>
                  <a:pt x="361954" y="400050"/>
                </a:cubicBezTo>
                <a:lnTo>
                  <a:pt x="95246" y="400050"/>
                </a:lnTo>
                <a:cubicBezTo>
                  <a:pt x="74204" y="400050"/>
                  <a:pt x="57150" y="382996"/>
                  <a:pt x="57150" y="361954"/>
                </a:cubicBezTo>
                <a:close/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3" name="圖說"/>
          <p:cNvSpPr/>
          <p:nvPr/>
        </p:nvSpPr>
        <p:spPr>
          <a:xfrm>
            <a:off x="6464141" y="587502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首頁</a:t>
            </a:r>
            <a:endParaRPr lang="en-US" sz="1000" dirty="0"/>
          </a:p>
        </p:txBody>
      </p:sp>
      <p:sp>
        <p:nvSpPr>
          <p:cNvPr id="114" name="圖示 地點"/>
          <p:cNvSpPr/>
          <p:nvPr/>
        </p:nvSpPr>
        <p:spPr>
          <a:xfrm>
            <a:off x="7969044" y="537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80996" y="190504"/>
                </a:moveTo>
                <a:cubicBezTo>
                  <a:pt x="380996" y="285613"/>
                  <a:pt x="275486" y="384677"/>
                  <a:pt x="240053" y="415275"/>
                </a:cubicBezTo>
                <a:cubicBezTo>
                  <a:pt x="233263" y="420373"/>
                  <a:pt x="223937" y="420373"/>
                  <a:pt x="217147" y="415275"/>
                </a:cubicBezTo>
                <a:cubicBezTo>
                  <a:pt x="181714" y="384677"/>
                  <a:pt x="76204" y="285613"/>
                  <a:pt x="76204" y="190504"/>
                </a:cubicBezTo>
                <a:cubicBezTo>
                  <a:pt x="76204" y="106333"/>
                  <a:pt x="144429" y="38096"/>
                  <a:pt x="228600" y="38096"/>
                </a:cubicBezTo>
                <a:cubicBezTo>
                  <a:pt x="312771" y="38096"/>
                  <a:pt x="380996" y="106333"/>
                  <a:pt x="380996" y="190504"/>
                </a:cubicBezTo>
                <a:moveTo>
                  <a:pt x="285750" y="190504"/>
                </a:moveTo>
                <a:cubicBezTo>
                  <a:pt x="285750" y="222062"/>
                  <a:pt x="260158" y="247654"/>
                  <a:pt x="228600" y="247654"/>
                </a:cubicBezTo>
                <a:cubicBezTo>
                  <a:pt x="197042" y="247654"/>
                  <a:pt x="171450" y="222062"/>
                  <a:pt x="171450" y="190504"/>
                </a:cubicBezTo>
                <a:cubicBezTo>
                  <a:pt x="171450" y="158934"/>
                  <a:pt x="197042" y="133354"/>
                  <a:pt x="228600" y="133354"/>
                </a:cubicBezTo>
                <a:cubicBezTo>
                  <a:pt x="260158" y="133354"/>
                  <a:pt x="285750" y="158934"/>
                  <a:pt x="285750" y="190504"/>
                </a:cubicBezTo>
                <a:close/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5" name="圖說"/>
          <p:cNvSpPr/>
          <p:nvPr/>
        </p:nvSpPr>
        <p:spPr>
          <a:xfrm>
            <a:off x="7619809" y="587502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地點</a:t>
            </a:r>
            <a:endParaRPr lang="en-US" sz="1000" dirty="0"/>
          </a:p>
        </p:txBody>
      </p:sp>
      <p:sp>
        <p:nvSpPr>
          <p:cNvPr id="116" name="圖示 全球"/>
          <p:cNvSpPr/>
          <p:nvPr/>
        </p:nvSpPr>
        <p:spPr>
          <a:xfrm>
            <a:off x="9124712" y="537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19104" y="228600"/>
                </a:moveTo>
                <a:cubicBezTo>
                  <a:pt x="419104" y="333813"/>
                  <a:pt x="333813" y="419104"/>
                  <a:pt x="228600" y="419104"/>
                </a:cubicBezTo>
                <a:cubicBezTo>
                  <a:pt x="123387" y="419104"/>
                  <a:pt x="38096" y="333813"/>
                  <a:pt x="38096" y="228600"/>
                </a:cubicBezTo>
                <a:cubicBezTo>
                  <a:pt x="38096" y="123387"/>
                  <a:pt x="123387" y="38096"/>
                  <a:pt x="228600" y="38096"/>
                </a:cubicBezTo>
                <a:cubicBezTo>
                  <a:pt x="333813" y="38096"/>
                  <a:pt x="419104" y="123387"/>
                  <a:pt x="419104" y="228600"/>
                </a:cubicBezTo>
                <a:close/>
                <a:moveTo>
                  <a:pt x="228600" y="38096"/>
                </a:moveTo>
                <a:cubicBezTo>
                  <a:pt x="126999" y="144784"/>
                  <a:pt x="126999" y="312416"/>
                  <a:pt x="228600" y="419104"/>
                </a:cubicBezTo>
                <a:cubicBezTo>
                  <a:pt x="330201" y="312416"/>
                  <a:pt x="330201" y="144784"/>
                  <a:pt x="228600" y="38096"/>
                </a:cubicBezTo>
                <a:moveTo>
                  <a:pt x="38096" y="228600"/>
                </a:moveTo>
                <a:lnTo>
                  <a:pt x="419104" y="228600"/>
                </a:lnTo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7" name="圖說"/>
          <p:cNvSpPr/>
          <p:nvPr/>
        </p:nvSpPr>
        <p:spPr>
          <a:xfrm>
            <a:off x="8775478" y="587502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全球</a:t>
            </a:r>
            <a:endParaRPr lang="en-US" sz="1000" dirty="0"/>
          </a:p>
        </p:txBody>
      </p:sp>
      <p:sp>
        <p:nvSpPr>
          <p:cNvPr id="118" name="圖示 啟動"/>
          <p:cNvSpPr/>
          <p:nvPr/>
        </p:nvSpPr>
        <p:spPr>
          <a:xfrm>
            <a:off x="10280380" y="537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285750"/>
                </a:moveTo>
                <a:lnTo>
                  <a:pt x="228600" y="380996"/>
                </a:lnTo>
                <a:cubicBezTo>
                  <a:pt x="228600" y="380996"/>
                  <a:pt x="286322" y="370526"/>
                  <a:pt x="304804" y="342900"/>
                </a:cubicBezTo>
                <a:cubicBezTo>
                  <a:pt x="325378" y="312039"/>
                  <a:pt x="304804" y="247654"/>
                  <a:pt x="304804" y="247654"/>
                </a:cubicBezTo>
                <a:moveTo>
                  <a:pt x="85725" y="314325"/>
                </a:moveTo>
                <a:cubicBezTo>
                  <a:pt x="57150" y="338328"/>
                  <a:pt x="47629" y="409571"/>
                  <a:pt x="47629" y="409571"/>
                </a:cubicBezTo>
                <a:cubicBezTo>
                  <a:pt x="47629" y="409571"/>
                  <a:pt x="118872" y="400050"/>
                  <a:pt x="142875" y="371475"/>
                </a:cubicBezTo>
                <a:cubicBezTo>
                  <a:pt x="156397" y="355473"/>
                  <a:pt x="156214" y="330898"/>
                  <a:pt x="141161" y="316040"/>
                </a:cubicBezTo>
                <a:cubicBezTo>
                  <a:pt x="125833" y="301409"/>
                  <a:pt x="101933" y="300666"/>
                  <a:pt x="85725" y="314325"/>
                </a:cubicBezTo>
                <a:moveTo>
                  <a:pt x="171450" y="228600"/>
                </a:moveTo>
                <a:cubicBezTo>
                  <a:pt x="181588" y="202300"/>
                  <a:pt x="194356" y="177085"/>
                  <a:pt x="209546" y="153356"/>
                </a:cubicBezTo>
                <a:cubicBezTo>
                  <a:pt x="254683" y="81187"/>
                  <a:pt x="333985" y="37570"/>
                  <a:pt x="419104" y="38096"/>
                </a:cubicBezTo>
                <a:cubicBezTo>
                  <a:pt x="419104" y="89920"/>
                  <a:pt x="404245" y="180971"/>
                  <a:pt x="304804" y="247654"/>
                </a:cubicBezTo>
                <a:cubicBezTo>
                  <a:pt x="280732" y="262856"/>
                  <a:pt x="255209" y="275623"/>
                  <a:pt x="228600" y="285750"/>
                </a:cubicBezTo>
                <a:close/>
                <a:moveTo>
                  <a:pt x="171450" y="228600"/>
                </a:moveTo>
                <a:lnTo>
                  <a:pt x="76204" y="228600"/>
                </a:lnTo>
                <a:cubicBezTo>
                  <a:pt x="76204" y="228600"/>
                  <a:pt x="86674" y="170879"/>
                  <a:pt x="114300" y="152396"/>
                </a:cubicBezTo>
                <a:cubicBezTo>
                  <a:pt x="145161" y="131822"/>
                  <a:pt x="209546" y="153356"/>
                  <a:pt x="209546" y="153356"/>
                </a:cubicBezTo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9" name="圖說"/>
          <p:cNvSpPr/>
          <p:nvPr/>
        </p:nvSpPr>
        <p:spPr>
          <a:xfrm>
            <a:off x="9931146" y="587502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</a:t>
            </a:r>
            <a:endParaRPr lang="en-US" sz="1000" dirty="0"/>
          </a:p>
        </p:txBody>
      </p:sp>
      <p:sp>
        <p:nvSpPr>
          <p:cNvPr id="120" name="圖示 電力"/>
          <p:cNvSpPr/>
          <p:nvPr/>
        </p:nvSpPr>
        <p:spPr>
          <a:xfrm>
            <a:off x="11436048" y="537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03158" y="76204"/>
                </a:moveTo>
                <a:cubicBezTo>
                  <a:pt x="307604" y="63619"/>
                  <a:pt x="302746" y="49640"/>
                  <a:pt x="291465" y="42520"/>
                </a:cubicBezTo>
                <a:cubicBezTo>
                  <a:pt x="280184" y="35410"/>
                  <a:pt x="265473" y="37045"/>
                  <a:pt x="256032" y="46463"/>
                </a:cubicBezTo>
                <a:lnTo>
                  <a:pt x="84582" y="217913"/>
                </a:lnTo>
                <a:cubicBezTo>
                  <a:pt x="76410" y="226085"/>
                  <a:pt x="73964" y="238373"/>
                  <a:pt x="78376" y="249048"/>
                </a:cubicBezTo>
                <a:cubicBezTo>
                  <a:pt x="82799" y="259735"/>
                  <a:pt x="93212" y="266696"/>
                  <a:pt x="104779" y="266696"/>
                </a:cubicBezTo>
                <a:lnTo>
                  <a:pt x="181017" y="266696"/>
                </a:lnTo>
                <a:cubicBezTo>
                  <a:pt x="184103" y="266708"/>
                  <a:pt x="186995" y="268205"/>
                  <a:pt x="188778" y="270720"/>
                </a:cubicBezTo>
                <a:cubicBezTo>
                  <a:pt x="190561" y="273246"/>
                  <a:pt x="191007" y="276480"/>
                  <a:pt x="189989" y="279383"/>
                </a:cubicBezTo>
                <a:lnTo>
                  <a:pt x="154042" y="380996"/>
                </a:lnTo>
                <a:cubicBezTo>
                  <a:pt x="149596" y="393581"/>
                  <a:pt x="154454" y="407571"/>
                  <a:pt x="165746" y="414680"/>
                </a:cubicBezTo>
                <a:cubicBezTo>
                  <a:pt x="177039" y="421801"/>
                  <a:pt x="191750" y="420155"/>
                  <a:pt x="201191" y="410714"/>
                </a:cubicBezTo>
                <a:lnTo>
                  <a:pt x="372641" y="239264"/>
                </a:lnTo>
                <a:cubicBezTo>
                  <a:pt x="380802" y="231092"/>
                  <a:pt x="383236" y="218804"/>
                  <a:pt x="378813" y="208129"/>
                </a:cubicBezTo>
                <a:cubicBezTo>
                  <a:pt x="374390" y="197465"/>
                  <a:pt x="363977" y="190504"/>
                  <a:pt x="352421" y="190504"/>
                </a:cubicBezTo>
                <a:lnTo>
                  <a:pt x="276286" y="190504"/>
                </a:lnTo>
                <a:cubicBezTo>
                  <a:pt x="273188" y="190504"/>
                  <a:pt x="270285" y="189006"/>
                  <a:pt x="268491" y="186480"/>
                </a:cubicBezTo>
                <a:cubicBezTo>
                  <a:pt x="266708" y="183954"/>
                  <a:pt x="266262" y="180708"/>
                  <a:pt x="267291" y="177794"/>
                </a:cubicBezTo>
                <a:close/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1" name="圖說"/>
          <p:cNvSpPr/>
          <p:nvPr/>
        </p:nvSpPr>
        <p:spPr>
          <a:xfrm>
            <a:off x="11086814" y="587502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電力</a:t>
            </a:r>
            <a:endParaRPr lang="en-US" sz="1000" dirty="0"/>
          </a:p>
        </p:txBody>
      </p:sp>
      <p:sp>
        <p:nvSpPr>
          <p:cNvPr id="122" name="圖示 溫度"/>
          <p:cNvSpPr/>
          <p:nvPr/>
        </p:nvSpPr>
        <p:spPr>
          <a:xfrm>
            <a:off x="12591717" y="537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66696" y="76204"/>
                </a:moveTo>
                <a:lnTo>
                  <a:pt x="266696" y="276983"/>
                </a:lnTo>
                <a:cubicBezTo>
                  <a:pt x="296563" y="294231"/>
                  <a:pt x="311125" y="329390"/>
                  <a:pt x="302209" y="362697"/>
                </a:cubicBezTo>
                <a:cubicBezTo>
                  <a:pt x="293282" y="396015"/>
                  <a:pt x="263084" y="419184"/>
                  <a:pt x="228600" y="419184"/>
                </a:cubicBezTo>
                <a:cubicBezTo>
                  <a:pt x="194116" y="419184"/>
                  <a:pt x="163918" y="396015"/>
                  <a:pt x="154991" y="362697"/>
                </a:cubicBezTo>
                <a:cubicBezTo>
                  <a:pt x="146075" y="329390"/>
                  <a:pt x="160637" y="294231"/>
                  <a:pt x="190504" y="276983"/>
                </a:cubicBezTo>
                <a:lnTo>
                  <a:pt x="190504" y="76204"/>
                </a:lnTo>
                <a:cubicBezTo>
                  <a:pt x="190504" y="55161"/>
                  <a:pt x="207557" y="38096"/>
                  <a:pt x="228600" y="38096"/>
                </a:cubicBezTo>
                <a:cubicBezTo>
                  <a:pt x="249643" y="38096"/>
                  <a:pt x="266696" y="55161"/>
                  <a:pt x="266696" y="76204"/>
                </a:cubicBezTo>
                <a:close/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3" name="圖說"/>
          <p:cNvSpPr/>
          <p:nvPr/>
        </p:nvSpPr>
        <p:spPr>
          <a:xfrm>
            <a:off x="12242483" y="587502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溫度</a:t>
            </a:r>
            <a:endParaRPr lang="en-US" sz="1000" dirty="0"/>
          </a:p>
        </p:txBody>
      </p:sp>
      <p:sp>
        <p:nvSpPr>
          <p:cNvPr id="124" name="圖示 品質"/>
          <p:cNvSpPr/>
          <p:nvPr/>
        </p:nvSpPr>
        <p:spPr>
          <a:xfrm>
            <a:off x="13747385" y="537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94837" y="245551"/>
                </a:moveTo>
                <a:lnTo>
                  <a:pt x="323698" y="407971"/>
                </a:lnTo>
                <a:cubicBezTo>
                  <a:pt x="324361" y="411891"/>
                  <a:pt x="322520" y="415812"/>
                  <a:pt x="319091" y="417801"/>
                </a:cubicBezTo>
                <a:cubicBezTo>
                  <a:pt x="315651" y="419790"/>
                  <a:pt x="311342" y="419447"/>
                  <a:pt x="308267" y="416932"/>
                </a:cubicBezTo>
                <a:lnTo>
                  <a:pt x="240064" y="365737"/>
                </a:lnTo>
                <a:cubicBezTo>
                  <a:pt x="233309" y="360685"/>
                  <a:pt x="224028" y="360685"/>
                  <a:pt x="217261" y="365737"/>
                </a:cubicBezTo>
                <a:lnTo>
                  <a:pt x="148956" y="416909"/>
                </a:lnTo>
                <a:cubicBezTo>
                  <a:pt x="145881" y="419424"/>
                  <a:pt x="141572" y="419767"/>
                  <a:pt x="138143" y="417778"/>
                </a:cubicBezTo>
                <a:cubicBezTo>
                  <a:pt x="134714" y="415801"/>
                  <a:pt x="132874" y="411891"/>
                  <a:pt x="133525" y="407971"/>
                </a:cubicBezTo>
                <a:lnTo>
                  <a:pt x="162363" y="245551"/>
                </a:lnTo>
                <a:moveTo>
                  <a:pt x="342900" y="152396"/>
                </a:moveTo>
                <a:cubicBezTo>
                  <a:pt x="342900" y="215524"/>
                  <a:pt x="291728" y="266696"/>
                  <a:pt x="228600" y="266696"/>
                </a:cubicBezTo>
                <a:cubicBezTo>
                  <a:pt x="165472" y="266696"/>
                  <a:pt x="114300" y="215524"/>
                  <a:pt x="114300" y="152396"/>
                </a:cubicBezTo>
                <a:cubicBezTo>
                  <a:pt x="114300" y="89268"/>
                  <a:pt x="165472" y="38096"/>
                  <a:pt x="228600" y="38096"/>
                </a:cubicBezTo>
                <a:cubicBezTo>
                  <a:pt x="291728" y="38096"/>
                  <a:pt x="342900" y="89268"/>
                  <a:pt x="342900" y="152396"/>
                </a:cubicBezTo>
                <a:close/>
              </a:path>
            </a:pathLst>
          </a:custGeom>
          <a:noFill/>
          <a:ln w="30480" cap="rnd">
            <a:solidFill>
              <a:srgbClr val="40404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5" name="圖說"/>
          <p:cNvSpPr/>
          <p:nvPr/>
        </p:nvSpPr>
        <p:spPr>
          <a:xfrm>
            <a:off x="13398151" y="587502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品質</a:t>
            </a:r>
            <a:endParaRPr lang="en-US" sz="1000" dirty="0"/>
          </a:p>
        </p:txBody>
      </p:sp>
      <p:sp>
        <p:nvSpPr>
          <p:cNvPr id="126" name="線條"/>
          <p:cNvSpPr/>
          <p:nvPr/>
        </p:nvSpPr>
        <p:spPr>
          <a:xfrm>
            <a:off x="685800" y="6115050"/>
            <a:ext cx="13868019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685800" y="6206490"/>
            <a:ext cx="57150" cy="2514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8" name="小節"/>
          <p:cNvSpPr/>
          <p:nvPr/>
        </p:nvSpPr>
        <p:spPr>
          <a:xfrm>
            <a:off x="880110" y="618363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圖示＋文字組合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Icon + Label</a:t>
            </a:r>
            <a:endParaRPr lang="en-US" sz="1750" dirty="0"/>
          </a:p>
        </p:txBody>
      </p:sp>
      <p:grpSp>
        <p:nvGrpSpPr>
          <p:cNvPr id="5000" name="圖示＋流程方塊"/>
          <p:cNvGrpSpPr/>
          <p:nvPr/>
        </p:nvGrpSpPr>
        <p:grpSpPr>
          <a:xfrm>
            <a:off x="685800" y="6595110"/>
            <a:ext cx="2457450" cy="845820"/>
            <a:chOff x="685800" y="6595110"/>
            <a:chExt cx="2457450" cy="845820"/>
          </a:xfrm>
        </p:grpSpPr>
        <p:sp>
          <p:nvSpPr>
            <p:cNvPr id="129" name="流程方塊"/>
            <p:cNvSpPr/>
            <p:nvPr/>
          </p:nvSpPr>
          <p:spPr>
            <a:xfrm>
              <a:off x="685800" y="6595110"/>
              <a:ext cx="2457450" cy="845820"/>
            </a:xfrm>
            <a:prstGeom prst="roundRect">
              <a:avLst>
                <a:gd name="adj" fmla="val 4054"/>
              </a:avLst>
            </a:prstGeom>
            <a:solidFill>
              <a:srgbClr val="FFFFFF"/>
            </a:solidFill>
            <a:ln w="15875">
              <a:solidFill>
                <a:srgbClr val="BFBFB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30" name="圖示 機台"/>
            <p:cNvSpPr/>
            <p:nvPr/>
          </p:nvSpPr>
          <p:spPr>
            <a:xfrm>
              <a:off x="845820" y="678942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95246" y="114300"/>
                  </a:moveTo>
                  <a:lnTo>
                    <a:pt x="361954" y="114300"/>
                  </a:lnTo>
                  <a:cubicBezTo>
                    <a:pt x="382996" y="114300"/>
                    <a:pt x="400050" y="131354"/>
                    <a:pt x="400050" y="152396"/>
                  </a:cubicBezTo>
                  <a:lnTo>
                    <a:pt x="400050" y="323846"/>
                  </a:lnTo>
                  <a:cubicBezTo>
                    <a:pt x="400050" y="344889"/>
                    <a:pt x="382996" y="361954"/>
                    <a:pt x="361954" y="361954"/>
                  </a:cubicBezTo>
                  <a:lnTo>
                    <a:pt x="95246" y="361954"/>
                  </a:lnTo>
                  <a:cubicBezTo>
                    <a:pt x="74204" y="361954"/>
                    <a:pt x="57150" y="344889"/>
                    <a:pt x="57150" y="323846"/>
                  </a:cubicBezTo>
                  <a:lnTo>
                    <a:pt x="57150" y="152396"/>
                  </a:lnTo>
                  <a:cubicBezTo>
                    <a:pt x="57150" y="131354"/>
                    <a:pt x="74204" y="114300"/>
                    <a:pt x="95246" y="114300"/>
                  </a:cubicBezTo>
                  <a:close/>
                  <a:moveTo>
                    <a:pt x="133354" y="171450"/>
                  </a:moveTo>
                  <a:lnTo>
                    <a:pt x="228600" y="171450"/>
                  </a:lnTo>
                  <a:cubicBezTo>
                    <a:pt x="239116" y="171450"/>
                    <a:pt x="247654" y="179977"/>
                    <a:pt x="247654" y="190504"/>
                  </a:cubicBezTo>
                  <a:lnTo>
                    <a:pt x="247654" y="266696"/>
                  </a:lnTo>
                  <a:cubicBezTo>
                    <a:pt x="247654" y="277223"/>
                    <a:pt x="239116" y="285750"/>
                    <a:pt x="228600" y="285750"/>
                  </a:cubicBezTo>
                  <a:lnTo>
                    <a:pt x="133354" y="285750"/>
                  </a:lnTo>
                  <a:cubicBezTo>
                    <a:pt x="122827" y="285750"/>
                    <a:pt x="114300" y="277223"/>
                    <a:pt x="114300" y="266696"/>
                  </a:cubicBezTo>
                  <a:lnTo>
                    <a:pt x="114300" y="190504"/>
                  </a:lnTo>
                  <a:cubicBezTo>
                    <a:pt x="114300" y="179977"/>
                    <a:pt x="122827" y="171450"/>
                    <a:pt x="133354" y="171450"/>
                  </a:cubicBezTo>
                  <a:close/>
                  <a:moveTo>
                    <a:pt x="314325" y="190504"/>
                  </a:moveTo>
                  <a:lnTo>
                    <a:pt x="342900" y="190504"/>
                  </a:lnTo>
                  <a:moveTo>
                    <a:pt x="314325" y="247654"/>
                  </a:moveTo>
                  <a:lnTo>
                    <a:pt x="342900" y="247654"/>
                  </a:lnTo>
                  <a:moveTo>
                    <a:pt x="133354" y="361954"/>
                  </a:moveTo>
                  <a:lnTo>
                    <a:pt x="133354" y="400050"/>
                  </a:lnTo>
                  <a:moveTo>
                    <a:pt x="323846" y="361954"/>
                  </a:moveTo>
                  <a:lnTo>
                    <a:pt x="323846" y="400050"/>
                  </a:lnTo>
                  <a:moveTo>
                    <a:pt x="152396" y="114300"/>
                  </a:moveTo>
                  <a:lnTo>
                    <a:pt x="152396" y="66671"/>
                  </a:lnTo>
                  <a:lnTo>
                    <a:pt x="228600" y="66671"/>
                  </a:lnTo>
                  <a:lnTo>
                    <a:pt x="228600" y="114300"/>
                  </a:lnTo>
                </a:path>
              </a:pathLst>
            </a:custGeom>
            <a:noFill/>
            <a:ln w="30480" cap="rnd">
              <a:solidFill>
                <a:srgbClr val="404040"/>
              </a:solidFill>
              <a:prstDash val="solid"/>
              <a:round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31" name="文字"/>
            <p:cNvSpPr/>
            <p:nvPr/>
          </p:nvSpPr>
          <p:spPr>
            <a:xfrm>
              <a:off x="1440180" y="6595110"/>
              <a:ext cx="161163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05000"/>
                </a:lnSpc>
                <a:buNone/>
              </a:pPr>
              <a:r>
                <a:rPr lang="en-US" sz="14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設備保養</a:t>
              </a:r>
              <a:endParaRPr lang="en-US" sz="1750" dirty="0"/>
            </a:p>
            <a:p>
              <a:pPr algn="l" indent="0" marL="0">
                <a:lnSpc>
                  <a:spcPct val="105000"/>
                </a:lnSpc>
                <a:buNone/>
              </a:pP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每月 PM 排程</a:t>
              </a:r>
              <a:endParaRPr lang="en-US" sz="1750" dirty="0"/>
            </a:p>
          </p:txBody>
        </p:sp>
      </p:grpSp>
      <p:grpSp>
        <p:nvGrpSpPr>
          <p:cNvPr id="5001" name="淺色圓底＋說明"/>
          <p:cNvGrpSpPr/>
          <p:nvPr/>
        </p:nvGrpSpPr>
        <p:grpSpPr>
          <a:xfrm>
            <a:off x="3326130" y="6595110"/>
            <a:ext cx="2434590" cy="845820"/>
            <a:chOff x="3326130" y="6595110"/>
            <a:chExt cx="2434590" cy="845820"/>
          </a:xfrm>
        </p:grpSpPr>
        <p:sp>
          <p:nvSpPr>
            <p:cNvPr id="132" name="圖示底圓"/>
            <p:cNvSpPr/>
            <p:nvPr/>
          </p:nvSpPr>
          <p:spPr>
            <a:xfrm>
              <a:off x="3326130" y="6697980"/>
              <a:ext cx="640080" cy="640080"/>
            </a:xfrm>
            <a:prstGeom prst="ellipse">
              <a:avLst/>
            </a:prstGeom>
            <a:solidFill>
              <a:srgbClr val="E4E4E4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33" name="圖示 顯微檢測"/>
            <p:cNvSpPr/>
            <p:nvPr/>
          </p:nvSpPr>
          <p:spPr>
            <a:xfrm>
              <a:off x="3326130" y="669798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80">
                  <a:moveTo>
                    <a:pt x="227228" y="412852"/>
                  </a:moveTo>
                  <a:lnTo>
                    <a:pt x="350981" y="412852"/>
                  </a:lnTo>
                  <a:moveTo>
                    <a:pt x="180823" y="474722"/>
                  </a:moveTo>
                  <a:lnTo>
                    <a:pt x="459257" y="474722"/>
                  </a:lnTo>
                  <a:moveTo>
                    <a:pt x="350981" y="474722"/>
                  </a:moveTo>
                  <a:cubicBezTo>
                    <a:pt x="410783" y="474722"/>
                    <a:pt x="459257" y="426248"/>
                    <a:pt x="459257" y="366446"/>
                  </a:cubicBezTo>
                  <a:cubicBezTo>
                    <a:pt x="459257" y="306644"/>
                    <a:pt x="410783" y="258169"/>
                    <a:pt x="350981" y="258169"/>
                  </a:cubicBezTo>
                  <a:lnTo>
                    <a:pt x="335505" y="258169"/>
                  </a:lnTo>
                  <a:moveTo>
                    <a:pt x="273634" y="350981"/>
                  </a:moveTo>
                  <a:lnTo>
                    <a:pt x="304575" y="350981"/>
                  </a:lnTo>
                  <a:moveTo>
                    <a:pt x="273634" y="320040"/>
                  </a:moveTo>
                  <a:cubicBezTo>
                    <a:pt x="256546" y="320040"/>
                    <a:pt x="242693" y="306187"/>
                    <a:pt x="242693" y="289099"/>
                  </a:cubicBezTo>
                  <a:lnTo>
                    <a:pt x="242693" y="227228"/>
                  </a:lnTo>
                  <a:lnTo>
                    <a:pt x="335505" y="227228"/>
                  </a:lnTo>
                  <a:lnTo>
                    <a:pt x="335505" y="289099"/>
                  </a:lnTo>
                  <a:cubicBezTo>
                    <a:pt x="335505" y="306187"/>
                    <a:pt x="321663" y="320040"/>
                    <a:pt x="304575" y="320040"/>
                  </a:cubicBezTo>
                  <a:close/>
                  <a:moveTo>
                    <a:pt x="320040" y="227228"/>
                  </a:moveTo>
                  <a:lnTo>
                    <a:pt x="320040" y="180823"/>
                  </a:lnTo>
                  <a:cubicBezTo>
                    <a:pt x="320040" y="172284"/>
                    <a:pt x="313113" y="165358"/>
                    <a:pt x="304575" y="165358"/>
                  </a:cubicBezTo>
                  <a:lnTo>
                    <a:pt x="273634" y="165358"/>
                  </a:lnTo>
                  <a:cubicBezTo>
                    <a:pt x="265096" y="165358"/>
                    <a:pt x="258169" y="172284"/>
                    <a:pt x="258169" y="180823"/>
                  </a:cubicBezTo>
                  <a:lnTo>
                    <a:pt x="258169" y="227228"/>
                  </a:lnTo>
                </a:path>
              </a:pathLst>
            </a:custGeom>
            <a:noFill/>
            <a:ln w="30734" cap="rnd">
              <a:solidFill>
                <a:srgbClr val="404040"/>
              </a:solidFill>
              <a:prstDash val="solid"/>
              <a:round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34" name="文字"/>
            <p:cNvSpPr/>
            <p:nvPr/>
          </p:nvSpPr>
          <p:spPr>
            <a:xfrm>
              <a:off x="4103370" y="6595110"/>
              <a:ext cx="165735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05000"/>
                </a:lnSpc>
                <a:buNone/>
              </a:pPr>
              <a:r>
                <a:rPr lang="en-US" sz="14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線上檢測</a:t>
              </a:r>
              <a:endParaRPr lang="en-US" sz="1750" dirty="0"/>
            </a:p>
            <a:p>
              <a:pPr algn="l" indent="0" marL="0">
                <a:lnSpc>
                  <a:spcPct val="105000"/>
                </a:lnSpc>
                <a:buNone/>
              </a:pP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AOI 全檢・即時回饋</a:t>
              </a:r>
              <a:endParaRPr lang="en-US" sz="1750" dirty="0"/>
            </a:p>
          </p:txBody>
        </p:sp>
      </p:grpSp>
      <p:grpSp>
        <p:nvGrpSpPr>
          <p:cNvPr id="5002" name="深色圓底＋卡片"/>
          <p:cNvGrpSpPr/>
          <p:nvPr/>
        </p:nvGrpSpPr>
        <p:grpSpPr>
          <a:xfrm>
            <a:off x="5966460" y="6595110"/>
            <a:ext cx="2628900" cy="845820"/>
            <a:chOff x="5966460" y="6595110"/>
            <a:chExt cx="2628900" cy="845820"/>
          </a:xfrm>
        </p:grpSpPr>
        <p:sp>
          <p:nvSpPr>
            <p:cNvPr id="135" name="卡片"/>
            <p:cNvSpPr/>
            <p:nvPr/>
          </p:nvSpPr>
          <p:spPr>
            <a:xfrm>
              <a:off x="5966460" y="6595110"/>
              <a:ext cx="2628900" cy="845820"/>
            </a:xfrm>
            <a:prstGeom prst="roundRect">
              <a:avLst>
                <a:gd name="adj" fmla="val 4054"/>
              </a:avLst>
            </a:prstGeom>
            <a:solidFill>
              <a:srgbClr val="FFFFFF"/>
            </a:solidFill>
            <a:ln w="15875">
              <a:solidFill>
                <a:srgbClr val="7F7F7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36" name="圖示底圓"/>
            <p:cNvSpPr/>
            <p:nvPr/>
          </p:nvSpPr>
          <p:spPr>
            <a:xfrm>
              <a:off x="6126480" y="6755130"/>
              <a:ext cx="525780" cy="525780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37" name="圖示 AI"/>
            <p:cNvSpPr/>
            <p:nvPr/>
          </p:nvSpPr>
          <p:spPr>
            <a:xfrm>
              <a:off x="6126480" y="6755130"/>
              <a:ext cx="525780" cy="525780"/>
            </a:xfrm>
            <a:custGeom>
              <a:avLst/>
              <a:gdLst/>
              <a:ahLst/>
              <a:cxnLst/>
              <a:rect l="l" t="t" r="r" b="b"/>
              <a:pathLst>
                <a:path w="525780" h="525780">
                  <a:moveTo>
                    <a:pt x="262890" y="173942"/>
                  </a:moveTo>
                  <a:cubicBezTo>
                    <a:pt x="262936" y="160111"/>
                    <a:pt x="255472" y="147344"/>
                    <a:pt x="243402" y="140578"/>
                  </a:cubicBezTo>
                  <a:cubicBezTo>
                    <a:pt x="231332" y="133811"/>
                    <a:pt x="216553" y="134120"/>
                    <a:pt x="204768" y="141378"/>
                  </a:cubicBezTo>
                  <a:cubicBezTo>
                    <a:pt x="192996" y="148647"/>
                    <a:pt x="186069" y="161712"/>
                    <a:pt x="186686" y="175531"/>
                  </a:cubicBezTo>
                  <a:cubicBezTo>
                    <a:pt x="171553" y="179428"/>
                    <a:pt x="159048" y="190058"/>
                    <a:pt x="152785" y="204380"/>
                  </a:cubicBezTo>
                  <a:cubicBezTo>
                    <a:pt x="146521" y="218690"/>
                    <a:pt x="147184" y="235092"/>
                    <a:pt x="154591" y="248854"/>
                  </a:cubicBezTo>
                  <a:cubicBezTo>
                    <a:pt x="141549" y="259450"/>
                    <a:pt x="134577" y="275817"/>
                    <a:pt x="135994" y="292574"/>
                  </a:cubicBezTo>
                  <a:cubicBezTo>
                    <a:pt x="137411" y="309330"/>
                    <a:pt x="147013" y="324292"/>
                    <a:pt x="161654" y="332556"/>
                  </a:cubicBezTo>
                  <a:cubicBezTo>
                    <a:pt x="159231" y="351335"/>
                    <a:pt x="167438" y="369898"/>
                    <a:pt x="182960" y="380745"/>
                  </a:cubicBezTo>
                  <a:cubicBezTo>
                    <a:pt x="198482" y="391580"/>
                    <a:pt x="218747" y="392895"/>
                    <a:pt x="235538" y="384151"/>
                  </a:cubicBezTo>
                  <a:cubicBezTo>
                    <a:pt x="252329" y="375407"/>
                    <a:pt x="262867" y="358056"/>
                    <a:pt x="262890" y="339128"/>
                  </a:cubicBezTo>
                  <a:close/>
                  <a:moveTo>
                    <a:pt x="224771" y="275600"/>
                  </a:moveTo>
                  <a:cubicBezTo>
                    <a:pt x="246591" y="267919"/>
                    <a:pt x="261633" y="247860"/>
                    <a:pt x="262890" y="224771"/>
                  </a:cubicBezTo>
                  <a:moveTo>
                    <a:pt x="186686" y="175531"/>
                  </a:moveTo>
                  <a:cubicBezTo>
                    <a:pt x="186938" y="181680"/>
                    <a:pt x="188675" y="187669"/>
                    <a:pt x="191750" y="193007"/>
                  </a:cubicBezTo>
                  <a:moveTo>
                    <a:pt x="154591" y="248865"/>
                  </a:moveTo>
                  <a:cubicBezTo>
                    <a:pt x="156922" y="246968"/>
                    <a:pt x="159403" y="245288"/>
                    <a:pt x="162032" y="243836"/>
                  </a:cubicBezTo>
                  <a:moveTo>
                    <a:pt x="186652" y="339128"/>
                  </a:moveTo>
                  <a:cubicBezTo>
                    <a:pt x="177897" y="339128"/>
                    <a:pt x="169290" y="336876"/>
                    <a:pt x="161654" y="332567"/>
                  </a:cubicBezTo>
                  <a:moveTo>
                    <a:pt x="262890" y="275600"/>
                  </a:moveTo>
                  <a:lnTo>
                    <a:pt x="313719" y="275600"/>
                  </a:lnTo>
                  <a:moveTo>
                    <a:pt x="262890" y="339128"/>
                  </a:moveTo>
                  <a:lnTo>
                    <a:pt x="339128" y="339128"/>
                  </a:lnTo>
                  <a:cubicBezTo>
                    <a:pt x="353164" y="339128"/>
                    <a:pt x="364537" y="350501"/>
                    <a:pt x="364537" y="364537"/>
                  </a:cubicBezTo>
                  <a:lnTo>
                    <a:pt x="364537" y="377247"/>
                  </a:lnTo>
                  <a:moveTo>
                    <a:pt x="262890" y="212061"/>
                  </a:moveTo>
                  <a:lnTo>
                    <a:pt x="364537" y="212061"/>
                  </a:lnTo>
                  <a:moveTo>
                    <a:pt x="313719" y="212061"/>
                  </a:moveTo>
                  <a:lnTo>
                    <a:pt x="313719" y="173942"/>
                  </a:lnTo>
                  <a:cubicBezTo>
                    <a:pt x="313719" y="159906"/>
                    <a:pt x="325092" y="148533"/>
                    <a:pt x="339128" y="148533"/>
                  </a:cubicBezTo>
                  <a:moveTo>
                    <a:pt x="320074" y="275600"/>
                  </a:moveTo>
                  <a:cubicBezTo>
                    <a:pt x="320074" y="279109"/>
                    <a:pt x="317228" y="281955"/>
                    <a:pt x="313719" y="281955"/>
                  </a:cubicBezTo>
                  <a:cubicBezTo>
                    <a:pt x="310210" y="281955"/>
                    <a:pt x="307364" y="279109"/>
                    <a:pt x="307364" y="275600"/>
                  </a:cubicBezTo>
                  <a:cubicBezTo>
                    <a:pt x="307364" y="272091"/>
                    <a:pt x="310210" y="269245"/>
                    <a:pt x="313719" y="269245"/>
                  </a:cubicBezTo>
                  <a:cubicBezTo>
                    <a:pt x="317228" y="269245"/>
                    <a:pt x="320074" y="272091"/>
                    <a:pt x="320074" y="275600"/>
                  </a:cubicBezTo>
                  <a:close/>
                  <a:moveTo>
                    <a:pt x="345483" y="148533"/>
                  </a:moveTo>
                  <a:cubicBezTo>
                    <a:pt x="345483" y="152042"/>
                    <a:pt x="342637" y="154888"/>
                    <a:pt x="339128" y="154888"/>
                  </a:cubicBezTo>
                  <a:cubicBezTo>
                    <a:pt x="335619" y="154888"/>
                    <a:pt x="332773" y="152042"/>
                    <a:pt x="332773" y="148533"/>
                  </a:cubicBezTo>
                  <a:cubicBezTo>
                    <a:pt x="332773" y="145024"/>
                    <a:pt x="335619" y="142178"/>
                    <a:pt x="339128" y="142178"/>
                  </a:cubicBezTo>
                  <a:cubicBezTo>
                    <a:pt x="342637" y="142178"/>
                    <a:pt x="345483" y="145024"/>
                    <a:pt x="345483" y="148533"/>
                  </a:cubicBezTo>
                  <a:close/>
                  <a:moveTo>
                    <a:pt x="370892" y="377247"/>
                  </a:moveTo>
                  <a:cubicBezTo>
                    <a:pt x="370892" y="380756"/>
                    <a:pt x="368046" y="383602"/>
                    <a:pt x="364537" y="383602"/>
                  </a:cubicBezTo>
                  <a:cubicBezTo>
                    <a:pt x="361028" y="383602"/>
                    <a:pt x="358193" y="380756"/>
                    <a:pt x="358193" y="377247"/>
                  </a:cubicBezTo>
                  <a:cubicBezTo>
                    <a:pt x="358193" y="373738"/>
                    <a:pt x="361028" y="370892"/>
                    <a:pt x="364537" y="370892"/>
                  </a:cubicBezTo>
                  <a:cubicBezTo>
                    <a:pt x="368046" y="370892"/>
                    <a:pt x="370892" y="373738"/>
                    <a:pt x="370892" y="377247"/>
                  </a:cubicBezTo>
                  <a:close/>
                  <a:moveTo>
                    <a:pt x="370892" y="212061"/>
                  </a:moveTo>
                  <a:cubicBezTo>
                    <a:pt x="370892" y="215570"/>
                    <a:pt x="368046" y="218416"/>
                    <a:pt x="364537" y="218416"/>
                  </a:cubicBezTo>
                  <a:cubicBezTo>
                    <a:pt x="361028" y="218416"/>
                    <a:pt x="358193" y="215570"/>
                    <a:pt x="358193" y="212061"/>
                  </a:cubicBezTo>
                  <a:cubicBezTo>
                    <a:pt x="358193" y="208552"/>
                    <a:pt x="361028" y="205717"/>
                    <a:pt x="364537" y="205717"/>
                  </a:cubicBezTo>
                  <a:cubicBezTo>
                    <a:pt x="368046" y="205717"/>
                    <a:pt x="370892" y="208552"/>
                    <a:pt x="370892" y="212061"/>
                  </a:cubicBezTo>
                  <a:close/>
                </a:path>
              </a:pathLst>
            </a:custGeom>
            <a:noFill/>
            <a:ln w="25273" cap="rnd">
              <a:solidFill>
                <a:srgbClr val="FFFFFF"/>
              </a:solidFill>
              <a:prstDash val="solid"/>
              <a:round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38" name="文字"/>
            <p:cNvSpPr/>
            <p:nvPr/>
          </p:nvSpPr>
          <p:spPr>
            <a:xfrm>
              <a:off x="6789420" y="6595110"/>
              <a:ext cx="171450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05000"/>
                </a:lnSpc>
                <a:buNone/>
              </a:pPr>
              <a:r>
                <a:rPr lang="en-US" sz="14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AI 判片</a:t>
              </a:r>
              <a:endParaRPr lang="en-US" sz="1750" dirty="0"/>
            </a:p>
            <a:p>
              <a:pPr algn="l" indent="0" marL="0">
                <a:lnSpc>
                  <a:spcPct val="105000"/>
                </a:lnSpc>
                <a:buNone/>
              </a:pP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自動分類缺陷</a:t>
              </a:r>
              <a:endParaRPr lang="en-US" sz="1750" dirty="0"/>
            </a:p>
          </p:txBody>
        </p:sp>
      </p:grpSp>
      <p:grpSp>
        <p:nvGrpSpPr>
          <p:cNvPr id="5003" name="數字＋圖示"/>
          <p:cNvGrpSpPr/>
          <p:nvPr/>
        </p:nvGrpSpPr>
        <p:grpSpPr>
          <a:xfrm>
            <a:off x="8778240" y="6595110"/>
            <a:ext cx="2343150" cy="845820"/>
            <a:chOff x="8778240" y="6595110"/>
            <a:chExt cx="2343150" cy="845820"/>
          </a:xfrm>
        </p:grpSpPr>
        <p:sp>
          <p:nvSpPr>
            <p:cNvPr id="139" name="淺灰面板"/>
            <p:cNvSpPr/>
            <p:nvPr/>
          </p:nvSpPr>
          <p:spPr>
            <a:xfrm>
              <a:off x="8778240" y="6595110"/>
              <a:ext cx="2343150" cy="845820"/>
            </a:xfrm>
            <a:prstGeom prst="roundRect">
              <a:avLst>
                <a:gd name="adj" fmla="val 4054"/>
              </a:avLst>
            </a:prstGeom>
            <a:solidFill>
              <a:srgbClr val="E6E6E6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40" name="數值"/>
            <p:cNvSpPr/>
            <p:nvPr/>
          </p:nvSpPr>
          <p:spPr>
            <a:xfrm>
              <a:off x="8961120" y="6663690"/>
              <a:ext cx="15430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2750" b="1" dirty="0">
                  <a:solidFill>
                    <a:srgbClr val="40404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98.6</a:t>
              </a:r>
              <a:r>
                <a:rPr lang="en-US" sz="12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%</a:t>
              </a:r>
              <a:endParaRPr lang="en-US" sz="1750" dirty="0"/>
            </a:p>
          </p:txBody>
        </p:sp>
        <p:sp>
          <p:nvSpPr>
            <p:cNvPr id="141" name="指標名稱"/>
            <p:cNvSpPr/>
            <p:nvPr/>
          </p:nvSpPr>
          <p:spPr>
            <a:xfrm>
              <a:off x="8961120" y="7132320"/>
              <a:ext cx="15430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整體良率</a:t>
              </a:r>
              <a:endParaRPr lang="en-US" sz="1150" dirty="0"/>
            </a:p>
          </p:txBody>
        </p:sp>
        <p:sp>
          <p:nvSpPr>
            <p:cNvPr id="142" name="圖示 良率漏斗"/>
            <p:cNvSpPr/>
            <p:nvPr/>
          </p:nvSpPr>
          <p:spPr>
            <a:xfrm>
              <a:off x="10481310" y="678942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90504" y="380996"/>
                  </a:moveTo>
                  <a:cubicBezTo>
                    <a:pt x="190492" y="388220"/>
                    <a:pt x="194573" y="394826"/>
                    <a:pt x="201031" y="398050"/>
                  </a:cubicBezTo>
                  <a:lnTo>
                    <a:pt x="239138" y="417104"/>
                  </a:lnTo>
                  <a:cubicBezTo>
                    <a:pt x="245036" y="420053"/>
                    <a:pt x="252054" y="419732"/>
                    <a:pt x="257666" y="416258"/>
                  </a:cubicBezTo>
                  <a:cubicBezTo>
                    <a:pt x="263290" y="412783"/>
                    <a:pt x="266708" y="406657"/>
                    <a:pt x="266696" y="400050"/>
                  </a:cubicBezTo>
                  <a:lnTo>
                    <a:pt x="266696" y="266696"/>
                  </a:lnTo>
                  <a:cubicBezTo>
                    <a:pt x="266708" y="257255"/>
                    <a:pt x="270217" y="248157"/>
                    <a:pt x="276549" y="241150"/>
                  </a:cubicBezTo>
                  <a:lnTo>
                    <a:pt x="414143" y="88960"/>
                  </a:lnTo>
                  <a:cubicBezTo>
                    <a:pt x="419184" y="83382"/>
                    <a:pt x="420464" y="75358"/>
                    <a:pt x="417424" y="68477"/>
                  </a:cubicBezTo>
                  <a:cubicBezTo>
                    <a:pt x="414372" y="61608"/>
                    <a:pt x="407571" y="57173"/>
                    <a:pt x="400050" y="57150"/>
                  </a:cubicBezTo>
                  <a:lnTo>
                    <a:pt x="57150" y="57150"/>
                  </a:lnTo>
                  <a:cubicBezTo>
                    <a:pt x="49629" y="57150"/>
                    <a:pt x="42805" y="61585"/>
                    <a:pt x="39754" y="68466"/>
                  </a:cubicBezTo>
                  <a:cubicBezTo>
                    <a:pt x="36690" y="75347"/>
                    <a:pt x="37970" y="83370"/>
                    <a:pt x="43011" y="88960"/>
                  </a:cubicBezTo>
                  <a:lnTo>
                    <a:pt x="180651" y="241150"/>
                  </a:lnTo>
                  <a:cubicBezTo>
                    <a:pt x="186983" y="248157"/>
                    <a:pt x="190492" y="257255"/>
                    <a:pt x="190504" y="266696"/>
                  </a:cubicBezTo>
                  <a:close/>
                </a:path>
              </a:pathLst>
            </a:custGeom>
            <a:noFill/>
            <a:ln w="30480" cap="rnd">
              <a:solidFill>
                <a:srgbClr val="404040"/>
              </a:solidFill>
              <a:prstDash val="solid"/>
              <a:round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grpSp>
        <p:nvGrpSpPr>
          <p:cNvPr id="5004" name="圖示流程"/>
          <p:cNvGrpSpPr/>
          <p:nvPr/>
        </p:nvGrpSpPr>
        <p:grpSpPr>
          <a:xfrm>
            <a:off x="10961370" y="6617970"/>
            <a:ext cx="3935349" cy="777240"/>
            <a:chOff x="10961370" y="6617970"/>
            <a:chExt cx="3935349" cy="777240"/>
          </a:xfrm>
        </p:grpSpPr>
        <p:sp>
          <p:nvSpPr>
            <p:cNvPr id="143" name="圖示底圓"/>
            <p:cNvSpPr/>
            <p:nvPr/>
          </p:nvSpPr>
          <p:spPr>
            <a:xfrm>
              <a:off x="11304270" y="6617970"/>
              <a:ext cx="502920" cy="502920"/>
            </a:xfrm>
            <a:prstGeom prst="ellipse">
              <a:avLst/>
            </a:prstGeom>
            <a:solidFill>
              <a:srgbClr val="E4E4E4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44" name="圖示 晶圓"/>
            <p:cNvSpPr/>
            <p:nvPr/>
          </p:nvSpPr>
          <p:spPr>
            <a:xfrm>
              <a:off x="11304270" y="661797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20">
                  <a:moveTo>
                    <a:pt x="201385" y="348695"/>
                  </a:moveTo>
                  <a:cubicBezTo>
                    <a:pt x="156500" y="325584"/>
                    <a:pt x="133262" y="274743"/>
                    <a:pt x="145150" y="225674"/>
                  </a:cubicBezTo>
                  <a:cubicBezTo>
                    <a:pt x="157048" y="176616"/>
                    <a:pt x="200974" y="142052"/>
                    <a:pt x="251460" y="142052"/>
                  </a:cubicBezTo>
                  <a:cubicBezTo>
                    <a:pt x="301946" y="142052"/>
                    <a:pt x="345872" y="176616"/>
                    <a:pt x="357770" y="225674"/>
                  </a:cubicBezTo>
                  <a:cubicBezTo>
                    <a:pt x="369658" y="274743"/>
                    <a:pt x="346420" y="325584"/>
                    <a:pt x="301535" y="348695"/>
                  </a:cubicBezTo>
                  <a:close/>
                  <a:moveTo>
                    <a:pt x="214998" y="166387"/>
                  </a:moveTo>
                  <a:lnTo>
                    <a:pt x="214998" y="324383"/>
                  </a:lnTo>
                  <a:moveTo>
                    <a:pt x="287922" y="166387"/>
                  </a:moveTo>
                  <a:lnTo>
                    <a:pt x="287922" y="324383"/>
                  </a:lnTo>
                  <a:moveTo>
                    <a:pt x="166387" y="214998"/>
                  </a:moveTo>
                  <a:lnTo>
                    <a:pt x="336533" y="214998"/>
                  </a:lnTo>
                  <a:moveTo>
                    <a:pt x="166387" y="287922"/>
                  </a:moveTo>
                  <a:lnTo>
                    <a:pt x="336533" y="287922"/>
                  </a:lnTo>
                </a:path>
              </a:pathLst>
            </a:custGeom>
            <a:noFill/>
            <a:ln w="24130" cap="rnd">
              <a:solidFill>
                <a:srgbClr val="404040"/>
              </a:solidFill>
              <a:prstDash val="solid"/>
              <a:round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45" name="圖說"/>
            <p:cNvSpPr/>
            <p:nvPr/>
          </p:nvSpPr>
          <p:spPr>
            <a:xfrm>
              <a:off x="10961370" y="7166610"/>
              <a:ext cx="11887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投片</a:t>
              </a:r>
              <a:endParaRPr lang="en-US" sz="1150" dirty="0"/>
            </a:p>
          </p:txBody>
        </p:sp>
        <p:sp>
          <p:nvSpPr>
            <p:cNvPr id="146" name="圖示底圓"/>
            <p:cNvSpPr/>
            <p:nvPr/>
          </p:nvSpPr>
          <p:spPr>
            <a:xfrm>
              <a:off x="12677585" y="6617970"/>
              <a:ext cx="502920" cy="502920"/>
            </a:xfrm>
            <a:prstGeom prst="ellipse">
              <a:avLst/>
            </a:prstGeom>
            <a:solidFill>
              <a:srgbClr val="E4E4E4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47" name="圖示 顯微檢測"/>
            <p:cNvSpPr/>
            <p:nvPr/>
          </p:nvSpPr>
          <p:spPr>
            <a:xfrm>
              <a:off x="12677585" y="661797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20">
                  <a:moveTo>
                    <a:pt x="178537" y="324383"/>
                  </a:moveTo>
                  <a:lnTo>
                    <a:pt x="275772" y="324383"/>
                  </a:lnTo>
                  <a:moveTo>
                    <a:pt x="142075" y="372995"/>
                  </a:moveTo>
                  <a:lnTo>
                    <a:pt x="360845" y="372995"/>
                  </a:lnTo>
                  <a:moveTo>
                    <a:pt x="275772" y="372995"/>
                  </a:moveTo>
                  <a:cubicBezTo>
                    <a:pt x="322760" y="372995"/>
                    <a:pt x="360845" y="334910"/>
                    <a:pt x="360845" y="287922"/>
                  </a:cubicBezTo>
                  <a:cubicBezTo>
                    <a:pt x="360845" y="240933"/>
                    <a:pt x="322760" y="202848"/>
                    <a:pt x="275772" y="202848"/>
                  </a:cubicBezTo>
                  <a:lnTo>
                    <a:pt x="263610" y="202848"/>
                  </a:lnTo>
                  <a:moveTo>
                    <a:pt x="214998" y="275772"/>
                  </a:moveTo>
                  <a:lnTo>
                    <a:pt x="239310" y="275772"/>
                  </a:lnTo>
                  <a:moveTo>
                    <a:pt x="214998" y="251460"/>
                  </a:moveTo>
                  <a:cubicBezTo>
                    <a:pt x="201568" y="251460"/>
                    <a:pt x="190687" y="240579"/>
                    <a:pt x="190687" y="227148"/>
                  </a:cubicBezTo>
                  <a:lnTo>
                    <a:pt x="190687" y="178537"/>
                  </a:lnTo>
                  <a:lnTo>
                    <a:pt x="263610" y="178537"/>
                  </a:lnTo>
                  <a:lnTo>
                    <a:pt x="263610" y="227148"/>
                  </a:lnTo>
                  <a:cubicBezTo>
                    <a:pt x="263610" y="240579"/>
                    <a:pt x="252729" y="251460"/>
                    <a:pt x="239310" y="251460"/>
                  </a:cubicBezTo>
                  <a:close/>
                  <a:moveTo>
                    <a:pt x="251460" y="178537"/>
                  </a:moveTo>
                  <a:lnTo>
                    <a:pt x="251460" y="142075"/>
                  </a:lnTo>
                  <a:cubicBezTo>
                    <a:pt x="251460" y="135365"/>
                    <a:pt x="246019" y="129925"/>
                    <a:pt x="239310" y="129925"/>
                  </a:cubicBezTo>
                  <a:lnTo>
                    <a:pt x="214998" y="129925"/>
                  </a:lnTo>
                  <a:cubicBezTo>
                    <a:pt x="208289" y="129925"/>
                    <a:pt x="202848" y="135365"/>
                    <a:pt x="202848" y="142075"/>
                  </a:cubicBezTo>
                  <a:lnTo>
                    <a:pt x="202848" y="178537"/>
                  </a:lnTo>
                </a:path>
              </a:pathLst>
            </a:custGeom>
            <a:noFill/>
            <a:ln w="24130" cap="rnd">
              <a:solidFill>
                <a:srgbClr val="404040"/>
              </a:solidFill>
              <a:prstDash val="solid"/>
              <a:round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48" name="圖說"/>
            <p:cNvSpPr/>
            <p:nvPr/>
          </p:nvSpPr>
          <p:spPr>
            <a:xfrm>
              <a:off x="12334685" y="7166610"/>
              <a:ext cx="11887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檢測</a:t>
              </a:r>
              <a:endParaRPr lang="en-US" sz="1150" dirty="0"/>
            </a:p>
          </p:txBody>
        </p:sp>
        <p:sp>
          <p:nvSpPr>
            <p:cNvPr id="149" name="圖示底圓"/>
            <p:cNvSpPr/>
            <p:nvPr/>
          </p:nvSpPr>
          <p:spPr>
            <a:xfrm>
              <a:off x="14050899" y="6617970"/>
              <a:ext cx="502920" cy="502920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50" name="圖示 維修"/>
            <p:cNvSpPr/>
            <p:nvPr/>
          </p:nvSpPr>
          <p:spPr>
            <a:xfrm>
              <a:off x="14050899" y="661797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20">
                  <a:moveTo>
                    <a:pt x="284276" y="182183"/>
                  </a:moveTo>
                  <a:cubicBezTo>
                    <a:pt x="279646" y="186903"/>
                    <a:pt x="279646" y="194470"/>
                    <a:pt x="284276" y="199202"/>
                  </a:cubicBezTo>
                  <a:lnTo>
                    <a:pt x="303718" y="218644"/>
                  </a:lnTo>
                  <a:cubicBezTo>
                    <a:pt x="308450" y="223274"/>
                    <a:pt x="316017" y="223274"/>
                    <a:pt x="320737" y="218644"/>
                  </a:cubicBezTo>
                  <a:lnTo>
                    <a:pt x="358491" y="180903"/>
                  </a:lnTo>
                  <a:cubicBezTo>
                    <a:pt x="362377" y="176994"/>
                    <a:pt x="368972" y="178228"/>
                    <a:pt x="370435" y="183554"/>
                  </a:cubicBezTo>
                  <a:cubicBezTo>
                    <a:pt x="377933" y="210826"/>
                    <a:pt x="368995" y="239961"/>
                    <a:pt x="347495" y="258329"/>
                  </a:cubicBezTo>
                  <a:cubicBezTo>
                    <a:pt x="325995" y="276697"/>
                    <a:pt x="295820" y="280984"/>
                    <a:pt x="270057" y="269325"/>
                  </a:cubicBezTo>
                  <a:lnTo>
                    <a:pt x="173919" y="365463"/>
                  </a:lnTo>
                  <a:cubicBezTo>
                    <a:pt x="163849" y="375533"/>
                    <a:pt x="147527" y="375521"/>
                    <a:pt x="137457" y="365463"/>
                  </a:cubicBezTo>
                  <a:cubicBezTo>
                    <a:pt x="127399" y="355393"/>
                    <a:pt x="127399" y="339071"/>
                    <a:pt x="137469" y="329001"/>
                  </a:cubicBezTo>
                  <a:lnTo>
                    <a:pt x="233606" y="232863"/>
                  </a:lnTo>
                  <a:cubicBezTo>
                    <a:pt x="221948" y="207100"/>
                    <a:pt x="226234" y="176925"/>
                    <a:pt x="244602" y="155425"/>
                  </a:cubicBezTo>
                  <a:cubicBezTo>
                    <a:pt x="262970" y="133925"/>
                    <a:pt x="292117" y="124987"/>
                    <a:pt x="319377" y="132485"/>
                  </a:cubicBezTo>
                  <a:cubicBezTo>
                    <a:pt x="324703" y="133948"/>
                    <a:pt x="325938" y="140532"/>
                    <a:pt x="322040" y="144441"/>
                  </a:cubicBezTo>
                  <a:close/>
                </a:path>
              </a:pathLst>
            </a:custGeom>
            <a:noFill/>
            <a:ln w="24130" cap="rnd">
              <a:solidFill>
                <a:srgbClr val="FFFFFF"/>
              </a:solidFill>
              <a:prstDash val="solid"/>
              <a:round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51" name="圖說"/>
            <p:cNvSpPr/>
            <p:nvPr/>
          </p:nvSpPr>
          <p:spPr>
            <a:xfrm>
              <a:off x="13707999" y="7166610"/>
              <a:ext cx="11887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改善</a:t>
              </a:r>
              <a:endParaRPr lang="en-US" sz="1150" dirty="0"/>
            </a:p>
          </p:txBody>
        </p:sp>
        <p:cxnSp>
          <p:nvCxnSpPr>
            <p:cNvPr id="152" name="連接線"/>
            <p:cNvCxnSpPr>
              <a:stCxn id="143" idx="6"/>
              <a:endCxn id="146" idx="2"/>
            </p:cNvCxnSpPr>
            <p:nvPr/>
          </p:nvCxnSpPr>
          <p:spPr>
            <a:xfrm>
              <a:off x="11807190" y="6869430"/>
              <a:ext cx="870395" cy="0"/>
            </a:xfrm>
            <a:prstGeom prst="straightConnector1">
              <a:avLst/>
            </a:prstGeom>
            <a:ln w="15875">
              <a:solidFill>
                <a:srgbClr val="595959"/>
              </a:solidFill>
              <a:prstDash val="solid"/>
              <a:tailEnd type="triangle" w="lg" len="lg"/>
            </a:ln>
          </p:spPr>
        </p:cxnSp>
        <p:cxnSp>
          <p:nvCxnSpPr>
            <p:cNvPr id="153" name="連接線"/>
            <p:cNvCxnSpPr>
              <a:stCxn id="146" idx="6"/>
              <a:endCxn id="149" idx="2"/>
            </p:cNvCxnSpPr>
            <p:nvPr/>
          </p:nvCxnSpPr>
          <p:spPr>
            <a:xfrm>
              <a:off x="13180505" y="6869430"/>
              <a:ext cx="870395" cy="0"/>
            </a:xfrm>
            <a:prstGeom prst="straightConnector1">
              <a:avLst/>
            </a:prstGeom>
            <a:ln w="15875">
              <a:solidFill>
                <a:srgbClr val="595959"/>
              </a:solidFill>
              <a:prstDash val="solid"/>
              <a:tailEnd type="triangle" w="lg" len="lg"/>
            </a:ln>
          </p:spPr>
        </p:cxnSp>
      </p:grpSp>
      <p:sp>
        <p:nvSpPr>
          <p:cNvPr id="154" name="Text 152"/>
          <p:cNvSpPr/>
          <p:nvPr/>
        </p:nvSpPr>
        <p:spPr>
          <a:xfrm>
            <a:off x="685800" y="78867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冰山能力圖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155" name="Text 153"/>
          <p:cNvSpPr/>
          <p:nvPr/>
        </p:nvSpPr>
        <p:spPr>
          <a:xfrm>
            <a:off x="12839319" y="78867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/ 14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85750" y="285750"/>
            <a:ext cx="14668119" cy="800100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85800" y="571500"/>
            <a:ext cx="80010" cy="11658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標題"/>
          <p:cNvSpPr/>
          <p:nvPr/>
        </p:nvSpPr>
        <p:spPr>
          <a:xfrm>
            <a:off x="982980" y="45720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5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風格規範</a:t>
            </a:r>
            <a:endParaRPr lang="en-US" sz="4250" dirty="0"/>
          </a:p>
        </p:txBody>
      </p:sp>
      <p:sp>
        <p:nvSpPr>
          <p:cNvPr id="5" name="Text 3"/>
          <p:cNvSpPr/>
          <p:nvPr/>
        </p:nvSpPr>
        <p:spPr>
          <a:xfrm>
            <a:off x="982980" y="1257300"/>
            <a:ext cx="12573000" cy="434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B9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色彩、字級與元件語言一覽：炭灰細框直角卡＋角落標籤緞帶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57150" cy="2514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80110" y="2228850"/>
            <a:ext cx="609219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色彩 Palette</a:t>
            </a:r>
            <a:endParaRPr lang="en-US" sz="1650" dirty="0"/>
          </a:p>
        </p:txBody>
      </p:sp>
      <p:sp>
        <p:nvSpPr>
          <p:cNvPr id="8" name="線條"/>
          <p:cNvSpPr/>
          <p:nvPr/>
        </p:nvSpPr>
        <p:spPr>
          <a:xfrm>
            <a:off x="685800" y="2708910"/>
            <a:ext cx="628650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914650"/>
            <a:ext cx="617220" cy="617220"/>
          </a:xfrm>
          <a:prstGeom prst="roundRect">
            <a:avLst>
              <a:gd name="adj" fmla="val 5556"/>
            </a:avLst>
          </a:pr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8001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3863340"/>
            <a:ext cx="8915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#404040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474470" y="2914650"/>
            <a:ext cx="617220" cy="617220"/>
          </a:xfrm>
          <a:prstGeom prst="roundRect">
            <a:avLst>
              <a:gd name="adj" fmla="val 5556"/>
            </a:avLst>
          </a:prstGeom>
          <a:solidFill>
            <a:srgbClr val="262626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383030" y="3611880"/>
            <a:ext cx="8001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337310" y="3863340"/>
            <a:ext cx="8915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#262626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63140" y="2914650"/>
            <a:ext cx="617220" cy="617220"/>
          </a:xfrm>
          <a:prstGeom prst="roundRect">
            <a:avLst>
              <a:gd name="adj" fmla="val 5556"/>
            </a:avLst>
          </a:prstGeom>
          <a:solidFill>
            <a:srgbClr val="E7E7E7"/>
          </a:solidFill>
          <a:ln w="11938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171700" y="3611880"/>
            <a:ext cx="8001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淺色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125980" y="3863340"/>
            <a:ext cx="8915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#E7E7E7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051810" y="2914650"/>
            <a:ext cx="617220" cy="617220"/>
          </a:xfrm>
          <a:prstGeom prst="roundRect">
            <a:avLst>
              <a:gd name="adj" fmla="val 5556"/>
            </a:avLst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960370" y="3611880"/>
            <a:ext cx="8001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輔助色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914650" y="3863340"/>
            <a:ext cx="8915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#5B9BD5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840480" y="2914650"/>
            <a:ext cx="617220" cy="617220"/>
          </a:xfrm>
          <a:prstGeom prst="roundRect">
            <a:avLst>
              <a:gd name="adj" fmla="val 5556"/>
            </a:avLst>
          </a:pr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749040" y="3611880"/>
            <a:ext cx="8001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文字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703320" y="3863340"/>
            <a:ext cx="8915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#3A3A3A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29150" y="2914650"/>
            <a:ext cx="617220" cy="617220"/>
          </a:xfrm>
          <a:prstGeom prst="roundRect">
            <a:avLst>
              <a:gd name="adj" fmla="val 5556"/>
            </a:avLst>
          </a:prstGeom>
          <a:solidFill>
            <a:srgbClr val="8C8C8C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537710" y="3611880"/>
            <a:ext cx="8001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註解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491990" y="3863340"/>
            <a:ext cx="8915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#8C8C8C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17820" y="2914650"/>
            <a:ext cx="617220" cy="617220"/>
          </a:xfrm>
          <a:prstGeom prst="roundRect">
            <a:avLst>
              <a:gd name="adj" fmla="val 5556"/>
            </a:avLst>
          </a:prstGeom>
          <a:solidFill>
            <a:srgbClr val="BFBFBF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326380" y="3611880"/>
            <a:ext cx="8001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框線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280660" y="3863340"/>
            <a:ext cx="8915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#BFBFBF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206490" y="2914650"/>
            <a:ext cx="617220" cy="617220"/>
          </a:xfrm>
          <a:prstGeom prst="roundRect">
            <a:avLst>
              <a:gd name="adj" fmla="val 5556"/>
            </a:avLst>
          </a:prstGeom>
          <a:solidFill>
            <a:srgbClr val="F2F2F2"/>
          </a:solidFill>
          <a:ln w="11938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115050" y="3611880"/>
            <a:ext cx="8001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底色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069330" y="3863340"/>
            <a:ext cx="8915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#F2F2F2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85800" y="4491990"/>
            <a:ext cx="57150" cy="2514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880110" y="4434840"/>
            <a:ext cx="609219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字級 Typography</a:t>
            </a:r>
            <a:endParaRPr lang="en-US" sz="1650" dirty="0"/>
          </a:p>
        </p:txBody>
      </p:sp>
      <p:sp>
        <p:nvSpPr>
          <p:cNvPr id="35" name="線條"/>
          <p:cNvSpPr/>
          <p:nvPr/>
        </p:nvSpPr>
        <p:spPr>
          <a:xfrm>
            <a:off x="685800" y="4914900"/>
            <a:ext cx="628650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4914900"/>
            <a:ext cx="6286500" cy="7543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大標題文字</a:t>
            </a: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34pt</a:t>
            </a:r>
            <a:endParaRPr lang="en-US" sz="1750" dirty="0"/>
          </a:p>
        </p:txBody>
      </p:sp>
      <p:sp>
        <p:nvSpPr>
          <p:cNvPr id="37" name="Text 35"/>
          <p:cNvSpPr/>
          <p:nvPr/>
        </p:nvSpPr>
        <p:spPr>
          <a:xfrm>
            <a:off x="685800" y="5737860"/>
            <a:ext cx="62865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B9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副標題・細字主色</a:t>
            </a: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16pt</a:t>
            </a:r>
            <a:endParaRPr lang="en-US" sz="1750" dirty="0"/>
          </a:p>
        </p:txBody>
      </p:sp>
      <p:sp>
        <p:nvSpPr>
          <p:cNvPr id="38" name="Text 36"/>
          <p:cNvSpPr/>
          <p:nvPr/>
        </p:nvSpPr>
        <p:spPr>
          <a:xfrm>
            <a:off x="685800" y="6240780"/>
            <a:ext cx="62865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標籤與卡片標題</a:t>
            </a: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16pt</a:t>
            </a:r>
            <a:endParaRPr lang="en-US" sz="1750" dirty="0"/>
          </a:p>
        </p:txBody>
      </p:sp>
      <p:sp>
        <p:nvSpPr>
          <p:cNvPr id="39" name="Text 37"/>
          <p:cNvSpPr/>
          <p:nvPr/>
        </p:nvSpPr>
        <p:spPr>
          <a:xfrm>
            <a:off x="685800" y="6720840"/>
            <a:ext cx="62865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內文說明文字，灰色、行距寬鬆</a:t>
            </a: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12pt</a:t>
            </a:r>
            <a:endParaRPr lang="en-US" sz="1750" dirty="0"/>
          </a:p>
        </p:txBody>
      </p:sp>
      <p:sp>
        <p:nvSpPr>
          <p:cNvPr id="40" name="Text 38"/>
          <p:cNvSpPr/>
          <p:nvPr/>
        </p:nvSpPr>
        <p:spPr>
          <a:xfrm>
            <a:off x="685800" y="7155180"/>
            <a:ext cx="62865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註解文字以灰色呈現，10.5pt，放在版面下緣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715250" y="2286000"/>
            <a:ext cx="57150" cy="2514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909560" y="2228850"/>
            <a:ext cx="664425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元件語言 Shape Language</a:t>
            </a:r>
            <a:endParaRPr lang="en-US" sz="1650" dirty="0"/>
          </a:p>
        </p:txBody>
      </p:sp>
      <p:sp>
        <p:nvSpPr>
          <p:cNvPr id="43" name="線條"/>
          <p:cNvSpPr/>
          <p:nvPr/>
        </p:nvSpPr>
        <p:spPr>
          <a:xfrm>
            <a:off x="7715250" y="2708910"/>
            <a:ext cx="683856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15250" y="2914650"/>
            <a:ext cx="10287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12515850" y="2914650"/>
            <a:ext cx="203796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白底外框 1pt</a:t>
            </a:r>
            <a:endParaRPr lang="en-US" sz="1250" dirty="0"/>
          </a:p>
        </p:txBody>
      </p:sp>
      <p:sp>
        <p:nvSpPr>
          <p:cNvPr id="46" name="卡片"/>
          <p:cNvSpPr/>
          <p:nvPr/>
        </p:nvSpPr>
        <p:spPr>
          <a:xfrm>
            <a:off x="8858250" y="2960370"/>
            <a:ext cx="1657350" cy="59436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5875">
            <a:solidFill>
              <a:srgbClr val="7F7F7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卡片"/>
          <p:cNvSpPr/>
          <p:nvPr/>
        </p:nvSpPr>
        <p:spPr>
          <a:xfrm>
            <a:off x="10744200" y="2960370"/>
            <a:ext cx="1485900" cy="59436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5875">
            <a:solidFill>
              <a:srgbClr val="7F7F7F"/>
            </a:solidFill>
            <a:prstDash val="solid"/>
          </a:ln>
          <a:effectLst>
            <a:outerShdw blurRad="111125" dist="3175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10744200" y="2960370"/>
            <a:ext cx="1485900" cy="205740"/>
          </a:xfrm>
          <a:custGeom>
            <a:avLst/>
            <a:gdLst/>
            <a:ahLst/>
            <a:cxnLst/>
            <a:rect l="l" t="t" r="r" b="b"/>
            <a:pathLst>
              <a:path w="1485900" h="205740">
                <a:moveTo>
                  <a:pt x="0" y="205740"/>
                </a:moveTo>
                <a:lnTo>
                  <a:pt x="0" y="34290"/>
                </a:lnTo>
                <a:arcTo hR="34290" wR="34290" stAng="10800000" swAng="5400000"/>
                <a:lnTo>
                  <a:pt x="1451610" y="0"/>
                </a:lnTo>
                <a:arcTo hR="34290" wR="34290" stAng="16200000" swAng="5400000"/>
                <a:lnTo>
                  <a:pt x="1485900" y="20574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線條"/>
          <p:cNvSpPr/>
          <p:nvPr/>
        </p:nvSpPr>
        <p:spPr>
          <a:xfrm>
            <a:off x="7715250" y="3669030"/>
            <a:ext cx="6838569" cy="0"/>
          </a:xfrm>
          <a:prstGeom prst="line">
            <a:avLst/>
          </a:prstGeom>
          <a:noFill/>
          <a:ln w="8001">
            <a:solidFill>
              <a:srgbClr val="ECEC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715250" y="3726180"/>
            <a:ext cx="10287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</a:t>
            </a:r>
            <a:endParaRPr lang="en-US" sz="1650" dirty="0"/>
          </a:p>
        </p:txBody>
      </p:sp>
      <p:sp>
        <p:nvSpPr>
          <p:cNvPr id="51" name="Text 49"/>
          <p:cNvSpPr/>
          <p:nvPr/>
        </p:nvSpPr>
        <p:spPr>
          <a:xfrm>
            <a:off x="12515850" y="3726180"/>
            <a:ext cx="203796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直角實心</a:t>
            </a:r>
            <a:endParaRPr lang="en-US" sz="1250" dirty="0"/>
          </a:p>
        </p:txBody>
      </p:sp>
      <p:sp>
        <p:nvSpPr>
          <p:cNvPr id="52" name="標籤"/>
          <p:cNvSpPr/>
          <p:nvPr/>
        </p:nvSpPr>
        <p:spPr>
          <a:xfrm>
            <a:off x="8858250" y="3886200"/>
            <a:ext cx="688238" cy="36576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</a:t>
            </a:r>
            <a:endParaRPr lang="en-US" sz="1500" dirty="0"/>
          </a:p>
        </p:txBody>
      </p:sp>
      <p:sp>
        <p:nvSpPr>
          <p:cNvPr id="53" name="標籤"/>
          <p:cNvSpPr/>
          <p:nvPr/>
        </p:nvSpPr>
        <p:spPr>
          <a:xfrm>
            <a:off x="9683648" y="3886200"/>
            <a:ext cx="688238" cy="3657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</a:t>
            </a:r>
            <a:endParaRPr lang="en-US" sz="1500" dirty="0"/>
          </a:p>
        </p:txBody>
      </p:sp>
      <p:sp>
        <p:nvSpPr>
          <p:cNvPr id="54" name="標籤"/>
          <p:cNvSpPr/>
          <p:nvPr/>
        </p:nvSpPr>
        <p:spPr>
          <a:xfrm>
            <a:off x="10509047" y="3886200"/>
            <a:ext cx="688238" cy="365760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灰階</a:t>
            </a:r>
            <a:endParaRPr lang="en-US" sz="1500" dirty="0"/>
          </a:p>
        </p:txBody>
      </p:sp>
      <p:sp>
        <p:nvSpPr>
          <p:cNvPr id="55" name="線條"/>
          <p:cNvSpPr/>
          <p:nvPr/>
        </p:nvSpPr>
        <p:spPr>
          <a:xfrm>
            <a:off x="7715250" y="4480560"/>
            <a:ext cx="6838569" cy="0"/>
          </a:xfrm>
          <a:prstGeom prst="line">
            <a:avLst/>
          </a:prstGeom>
          <a:noFill/>
          <a:ln w="8001">
            <a:solidFill>
              <a:srgbClr val="ECEC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15250" y="4537710"/>
            <a:ext cx="10287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</a:t>
            </a:r>
            <a:endParaRPr lang="en-US" sz="1650" dirty="0"/>
          </a:p>
        </p:txBody>
      </p:sp>
      <p:sp>
        <p:nvSpPr>
          <p:cNvPr id="57" name="Text 55"/>
          <p:cNvSpPr/>
          <p:nvPr/>
        </p:nvSpPr>
        <p:spPr>
          <a:xfrm>
            <a:off x="12515850" y="4537710"/>
            <a:ext cx="203796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實心圓</a:t>
            </a:r>
            <a:endParaRPr lang="en-US" sz="1250" dirty="0"/>
          </a:p>
        </p:txBody>
      </p:sp>
      <p:sp>
        <p:nvSpPr>
          <p:cNvPr id="58" name="編號"/>
          <p:cNvSpPr/>
          <p:nvPr/>
        </p:nvSpPr>
        <p:spPr>
          <a:xfrm>
            <a:off x="8903970" y="4652010"/>
            <a:ext cx="457200" cy="45720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59" name="編號"/>
          <p:cNvSpPr/>
          <p:nvPr/>
        </p:nvSpPr>
        <p:spPr>
          <a:xfrm>
            <a:off x="9612630" y="4652010"/>
            <a:ext cx="457200" cy="45720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60" name="編號"/>
          <p:cNvSpPr/>
          <p:nvPr/>
        </p:nvSpPr>
        <p:spPr>
          <a:xfrm>
            <a:off x="10321290" y="4652010"/>
            <a:ext cx="457200" cy="45720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11087100" y="4537710"/>
            <a:ext cx="12573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② ③</a:t>
            </a:r>
            <a:endParaRPr lang="en-US" sz="1750" dirty="0"/>
          </a:p>
        </p:txBody>
      </p:sp>
      <p:sp>
        <p:nvSpPr>
          <p:cNvPr id="62" name="線條"/>
          <p:cNvSpPr/>
          <p:nvPr/>
        </p:nvSpPr>
        <p:spPr>
          <a:xfrm>
            <a:off x="7715250" y="5292090"/>
            <a:ext cx="6838569" cy="0"/>
          </a:xfrm>
          <a:prstGeom prst="line">
            <a:avLst/>
          </a:prstGeom>
          <a:noFill/>
          <a:ln w="8001">
            <a:solidFill>
              <a:srgbClr val="ECECE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715250" y="5349240"/>
            <a:ext cx="10287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分隔</a:t>
            </a:r>
            <a:endParaRPr lang="en-US" sz="1650" dirty="0"/>
          </a:p>
        </p:txBody>
      </p:sp>
      <p:sp>
        <p:nvSpPr>
          <p:cNvPr id="64" name="Text 62"/>
          <p:cNvSpPr/>
          <p:nvPr/>
        </p:nvSpPr>
        <p:spPr>
          <a:xfrm>
            <a:off x="12515850" y="5349240"/>
            <a:ext cx="203796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細線箭頭</a:t>
            </a:r>
            <a:endParaRPr lang="en-US" sz="1250" dirty="0"/>
          </a:p>
        </p:txBody>
      </p:sp>
      <p:sp>
        <p:nvSpPr>
          <p:cNvPr id="65" name="Text 63"/>
          <p:cNvSpPr/>
          <p:nvPr/>
        </p:nvSpPr>
        <p:spPr>
          <a:xfrm>
            <a:off x="8858250" y="534924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500" dirty="0"/>
          </a:p>
        </p:txBody>
      </p:sp>
      <p:sp>
        <p:nvSpPr>
          <p:cNvPr id="66" name="線條"/>
          <p:cNvSpPr/>
          <p:nvPr/>
        </p:nvSpPr>
        <p:spPr>
          <a:xfrm>
            <a:off x="9612630" y="5692140"/>
            <a:ext cx="54864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67" name="Text 65"/>
          <p:cNvSpPr/>
          <p:nvPr/>
        </p:nvSpPr>
        <p:spPr>
          <a:xfrm>
            <a:off x="10229850" y="534924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500" dirty="0"/>
          </a:p>
        </p:txBody>
      </p:sp>
      <p:sp>
        <p:nvSpPr>
          <p:cNvPr id="68" name="線條"/>
          <p:cNvSpPr/>
          <p:nvPr/>
        </p:nvSpPr>
        <p:spPr>
          <a:xfrm>
            <a:off x="10984230" y="5692140"/>
            <a:ext cx="54864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69" name="Text 67"/>
          <p:cNvSpPr/>
          <p:nvPr/>
        </p:nvSpPr>
        <p:spPr>
          <a:xfrm>
            <a:off x="11601450" y="534924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500" dirty="0"/>
          </a:p>
        </p:txBody>
      </p:sp>
      <p:sp>
        <p:nvSpPr>
          <p:cNvPr id="70" name="線條"/>
          <p:cNvSpPr/>
          <p:nvPr/>
        </p:nvSpPr>
        <p:spPr>
          <a:xfrm>
            <a:off x="7715250" y="6103620"/>
            <a:ext cx="6838569" cy="0"/>
          </a:xfrm>
          <a:prstGeom prst="line">
            <a:avLst/>
          </a:prstGeom>
          <a:noFill/>
          <a:ln w="8001">
            <a:solidFill>
              <a:srgbClr val="ECECE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715250" y="6160770"/>
            <a:ext cx="10287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連接線</a:t>
            </a:r>
            <a:endParaRPr lang="en-US" sz="1650" dirty="0"/>
          </a:p>
        </p:txBody>
      </p:sp>
      <p:sp>
        <p:nvSpPr>
          <p:cNvPr id="72" name="Text 70"/>
          <p:cNvSpPr/>
          <p:nvPr/>
        </p:nvSpPr>
        <p:spPr>
          <a:xfrm>
            <a:off x="12515850" y="6160770"/>
            <a:ext cx="203796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1pt 實線＋三角箭頭</a:t>
            </a:r>
            <a:endParaRPr lang="en-US" sz="1250" dirty="0"/>
          </a:p>
        </p:txBody>
      </p:sp>
      <p:sp>
        <p:nvSpPr>
          <p:cNvPr id="73" name="線條"/>
          <p:cNvSpPr/>
          <p:nvPr/>
        </p:nvSpPr>
        <p:spPr>
          <a:xfrm>
            <a:off x="8858250" y="6503670"/>
            <a:ext cx="148590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74" name="連接線"/>
          <p:cNvSpPr/>
          <p:nvPr/>
        </p:nvSpPr>
        <p:spPr>
          <a:xfrm>
            <a:off x="10687050" y="6252210"/>
            <a:ext cx="1543050" cy="502920"/>
          </a:xfrm>
          <a:custGeom>
            <a:avLst/>
            <a:gdLst/>
            <a:ahLst/>
            <a:cxnLst/>
            <a:rect l="l" t="t" r="r" b="b"/>
            <a:pathLst>
              <a:path w="1543050" h="502920">
                <a:moveTo>
                  <a:pt x="0" y="0"/>
                </a:moveTo>
                <a:lnTo>
                  <a:pt x="685800" y="0"/>
                </a:lnTo>
                <a:lnTo>
                  <a:pt x="685800" y="502920"/>
                </a:lnTo>
                <a:lnTo>
                  <a:pt x="1543050" y="502920"/>
                </a:lnTo>
              </a:path>
            </a:pathLst>
          </a:custGeom>
          <a:noFill/>
          <a:ln w="15875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線條"/>
          <p:cNvSpPr/>
          <p:nvPr/>
        </p:nvSpPr>
        <p:spPr>
          <a:xfrm>
            <a:off x="7715250" y="6915150"/>
            <a:ext cx="6838569" cy="0"/>
          </a:xfrm>
          <a:prstGeom prst="line">
            <a:avLst/>
          </a:prstGeom>
          <a:noFill/>
          <a:ln w="8001">
            <a:solidFill>
              <a:srgbClr val="ECECE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715250" y="6972300"/>
            <a:ext cx="10287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流程鏈</a:t>
            </a:r>
            <a:endParaRPr lang="en-US" sz="1650" dirty="0"/>
          </a:p>
        </p:txBody>
      </p:sp>
      <p:sp>
        <p:nvSpPr>
          <p:cNvPr id="77" name="Text 75"/>
          <p:cNvSpPr/>
          <p:nvPr/>
        </p:nvSpPr>
        <p:spPr>
          <a:xfrm>
            <a:off x="12515850" y="6972300"/>
            <a:ext cx="203796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細框方塊</a:t>
            </a:r>
            <a:endParaRPr lang="en-US" sz="1250" dirty="0"/>
          </a:p>
        </p:txBody>
      </p:sp>
      <p:sp>
        <p:nvSpPr>
          <p:cNvPr id="78" name="流程鏈"/>
          <p:cNvSpPr/>
          <p:nvPr/>
        </p:nvSpPr>
        <p:spPr>
          <a:xfrm>
            <a:off x="8858250" y="7063740"/>
            <a:ext cx="670560" cy="50292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23876">
            <a:solidFill>
              <a:srgbClr val="404040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</a:t>
            </a:r>
            <a:endParaRPr lang="en-US" sz="1400" dirty="0"/>
          </a:p>
        </p:txBody>
      </p:sp>
      <p:sp>
        <p:nvSpPr>
          <p:cNvPr id="79" name="線條"/>
          <p:cNvSpPr/>
          <p:nvPr/>
        </p:nvSpPr>
        <p:spPr>
          <a:xfrm>
            <a:off x="9608820" y="7315200"/>
            <a:ext cx="54864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80" name="流程鏈"/>
          <p:cNvSpPr/>
          <p:nvPr/>
        </p:nvSpPr>
        <p:spPr>
          <a:xfrm>
            <a:off x="10237470" y="7063740"/>
            <a:ext cx="670560" cy="50292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5875">
            <a:solidFill>
              <a:srgbClr val="707070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1400" dirty="0"/>
          </a:p>
        </p:txBody>
      </p:sp>
      <p:sp>
        <p:nvSpPr>
          <p:cNvPr id="81" name="線條"/>
          <p:cNvSpPr/>
          <p:nvPr/>
        </p:nvSpPr>
        <p:spPr>
          <a:xfrm>
            <a:off x="10988040" y="7315200"/>
            <a:ext cx="54864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82" name="流程鏈"/>
          <p:cNvSpPr/>
          <p:nvPr/>
        </p:nvSpPr>
        <p:spPr>
          <a:xfrm>
            <a:off x="11616690" y="7063740"/>
            <a:ext cx="670560" cy="50292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5875">
            <a:solidFill>
              <a:srgbClr val="707070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檢核</a:t>
            </a:r>
            <a:endParaRPr lang="en-US" sz="1400" dirty="0"/>
          </a:p>
        </p:txBody>
      </p:sp>
      <p:sp>
        <p:nvSpPr>
          <p:cNvPr id="83" name="Text 81"/>
          <p:cNvSpPr/>
          <p:nvPr/>
        </p:nvSpPr>
        <p:spPr>
          <a:xfrm>
            <a:off x="685800" y="78867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冰山能力圖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84" name="Text 82"/>
          <p:cNvSpPr/>
          <p:nvPr/>
        </p:nvSpPr>
        <p:spPr>
          <a:xfrm>
            <a:off x="12839319" y="78867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 / 14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85750" y="285750"/>
            <a:ext cx="14668119" cy="800100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85800" y="571500"/>
            <a:ext cx="80010" cy="11658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標題"/>
          <p:cNvSpPr/>
          <p:nvPr/>
        </p:nvSpPr>
        <p:spPr>
          <a:xfrm>
            <a:off x="982980" y="45720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5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</a:t>
            </a:r>
            <a:endParaRPr lang="en-US" sz="4250" dirty="0"/>
          </a:p>
        </p:txBody>
      </p:sp>
      <p:sp>
        <p:nvSpPr>
          <p:cNvPr id="5" name="Text 3"/>
          <p:cNvSpPr/>
          <p:nvPr/>
        </p:nvSpPr>
        <p:spPr>
          <a:xfrm>
            <a:off x="982980" y="1257300"/>
            <a:ext cx="12573000" cy="434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B9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標題＋內文、角落標籤、表頭強調三種基本卡片</a:t>
            </a:r>
            <a:endParaRPr lang="en-US" sz="2000" dirty="0"/>
          </a:p>
        </p:txBody>
      </p:sp>
      <p:sp>
        <p:nvSpPr>
          <p:cNvPr id="6" name="卡片"/>
          <p:cNvSpPr/>
          <p:nvPr/>
        </p:nvSpPr>
        <p:spPr>
          <a:xfrm>
            <a:off x="685800" y="2343150"/>
            <a:ext cx="4263390" cy="268605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5875">
            <a:solidFill>
              <a:srgbClr val="7F7F7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82980" y="2526030"/>
            <a:ext cx="366903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標題＋內文</a:t>
            </a:r>
            <a:r>
              <a:rPr lang="en-US" sz="1250" b="1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Card</a:t>
            </a:r>
            <a:endParaRPr lang="en-US" sz="2000" dirty="0"/>
          </a:p>
        </p:txBody>
      </p:sp>
      <p:sp>
        <p:nvSpPr>
          <p:cNvPr id="8" name="線條"/>
          <p:cNvSpPr/>
          <p:nvPr/>
        </p:nvSpPr>
        <p:spPr>
          <a:xfrm>
            <a:off x="982980" y="3143250"/>
            <a:ext cx="366903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2980" y="3326130"/>
            <a:ext cx="3669030" cy="14744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先用一句話說清楚重點，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再以兩到三行補充說明。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內文維持灰色、行距寬鬆，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留白讓卡片更好讀。</a:t>
            </a:r>
            <a:endParaRPr lang="en-US" sz="1500" dirty="0"/>
          </a:p>
        </p:txBody>
      </p:sp>
      <p:sp>
        <p:nvSpPr>
          <p:cNvPr id="10" name="卡片"/>
          <p:cNvSpPr/>
          <p:nvPr/>
        </p:nvSpPr>
        <p:spPr>
          <a:xfrm>
            <a:off x="5488115" y="2343150"/>
            <a:ext cx="4263390" cy="268605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5875">
            <a:solidFill>
              <a:srgbClr val="7F7F7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785295" y="2526030"/>
            <a:ext cx="366903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角落標籤卡片</a:t>
            </a:r>
            <a:endParaRPr lang="en-US" sz="2000" dirty="0"/>
          </a:p>
        </p:txBody>
      </p:sp>
      <p:sp>
        <p:nvSpPr>
          <p:cNvPr id="12" name="線條"/>
          <p:cNvSpPr/>
          <p:nvPr/>
        </p:nvSpPr>
        <p:spPr>
          <a:xfrm>
            <a:off x="5785295" y="3143250"/>
            <a:ext cx="366903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85295" y="3326130"/>
            <a:ext cx="3669030" cy="14744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右上角的小標籤標示階段、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分類或狀態，跨在邊框上，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不佔用內文空間。</a:t>
            </a:r>
            <a:endParaRPr lang="en-US" sz="1500" dirty="0"/>
          </a:p>
        </p:txBody>
      </p:sp>
      <p:sp>
        <p:nvSpPr>
          <p:cNvPr id="14" name="標籤"/>
          <p:cNvSpPr/>
          <p:nvPr/>
        </p:nvSpPr>
        <p:spPr>
          <a:xfrm>
            <a:off x="8567865" y="2183130"/>
            <a:ext cx="932180" cy="32004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第一階段</a:t>
            </a:r>
            <a:endParaRPr lang="en-US" sz="1250" dirty="0"/>
          </a:p>
        </p:txBody>
      </p:sp>
      <p:sp>
        <p:nvSpPr>
          <p:cNvPr id="15" name="標籤"/>
          <p:cNvSpPr/>
          <p:nvPr/>
        </p:nvSpPr>
        <p:spPr>
          <a:xfrm>
            <a:off x="5739575" y="4869180"/>
            <a:ext cx="932180" cy="320040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價值說明</a:t>
            </a:r>
            <a:endParaRPr lang="en-US" sz="1250" dirty="0"/>
          </a:p>
        </p:txBody>
      </p:sp>
      <p:sp>
        <p:nvSpPr>
          <p:cNvPr id="16" name="卡片"/>
          <p:cNvSpPr/>
          <p:nvPr/>
        </p:nvSpPr>
        <p:spPr>
          <a:xfrm>
            <a:off x="10290429" y="2343150"/>
            <a:ext cx="4263390" cy="268605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5875">
            <a:solidFill>
              <a:srgbClr val="7F7F7F"/>
            </a:solidFill>
            <a:prstDash val="solid"/>
          </a:ln>
          <a:effectLst>
            <a:outerShdw blurRad="111125" dist="3175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表頭"/>
          <p:cNvSpPr/>
          <p:nvPr/>
        </p:nvSpPr>
        <p:spPr>
          <a:xfrm>
            <a:off x="10290429" y="2343150"/>
            <a:ext cx="4263390" cy="662940"/>
          </a:xfrm>
          <a:custGeom>
            <a:avLst/>
            <a:gdLst/>
            <a:ahLst/>
            <a:cxnLst/>
            <a:rect l="l" t="t" r="r" b="b"/>
            <a:pathLst>
              <a:path w="4263390" h="662940">
                <a:moveTo>
                  <a:pt x="0" y="662940"/>
                </a:moveTo>
                <a:lnTo>
                  <a:pt x="0" y="34290"/>
                </a:lnTo>
                <a:arcTo hR="34290" wR="34290" stAng="10800000" swAng="5400000"/>
                <a:lnTo>
                  <a:pt x="4229100" y="0"/>
                </a:lnTo>
                <a:arcTo hR="34290" wR="34290" stAng="16200000" swAng="5400000"/>
                <a:lnTo>
                  <a:pt x="4263390" y="66294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0587609" y="2343150"/>
            <a:ext cx="3669030" cy="6629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表頭強調卡片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587609" y="3234690"/>
            <a:ext cx="3669030" cy="15659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以主色表頭強調，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用來標出最重要的一張卡。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同一頁建議只放一張。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5800" y="5234940"/>
            <a:ext cx="426339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A｜基本卡片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8115" y="5234940"/>
            <a:ext cx="426339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B｜角標卡片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290429" y="5234940"/>
            <a:ext cx="426339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C｜強調卡片（含陰影）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5772150"/>
            <a:ext cx="57150" cy="2514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80110" y="5715000"/>
            <a:ext cx="780669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標籤＋說明列</a:t>
            </a:r>
            <a:endParaRPr lang="en-US" sz="1650" dirty="0"/>
          </a:p>
        </p:txBody>
      </p:sp>
      <p:sp>
        <p:nvSpPr>
          <p:cNvPr id="25" name="線條"/>
          <p:cNvSpPr/>
          <p:nvPr/>
        </p:nvSpPr>
        <p:spPr>
          <a:xfrm>
            <a:off x="685800" y="6195060"/>
            <a:ext cx="800100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26" name="標籤"/>
          <p:cNvSpPr/>
          <p:nvPr/>
        </p:nvSpPr>
        <p:spPr>
          <a:xfrm>
            <a:off x="685800" y="6377940"/>
            <a:ext cx="937260" cy="36576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簡潔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828800" y="6377940"/>
            <a:ext cx="6629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一頁只講一個重點，讀者不費力</a:t>
            </a:r>
            <a:endParaRPr lang="en-US" sz="1650" dirty="0"/>
          </a:p>
        </p:txBody>
      </p:sp>
      <p:sp>
        <p:nvSpPr>
          <p:cNvPr id="28" name="標籤"/>
          <p:cNvSpPr/>
          <p:nvPr/>
        </p:nvSpPr>
        <p:spPr>
          <a:xfrm>
            <a:off x="685800" y="6858000"/>
            <a:ext cx="937260" cy="3657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828800" y="6858000"/>
            <a:ext cx="6629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用例子與數字說話，避免空泛</a:t>
            </a:r>
            <a:endParaRPr lang="en-US" sz="1650" dirty="0"/>
          </a:p>
        </p:txBody>
      </p:sp>
      <p:sp>
        <p:nvSpPr>
          <p:cNvPr id="30" name="標籤"/>
          <p:cNvSpPr/>
          <p:nvPr/>
        </p:nvSpPr>
        <p:spPr>
          <a:xfrm>
            <a:off x="685800" y="7338060"/>
            <a:ext cx="937260" cy="36576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深入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828800" y="7338060"/>
            <a:ext cx="6629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提出觀點與洞見，留下記憶點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9144000" y="5772150"/>
            <a:ext cx="57150" cy="2514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9338310" y="5715000"/>
            <a:ext cx="521550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註解 Note</a:t>
            </a:r>
            <a:endParaRPr lang="en-US" sz="1650" dirty="0"/>
          </a:p>
        </p:txBody>
      </p:sp>
      <p:sp>
        <p:nvSpPr>
          <p:cNvPr id="34" name="線條"/>
          <p:cNvSpPr/>
          <p:nvPr/>
        </p:nvSpPr>
        <p:spPr>
          <a:xfrm>
            <a:off x="9144000" y="6195060"/>
            <a:ext cx="540981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0" y="6400800"/>
            <a:ext cx="5409819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註解用灰色小字，補充前提或資料來源。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144000" y="6858000"/>
            <a:ext cx="5409819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每張卡片內文以 3–4 行為上限。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85800" y="78867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冰山能力圖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2839319" y="78867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 / 14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85750" y="285750"/>
            <a:ext cx="14668119" cy="800100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85800" y="571500"/>
            <a:ext cx="80010" cy="11658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標題"/>
          <p:cNvSpPr/>
          <p:nvPr/>
        </p:nvSpPr>
        <p:spPr>
          <a:xfrm>
            <a:off x="982980" y="45720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5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標籤與編號</a:t>
            </a:r>
            <a:endParaRPr lang="en-US" sz="4250" dirty="0"/>
          </a:p>
        </p:txBody>
      </p:sp>
      <p:sp>
        <p:nvSpPr>
          <p:cNvPr id="5" name="Text 3"/>
          <p:cNvSpPr/>
          <p:nvPr/>
        </p:nvSpPr>
        <p:spPr>
          <a:xfrm>
            <a:off x="982980" y="1257300"/>
            <a:ext cx="12573000" cy="434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B9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單一標籤、堆疊清單、編號徽章與圈號清單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57150" cy="2514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80110" y="2228850"/>
            <a:ext cx="1367370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單一標籤 Tags</a:t>
            </a:r>
            <a:endParaRPr lang="en-US" sz="1650" dirty="0"/>
          </a:p>
        </p:txBody>
      </p:sp>
      <p:sp>
        <p:nvSpPr>
          <p:cNvPr id="8" name="線條"/>
          <p:cNvSpPr/>
          <p:nvPr/>
        </p:nvSpPr>
        <p:spPr>
          <a:xfrm>
            <a:off x="685800" y="2708910"/>
            <a:ext cx="1386801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9" name="標籤"/>
          <p:cNvSpPr/>
          <p:nvPr/>
        </p:nvSpPr>
        <p:spPr>
          <a:xfrm>
            <a:off x="685800" y="2914650"/>
            <a:ext cx="1190346" cy="43434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主要標籤</a:t>
            </a:r>
            <a:endParaRPr lang="en-US" sz="1650" dirty="0"/>
          </a:p>
        </p:txBody>
      </p:sp>
      <p:sp>
        <p:nvSpPr>
          <p:cNvPr id="10" name="標籤"/>
          <p:cNvSpPr/>
          <p:nvPr/>
        </p:nvSpPr>
        <p:spPr>
          <a:xfrm>
            <a:off x="2219046" y="2914650"/>
            <a:ext cx="1190346" cy="43434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輔助標籤</a:t>
            </a:r>
            <a:endParaRPr lang="en-US" sz="1650" dirty="0"/>
          </a:p>
        </p:txBody>
      </p:sp>
      <p:sp>
        <p:nvSpPr>
          <p:cNvPr id="11" name="標籤"/>
          <p:cNvSpPr/>
          <p:nvPr/>
        </p:nvSpPr>
        <p:spPr>
          <a:xfrm>
            <a:off x="3752291" y="2914650"/>
            <a:ext cx="1190346" cy="434340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灰階標籤</a:t>
            </a:r>
            <a:endParaRPr lang="en-US" sz="1650" dirty="0"/>
          </a:p>
        </p:txBody>
      </p:sp>
      <p:sp>
        <p:nvSpPr>
          <p:cNvPr id="12" name="標籤"/>
          <p:cNvSpPr/>
          <p:nvPr/>
        </p:nvSpPr>
        <p:spPr>
          <a:xfrm>
            <a:off x="5285537" y="2914650"/>
            <a:ext cx="1190346" cy="434340"/>
          </a:xfrm>
          <a:prstGeom prst="rect">
            <a:avLst/>
          </a:prstGeom>
          <a:solidFill>
            <a:srgbClr val="FFFFFF"/>
          </a:solidFill>
          <a:ln w="11938">
            <a:solidFill>
              <a:srgbClr val="404040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外框標籤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161682" y="2914650"/>
            <a:ext cx="1028700" cy="434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小尺寸</a:t>
            </a:r>
            <a:endParaRPr lang="en-US" sz="1400" dirty="0"/>
          </a:p>
        </p:txBody>
      </p:sp>
      <p:sp>
        <p:nvSpPr>
          <p:cNvPr id="14" name="標籤"/>
          <p:cNvSpPr/>
          <p:nvPr/>
        </p:nvSpPr>
        <p:spPr>
          <a:xfrm>
            <a:off x="8076082" y="2960370"/>
            <a:ext cx="614680" cy="342900"/>
          </a:xfrm>
          <a:prstGeom prst="rect">
            <a:avLst/>
          </a:prstGeom>
          <a:solidFill>
            <a:srgbClr val="FFFFFF"/>
          </a:solidFill>
          <a:ln w="11938">
            <a:solidFill>
              <a:srgbClr val="404040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元素</a:t>
            </a:r>
            <a:endParaRPr lang="en-US" sz="1250" dirty="0"/>
          </a:p>
        </p:txBody>
      </p:sp>
      <p:sp>
        <p:nvSpPr>
          <p:cNvPr id="15" name="標籤"/>
          <p:cNvSpPr/>
          <p:nvPr/>
        </p:nvSpPr>
        <p:spPr>
          <a:xfrm>
            <a:off x="8862212" y="2960370"/>
            <a:ext cx="614680" cy="342900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關聯</a:t>
            </a:r>
            <a:endParaRPr lang="en-US" sz="1250" dirty="0"/>
          </a:p>
        </p:txBody>
      </p:sp>
      <p:sp>
        <p:nvSpPr>
          <p:cNvPr id="16" name="標籤"/>
          <p:cNvSpPr/>
          <p:nvPr/>
        </p:nvSpPr>
        <p:spPr>
          <a:xfrm>
            <a:off x="9648342" y="2960370"/>
            <a:ext cx="614680" cy="342900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因果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85800" y="3886200"/>
            <a:ext cx="57150" cy="2514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80110" y="3829050"/>
            <a:ext cx="41376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堆疊清單 Stacked</a:t>
            </a:r>
            <a:endParaRPr lang="en-US" sz="1650" dirty="0"/>
          </a:p>
        </p:txBody>
      </p:sp>
      <p:sp>
        <p:nvSpPr>
          <p:cNvPr id="19" name="線條"/>
          <p:cNvSpPr/>
          <p:nvPr/>
        </p:nvSpPr>
        <p:spPr>
          <a:xfrm>
            <a:off x="685800" y="4309110"/>
            <a:ext cx="433197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20" name="標籤"/>
          <p:cNvSpPr/>
          <p:nvPr/>
        </p:nvSpPr>
        <p:spPr>
          <a:xfrm>
            <a:off x="685800" y="4583430"/>
            <a:ext cx="3314700" cy="48006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釐清溝通目的</a:t>
            </a:r>
            <a:endParaRPr lang="en-US" sz="1650" dirty="0"/>
          </a:p>
        </p:txBody>
      </p:sp>
      <p:sp>
        <p:nvSpPr>
          <p:cNvPr id="21" name="標籤"/>
          <p:cNvSpPr/>
          <p:nvPr/>
        </p:nvSpPr>
        <p:spPr>
          <a:xfrm>
            <a:off x="685800" y="5292090"/>
            <a:ext cx="3314700" cy="48006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對齊彼此期待</a:t>
            </a:r>
            <a:endParaRPr lang="en-US" sz="1650" dirty="0"/>
          </a:p>
        </p:txBody>
      </p:sp>
      <p:sp>
        <p:nvSpPr>
          <p:cNvPr id="22" name="標籤"/>
          <p:cNvSpPr/>
          <p:nvPr/>
        </p:nvSpPr>
        <p:spPr>
          <a:xfrm>
            <a:off x="685800" y="6000750"/>
            <a:ext cx="3314700" cy="48006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降低理解門檻</a:t>
            </a:r>
            <a:endParaRPr lang="en-US" sz="1650" dirty="0"/>
          </a:p>
        </p:txBody>
      </p:sp>
      <p:sp>
        <p:nvSpPr>
          <p:cNvPr id="23" name="標籤"/>
          <p:cNvSpPr/>
          <p:nvPr/>
        </p:nvSpPr>
        <p:spPr>
          <a:xfrm>
            <a:off x="685800" y="6709410"/>
            <a:ext cx="3314700" cy="48006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提升決策效率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5453825" y="3886200"/>
            <a:ext cx="57150" cy="2514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648134" y="3829050"/>
            <a:ext cx="41376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 Badges</a:t>
            </a:r>
            <a:endParaRPr lang="en-US" sz="1650" dirty="0"/>
          </a:p>
        </p:txBody>
      </p:sp>
      <p:sp>
        <p:nvSpPr>
          <p:cNvPr id="26" name="線條"/>
          <p:cNvSpPr/>
          <p:nvPr/>
        </p:nvSpPr>
        <p:spPr>
          <a:xfrm>
            <a:off x="5453825" y="4309110"/>
            <a:ext cx="433197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27" name="編號"/>
          <p:cNvSpPr/>
          <p:nvPr/>
        </p:nvSpPr>
        <p:spPr>
          <a:xfrm>
            <a:off x="5499544" y="4594860"/>
            <a:ext cx="480060" cy="48006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50" dirty="0"/>
          </a:p>
        </p:txBody>
      </p:sp>
      <p:sp>
        <p:nvSpPr>
          <p:cNvPr id="28" name="編號"/>
          <p:cNvSpPr/>
          <p:nvPr/>
        </p:nvSpPr>
        <p:spPr>
          <a:xfrm>
            <a:off x="6208205" y="4594860"/>
            <a:ext cx="480060" cy="48006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50" dirty="0"/>
          </a:p>
        </p:txBody>
      </p:sp>
      <p:sp>
        <p:nvSpPr>
          <p:cNvPr id="29" name="編號"/>
          <p:cNvSpPr/>
          <p:nvPr/>
        </p:nvSpPr>
        <p:spPr>
          <a:xfrm>
            <a:off x="6916865" y="4594860"/>
            <a:ext cx="480060" cy="48006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50" dirty="0"/>
          </a:p>
        </p:txBody>
      </p:sp>
      <p:sp>
        <p:nvSpPr>
          <p:cNvPr id="30" name="編號"/>
          <p:cNvSpPr/>
          <p:nvPr/>
        </p:nvSpPr>
        <p:spPr>
          <a:xfrm>
            <a:off x="7625524" y="4594860"/>
            <a:ext cx="480060" cy="480060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50" dirty="0"/>
          </a:p>
        </p:txBody>
      </p:sp>
      <p:sp>
        <p:nvSpPr>
          <p:cNvPr id="31" name="編號"/>
          <p:cNvSpPr/>
          <p:nvPr/>
        </p:nvSpPr>
        <p:spPr>
          <a:xfrm>
            <a:off x="5533835" y="5646420"/>
            <a:ext cx="411480" cy="41148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162485" y="5657850"/>
            <a:ext cx="13716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界定問題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7454075" y="5657850"/>
            <a:ext cx="233172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先釐清要解決什麼</a:t>
            </a:r>
            <a:endParaRPr lang="en-US" sz="1400" dirty="0"/>
          </a:p>
        </p:txBody>
      </p:sp>
      <p:sp>
        <p:nvSpPr>
          <p:cNvPr id="34" name="編號"/>
          <p:cNvSpPr/>
          <p:nvPr/>
        </p:nvSpPr>
        <p:spPr>
          <a:xfrm>
            <a:off x="5533835" y="6355080"/>
            <a:ext cx="411480" cy="41148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162485" y="6366510"/>
            <a:ext cx="13716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盤點現況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7454075" y="6366510"/>
            <a:ext cx="233172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蒐集事實與數據</a:t>
            </a:r>
            <a:endParaRPr lang="en-US" sz="1400" dirty="0"/>
          </a:p>
        </p:txBody>
      </p:sp>
      <p:sp>
        <p:nvSpPr>
          <p:cNvPr id="37" name="編號"/>
          <p:cNvSpPr/>
          <p:nvPr/>
        </p:nvSpPr>
        <p:spPr>
          <a:xfrm>
            <a:off x="5533835" y="7063740"/>
            <a:ext cx="411480" cy="41148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162485" y="7075170"/>
            <a:ext cx="13716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排序優先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7454075" y="7075170"/>
            <a:ext cx="233172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聚焦影響最大處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0221849" y="3886200"/>
            <a:ext cx="57150" cy="2514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0416159" y="3829050"/>
            <a:ext cx="41376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圈號清單 ①②③</a:t>
            </a:r>
            <a:endParaRPr lang="en-US" sz="1650" dirty="0"/>
          </a:p>
        </p:txBody>
      </p:sp>
      <p:sp>
        <p:nvSpPr>
          <p:cNvPr id="42" name="線條"/>
          <p:cNvSpPr/>
          <p:nvPr/>
        </p:nvSpPr>
        <p:spPr>
          <a:xfrm>
            <a:off x="10221849" y="4309110"/>
            <a:ext cx="433197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221849" y="4572000"/>
            <a:ext cx="20574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釐清目的</a:t>
            </a:r>
            <a:endParaRPr lang="en-US" sz="1750" dirty="0"/>
          </a:p>
        </p:txBody>
      </p:sp>
      <p:sp>
        <p:nvSpPr>
          <p:cNvPr id="44" name="Text 42"/>
          <p:cNvSpPr/>
          <p:nvPr/>
        </p:nvSpPr>
        <p:spPr>
          <a:xfrm>
            <a:off x="10221849" y="5052060"/>
            <a:ext cx="20574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拆解結構</a:t>
            </a:r>
            <a:endParaRPr lang="en-US" sz="1750" dirty="0"/>
          </a:p>
        </p:txBody>
      </p:sp>
      <p:sp>
        <p:nvSpPr>
          <p:cNvPr id="45" name="Text 43"/>
          <p:cNvSpPr/>
          <p:nvPr/>
        </p:nvSpPr>
        <p:spPr>
          <a:xfrm>
            <a:off x="10221849" y="5532120"/>
            <a:ext cx="20574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重新組合</a:t>
            </a:r>
            <a:endParaRPr lang="en-US" sz="1750" dirty="0"/>
          </a:p>
        </p:txBody>
      </p:sp>
      <p:sp>
        <p:nvSpPr>
          <p:cNvPr id="46" name="Text 44"/>
          <p:cNvSpPr/>
          <p:nvPr/>
        </p:nvSpPr>
        <p:spPr>
          <a:xfrm>
            <a:off x="10221849" y="6012180"/>
            <a:ext cx="20574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檢查一致</a:t>
            </a:r>
            <a:endParaRPr lang="en-US" sz="1750" dirty="0"/>
          </a:p>
        </p:txBody>
      </p:sp>
      <p:sp>
        <p:nvSpPr>
          <p:cNvPr id="47" name="Text 45"/>
          <p:cNvSpPr/>
          <p:nvPr/>
        </p:nvSpPr>
        <p:spPr>
          <a:xfrm>
            <a:off x="12507849" y="4572000"/>
            <a:ext cx="204597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過濾數據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12507849" y="5052060"/>
            <a:ext cx="204597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確認關係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12507849" y="5532120"/>
            <a:ext cx="204597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產出圖表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10221849" y="6629400"/>
            <a:ext cx="433197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清單 3–5 項最易記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85800" y="78867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冰山能力圖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12839319" y="78867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 / 14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85750" y="285750"/>
            <a:ext cx="14668119" cy="800100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85800" y="571500"/>
            <a:ext cx="80010" cy="11658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標題"/>
          <p:cNvSpPr/>
          <p:nvPr/>
        </p:nvSpPr>
        <p:spPr>
          <a:xfrm>
            <a:off x="982980" y="45720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5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圓形與流程鏈</a:t>
            </a:r>
            <a:endParaRPr lang="en-US" sz="4250" dirty="0"/>
          </a:p>
        </p:txBody>
      </p:sp>
      <p:sp>
        <p:nvSpPr>
          <p:cNvPr id="5" name="Text 3"/>
          <p:cNvSpPr/>
          <p:nvPr/>
        </p:nvSpPr>
        <p:spPr>
          <a:xfrm>
            <a:off x="982980" y="1257300"/>
            <a:ext cx="12573000" cy="434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B9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大外框圓＋疊放小圓，以及三段式流程鏈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57150" cy="2514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80110" y="2228850"/>
            <a:ext cx="620649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大圓＋疊圓 Circles</a:t>
            </a:r>
            <a:endParaRPr lang="en-US" sz="1650" dirty="0"/>
          </a:p>
        </p:txBody>
      </p:sp>
      <p:sp>
        <p:nvSpPr>
          <p:cNvPr id="8" name="線條"/>
          <p:cNvSpPr/>
          <p:nvPr/>
        </p:nvSpPr>
        <p:spPr>
          <a:xfrm>
            <a:off x="685800" y="2708910"/>
            <a:ext cx="640080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9" name="大圓"/>
          <p:cNvSpPr/>
          <p:nvPr/>
        </p:nvSpPr>
        <p:spPr>
          <a:xfrm>
            <a:off x="2308860" y="2937510"/>
            <a:ext cx="3154680" cy="31546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0707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308860" y="3347618"/>
            <a:ext cx="3154680" cy="97795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</a:t>
            </a:r>
            <a:endParaRPr lang="en-US" sz="5150" dirty="0"/>
          </a:p>
        </p:txBody>
      </p:sp>
      <p:sp>
        <p:nvSpPr>
          <p:cNvPr id="11" name="Text 9"/>
          <p:cNvSpPr/>
          <p:nvPr/>
        </p:nvSpPr>
        <p:spPr>
          <a:xfrm>
            <a:off x="2624328" y="4357116"/>
            <a:ext cx="2523744" cy="883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如何做到</a:t>
            </a:r>
            <a:endParaRPr lang="en-US" sz="1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三個關鍵</a:t>
            </a:r>
            <a:endParaRPr lang="en-US" sz="1900" dirty="0"/>
          </a:p>
        </p:txBody>
      </p:sp>
      <p:sp>
        <p:nvSpPr>
          <p:cNvPr id="12" name="小圓"/>
          <p:cNvSpPr/>
          <p:nvPr/>
        </p:nvSpPr>
        <p:spPr>
          <a:xfrm>
            <a:off x="2146420" y="4984057"/>
            <a:ext cx="960120" cy="960120"/>
          </a:xfrm>
          <a:prstGeom prst="ellipse">
            <a:avLst/>
          </a:prstGeom>
          <a:solidFill>
            <a:srgbClr val="404040"/>
          </a:solidFill>
          <a:ln w="39751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2000" dirty="0"/>
          </a:p>
        </p:txBody>
      </p:sp>
      <p:sp>
        <p:nvSpPr>
          <p:cNvPr id="13" name="小圓"/>
          <p:cNvSpPr/>
          <p:nvPr/>
        </p:nvSpPr>
        <p:spPr>
          <a:xfrm>
            <a:off x="3406140" y="5612130"/>
            <a:ext cx="960120" cy="960120"/>
          </a:xfrm>
          <a:prstGeom prst="ellipse">
            <a:avLst/>
          </a:prstGeom>
          <a:solidFill>
            <a:srgbClr val="404040"/>
          </a:solidFill>
          <a:ln w="39751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2000" dirty="0"/>
          </a:p>
        </p:txBody>
      </p:sp>
      <p:sp>
        <p:nvSpPr>
          <p:cNvPr id="14" name="小圓"/>
          <p:cNvSpPr/>
          <p:nvPr/>
        </p:nvSpPr>
        <p:spPr>
          <a:xfrm>
            <a:off x="4665860" y="4984057"/>
            <a:ext cx="960120" cy="960120"/>
          </a:xfrm>
          <a:prstGeom prst="ellipse">
            <a:avLst/>
          </a:prstGeom>
          <a:solidFill>
            <a:srgbClr val="404040"/>
          </a:solidFill>
          <a:ln w="39751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886700" y="2286000"/>
            <a:ext cx="57150" cy="2514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081010" y="2228850"/>
            <a:ext cx="647280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流程鏈 Chain</a:t>
            </a:r>
            <a:endParaRPr lang="en-US" sz="1650" dirty="0"/>
          </a:p>
        </p:txBody>
      </p:sp>
      <p:sp>
        <p:nvSpPr>
          <p:cNvPr id="17" name="線條"/>
          <p:cNvSpPr/>
          <p:nvPr/>
        </p:nvSpPr>
        <p:spPr>
          <a:xfrm>
            <a:off x="7886700" y="2708910"/>
            <a:ext cx="666711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18" name="流程鏈"/>
          <p:cNvSpPr/>
          <p:nvPr/>
        </p:nvSpPr>
        <p:spPr>
          <a:xfrm>
            <a:off x="7886700" y="2994660"/>
            <a:ext cx="1749933" cy="8229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23876">
            <a:solidFill>
              <a:srgbClr val="404040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主題思考</a:t>
            </a:r>
            <a:endParaRPr lang="en-US" sz="2000" dirty="0"/>
          </a:p>
        </p:txBody>
      </p:sp>
      <p:sp>
        <p:nvSpPr>
          <p:cNvPr id="19" name="線條"/>
          <p:cNvSpPr/>
          <p:nvPr/>
        </p:nvSpPr>
        <p:spPr>
          <a:xfrm>
            <a:off x="9716643" y="3406140"/>
            <a:ext cx="54864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20" name="流程鏈"/>
          <p:cNvSpPr/>
          <p:nvPr/>
        </p:nvSpPr>
        <p:spPr>
          <a:xfrm>
            <a:off x="10345293" y="2994660"/>
            <a:ext cx="1749933" cy="8229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5875">
            <a:solidFill>
              <a:srgbClr val="707070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主題定位</a:t>
            </a:r>
            <a:endParaRPr lang="en-US" sz="2000" dirty="0"/>
          </a:p>
        </p:txBody>
      </p:sp>
      <p:sp>
        <p:nvSpPr>
          <p:cNvPr id="21" name="線條"/>
          <p:cNvSpPr/>
          <p:nvPr/>
        </p:nvSpPr>
        <p:spPr>
          <a:xfrm>
            <a:off x="12175236" y="3406140"/>
            <a:ext cx="54864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22" name="流程鏈"/>
          <p:cNvSpPr/>
          <p:nvPr/>
        </p:nvSpPr>
        <p:spPr>
          <a:xfrm>
            <a:off x="12803886" y="2994660"/>
            <a:ext cx="1749933" cy="8229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5875">
            <a:solidFill>
              <a:srgbClr val="707070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內容產出</a:t>
            </a:r>
            <a:endParaRPr lang="en-US" sz="2000" dirty="0"/>
          </a:p>
        </p:txBody>
      </p:sp>
      <p:sp>
        <p:nvSpPr>
          <p:cNvPr id="23" name="流程鏈"/>
          <p:cNvSpPr/>
          <p:nvPr/>
        </p:nvSpPr>
        <p:spPr>
          <a:xfrm>
            <a:off x="7886700" y="4400550"/>
            <a:ext cx="891220" cy="64008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23876">
            <a:solidFill>
              <a:srgbClr val="404040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</a:t>
            </a:r>
            <a:endParaRPr lang="en-US" sz="1750" dirty="0"/>
          </a:p>
        </p:txBody>
      </p:sp>
      <p:sp>
        <p:nvSpPr>
          <p:cNvPr id="24" name="線條"/>
          <p:cNvSpPr/>
          <p:nvPr/>
        </p:nvSpPr>
        <p:spPr>
          <a:xfrm>
            <a:off x="8779977" y="4720590"/>
            <a:ext cx="54864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25" name="流程鏈"/>
          <p:cNvSpPr/>
          <p:nvPr/>
        </p:nvSpPr>
        <p:spPr>
          <a:xfrm>
            <a:off x="9330675" y="4400550"/>
            <a:ext cx="891220" cy="64008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875">
            <a:solidFill>
              <a:srgbClr val="707070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使命</a:t>
            </a:r>
            <a:endParaRPr lang="en-US" sz="1750" dirty="0"/>
          </a:p>
        </p:txBody>
      </p:sp>
      <p:sp>
        <p:nvSpPr>
          <p:cNvPr id="26" name="線條"/>
          <p:cNvSpPr/>
          <p:nvPr/>
        </p:nvSpPr>
        <p:spPr>
          <a:xfrm>
            <a:off x="10223952" y="4720590"/>
            <a:ext cx="54864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27" name="流程鏈"/>
          <p:cNvSpPr/>
          <p:nvPr/>
        </p:nvSpPr>
        <p:spPr>
          <a:xfrm>
            <a:off x="10774650" y="4400550"/>
            <a:ext cx="891220" cy="64008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875">
            <a:solidFill>
              <a:srgbClr val="707070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750" dirty="0"/>
          </a:p>
        </p:txBody>
      </p:sp>
      <p:sp>
        <p:nvSpPr>
          <p:cNvPr id="28" name="線條"/>
          <p:cNvSpPr/>
          <p:nvPr/>
        </p:nvSpPr>
        <p:spPr>
          <a:xfrm>
            <a:off x="11667927" y="4720590"/>
            <a:ext cx="54864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29" name="流程鏈"/>
          <p:cNvSpPr/>
          <p:nvPr/>
        </p:nvSpPr>
        <p:spPr>
          <a:xfrm>
            <a:off x="12218624" y="4400550"/>
            <a:ext cx="891220" cy="64008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875">
            <a:solidFill>
              <a:srgbClr val="707070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</a:t>
            </a:r>
            <a:endParaRPr lang="en-US" sz="1750" dirty="0"/>
          </a:p>
        </p:txBody>
      </p:sp>
      <p:sp>
        <p:nvSpPr>
          <p:cNvPr id="30" name="線條"/>
          <p:cNvSpPr/>
          <p:nvPr/>
        </p:nvSpPr>
        <p:spPr>
          <a:xfrm>
            <a:off x="13111902" y="4720590"/>
            <a:ext cx="54864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31" name="流程鏈"/>
          <p:cNvSpPr/>
          <p:nvPr/>
        </p:nvSpPr>
        <p:spPr>
          <a:xfrm>
            <a:off x="13662599" y="4400550"/>
            <a:ext cx="891220" cy="64008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875">
            <a:solidFill>
              <a:srgbClr val="707070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戰術</a:t>
            </a:r>
            <a:endParaRPr lang="en-US" sz="1750" dirty="0"/>
          </a:p>
        </p:txBody>
      </p:sp>
      <p:sp>
        <p:nvSpPr>
          <p:cNvPr id="32" name="流程鏈"/>
          <p:cNvSpPr/>
          <p:nvPr/>
        </p:nvSpPr>
        <p:spPr>
          <a:xfrm>
            <a:off x="7886700" y="5657850"/>
            <a:ext cx="1135285" cy="64008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23876">
            <a:solidFill>
              <a:srgbClr val="404040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</a:t>
            </a:r>
            <a:endParaRPr lang="en-US" sz="1750" dirty="0"/>
          </a:p>
        </p:txBody>
      </p:sp>
      <p:sp>
        <p:nvSpPr>
          <p:cNvPr id="33" name="線條"/>
          <p:cNvSpPr/>
          <p:nvPr/>
        </p:nvSpPr>
        <p:spPr>
          <a:xfrm>
            <a:off x="9101995" y="5977890"/>
            <a:ext cx="54864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34" name="流程鏈"/>
          <p:cNvSpPr/>
          <p:nvPr/>
        </p:nvSpPr>
        <p:spPr>
          <a:xfrm>
            <a:off x="9730645" y="5657850"/>
            <a:ext cx="1135285" cy="64008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875">
            <a:solidFill>
              <a:srgbClr val="707070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</a:t>
            </a:r>
            <a:endParaRPr lang="en-US" sz="1750" dirty="0"/>
          </a:p>
        </p:txBody>
      </p:sp>
      <p:sp>
        <p:nvSpPr>
          <p:cNvPr id="35" name="線條"/>
          <p:cNvSpPr/>
          <p:nvPr/>
        </p:nvSpPr>
        <p:spPr>
          <a:xfrm>
            <a:off x="10945940" y="5977890"/>
            <a:ext cx="54864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36" name="流程鏈"/>
          <p:cNvSpPr/>
          <p:nvPr/>
        </p:nvSpPr>
        <p:spPr>
          <a:xfrm>
            <a:off x="11574590" y="5657850"/>
            <a:ext cx="1135285" cy="64008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875">
            <a:solidFill>
              <a:srgbClr val="707070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1750" dirty="0"/>
          </a:p>
        </p:txBody>
      </p:sp>
      <p:sp>
        <p:nvSpPr>
          <p:cNvPr id="37" name="線條"/>
          <p:cNvSpPr/>
          <p:nvPr/>
        </p:nvSpPr>
        <p:spPr>
          <a:xfrm>
            <a:off x="12789884" y="5977890"/>
            <a:ext cx="54864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38" name="流程鏈"/>
          <p:cNvSpPr/>
          <p:nvPr/>
        </p:nvSpPr>
        <p:spPr>
          <a:xfrm>
            <a:off x="13418534" y="5657850"/>
            <a:ext cx="1135285" cy="64008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875">
            <a:solidFill>
              <a:srgbClr val="707070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檢討</a:t>
            </a:r>
            <a:endParaRPr lang="en-US" sz="1750" dirty="0"/>
          </a:p>
        </p:txBody>
      </p:sp>
      <p:sp>
        <p:nvSpPr>
          <p:cNvPr id="39" name="Text 37"/>
          <p:cNvSpPr/>
          <p:nvPr/>
        </p:nvSpPr>
        <p:spPr>
          <a:xfrm>
            <a:off x="7886700" y="6423660"/>
            <a:ext cx="1135285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界定範圍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730645" y="6423660"/>
            <a:ext cx="1135285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產出方案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1574590" y="6423660"/>
            <a:ext cx="1135285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落實計畫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3418534" y="6423660"/>
            <a:ext cx="1135285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回顧改善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886700" y="7200900"/>
            <a:ext cx="6667119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流程鏈以 3–5 個步驟為佳，重點步驟可用強調色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85800" y="78867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冰山能力圖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12839319" y="78867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 / 14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85750" y="285750"/>
            <a:ext cx="14668119" cy="800100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85800" y="571500"/>
            <a:ext cx="80010" cy="11658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標題"/>
          <p:cNvSpPr/>
          <p:nvPr/>
        </p:nvSpPr>
        <p:spPr>
          <a:xfrm>
            <a:off x="982980" y="45720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5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連接線與箭頭</a:t>
            </a:r>
            <a:endParaRPr lang="en-US" sz="4250" dirty="0"/>
          </a:p>
        </p:txBody>
      </p:sp>
      <p:sp>
        <p:nvSpPr>
          <p:cNvPr id="5" name="Text 3"/>
          <p:cNvSpPr/>
          <p:nvPr/>
        </p:nvSpPr>
        <p:spPr>
          <a:xfrm>
            <a:off x="982980" y="1257300"/>
            <a:ext cx="12573000" cy="434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B9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細直線、折線、點狀線、曲線、▶ 小三角與區塊箭號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57150" cy="2514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80110" y="2228850"/>
            <a:ext cx="299837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 Straight</a:t>
            </a:r>
            <a:endParaRPr lang="en-US" sz="1650" dirty="0"/>
          </a:p>
        </p:txBody>
      </p:sp>
      <p:sp>
        <p:nvSpPr>
          <p:cNvPr id="8" name="線條"/>
          <p:cNvSpPr/>
          <p:nvPr/>
        </p:nvSpPr>
        <p:spPr>
          <a:xfrm>
            <a:off x="685800" y="270891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9" name="處理"/>
          <p:cNvSpPr/>
          <p:nvPr/>
        </p:nvSpPr>
        <p:spPr>
          <a:xfrm>
            <a:off x="685800" y="3509010"/>
            <a:ext cx="1028700" cy="52578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5875">
            <a:solidFill>
              <a:srgbClr val="707070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50" dirty="0"/>
          </a:p>
        </p:txBody>
      </p:sp>
      <p:sp>
        <p:nvSpPr>
          <p:cNvPr id="10" name="處理"/>
          <p:cNvSpPr/>
          <p:nvPr/>
        </p:nvSpPr>
        <p:spPr>
          <a:xfrm>
            <a:off x="2849785" y="3509010"/>
            <a:ext cx="1028700" cy="52578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5875">
            <a:solidFill>
              <a:srgbClr val="707070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650" dirty="0"/>
          </a:p>
        </p:txBody>
      </p:sp>
      <p:cxnSp>
        <p:nvCxnSpPr>
          <p:cNvPr id="11" name="連接線"/>
          <p:cNvCxnSpPr>
            <a:stCxn id="9" idx="3"/>
            <a:endCxn id="10" idx="1"/>
          </p:cNvCxnSpPr>
          <p:nvPr/>
        </p:nvCxnSpPr>
        <p:spPr>
          <a:xfrm>
            <a:off x="1714500" y="3771900"/>
            <a:ext cx="1135285" cy="0"/>
          </a:xfrm>
          <a:prstGeom prst="straightConnector1">
            <a:avLst/>
          </a:prstGeom>
          <a:ln w="15875">
            <a:solidFill>
              <a:srgbClr val="595959"/>
            </a:solidFill>
            <a:prstDash val="solid"/>
            <a:tailEnd type="triangle" w="lg" len="lg"/>
          </a:ln>
        </p:spPr>
      </p:cxnSp>
      <p:sp>
        <p:nvSpPr>
          <p:cNvPr id="12" name="Text 10"/>
          <p:cNvSpPr/>
          <p:nvPr/>
        </p:nvSpPr>
        <p:spPr>
          <a:xfrm>
            <a:off x="4244245" y="2286000"/>
            <a:ext cx="57150" cy="2514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438555" y="2228850"/>
            <a:ext cx="299837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 Elbow</a:t>
            </a:r>
            <a:endParaRPr lang="en-US" sz="1650" dirty="0"/>
          </a:p>
        </p:txBody>
      </p:sp>
      <p:sp>
        <p:nvSpPr>
          <p:cNvPr id="14" name="線條"/>
          <p:cNvSpPr/>
          <p:nvPr/>
        </p:nvSpPr>
        <p:spPr>
          <a:xfrm>
            <a:off x="4244245" y="270891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15" name="處理"/>
          <p:cNvSpPr/>
          <p:nvPr/>
        </p:nvSpPr>
        <p:spPr>
          <a:xfrm>
            <a:off x="4244245" y="3086100"/>
            <a:ext cx="1028700" cy="52578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5875">
            <a:solidFill>
              <a:srgbClr val="707070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50" dirty="0"/>
          </a:p>
        </p:txBody>
      </p:sp>
      <p:sp>
        <p:nvSpPr>
          <p:cNvPr id="16" name="處理"/>
          <p:cNvSpPr/>
          <p:nvPr/>
        </p:nvSpPr>
        <p:spPr>
          <a:xfrm>
            <a:off x="6408230" y="4229100"/>
            <a:ext cx="1028700" cy="52578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5875">
            <a:solidFill>
              <a:srgbClr val="707070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650" dirty="0"/>
          </a:p>
        </p:txBody>
      </p:sp>
      <p:cxnSp>
        <p:nvCxnSpPr>
          <p:cNvPr id="17" name="連接線"/>
          <p:cNvCxnSpPr>
            <a:stCxn id="15" idx="3"/>
            <a:endCxn id="16" idx="1"/>
          </p:cNvCxnSpPr>
          <p:nvPr/>
        </p:nvCxnSpPr>
        <p:spPr>
          <a:xfrm>
            <a:off x="5272945" y="3348990"/>
            <a:ext cx="1135285" cy="1143000"/>
          </a:xfrm>
          <a:prstGeom prst="bentConnector3">
            <a:avLst>
              <a:gd name="adj1" fmla="val 50000"/>
            </a:avLst>
          </a:prstGeom>
          <a:ln w="15875">
            <a:solidFill>
              <a:srgbClr val="595959"/>
            </a:solidFill>
            <a:prstDash val="solid"/>
            <a:tailEnd type="triangle" w="lg" len="lg"/>
          </a:ln>
        </p:spPr>
      </p:cxnSp>
      <p:sp>
        <p:nvSpPr>
          <p:cNvPr id="18" name="Text 16"/>
          <p:cNvSpPr/>
          <p:nvPr/>
        </p:nvSpPr>
        <p:spPr>
          <a:xfrm>
            <a:off x="7802690" y="2286000"/>
            <a:ext cx="57150" cy="2514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997000" y="2228850"/>
            <a:ext cx="299837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點狀線 Dotted</a:t>
            </a:r>
            <a:endParaRPr lang="en-US" sz="1650" dirty="0"/>
          </a:p>
        </p:txBody>
      </p:sp>
      <p:sp>
        <p:nvSpPr>
          <p:cNvPr id="20" name="線條"/>
          <p:cNvSpPr/>
          <p:nvPr/>
        </p:nvSpPr>
        <p:spPr>
          <a:xfrm>
            <a:off x="7802690" y="270891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21" name="處理"/>
          <p:cNvSpPr/>
          <p:nvPr/>
        </p:nvSpPr>
        <p:spPr>
          <a:xfrm>
            <a:off x="7802690" y="3509010"/>
            <a:ext cx="1028700" cy="52578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5875">
            <a:solidFill>
              <a:srgbClr val="707070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50" dirty="0"/>
          </a:p>
        </p:txBody>
      </p:sp>
      <p:sp>
        <p:nvSpPr>
          <p:cNvPr id="22" name="處理"/>
          <p:cNvSpPr/>
          <p:nvPr/>
        </p:nvSpPr>
        <p:spPr>
          <a:xfrm>
            <a:off x="9966674" y="3509010"/>
            <a:ext cx="1028700" cy="52578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5875">
            <a:solidFill>
              <a:srgbClr val="707070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650" dirty="0"/>
          </a:p>
        </p:txBody>
      </p:sp>
      <p:cxnSp>
        <p:nvCxnSpPr>
          <p:cNvPr id="23" name="連接線"/>
          <p:cNvCxnSpPr>
            <a:stCxn id="21" idx="3"/>
            <a:endCxn id="22" idx="1"/>
          </p:cNvCxnSpPr>
          <p:nvPr/>
        </p:nvCxnSpPr>
        <p:spPr>
          <a:xfrm>
            <a:off x="8831389" y="3771900"/>
            <a:ext cx="1135285" cy="0"/>
          </a:xfrm>
          <a:prstGeom prst="straightConnector1">
            <a:avLst/>
          </a:prstGeom>
          <a:ln w="19812">
            <a:solidFill>
              <a:srgbClr val="595959"/>
            </a:solidFill>
            <a:prstDash val="sysDot"/>
            <a:tailEnd type="triangle" w="lg" len="lg"/>
          </a:ln>
        </p:spPr>
      </p:cxnSp>
      <p:sp>
        <p:nvSpPr>
          <p:cNvPr id="24" name="Text 22"/>
          <p:cNvSpPr/>
          <p:nvPr/>
        </p:nvSpPr>
        <p:spPr>
          <a:xfrm>
            <a:off x="11361134" y="2286000"/>
            <a:ext cx="57150" cy="2514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1555444" y="2228850"/>
            <a:ext cx="299837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曲線 Curved</a:t>
            </a:r>
            <a:endParaRPr lang="en-US" sz="1650" dirty="0"/>
          </a:p>
        </p:txBody>
      </p:sp>
      <p:sp>
        <p:nvSpPr>
          <p:cNvPr id="26" name="線條"/>
          <p:cNvSpPr/>
          <p:nvPr/>
        </p:nvSpPr>
        <p:spPr>
          <a:xfrm>
            <a:off x="11361134" y="270891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27" name="處理"/>
          <p:cNvSpPr/>
          <p:nvPr/>
        </p:nvSpPr>
        <p:spPr>
          <a:xfrm>
            <a:off x="11361134" y="4057650"/>
            <a:ext cx="1028700" cy="52578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5875">
            <a:solidFill>
              <a:srgbClr val="707070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50" dirty="0"/>
          </a:p>
        </p:txBody>
      </p:sp>
      <p:sp>
        <p:nvSpPr>
          <p:cNvPr id="28" name="處理"/>
          <p:cNvSpPr/>
          <p:nvPr/>
        </p:nvSpPr>
        <p:spPr>
          <a:xfrm>
            <a:off x="13525119" y="4057650"/>
            <a:ext cx="1028700" cy="52578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5875">
            <a:solidFill>
              <a:srgbClr val="707070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650" dirty="0"/>
          </a:p>
        </p:txBody>
      </p:sp>
      <p:sp>
        <p:nvSpPr>
          <p:cNvPr id="29" name="曲線箭頭"/>
          <p:cNvSpPr/>
          <p:nvPr/>
        </p:nvSpPr>
        <p:spPr>
          <a:xfrm>
            <a:off x="11875484" y="3028950"/>
            <a:ext cx="2163985" cy="960120"/>
          </a:xfrm>
          <a:custGeom>
            <a:avLst/>
            <a:gdLst/>
            <a:ahLst/>
            <a:cxnLst/>
            <a:rect l="l" t="t" r="r" b="b"/>
            <a:pathLst>
              <a:path w="2163985" h="960120">
                <a:moveTo>
                  <a:pt x="0" y="960120"/>
                </a:moveTo>
                <a:cubicBezTo>
                  <a:pt x="0" y="0"/>
                  <a:pt x="2163985" y="0"/>
                  <a:pt x="2163985" y="960120"/>
                </a:cubicBezTo>
              </a:path>
            </a:pathLst>
          </a:custGeom>
          <a:noFill/>
          <a:ln w="15875">
            <a:solidFill>
              <a:srgbClr val="595959"/>
            </a:solidFill>
            <a:prstDash val="sysDash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85800" y="4972050"/>
            <a:ext cx="57150" cy="2514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80110" y="4914900"/>
            <a:ext cx="299837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小三角分隔</a:t>
            </a:r>
            <a:endParaRPr lang="en-US" sz="1650" dirty="0"/>
          </a:p>
        </p:txBody>
      </p:sp>
      <p:sp>
        <p:nvSpPr>
          <p:cNvPr id="32" name="線條"/>
          <p:cNvSpPr/>
          <p:nvPr/>
        </p:nvSpPr>
        <p:spPr>
          <a:xfrm>
            <a:off x="685800" y="539496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6229350"/>
            <a:ext cx="7086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650" dirty="0"/>
          </a:p>
        </p:txBody>
      </p:sp>
      <p:sp>
        <p:nvSpPr>
          <p:cNvPr id="34" name="線條"/>
          <p:cNvSpPr/>
          <p:nvPr/>
        </p:nvSpPr>
        <p:spPr>
          <a:xfrm>
            <a:off x="1386816" y="6457950"/>
            <a:ext cx="54864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35" name="Text 33"/>
          <p:cNvSpPr/>
          <p:nvPr/>
        </p:nvSpPr>
        <p:spPr>
          <a:xfrm>
            <a:off x="1927812" y="6229350"/>
            <a:ext cx="7086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650" dirty="0"/>
          </a:p>
        </p:txBody>
      </p:sp>
      <p:sp>
        <p:nvSpPr>
          <p:cNvPr id="36" name="線條"/>
          <p:cNvSpPr/>
          <p:nvPr/>
        </p:nvSpPr>
        <p:spPr>
          <a:xfrm>
            <a:off x="2628829" y="6457950"/>
            <a:ext cx="54864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37" name="Text 35"/>
          <p:cNvSpPr/>
          <p:nvPr/>
        </p:nvSpPr>
        <p:spPr>
          <a:xfrm>
            <a:off x="3169825" y="6229350"/>
            <a:ext cx="7086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4244245" y="4972050"/>
            <a:ext cx="57150" cy="2514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438555" y="4914900"/>
            <a:ext cx="299837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▶▶▶ 點狀箭號</a:t>
            </a:r>
            <a:endParaRPr lang="en-US" sz="1650" dirty="0"/>
          </a:p>
        </p:txBody>
      </p:sp>
      <p:sp>
        <p:nvSpPr>
          <p:cNvPr id="40" name="線條"/>
          <p:cNvSpPr/>
          <p:nvPr/>
        </p:nvSpPr>
        <p:spPr>
          <a:xfrm>
            <a:off x="4244245" y="539496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41" name="處理"/>
          <p:cNvSpPr/>
          <p:nvPr/>
        </p:nvSpPr>
        <p:spPr>
          <a:xfrm>
            <a:off x="4244245" y="6195060"/>
            <a:ext cx="1028700" cy="52578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5875">
            <a:solidFill>
              <a:srgbClr val="707070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50" dirty="0"/>
          </a:p>
        </p:txBody>
      </p:sp>
      <p:sp>
        <p:nvSpPr>
          <p:cNvPr id="42" name="處理"/>
          <p:cNvSpPr/>
          <p:nvPr/>
        </p:nvSpPr>
        <p:spPr>
          <a:xfrm>
            <a:off x="6408230" y="6195060"/>
            <a:ext cx="1028700" cy="52578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5875">
            <a:solidFill>
              <a:srgbClr val="707070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650" dirty="0"/>
          </a:p>
        </p:txBody>
      </p:sp>
      <p:sp>
        <p:nvSpPr>
          <p:cNvPr id="43" name="三角形"/>
          <p:cNvSpPr/>
          <p:nvPr/>
        </p:nvSpPr>
        <p:spPr>
          <a:xfrm>
            <a:off x="5579983" y="6368796"/>
            <a:ext cx="137160" cy="178308"/>
          </a:xfrm>
          <a:custGeom>
            <a:avLst/>
            <a:gdLst/>
            <a:ahLst/>
            <a:cxnLst/>
            <a:rect l="l" t="t" r="r" b="b"/>
            <a:pathLst>
              <a:path w="137160" h="178308">
                <a:moveTo>
                  <a:pt x="0" y="0"/>
                </a:moveTo>
                <a:lnTo>
                  <a:pt x="137160" y="89154"/>
                </a:lnTo>
                <a:lnTo>
                  <a:pt x="0" y="178308"/>
                </a:lnTo>
                <a:close/>
              </a:path>
            </a:pathLst>
          </a:cu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三角形"/>
          <p:cNvSpPr/>
          <p:nvPr/>
        </p:nvSpPr>
        <p:spPr>
          <a:xfrm>
            <a:off x="5772007" y="6368796"/>
            <a:ext cx="137160" cy="178308"/>
          </a:xfrm>
          <a:custGeom>
            <a:avLst/>
            <a:gdLst/>
            <a:ahLst/>
            <a:cxnLst/>
            <a:rect l="l" t="t" r="r" b="b"/>
            <a:pathLst>
              <a:path w="137160" h="178308">
                <a:moveTo>
                  <a:pt x="0" y="0"/>
                </a:moveTo>
                <a:lnTo>
                  <a:pt x="137160" y="89154"/>
                </a:lnTo>
                <a:lnTo>
                  <a:pt x="0" y="178308"/>
                </a:lnTo>
                <a:close/>
              </a:path>
            </a:pathLst>
          </a:cu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三角形"/>
          <p:cNvSpPr/>
          <p:nvPr/>
        </p:nvSpPr>
        <p:spPr>
          <a:xfrm>
            <a:off x="5964031" y="6368796"/>
            <a:ext cx="137160" cy="178308"/>
          </a:xfrm>
          <a:custGeom>
            <a:avLst/>
            <a:gdLst/>
            <a:ahLst/>
            <a:cxnLst/>
            <a:rect l="l" t="t" r="r" b="b"/>
            <a:pathLst>
              <a:path w="137160" h="178308">
                <a:moveTo>
                  <a:pt x="0" y="0"/>
                </a:moveTo>
                <a:lnTo>
                  <a:pt x="137160" y="89154"/>
                </a:lnTo>
                <a:lnTo>
                  <a:pt x="0" y="178308"/>
                </a:lnTo>
                <a:close/>
              </a:path>
            </a:pathLst>
          </a:cu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7802690" y="4972050"/>
            <a:ext cx="57150" cy="2514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7997000" y="4914900"/>
            <a:ext cx="299837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區塊箭號 Chevron</a:t>
            </a:r>
            <a:endParaRPr lang="en-US" sz="1650" dirty="0"/>
          </a:p>
        </p:txBody>
      </p:sp>
      <p:sp>
        <p:nvSpPr>
          <p:cNvPr id="48" name="線條"/>
          <p:cNvSpPr/>
          <p:nvPr/>
        </p:nvSpPr>
        <p:spPr>
          <a:xfrm>
            <a:off x="7802690" y="539496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49" name="區塊箭號"/>
          <p:cNvSpPr/>
          <p:nvPr/>
        </p:nvSpPr>
        <p:spPr>
          <a:xfrm>
            <a:off x="7802690" y="6149340"/>
            <a:ext cx="1201388" cy="617220"/>
          </a:xfrm>
          <a:prstGeom prst="homePlate">
            <a:avLst>
              <a:gd name="adj" fmla="val 33333"/>
            </a:avLst>
          </a:prstGeom>
          <a:solidFill>
            <a:srgbClr val="40404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</a:t>
            </a:r>
            <a:endParaRPr lang="en-US" sz="1650" dirty="0"/>
          </a:p>
        </p:txBody>
      </p:sp>
      <p:sp>
        <p:nvSpPr>
          <p:cNvPr id="50" name="區塊箭號"/>
          <p:cNvSpPr/>
          <p:nvPr/>
        </p:nvSpPr>
        <p:spPr>
          <a:xfrm>
            <a:off x="8844058" y="6149340"/>
            <a:ext cx="1201388" cy="617220"/>
          </a:xfrm>
          <a:prstGeom prst="chevron">
            <a:avLst>
              <a:gd name="adj" fmla="val 33333"/>
            </a:avLst>
          </a:prstGeom>
          <a:solidFill>
            <a:srgbClr val="70707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</a:t>
            </a:r>
            <a:endParaRPr lang="en-US" sz="1650" dirty="0"/>
          </a:p>
        </p:txBody>
      </p:sp>
      <p:sp>
        <p:nvSpPr>
          <p:cNvPr id="51" name="區塊箭號"/>
          <p:cNvSpPr/>
          <p:nvPr/>
        </p:nvSpPr>
        <p:spPr>
          <a:xfrm>
            <a:off x="9885426" y="6149340"/>
            <a:ext cx="1201388" cy="617220"/>
          </a:xfrm>
          <a:prstGeom prst="chevron">
            <a:avLst>
              <a:gd name="adj" fmla="val 33333"/>
            </a:avLst>
          </a:prstGeom>
          <a:solidFill>
            <a:srgbClr val="5B9BD5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</a:t>
            </a:r>
            <a:endParaRPr lang="en-US" sz="1650" dirty="0"/>
          </a:p>
        </p:txBody>
      </p:sp>
      <p:sp>
        <p:nvSpPr>
          <p:cNvPr id="52" name="Text 50"/>
          <p:cNvSpPr/>
          <p:nvPr/>
        </p:nvSpPr>
        <p:spPr>
          <a:xfrm>
            <a:off x="11361134" y="4972050"/>
            <a:ext cx="57150" cy="2514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11555444" y="4914900"/>
            <a:ext cx="299837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 Branch</a:t>
            </a:r>
            <a:endParaRPr lang="en-US" sz="1650" dirty="0"/>
          </a:p>
        </p:txBody>
      </p:sp>
      <p:sp>
        <p:nvSpPr>
          <p:cNvPr id="54" name="線條"/>
          <p:cNvSpPr/>
          <p:nvPr/>
        </p:nvSpPr>
        <p:spPr>
          <a:xfrm>
            <a:off x="11361134" y="539496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55" name="處理"/>
          <p:cNvSpPr/>
          <p:nvPr/>
        </p:nvSpPr>
        <p:spPr>
          <a:xfrm>
            <a:off x="11361134" y="6195060"/>
            <a:ext cx="1028700" cy="52578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5875">
            <a:solidFill>
              <a:srgbClr val="707070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50" dirty="0"/>
          </a:p>
        </p:txBody>
      </p:sp>
      <p:sp>
        <p:nvSpPr>
          <p:cNvPr id="56" name="處理"/>
          <p:cNvSpPr/>
          <p:nvPr/>
        </p:nvSpPr>
        <p:spPr>
          <a:xfrm>
            <a:off x="13525119" y="5715000"/>
            <a:ext cx="1028700" cy="52578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5875">
            <a:solidFill>
              <a:srgbClr val="707070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B1</a:t>
            </a:r>
            <a:endParaRPr lang="en-US" sz="1650" dirty="0"/>
          </a:p>
        </p:txBody>
      </p:sp>
      <p:sp>
        <p:nvSpPr>
          <p:cNvPr id="57" name="處理"/>
          <p:cNvSpPr/>
          <p:nvPr/>
        </p:nvSpPr>
        <p:spPr>
          <a:xfrm>
            <a:off x="13525119" y="6675120"/>
            <a:ext cx="1028700" cy="52578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5875">
            <a:solidFill>
              <a:srgbClr val="707070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B2</a:t>
            </a:r>
            <a:endParaRPr lang="en-US" sz="1650" dirty="0"/>
          </a:p>
        </p:txBody>
      </p:sp>
      <p:cxnSp>
        <p:nvCxnSpPr>
          <p:cNvPr id="58" name="連接線"/>
          <p:cNvCxnSpPr>
            <a:stCxn id="55" idx="3"/>
            <a:endCxn id="56" idx="1"/>
          </p:cNvCxnSpPr>
          <p:nvPr/>
        </p:nvCxnSpPr>
        <p:spPr>
          <a:xfrm flipV="1">
            <a:off x="12389834" y="5977890"/>
            <a:ext cx="1135285" cy="480060"/>
          </a:xfrm>
          <a:prstGeom prst="bentConnector3">
            <a:avLst>
              <a:gd name="adj1" fmla="val 50000"/>
            </a:avLst>
          </a:prstGeom>
          <a:ln w="15875">
            <a:solidFill>
              <a:srgbClr val="595959"/>
            </a:solidFill>
            <a:prstDash val="solid"/>
            <a:tailEnd type="triangle" w="lg" len="lg"/>
          </a:ln>
        </p:spPr>
      </p:cxnSp>
      <p:cxnSp>
        <p:nvCxnSpPr>
          <p:cNvPr id="59" name="連接線"/>
          <p:cNvCxnSpPr>
            <a:stCxn id="55" idx="3"/>
            <a:endCxn id="57" idx="1"/>
          </p:cNvCxnSpPr>
          <p:nvPr/>
        </p:nvCxnSpPr>
        <p:spPr>
          <a:xfrm>
            <a:off x="12389834" y="6457950"/>
            <a:ext cx="1135285" cy="480060"/>
          </a:xfrm>
          <a:prstGeom prst="bentConnector3">
            <a:avLst>
              <a:gd name="adj1" fmla="val 50000"/>
            </a:avLst>
          </a:prstGeom>
          <a:ln w="15875">
            <a:solidFill>
              <a:srgbClr val="595959"/>
            </a:solidFill>
            <a:prstDash val="solid"/>
            <a:tailEnd type="triangle" w="lg" len="lg"/>
          </a:ln>
        </p:spPr>
      </p:cxnSp>
      <p:sp>
        <p:nvSpPr>
          <p:cNvPr id="60" name="Text 58"/>
          <p:cNvSpPr/>
          <p:nvPr/>
        </p:nvSpPr>
        <p:spPr>
          <a:xfrm>
            <a:off x="685800" y="7429500"/>
            <a:ext cx="13868019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直線、折線、點狀線、分支在 pptx 中是「黏著連接線」：移動圖形，線會跟著走（曲線為一般線條）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685800" y="78867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冰山能力圖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12839319" y="78867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 / 14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85750" y="285750"/>
            <a:ext cx="14668119" cy="800100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85800" y="571500"/>
            <a:ext cx="80010" cy="11658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標題"/>
          <p:cNvSpPr/>
          <p:nvPr/>
        </p:nvSpPr>
        <p:spPr>
          <a:xfrm>
            <a:off x="982980" y="45720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5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流程圖符號</a:t>
            </a:r>
            <a:endParaRPr lang="en-US" sz="4250" dirty="0"/>
          </a:p>
        </p:txBody>
      </p:sp>
      <p:sp>
        <p:nvSpPr>
          <p:cNvPr id="5" name="Text 3"/>
          <p:cNvSpPr/>
          <p:nvPr/>
        </p:nvSpPr>
        <p:spPr>
          <a:xfrm>
            <a:off x="982980" y="1257300"/>
            <a:ext cx="12573000" cy="434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B9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開始／結束、處理、判斷、輸入輸出、文件、資料庫</a:t>
            </a:r>
            <a:endParaRPr lang="en-US" sz="2000" dirty="0"/>
          </a:p>
        </p:txBody>
      </p:sp>
      <p:sp>
        <p:nvSpPr>
          <p:cNvPr id="6" name="開始／結束"/>
          <p:cNvSpPr/>
          <p:nvPr/>
        </p:nvSpPr>
        <p:spPr>
          <a:xfrm>
            <a:off x="984218" y="2788920"/>
            <a:ext cx="1714500" cy="708660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685800" y="3909060"/>
            <a:ext cx="2311337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</a:t>
            </a:r>
            <a:endParaRPr lang="en-US" sz="17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Terminator</a:t>
            </a:r>
            <a:endParaRPr lang="en-US" sz="1750" dirty="0"/>
          </a:p>
        </p:txBody>
      </p:sp>
      <p:sp>
        <p:nvSpPr>
          <p:cNvPr id="8" name="處理"/>
          <p:cNvSpPr/>
          <p:nvPr/>
        </p:nvSpPr>
        <p:spPr>
          <a:xfrm>
            <a:off x="3238405" y="2731770"/>
            <a:ext cx="1828800" cy="8229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5875">
            <a:solidFill>
              <a:srgbClr val="707070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2997137" y="3909060"/>
            <a:ext cx="2311337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7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Process</a:t>
            </a:r>
            <a:endParaRPr lang="en-US" sz="1750" dirty="0"/>
          </a:p>
        </p:txBody>
      </p:sp>
      <p:sp>
        <p:nvSpPr>
          <p:cNvPr id="10" name="判斷"/>
          <p:cNvSpPr/>
          <p:nvPr/>
        </p:nvSpPr>
        <p:spPr>
          <a:xfrm>
            <a:off x="5606891" y="2571750"/>
            <a:ext cx="1714500" cy="1143000"/>
          </a:xfrm>
          <a:prstGeom prst="diamond">
            <a:avLst/>
          </a:prstGeom>
          <a:solidFill>
            <a:srgbClr val="DEEBF7"/>
          </a:solidFill>
          <a:ln w="15875">
            <a:solidFill>
              <a:srgbClr val="5B9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5308473" y="3909060"/>
            <a:ext cx="2311337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7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Decision</a:t>
            </a:r>
            <a:endParaRPr lang="en-US" sz="1750" dirty="0"/>
          </a:p>
        </p:txBody>
      </p:sp>
      <p:sp>
        <p:nvSpPr>
          <p:cNvPr id="12" name="輸入輸出"/>
          <p:cNvSpPr/>
          <p:nvPr/>
        </p:nvSpPr>
        <p:spPr>
          <a:xfrm>
            <a:off x="7803928" y="2731770"/>
            <a:ext cx="1943100" cy="822960"/>
          </a:xfrm>
          <a:prstGeom prst="parallelogram">
            <a:avLst>
              <a:gd name="adj" fmla="val 42000"/>
            </a:avLst>
          </a:prstGeom>
          <a:solidFill>
            <a:srgbClr val="FFFFFF"/>
          </a:solidFill>
          <a:ln w="15875">
            <a:solidFill>
              <a:srgbClr val="707070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619809" y="3909060"/>
            <a:ext cx="2311337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輸入／輸出</a:t>
            </a:r>
            <a:endParaRPr lang="en-US" sz="17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Input / Output</a:t>
            </a:r>
            <a:endParaRPr lang="en-US" sz="1750" dirty="0"/>
          </a:p>
        </p:txBody>
      </p:sp>
      <p:sp>
        <p:nvSpPr>
          <p:cNvPr id="14" name="文件"/>
          <p:cNvSpPr/>
          <p:nvPr/>
        </p:nvSpPr>
        <p:spPr>
          <a:xfrm>
            <a:off x="10229564" y="2657475"/>
            <a:ext cx="1714500" cy="971550"/>
          </a:xfrm>
          <a:prstGeom prst="flowChartDocument">
            <a:avLst/>
          </a:prstGeom>
          <a:solidFill>
            <a:srgbClr val="FFFFFF"/>
          </a:solidFill>
          <a:ln w="15875">
            <a:solidFill>
              <a:srgbClr val="707070"/>
            </a:solidFill>
            <a:prstDash val="solid"/>
          </a:ln>
        </p:spPr>
        <p:txBody>
          <a:bodyPr wrap="square" lIns="47625" tIns="0" rIns="47625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9931146" y="3909060"/>
            <a:ext cx="2311337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17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Document</a:t>
            </a:r>
            <a:endParaRPr lang="en-US" sz="1750" dirty="0"/>
          </a:p>
        </p:txBody>
      </p:sp>
      <p:sp>
        <p:nvSpPr>
          <p:cNvPr id="16" name="資料庫"/>
          <p:cNvSpPr/>
          <p:nvPr/>
        </p:nvSpPr>
        <p:spPr>
          <a:xfrm>
            <a:off x="12769501" y="2571750"/>
            <a:ext cx="1257300" cy="1143000"/>
          </a:xfrm>
          <a:prstGeom prst="can">
            <a:avLst>
              <a:gd name="adj" fmla="val 13000"/>
            </a:avLst>
          </a:prstGeom>
          <a:solidFill>
            <a:srgbClr val="FFFFFF"/>
          </a:solidFill>
          <a:ln w="15875">
            <a:solidFill>
              <a:srgbClr val="707070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2242483" y="3909060"/>
            <a:ext cx="2311337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7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Database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685800" y="4766310"/>
            <a:ext cx="57150" cy="2514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80110" y="4709160"/>
            <a:ext cx="1367370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基本流程範例</a:t>
            </a:r>
            <a:endParaRPr lang="en-US" sz="1650" dirty="0"/>
          </a:p>
        </p:txBody>
      </p:sp>
      <p:sp>
        <p:nvSpPr>
          <p:cNvPr id="20" name="線條"/>
          <p:cNvSpPr/>
          <p:nvPr/>
        </p:nvSpPr>
        <p:spPr>
          <a:xfrm>
            <a:off x="685800" y="5189220"/>
            <a:ext cx="1386801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21" name="開始／結束"/>
          <p:cNvSpPr/>
          <p:nvPr/>
        </p:nvSpPr>
        <p:spPr>
          <a:xfrm>
            <a:off x="685800" y="5543550"/>
            <a:ext cx="1428750" cy="685800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750" dirty="0"/>
          </a:p>
        </p:txBody>
      </p:sp>
      <p:sp>
        <p:nvSpPr>
          <p:cNvPr id="22" name="輸入輸出"/>
          <p:cNvSpPr/>
          <p:nvPr/>
        </p:nvSpPr>
        <p:spPr>
          <a:xfrm>
            <a:off x="2785034" y="5497830"/>
            <a:ext cx="2057400" cy="777240"/>
          </a:xfrm>
          <a:prstGeom prst="parallelogram">
            <a:avLst>
              <a:gd name="adj" fmla="val 42000"/>
            </a:avLst>
          </a:prstGeom>
          <a:solidFill>
            <a:srgbClr val="FFFFFF"/>
          </a:solidFill>
          <a:ln w="15875">
            <a:solidFill>
              <a:srgbClr val="707070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輸入需求</a:t>
            </a:r>
            <a:endParaRPr lang="en-US" sz="1750" dirty="0"/>
          </a:p>
        </p:txBody>
      </p:sp>
      <p:sp>
        <p:nvSpPr>
          <p:cNvPr id="23" name="判斷"/>
          <p:cNvSpPr/>
          <p:nvPr/>
        </p:nvSpPr>
        <p:spPr>
          <a:xfrm>
            <a:off x="5512918" y="5314950"/>
            <a:ext cx="1943100" cy="1143000"/>
          </a:xfrm>
          <a:prstGeom prst="diamond">
            <a:avLst/>
          </a:prstGeom>
          <a:solidFill>
            <a:srgbClr val="DEEBF7"/>
          </a:solidFill>
          <a:ln w="15875">
            <a:solidFill>
              <a:srgbClr val="5B9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是否可行？</a:t>
            </a:r>
            <a:endParaRPr lang="en-US" sz="1650" dirty="0"/>
          </a:p>
        </p:txBody>
      </p:sp>
      <p:sp>
        <p:nvSpPr>
          <p:cNvPr id="24" name="處理"/>
          <p:cNvSpPr/>
          <p:nvPr/>
        </p:nvSpPr>
        <p:spPr>
          <a:xfrm>
            <a:off x="8126501" y="5497830"/>
            <a:ext cx="1828800" cy="77724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5875">
            <a:solidFill>
              <a:srgbClr val="707070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執行處理</a:t>
            </a:r>
            <a:endParaRPr lang="en-US" sz="1750" dirty="0"/>
          </a:p>
        </p:txBody>
      </p:sp>
      <p:sp>
        <p:nvSpPr>
          <p:cNvPr id="25" name="文件"/>
          <p:cNvSpPr/>
          <p:nvPr/>
        </p:nvSpPr>
        <p:spPr>
          <a:xfrm>
            <a:off x="10625785" y="5429250"/>
            <a:ext cx="1828800" cy="914400"/>
          </a:xfrm>
          <a:prstGeom prst="flowChartDocument">
            <a:avLst/>
          </a:prstGeom>
          <a:solidFill>
            <a:srgbClr val="FFFFFF"/>
          </a:solidFill>
          <a:ln w="15875">
            <a:solidFill>
              <a:srgbClr val="707070"/>
            </a:solidFill>
            <a:prstDash val="solid"/>
          </a:ln>
        </p:spPr>
        <p:txBody>
          <a:bodyPr wrap="square" lIns="47625" tIns="0" rIns="47625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產出報告</a:t>
            </a:r>
            <a:endParaRPr lang="en-US" sz="1750" dirty="0"/>
          </a:p>
        </p:txBody>
      </p:sp>
      <p:sp>
        <p:nvSpPr>
          <p:cNvPr id="26" name="開始／結束"/>
          <p:cNvSpPr/>
          <p:nvPr/>
        </p:nvSpPr>
        <p:spPr>
          <a:xfrm>
            <a:off x="13125069" y="5543550"/>
            <a:ext cx="1428750" cy="685800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750" dirty="0"/>
          </a:p>
        </p:txBody>
      </p:sp>
      <p:cxnSp>
        <p:nvCxnSpPr>
          <p:cNvPr id="27" name="連接線"/>
          <p:cNvCxnSpPr>
            <a:stCxn id="21" idx="3"/>
            <a:endCxn id="22" idx="5"/>
          </p:cNvCxnSpPr>
          <p:nvPr/>
        </p:nvCxnSpPr>
        <p:spPr>
          <a:xfrm>
            <a:off x="2114550" y="5886450"/>
            <a:ext cx="833704" cy="0"/>
          </a:xfrm>
          <a:prstGeom prst="straightConnector1">
            <a:avLst/>
          </a:prstGeom>
          <a:ln w="15875">
            <a:solidFill>
              <a:srgbClr val="595959"/>
            </a:solidFill>
            <a:prstDash val="solid"/>
            <a:tailEnd type="triangle" w="lg" len="lg"/>
          </a:ln>
        </p:spPr>
      </p:cxnSp>
      <p:cxnSp>
        <p:nvCxnSpPr>
          <p:cNvPr id="28" name="連接線"/>
          <p:cNvCxnSpPr>
            <a:stCxn id="22" idx="2"/>
            <a:endCxn id="23" idx="1"/>
          </p:cNvCxnSpPr>
          <p:nvPr/>
        </p:nvCxnSpPr>
        <p:spPr>
          <a:xfrm>
            <a:off x="4679213" y="5886450"/>
            <a:ext cx="833704" cy="0"/>
          </a:xfrm>
          <a:prstGeom prst="straightConnector1">
            <a:avLst/>
          </a:prstGeom>
          <a:ln w="15875">
            <a:solidFill>
              <a:srgbClr val="595959"/>
            </a:solidFill>
            <a:prstDash val="solid"/>
            <a:tailEnd type="triangle" w="lg" len="lg"/>
          </a:ln>
        </p:spPr>
      </p:cxnSp>
      <p:cxnSp>
        <p:nvCxnSpPr>
          <p:cNvPr id="29" name="連接線"/>
          <p:cNvCxnSpPr>
            <a:stCxn id="23" idx="3"/>
            <a:endCxn id="24" idx="1"/>
          </p:cNvCxnSpPr>
          <p:nvPr/>
        </p:nvCxnSpPr>
        <p:spPr>
          <a:xfrm>
            <a:off x="7456018" y="5886450"/>
            <a:ext cx="670484" cy="0"/>
          </a:xfrm>
          <a:prstGeom prst="straightConnector1">
            <a:avLst/>
          </a:prstGeom>
          <a:ln w="15875">
            <a:solidFill>
              <a:srgbClr val="595959"/>
            </a:solidFill>
            <a:prstDash val="solid"/>
            <a:tailEnd type="triangle" w="lg" len="lg"/>
          </a:ln>
        </p:spPr>
      </p:cxnSp>
      <p:cxnSp>
        <p:nvCxnSpPr>
          <p:cNvPr id="30" name="連接線"/>
          <p:cNvCxnSpPr>
            <a:stCxn id="24" idx="3"/>
            <a:endCxn id="25" idx="1"/>
          </p:cNvCxnSpPr>
          <p:nvPr/>
        </p:nvCxnSpPr>
        <p:spPr>
          <a:xfrm>
            <a:off x="9955301" y="5886450"/>
            <a:ext cx="670484" cy="0"/>
          </a:xfrm>
          <a:prstGeom prst="straightConnector1">
            <a:avLst/>
          </a:prstGeom>
          <a:ln w="15875">
            <a:solidFill>
              <a:srgbClr val="595959"/>
            </a:solidFill>
            <a:prstDash val="solid"/>
            <a:tailEnd type="triangle" w="lg" len="lg"/>
          </a:ln>
        </p:spPr>
      </p:cxnSp>
      <p:cxnSp>
        <p:nvCxnSpPr>
          <p:cNvPr id="31" name="連接線"/>
          <p:cNvCxnSpPr>
            <a:stCxn id="25" idx="3"/>
            <a:endCxn id="26" idx="1"/>
          </p:cNvCxnSpPr>
          <p:nvPr/>
        </p:nvCxnSpPr>
        <p:spPr>
          <a:xfrm>
            <a:off x="12454585" y="5886450"/>
            <a:ext cx="670484" cy="0"/>
          </a:xfrm>
          <a:prstGeom prst="straightConnector1">
            <a:avLst/>
          </a:prstGeom>
          <a:ln w="15875">
            <a:solidFill>
              <a:srgbClr val="595959"/>
            </a:solidFill>
            <a:prstDash val="solid"/>
            <a:tailEnd type="triangle" w="lg" len="lg"/>
          </a:ln>
        </p:spPr>
      </p:cxnSp>
      <p:sp>
        <p:nvSpPr>
          <p:cNvPr id="32" name="Text 30"/>
          <p:cNvSpPr/>
          <p:nvPr/>
        </p:nvSpPr>
        <p:spPr>
          <a:xfrm>
            <a:off x="7478878" y="5406390"/>
            <a:ext cx="670484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</a:t>
            </a:r>
            <a:endParaRPr lang="en-US" sz="1400" dirty="0"/>
          </a:p>
        </p:txBody>
      </p:sp>
      <p:sp>
        <p:nvSpPr>
          <p:cNvPr id="33" name="資料庫"/>
          <p:cNvSpPr/>
          <p:nvPr/>
        </p:nvSpPr>
        <p:spPr>
          <a:xfrm>
            <a:off x="8469401" y="6766560"/>
            <a:ext cx="1143000" cy="937260"/>
          </a:xfrm>
          <a:prstGeom prst="can">
            <a:avLst>
              <a:gd name="adj" fmla="val 13000"/>
            </a:avLst>
          </a:prstGeom>
          <a:solidFill>
            <a:srgbClr val="FFFFFF"/>
          </a:solidFill>
          <a:ln w="15875">
            <a:solidFill>
              <a:srgbClr val="707070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500" dirty="0"/>
          </a:p>
        </p:txBody>
      </p:sp>
      <p:cxnSp>
        <p:nvCxnSpPr>
          <p:cNvPr id="34" name="連接線"/>
          <p:cNvCxnSpPr>
            <a:stCxn id="24" idx="2"/>
            <a:endCxn id="33" idx="0"/>
          </p:cNvCxnSpPr>
          <p:nvPr/>
        </p:nvCxnSpPr>
        <p:spPr>
          <a:xfrm>
            <a:off x="9040901" y="6275070"/>
            <a:ext cx="0" cy="491490"/>
          </a:xfrm>
          <a:prstGeom prst="straightConnector1">
            <a:avLst/>
          </a:prstGeom>
          <a:ln w="15875">
            <a:solidFill>
              <a:srgbClr val="595959"/>
            </a:solidFill>
            <a:prstDash val="sysDash"/>
            <a:headEnd type="triangle" w="lg" len="lg"/>
            <a:tailEnd type="triangle" w="lg" len="lg"/>
          </a:ln>
        </p:spPr>
      </p:cxnSp>
      <p:cxnSp>
        <p:nvCxnSpPr>
          <p:cNvPr id="35" name="連接線"/>
          <p:cNvCxnSpPr>
            <a:stCxn id="23" idx="2"/>
            <a:endCxn id="22" idx="4"/>
          </p:cNvCxnSpPr>
          <p:nvPr/>
        </p:nvCxnSpPr>
        <p:spPr>
          <a:xfrm rot="5400000" flipH="1">
            <a:off x="5057661" y="5031143"/>
            <a:ext cx="182880" cy="2670734"/>
          </a:xfrm>
          <a:prstGeom prst="bentConnector3">
            <a:avLst>
              <a:gd name="adj1" fmla="val -468750"/>
            </a:avLst>
          </a:prstGeom>
          <a:ln w="15875">
            <a:solidFill>
              <a:srgbClr val="595959"/>
            </a:solidFill>
            <a:prstDash val="solid"/>
            <a:tailEnd type="triangle" w="lg" len="lg"/>
          </a:ln>
        </p:spPr>
      </p:cxnSp>
      <p:sp>
        <p:nvSpPr>
          <p:cNvPr id="36" name="Text 34"/>
          <p:cNvSpPr/>
          <p:nvPr/>
        </p:nvSpPr>
        <p:spPr>
          <a:xfrm>
            <a:off x="6598768" y="6595110"/>
            <a:ext cx="5715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否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85800" y="78867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冰山能力圖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2839319" y="78867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14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85750" y="285750"/>
            <a:ext cx="14668119" cy="800100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85800" y="571500"/>
            <a:ext cx="80010" cy="11658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標題"/>
          <p:cNvSpPr/>
          <p:nvPr/>
        </p:nvSpPr>
        <p:spPr>
          <a:xfrm>
            <a:off x="982980" y="45720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5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結構元件</a:t>
            </a:r>
            <a:endParaRPr lang="en-US" sz="4250" dirty="0"/>
          </a:p>
        </p:txBody>
      </p:sp>
      <p:sp>
        <p:nvSpPr>
          <p:cNvPr id="5" name="Text 3"/>
          <p:cNvSpPr/>
          <p:nvPr/>
        </p:nvSpPr>
        <p:spPr>
          <a:xfrm>
            <a:off x="982980" y="1257300"/>
            <a:ext cx="12573000" cy="434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B9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樹狀分支、十字矩陣與半透明寬欄條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57150" cy="2514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80110" y="2228850"/>
            <a:ext cx="632079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樹狀分支 Tree</a:t>
            </a:r>
            <a:endParaRPr lang="en-US" sz="1650" dirty="0"/>
          </a:p>
        </p:txBody>
      </p:sp>
      <p:sp>
        <p:nvSpPr>
          <p:cNvPr id="8" name="線條"/>
          <p:cNvSpPr/>
          <p:nvPr/>
        </p:nvSpPr>
        <p:spPr>
          <a:xfrm>
            <a:off x="685800" y="2708910"/>
            <a:ext cx="651510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9" name="處理"/>
          <p:cNvSpPr/>
          <p:nvPr/>
        </p:nvSpPr>
        <p:spPr>
          <a:xfrm>
            <a:off x="685800" y="4743450"/>
            <a:ext cx="937260" cy="571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707070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起點</a:t>
            </a:r>
            <a:endParaRPr lang="en-US" sz="1650" dirty="0"/>
          </a:p>
        </p:txBody>
      </p:sp>
      <p:sp>
        <p:nvSpPr>
          <p:cNvPr id="10" name="處理"/>
          <p:cNvSpPr/>
          <p:nvPr/>
        </p:nvSpPr>
        <p:spPr>
          <a:xfrm>
            <a:off x="2343150" y="3829050"/>
            <a:ext cx="1051560" cy="571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707070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分支一</a:t>
            </a:r>
            <a:endParaRPr lang="en-US" sz="1500" dirty="0"/>
          </a:p>
        </p:txBody>
      </p:sp>
      <p:sp>
        <p:nvSpPr>
          <p:cNvPr id="11" name="處理"/>
          <p:cNvSpPr/>
          <p:nvPr/>
        </p:nvSpPr>
        <p:spPr>
          <a:xfrm>
            <a:off x="2343150" y="5657850"/>
            <a:ext cx="1051560" cy="571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707070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分支二</a:t>
            </a:r>
            <a:endParaRPr lang="en-US" sz="1500" dirty="0"/>
          </a:p>
        </p:txBody>
      </p:sp>
      <p:sp>
        <p:nvSpPr>
          <p:cNvPr id="12" name="處理"/>
          <p:cNvSpPr/>
          <p:nvPr/>
        </p:nvSpPr>
        <p:spPr>
          <a:xfrm>
            <a:off x="4114800" y="4743450"/>
            <a:ext cx="937260" cy="571500"/>
          </a:xfrm>
          <a:prstGeom prst="roundRect">
            <a:avLst>
              <a:gd name="adj" fmla="val 6000"/>
            </a:avLst>
          </a:prstGeom>
          <a:solidFill>
            <a:srgbClr val="40404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</a:t>
            </a:r>
            <a:endParaRPr lang="en-US" sz="1650" dirty="0"/>
          </a:p>
        </p:txBody>
      </p:sp>
      <p:sp>
        <p:nvSpPr>
          <p:cNvPr id="13" name="處理"/>
          <p:cNvSpPr/>
          <p:nvPr/>
        </p:nvSpPr>
        <p:spPr>
          <a:xfrm>
            <a:off x="5772150" y="3257550"/>
            <a:ext cx="1428750" cy="571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707070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A</a:t>
            </a:r>
            <a:endParaRPr lang="en-US" sz="1500" dirty="0"/>
          </a:p>
        </p:txBody>
      </p:sp>
      <p:sp>
        <p:nvSpPr>
          <p:cNvPr id="14" name="處理"/>
          <p:cNvSpPr/>
          <p:nvPr/>
        </p:nvSpPr>
        <p:spPr>
          <a:xfrm>
            <a:off x="5772150" y="4743450"/>
            <a:ext cx="1428750" cy="571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707070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B</a:t>
            </a:r>
            <a:endParaRPr lang="en-US" sz="1500" dirty="0"/>
          </a:p>
        </p:txBody>
      </p:sp>
      <p:sp>
        <p:nvSpPr>
          <p:cNvPr id="15" name="處理"/>
          <p:cNvSpPr/>
          <p:nvPr/>
        </p:nvSpPr>
        <p:spPr>
          <a:xfrm>
            <a:off x="5772150" y="6229350"/>
            <a:ext cx="1428750" cy="571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707070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C</a:t>
            </a:r>
            <a:endParaRPr lang="en-US" sz="1500" dirty="0"/>
          </a:p>
        </p:txBody>
      </p:sp>
      <p:sp>
        <p:nvSpPr>
          <p:cNvPr id="16" name="連接線"/>
          <p:cNvSpPr/>
          <p:nvPr/>
        </p:nvSpPr>
        <p:spPr>
          <a:xfrm>
            <a:off x="1691640" y="4114800"/>
            <a:ext cx="582930" cy="914400"/>
          </a:xfrm>
          <a:custGeom>
            <a:avLst/>
            <a:gdLst/>
            <a:ahLst/>
            <a:cxnLst/>
            <a:rect l="l" t="t" r="r" b="b"/>
            <a:pathLst>
              <a:path w="582930" h="914400">
                <a:moveTo>
                  <a:pt x="0" y="914400"/>
                </a:moveTo>
                <a:lnTo>
                  <a:pt x="291465" y="914400"/>
                </a:lnTo>
                <a:lnTo>
                  <a:pt x="291465" y="0"/>
                </a:lnTo>
                <a:lnTo>
                  <a:pt x="582930" y="0"/>
                </a:lnTo>
              </a:path>
            </a:pathLst>
          </a:custGeom>
          <a:noFill/>
          <a:ln w="15875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連接線"/>
          <p:cNvSpPr/>
          <p:nvPr/>
        </p:nvSpPr>
        <p:spPr>
          <a:xfrm>
            <a:off x="1691640" y="5029200"/>
            <a:ext cx="582930" cy="914400"/>
          </a:xfrm>
          <a:custGeom>
            <a:avLst/>
            <a:gdLst/>
            <a:ahLst/>
            <a:cxnLst/>
            <a:rect l="l" t="t" r="r" b="b"/>
            <a:pathLst>
              <a:path w="582930" h="914400">
                <a:moveTo>
                  <a:pt x="0" y="0"/>
                </a:moveTo>
                <a:lnTo>
                  <a:pt x="291465" y="0"/>
                </a:lnTo>
                <a:lnTo>
                  <a:pt x="291465" y="914400"/>
                </a:lnTo>
                <a:lnTo>
                  <a:pt x="582930" y="914400"/>
                </a:lnTo>
              </a:path>
            </a:pathLst>
          </a:custGeom>
          <a:noFill/>
          <a:ln w="15875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連接線"/>
          <p:cNvSpPr/>
          <p:nvPr/>
        </p:nvSpPr>
        <p:spPr>
          <a:xfrm>
            <a:off x="3463290" y="4114800"/>
            <a:ext cx="582930" cy="914400"/>
          </a:xfrm>
          <a:custGeom>
            <a:avLst/>
            <a:gdLst/>
            <a:ahLst/>
            <a:cxnLst/>
            <a:rect l="l" t="t" r="r" b="b"/>
            <a:pathLst>
              <a:path w="582930" h="914400">
                <a:moveTo>
                  <a:pt x="0" y="0"/>
                </a:moveTo>
                <a:lnTo>
                  <a:pt x="291465" y="0"/>
                </a:lnTo>
                <a:lnTo>
                  <a:pt x="291465" y="914400"/>
                </a:lnTo>
                <a:lnTo>
                  <a:pt x="582930" y="914400"/>
                </a:lnTo>
              </a:path>
            </a:pathLst>
          </a:custGeom>
          <a:noFill/>
          <a:ln w="15875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連接線"/>
          <p:cNvSpPr/>
          <p:nvPr/>
        </p:nvSpPr>
        <p:spPr>
          <a:xfrm>
            <a:off x="3463290" y="5029200"/>
            <a:ext cx="582930" cy="914400"/>
          </a:xfrm>
          <a:custGeom>
            <a:avLst/>
            <a:gdLst/>
            <a:ahLst/>
            <a:cxnLst/>
            <a:rect l="l" t="t" r="r" b="b"/>
            <a:pathLst>
              <a:path w="582930" h="914400">
                <a:moveTo>
                  <a:pt x="0" y="914400"/>
                </a:moveTo>
                <a:lnTo>
                  <a:pt x="291465" y="914400"/>
                </a:lnTo>
                <a:lnTo>
                  <a:pt x="291465" y="0"/>
                </a:lnTo>
                <a:lnTo>
                  <a:pt x="582930" y="0"/>
                </a:lnTo>
              </a:path>
            </a:pathLst>
          </a:custGeom>
          <a:noFill/>
          <a:ln w="15875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連接線"/>
          <p:cNvSpPr/>
          <p:nvPr/>
        </p:nvSpPr>
        <p:spPr>
          <a:xfrm>
            <a:off x="5120640" y="3543300"/>
            <a:ext cx="582930" cy="1485900"/>
          </a:xfrm>
          <a:custGeom>
            <a:avLst/>
            <a:gdLst/>
            <a:ahLst/>
            <a:cxnLst/>
            <a:rect l="l" t="t" r="r" b="b"/>
            <a:pathLst>
              <a:path w="582930" h="1485900">
                <a:moveTo>
                  <a:pt x="0" y="1485900"/>
                </a:moveTo>
                <a:lnTo>
                  <a:pt x="291465" y="1485900"/>
                </a:lnTo>
                <a:lnTo>
                  <a:pt x="291465" y="0"/>
                </a:lnTo>
                <a:lnTo>
                  <a:pt x="582930" y="0"/>
                </a:lnTo>
              </a:path>
            </a:pathLst>
          </a:custGeom>
          <a:noFill/>
          <a:ln w="15875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線條"/>
          <p:cNvSpPr/>
          <p:nvPr/>
        </p:nvSpPr>
        <p:spPr>
          <a:xfrm>
            <a:off x="5120640" y="5029200"/>
            <a:ext cx="58293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22" name="連接線"/>
          <p:cNvSpPr/>
          <p:nvPr/>
        </p:nvSpPr>
        <p:spPr>
          <a:xfrm>
            <a:off x="5120640" y="5029200"/>
            <a:ext cx="582930" cy="1485900"/>
          </a:xfrm>
          <a:custGeom>
            <a:avLst/>
            <a:gdLst/>
            <a:ahLst/>
            <a:cxnLst/>
            <a:rect l="l" t="t" r="r" b="b"/>
            <a:pathLst>
              <a:path w="582930" h="1485900">
                <a:moveTo>
                  <a:pt x="0" y="0"/>
                </a:moveTo>
                <a:lnTo>
                  <a:pt x="291465" y="0"/>
                </a:lnTo>
                <a:lnTo>
                  <a:pt x="291465" y="1485900"/>
                </a:lnTo>
                <a:lnTo>
                  <a:pt x="582930" y="1485900"/>
                </a:lnTo>
              </a:path>
            </a:pathLst>
          </a:custGeom>
          <a:noFill/>
          <a:ln w="15875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715250" y="2286000"/>
            <a:ext cx="57150" cy="2514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909560" y="2228850"/>
            <a:ext cx="31775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十字矩陣 2×2</a:t>
            </a:r>
            <a:endParaRPr lang="en-US" sz="1650" dirty="0"/>
          </a:p>
        </p:txBody>
      </p:sp>
      <p:sp>
        <p:nvSpPr>
          <p:cNvPr id="25" name="線條"/>
          <p:cNvSpPr/>
          <p:nvPr/>
        </p:nvSpPr>
        <p:spPr>
          <a:xfrm>
            <a:off x="7715250" y="2708910"/>
            <a:ext cx="337185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26" name="線條"/>
          <p:cNvSpPr/>
          <p:nvPr/>
        </p:nvSpPr>
        <p:spPr>
          <a:xfrm>
            <a:off x="8195310" y="5029200"/>
            <a:ext cx="241173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27" name="線條"/>
          <p:cNvSpPr/>
          <p:nvPr/>
        </p:nvSpPr>
        <p:spPr>
          <a:xfrm>
            <a:off x="9401175" y="3371850"/>
            <a:ext cx="0" cy="331470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28" name="中心圓"/>
          <p:cNvSpPr/>
          <p:nvPr/>
        </p:nvSpPr>
        <p:spPr>
          <a:xfrm>
            <a:off x="8875395" y="4503420"/>
            <a:ext cx="1051560" cy="1051560"/>
          </a:xfrm>
          <a:prstGeom prst="ellipse">
            <a:avLst/>
          </a:prstGeom>
          <a:solidFill>
            <a:srgbClr val="404040"/>
          </a:solidFill>
          <a:ln w="3175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定位</a:t>
            </a:r>
            <a:endParaRPr lang="en-US" sz="15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</a:t>
            </a:r>
            <a:endParaRPr lang="en-US" sz="1500" dirty="0"/>
          </a:p>
        </p:txBody>
      </p:sp>
      <p:sp>
        <p:nvSpPr>
          <p:cNvPr id="29" name="標籤"/>
          <p:cNvSpPr/>
          <p:nvPr/>
        </p:nvSpPr>
        <p:spPr>
          <a:xfrm>
            <a:off x="8186420" y="4034790"/>
            <a:ext cx="646430" cy="342900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吸引</a:t>
            </a:r>
            <a:endParaRPr lang="en-US" sz="1400" dirty="0"/>
          </a:p>
        </p:txBody>
      </p:sp>
      <p:sp>
        <p:nvSpPr>
          <p:cNvPr id="30" name="標籤"/>
          <p:cNvSpPr/>
          <p:nvPr/>
        </p:nvSpPr>
        <p:spPr>
          <a:xfrm>
            <a:off x="9969500" y="4034790"/>
            <a:ext cx="646430" cy="3429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實用</a:t>
            </a:r>
            <a:endParaRPr lang="en-US" sz="1400" dirty="0"/>
          </a:p>
        </p:txBody>
      </p:sp>
      <p:sp>
        <p:nvSpPr>
          <p:cNvPr id="31" name="標籤"/>
          <p:cNvSpPr/>
          <p:nvPr/>
        </p:nvSpPr>
        <p:spPr>
          <a:xfrm>
            <a:off x="8186420" y="5680710"/>
            <a:ext cx="646430" cy="342900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好記</a:t>
            </a:r>
            <a:endParaRPr lang="en-US" sz="1400" dirty="0"/>
          </a:p>
        </p:txBody>
      </p:sp>
      <p:sp>
        <p:nvSpPr>
          <p:cNvPr id="32" name="標籤"/>
          <p:cNvSpPr/>
          <p:nvPr/>
        </p:nvSpPr>
        <p:spPr>
          <a:xfrm>
            <a:off x="9969500" y="5680710"/>
            <a:ext cx="646430" cy="342900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可信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715375" y="2971800"/>
            <a:ext cx="13716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715375" y="6743700"/>
            <a:ext cx="13716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658100" y="4857750"/>
            <a:ext cx="5143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感性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629900" y="4857750"/>
            <a:ext cx="5143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理性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1544300" y="2286000"/>
            <a:ext cx="57150" cy="2514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1738610" y="2228850"/>
            <a:ext cx="281520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寬欄透明條 Columns</a:t>
            </a:r>
            <a:endParaRPr lang="en-US" sz="1650" dirty="0"/>
          </a:p>
        </p:txBody>
      </p:sp>
      <p:sp>
        <p:nvSpPr>
          <p:cNvPr id="39" name="線條"/>
          <p:cNvSpPr/>
          <p:nvPr/>
        </p:nvSpPr>
        <p:spPr>
          <a:xfrm>
            <a:off x="11544300" y="2708910"/>
            <a:ext cx="300951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458700" y="2857500"/>
            <a:ext cx="116586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3430250" y="2857500"/>
            <a:ext cx="116586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400" dirty="0"/>
          </a:p>
        </p:txBody>
      </p:sp>
      <p:sp>
        <p:nvSpPr>
          <p:cNvPr id="42" name="寬欄條"/>
          <p:cNvSpPr/>
          <p:nvPr/>
        </p:nvSpPr>
        <p:spPr>
          <a:xfrm>
            <a:off x="12687300" y="3257550"/>
            <a:ext cx="708660" cy="3886200"/>
          </a:xfrm>
          <a:prstGeom prst="roundRect">
            <a:avLst>
              <a:gd name="adj" fmla="val 50000"/>
            </a:avLst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寬欄條"/>
          <p:cNvSpPr/>
          <p:nvPr/>
        </p:nvSpPr>
        <p:spPr>
          <a:xfrm>
            <a:off x="13658850" y="3257550"/>
            <a:ext cx="708660" cy="3886200"/>
          </a:xfrm>
          <a:prstGeom prst="roundRect">
            <a:avLst>
              <a:gd name="adj" fmla="val 50000"/>
            </a:avLst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11544300" y="3806190"/>
            <a:ext cx="10287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階段一</a:t>
            </a:r>
            <a:endParaRPr lang="en-US" sz="1400" dirty="0"/>
          </a:p>
        </p:txBody>
      </p:sp>
      <p:sp>
        <p:nvSpPr>
          <p:cNvPr id="45" name="編號"/>
          <p:cNvSpPr/>
          <p:nvPr/>
        </p:nvSpPr>
        <p:spPr>
          <a:xfrm>
            <a:off x="12778740" y="3737610"/>
            <a:ext cx="525780" cy="52578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</a:t>
            </a:r>
            <a:endParaRPr lang="en-US" sz="1650" dirty="0"/>
          </a:p>
        </p:txBody>
      </p:sp>
      <p:sp>
        <p:nvSpPr>
          <p:cNvPr id="46" name="編號"/>
          <p:cNvSpPr/>
          <p:nvPr/>
        </p:nvSpPr>
        <p:spPr>
          <a:xfrm>
            <a:off x="13750290" y="3737610"/>
            <a:ext cx="525780" cy="52578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11544300" y="5006340"/>
            <a:ext cx="10287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階段二</a:t>
            </a:r>
            <a:endParaRPr lang="en-US" sz="1400" dirty="0"/>
          </a:p>
        </p:txBody>
      </p:sp>
      <p:sp>
        <p:nvSpPr>
          <p:cNvPr id="48" name="編號"/>
          <p:cNvSpPr/>
          <p:nvPr/>
        </p:nvSpPr>
        <p:spPr>
          <a:xfrm>
            <a:off x="12778740" y="4937760"/>
            <a:ext cx="525780" cy="52578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</a:t>
            </a:r>
            <a:endParaRPr lang="en-US" sz="1650" dirty="0"/>
          </a:p>
        </p:txBody>
      </p:sp>
      <p:sp>
        <p:nvSpPr>
          <p:cNvPr id="49" name="編號"/>
          <p:cNvSpPr/>
          <p:nvPr/>
        </p:nvSpPr>
        <p:spPr>
          <a:xfrm>
            <a:off x="13750290" y="4937760"/>
            <a:ext cx="525780" cy="52578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談</a:t>
            </a:r>
            <a:endParaRPr lang="en-US" sz="1650" dirty="0"/>
          </a:p>
        </p:txBody>
      </p:sp>
      <p:sp>
        <p:nvSpPr>
          <p:cNvPr id="50" name="Text 48"/>
          <p:cNvSpPr/>
          <p:nvPr/>
        </p:nvSpPr>
        <p:spPr>
          <a:xfrm>
            <a:off x="11544300" y="6206490"/>
            <a:ext cx="10287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階段三</a:t>
            </a:r>
            <a:endParaRPr lang="en-US" sz="1400" dirty="0"/>
          </a:p>
        </p:txBody>
      </p:sp>
      <p:sp>
        <p:nvSpPr>
          <p:cNvPr id="51" name="編號"/>
          <p:cNvSpPr/>
          <p:nvPr/>
        </p:nvSpPr>
        <p:spPr>
          <a:xfrm>
            <a:off x="12778740" y="6137910"/>
            <a:ext cx="525780" cy="52578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</a:t>
            </a:r>
            <a:endParaRPr lang="en-US" sz="1650" dirty="0"/>
          </a:p>
        </p:txBody>
      </p:sp>
      <p:sp>
        <p:nvSpPr>
          <p:cNvPr id="52" name="編號"/>
          <p:cNvSpPr/>
          <p:nvPr/>
        </p:nvSpPr>
        <p:spPr>
          <a:xfrm>
            <a:off x="13750290" y="6137910"/>
            <a:ext cx="525780" cy="52578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</a:t>
            </a:r>
            <a:endParaRPr lang="en-US" sz="1650" dirty="0"/>
          </a:p>
        </p:txBody>
      </p:sp>
      <p:sp>
        <p:nvSpPr>
          <p:cNvPr id="53" name="Text 51"/>
          <p:cNvSpPr/>
          <p:nvPr/>
        </p:nvSpPr>
        <p:spPr>
          <a:xfrm>
            <a:off x="685800" y="78867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冰山能力圖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12839319" y="78867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/ 14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85750" y="285750"/>
            <a:ext cx="14668119" cy="800100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85800" y="571500"/>
            <a:ext cx="80010" cy="11658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標題"/>
          <p:cNvSpPr/>
          <p:nvPr/>
        </p:nvSpPr>
        <p:spPr>
          <a:xfrm>
            <a:off x="982980" y="45720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5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高效溝通：讓想法被看見</a:t>
            </a:r>
            <a:endParaRPr lang="en-US" sz="4250" dirty="0"/>
          </a:p>
        </p:txBody>
      </p:sp>
      <p:sp>
        <p:nvSpPr>
          <p:cNvPr id="5" name="Text 3"/>
          <p:cNvSpPr/>
          <p:nvPr/>
        </p:nvSpPr>
        <p:spPr>
          <a:xfrm>
            <a:off x="982980" y="1257300"/>
            <a:ext cx="12573000" cy="434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B9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關鍵在於把資訊整理成對方能理解的結構</a:t>
            </a:r>
            <a:endParaRPr lang="en-US" sz="2000" dirty="0"/>
          </a:p>
        </p:txBody>
      </p:sp>
      <p:sp>
        <p:nvSpPr>
          <p:cNvPr id="6" name="大圓"/>
          <p:cNvSpPr/>
          <p:nvPr/>
        </p:nvSpPr>
        <p:spPr>
          <a:xfrm>
            <a:off x="1511237" y="2286000"/>
            <a:ext cx="2971800" cy="29718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0707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511237" y="2672334"/>
            <a:ext cx="2971800" cy="9212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Why</a:t>
            </a:r>
            <a:endParaRPr lang="en-US" sz="4900" dirty="0"/>
          </a:p>
        </p:txBody>
      </p:sp>
      <p:sp>
        <p:nvSpPr>
          <p:cNvPr id="8" name="Text 6"/>
          <p:cNvSpPr/>
          <p:nvPr/>
        </p:nvSpPr>
        <p:spPr>
          <a:xfrm>
            <a:off x="1808417" y="3623310"/>
            <a:ext cx="2377440" cy="8321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為何要重視</a:t>
            </a:r>
            <a:endParaRPr lang="en-US" sz="1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溝通品質</a:t>
            </a:r>
            <a:endParaRPr lang="en-US" sz="1900" dirty="0"/>
          </a:p>
        </p:txBody>
      </p:sp>
      <p:sp>
        <p:nvSpPr>
          <p:cNvPr id="9" name="大圓"/>
          <p:cNvSpPr/>
          <p:nvPr/>
        </p:nvSpPr>
        <p:spPr>
          <a:xfrm>
            <a:off x="6133910" y="2286000"/>
            <a:ext cx="2971800" cy="29718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0707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133910" y="2672334"/>
            <a:ext cx="2971800" cy="9212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</a:t>
            </a:r>
            <a:endParaRPr lang="en-US" sz="4900" dirty="0"/>
          </a:p>
        </p:txBody>
      </p:sp>
      <p:sp>
        <p:nvSpPr>
          <p:cNvPr id="11" name="Text 9"/>
          <p:cNvSpPr/>
          <p:nvPr/>
        </p:nvSpPr>
        <p:spPr>
          <a:xfrm>
            <a:off x="6431090" y="3623310"/>
            <a:ext cx="2377440" cy="8321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溝通的</a:t>
            </a:r>
            <a:endParaRPr lang="en-US" sz="1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三個關鍵</a:t>
            </a:r>
            <a:endParaRPr lang="en-US" sz="1900" dirty="0"/>
          </a:p>
        </p:txBody>
      </p:sp>
      <p:sp>
        <p:nvSpPr>
          <p:cNvPr id="12" name="大圓"/>
          <p:cNvSpPr/>
          <p:nvPr/>
        </p:nvSpPr>
        <p:spPr>
          <a:xfrm>
            <a:off x="10756582" y="2286000"/>
            <a:ext cx="2971800" cy="29718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0707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756582" y="2672334"/>
            <a:ext cx="2971800" cy="9212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</a:t>
            </a:r>
            <a:endParaRPr lang="en-US" sz="4900" dirty="0"/>
          </a:p>
        </p:txBody>
      </p:sp>
      <p:sp>
        <p:nvSpPr>
          <p:cNvPr id="14" name="Text 12"/>
          <p:cNvSpPr/>
          <p:nvPr/>
        </p:nvSpPr>
        <p:spPr>
          <a:xfrm>
            <a:off x="11053763" y="3623310"/>
            <a:ext cx="2377440" cy="8321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呈現的</a:t>
            </a:r>
            <a:endParaRPr lang="en-US" sz="1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三個層次</a:t>
            </a:r>
            <a:endParaRPr lang="en-US" sz="1900" dirty="0"/>
          </a:p>
        </p:txBody>
      </p:sp>
      <p:sp>
        <p:nvSpPr>
          <p:cNvPr id="15" name="線條"/>
          <p:cNvSpPr/>
          <p:nvPr/>
        </p:nvSpPr>
        <p:spPr>
          <a:xfrm>
            <a:off x="4979289" y="3771900"/>
            <a:ext cx="658368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16" name="線條"/>
          <p:cNvSpPr/>
          <p:nvPr/>
        </p:nvSpPr>
        <p:spPr>
          <a:xfrm>
            <a:off x="9601962" y="3771900"/>
            <a:ext cx="658368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17" name="小圓"/>
          <p:cNvSpPr/>
          <p:nvPr/>
        </p:nvSpPr>
        <p:spPr>
          <a:xfrm>
            <a:off x="5975917" y="4208937"/>
            <a:ext cx="914400" cy="914400"/>
          </a:xfrm>
          <a:prstGeom prst="ellipse">
            <a:avLst/>
          </a:prstGeom>
          <a:solidFill>
            <a:srgbClr val="404040"/>
          </a:solidFill>
          <a:ln w="39751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2000" dirty="0"/>
          </a:p>
        </p:txBody>
      </p:sp>
      <p:sp>
        <p:nvSpPr>
          <p:cNvPr id="18" name="小圓"/>
          <p:cNvSpPr/>
          <p:nvPr/>
        </p:nvSpPr>
        <p:spPr>
          <a:xfrm>
            <a:off x="7162610" y="4800600"/>
            <a:ext cx="914400" cy="914400"/>
          </a:xfrm>
          <a:prstGeom prst="ellipse">
            <a:avLst/>
          </a:prstGeom>
          <a:solidFill>
            <a:srgbClr val="404040"/>
          </a:solidFill>
          <a:ln w="39751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2000" dirty="0"/>
          </a:p>
        </p:txBody>
      </p:sp>
      <p:sp>
        <p:nvSpPr>
          <p:cNvPr id="19" name="小圓"/>
          <p:cNvSpPr/>
          <p:nvPr/>
        </p:nvSpPr>
        <p:spPr>
          <a:xfrm>
            <a:off x="8349302" y="4208937"/>
            <a:ext cx="914400" cy="914400"/>
          </a:xfrm>
          <a:prstGeom prst="ellipse">
            <a:avLst/>
          </a:prstGeom>
          <a:solidFill>
            <a:srgbClr val="404040"/>
          </a:solidFill>
          <a:ln w="39751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953057" y="5886450"/>
            <a:ext cx="1085850" cy="1200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蒐集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篩選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歸納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139750" y="5886450"/>
            <a:ext cx="1085850" cy="1200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比較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拆解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連結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326442" y="5886450"/>
            <a:ext cx="1085850" cy="1200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聚焦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排序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呈現</a:t>
            </a:r>
            <a:endParaRPr lang="en-US" sz="1450" dirty="0"/>
          </a:p>
        </p:txBody>
      </p:sp>
      <p:sp>
        <p:nvSpPr>
          <p:cNvPr id="23" name="標籤"/>
          <p:cNvSpPr/>
          <p:nvPr/>
        </p:nvSpPr>
        <p:spPr>
          <a:xfrm>
            <a:off x="1682687" y="5715000"/>
            <a:ext cx="2628900" cy="48006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節省理解時間</a:t>
            </a:r>
            <a:endParaRPr lang="en-US" sz="1650" dirty="0"/>
          </a:p>
        </p:txBody>
      </p:sp>
      <p:sp>
        <p:nvSpPr>
          <p:cNvPr id="24" name="標籤"/>
          <p:cNvSpPr/>
          <p:nvPr/>
        </p:nvSpPr>
        <p:spPr>
          <a:xfrm>
            <a:off x="1682687" y="6343650"/>
            <a:ext cx="2628900" cy="48006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對齊彼此認知</a:t>
            </a:r>
            <a:endParaRPr lang="en-US" sz="1650" dirty="0"/>
          </a:p>
        </p:txBody>
      </p:sp>
      <p:sp>
        <p:nvSpPr>
          <p:cNvPr id="25" name="標籤"/>
          <p:cNvSpPr/>
          <p:nvPr/>
        </p:nvSpPr>
        <p:spPr>
          <a:xfrm>
            <a:off x="1682687" y="6972300"/>
            <a:ext cx="2628900" cy="48006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提升決策效率</a:t>
            </a:r>
            <a:endParaRPr lang="en-US" sz="1650" dirty="0"/>
          </a:p>
        </p:txBody>
      </p:sp>
      <p:sp>
        <p:nvSpPr>
          <p:cNvPr id="26" name="標籤"/>
          <p:cNvSpPr/>
          <p:nvPr/>
        </p:nvSpPr>
        <p:spPr>
          <a:xfrm>
            <a:off x="10928033" y="5715000"/>
            <a:ext cx="2628900" cy="48006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</a:t>
            </a:r>
            <a:endParaRPr lang="en-US" sz="1650" dirty="0"/>
          </a:p>
        </p:txBody>
      </p:sp>
      <p:sp>
        <p:nvSpPr>
          <p:cNvPr id="27" name="標籤"/>
          <p:cNvSpPr/>
          <p:nvPr/>
        </p:nvSpPr>
        <p:spPr>
          <a:xfrm>
            <a:off x="10928033" y="6343650"/>
            <a:ext cx="2628900" cy="48006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</a:t>
            </a:r>
            <a:endParaRPr lang="en-US" sz="1650" dirty="0"/>
          </a:p>
        </p:txBody>
      </p:sp>
      <p:sp>
        <p:nvSpPr>
          <p:cNvPr id="28" name="標籤"/>
          <p:cNvSpPr/>
          <p:nvPr/>
        </p:nvSpPr>
        <p:spPr>
          <a:xfrm>
            <a:off x="10928033" y="6972300"/>
            <a:ext cx="2628900" cy="48006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洞見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685800" y="7520940"/>
            <a:ext cx="13868019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三個圓依序回答 Why／How／What，中間的小圓拆出方法，左右兩側以清單補充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5800" y="78867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冰山能力圖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2839319" y="78867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/ 14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85750" y="285750"/>
            <a:ext cx="14668119" cy="800100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85800" y="571500"/>
            <a:ext cx="80010" cy="11658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標題"/>
          <p:cNvSpPr/>
          <p:nvPr/>
        </p:nvSpPr>
        <p:spPr>
          <a:xfrm>
            <a:off x="982980" y="45720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5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策略規劃框架地圖</a:t>
            </a:r>
            <a:endParaRPr lang="en-US" sz="4250" dirty="0"/>
          </a:p>
        </p:txBody>
      </p:sp>
      <p:sp>
        <p:nvSpPr>
          <p:cNvPr id="5" name="Text 3"/>
          <p:cNvSpPr/>
          <p:nvPr/>
        </p:nvSpPr>
        <p:spPr>
          <a:xfrm>
            <a:off x="982980" y="1257300"/>
            <a:ext cx="12573000" cy="434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B9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從現況、課題到行動方案的思考路徑</a:t>
            </a:r>
            <a:endParaRPr lang="en-US" sz="2000" dirty="0"/>
          </a:p>
        </p:txBody>
      </p:sp>
      <p:sp>
        <p:nvSpPr>
          <p:cNvPr id="6" name="卡片"/>
          <p:cNvSpPr/>
          <p:nvPr/>
        </p:nvSpPr>
        <p:spPr>
          <a:xfrm>
            <a:off x="685800" y="4914900"/>
            <a:ext cx="2352980" cy="1051560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15875">
            <a:solidFill>
              <a:srgbClr val="7F7F7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800" y="4914900"/>
            <a:ext cx="235298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Vision</a:t>
            </a:r>
            <a:endParaRPr lang="en-US" sz="1750" dirty="0"/>
          </a:p>
        </p:txBody>
      </p:sp>
      <p:sp>
        <p:nvSpPr>
          <p:cNvPr id="8" name="線條"/>
          <p:cNvSpPr/>
          <p:nvPr/>
        </p:nvSpPr>
        <p:spPr>
          <a:xfrm>
            <a:off x="3027350" y="5440680"/>
            <a:ext cx="54864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9" name="卡片"/>
          <p:cNvSpPr/>
          <p:nvPr/>
        </p:nvSpPr>
        <p:spPr>
          <a:xfrm>
            <a:off x="3564560" y="4914900"/>
            <a:ext cx="2352980" cy="1051560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15875">
            <a:solidFill>
              <a:srgbClr val="7F7F7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64560" y="4914900"/>
            <a:ext cx="235298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使命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</a:t>
            </a:r>
            <a:endParaRPr lang="en-US" sz="1750" dirty="0"/>
          </a:p>
        </p:txBody>
      </p:sp>
      <p:sp>
        <p:nvSpPr>
          <p:cNvPr id="11" name="線條"/>
          <p:cNvSpPr/>
          <p:nvPr/>
        </p:nvSpPr>
        <p:spPr>
          <a:xfrm>
            <a:off x="5906110" y="5440680"/>
            <a:ext cx="54864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12" name="重點卡片"/>
          <p:cNvSpPr/>
          <p:nvPr/>
        </p:nvSpPr>
        <p:spPr>
          <a:xfrm>
            <a:off x="6443320" y="4914900"/>
            <a:ext cx="2352980" cy="1051560"/>
          </a:xfrm>
          <a:prstGeom prst="roundRect">
            <a:avLst>
              <a:gd name="adj" fmla="val 3261"/>
            </a:avLst>
          </a:prstGeom>
          <a:solidFill>
            <a:srgbClr val="40404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C6C6C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Objective</a:t>
            </a:r>
            <a:endParaRPr lang="en-US" sz="1750" dirty="0"/>
          </a:p>
        </p:txBody>
      </p:sp>
      <p:sp>
        <p:nvSpPr>
          <p:cNvPr id="13" name="線條"/>
          <p:cNvSpPr/>
          <p:nvPr/>
        </p:nvSpPr>
        <p:spPr>
          <a:xfrm>
            <a:off x="8784869" y="5440680"/>
            <a:ext cx="54864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14" name="卡片"/>
          <p:cNvSpPr/>
          <p:nvPr/>
        </p:nvSpPr>
        <p:spPr>
          <a:xfrm>
            <a:off x="9322079" y="4914900"/>
            <a:ext cx="2352980" cy="1051560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15875">
            <a:solidFill>
              <a:srgbClr val="7F7F7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322079" y="4914900"/>
            <a:ext cx="235298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Strategy</a:t>
            </a:r>
            <a:endParaRPr lang="en-US" sz="1750" dirty="0"/>
          </a:p>
        </p:txBody>
      </p:sp>
      <p:sp>
        <p:nvSpPr>
          <p:cNvPr id="16" name="線條"/>
          <p:cNvSpPr/>
          <p:nvPr/>
        </p:nvSpPr>
        <p:spPr>
          <a:xfrm>
            <a:off x="11663629" y="5440680"/>
            <a:ext cx="54864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17" name="卡片"/>
          <p:cNvSpPr/>
          <p:nvPr/>
        </p:nvSpPr>
        <p:spPr>
          <a:xfrm>
            <a:off x="12200839" y="4914900"/>
            <a:ext cx="2352980" cy="1051560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15875">
            <a:solidFill>
              <a:srgbClr val="7F7F7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2200839" y="4914900"/>
            <a:ext cx="235298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戰術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Tactic</a:t>
            </a:r>
            <a:endParaRPr lang="en-US" sz="1750" dirty="0"/>
          </a:p>
        </p:txBody>
      </p:sp>
      <p:sp>
        <p:nvSpPr>
          <p:cNvPr id="19" name="卡片"/>
          <p:cNvSpPr/>
          <p:nvPr/>
        </p:nvSpPr>
        <p:spPr>
          <a:xfrm>
            <a:off x="6443320" y="2286000"/>
            <a:ext cx="2352980" cy="10287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7F7F7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443320" y="2286000"/>
            <a:ext cx="2352980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現況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Situation</a:t>
            </a:r>
            <a:endParaRPr lang="en-US" sz="1750" dirty="0"/>
          </a:p>
        </p:txBody>
      </p:sp>
      <p:sp>
        <p:nvSpPr>
          <p:cNvPr id="21" name="卡片"/>
          <p:cNvSpPr/>
          <p:nvPr/>
        </p:nvSpPr>
        <p:spPr>
          <a:xfrm>
            <a:off x="3335960" y="3486150"/>
            <a:ext cx="1929443" cy="8229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5875">
            <a:solidFill>
              <a:srgbClr val="7F7F7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335960" y="3486150"/>
            <a:ext cx="1929443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Problem</a:t>
            </a:r>
            <a:endParaRPr lang="en-US" sz="1750" dirty="0"/>
          </a:p>
        </p:txBody>
      </p:sp>
      <p:sp>
        <p:nvSpPr>
          <p:cNvPr id="23" name="卡片"/>
          <p:cNvSpPr/>
          <p:nvPr/>
        </p:nvSpPr>
        <p:spPr>
          <a:xfrm>
            <a:off x="9974216" y="3486150"/>
            <a:ext cx="1929443" cy="8229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5875">
            <a:solidFill>
              <a:srgbClr val="7F7F7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974216" y="3486150"/>
            <a:ext cx="1929443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課題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Question</a:t>
            </a:r>
            <a:endParaRPr lang="en-US" sz="1750" dirty="0"/>
          </a:p>
        </p:txBody>
      </p:sp>
      <p:sp>
        <p:nvSpPr>
          <p:cNvPr id="25" name="曲線箭頭"/>
          <p:cNvSpPr/>
          <p:nvPr/>
        </p:nvSpPr>
        <p:spPr>
          <a:xfrm>
            <a:off x="4300682" y="2800350"/>
            <a:ext cx="2051198" cy="617220"/>
          </a:xfrm>
          <a:custGeom>
            <a:avLst/>
            <a:gdLst/>
            <a:ahLst/>
            <a:cxnLst/>
            <a:rect l="l" t="t" r="r" b="b"/>
            <a:pathLst>
              <a:path w="2051198" h="617220">
                <a:moveTo>
                  <a:pt x="0" y="617220"/>
                </a:moveTo>
                <a:cubicBezTo>
                  <a:pt x="0" y="0"/>
                  <a:pt x="342900" y="0"/>
                  <a:pt x="2051198" y="0"/>
                </a:cubicBezTo>
              </a:path>
            </a:pathLst>
          </a:custGeom>
          <a:noFill/>
          <a:ln w="15875">
            <a:solidFill>
              <a:srgbClr val="595959"/>
            </a:solidFill>
            <a:prstDash val="sysDash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曲線箭頭"/>
          <p:cNvSpPr/>
          <p:nvPr/>
        </p:nvSpPr>
        <p:spPr>
          <a:xfrm>
            <a:off x="8887739" y="2800350"/>
            <a:ext cx="2051198" cy="617220"/>
          </a:xfrm>
          <a:custGeom>
            <a:avLst/>
            <a:gdLst/>
            <a:ahLst/>
            <a:cxnLst/>
            <a:rect l="l" t="t" r="r" b="b"/>
            <a:pathLst>
              <a:path w="2051198" h="617220">
                <a:moveTo>
                  <a:pt x="0" y="0"/>
                </a:moveTo>
                <a:cubicBezTo>
                  <a:pt x="1708298" y="0"/>
                  <a:pt x="2051198" y="0"/>
                  <a:pt x="2051198" y="617220"/>
                </a:cubicBezTo>
              </a:path>
            </a:pathLst>
          </a:custGeom>
          <a:noFill/>
          <a:ln w="15875">
            <a:solidFill>
              <a:srgbClr val="595959"/>
            </a:solidFill>
            <a:prstDash val="sysDash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線條"/>
          <p:cNvSpPr/>
          <p:nvPr/>
        </p:nvSpPr>
        <p:spPr>
          <a:xfrm>
            <a:off x="5356843" y="3897630"/>
            <a:ext cx="4525933" cy="0"/>
          </a:xfrm>
          <a:prstGeom prst="line">
            <a:avLst/>
          </a:prstGeom>
          <a:noFill/>
          <a:ln w="15875">
            <a:solidFill>
              <a:srgbClr val="A6A6A6"/>
            </a:solidFill>
            <a:prstDash val="sysDash"/>
            <a:headEnd type="triangle" w="lg" len="lg"/>
            <a:tailEnd type="triangle" w="lg" len="lg"/>
          </a:ln>
        </p:spPr>
      </p:sp>
      <p:sp>
        <p:nvSpPr>
          <p:cNvPr id="28" name="編號"/>
          <p:cNvSpPr/>
          <p:nvPr/>
        </p:nvSpPr>
        <p:spPr>
          <a:xfrm>
            <a:off x="685800" y="2331720"/>
            <a:ext cx="388620" cy="3886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400" dirty="0"/>
          </a:p>
        </p:txBody>
      </p:sp>
      <p:sp>
        <p:nvSpPr>
          <p:cNvPr id="29" name="編號"/>
          <p:cNvSpPr/>
          <p:nvPr/>
        </p:nvSpPr>
        <p:spPr>
          <a:xfrm>
            <a:off x="1154430" y="2331720"/>
            <a:ext cx="388620" cy="3886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400" dirty="0"/>
          </a:p>
        </p:txBody>
      </p:sp>
      <p:sp>
        <p:nvSpPr>
          <p:cNvPr id="30" name="標籤"/>
          <p:cNvSpPr/>
          <p:nvPr/>
        </p:nvSpPr>
        <p:spPr>
          <a:xfrm>
            <a:off x="1657350" y="2343150"/>
            <a:ext cx="1005738" cy="36576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界定問題</a:t>
            </a:r>
            <a:endParaRPr lang="en-US" sz="1400" dirty="0"/>
          </a:p>
        </p:txBody>
      </p:sp>
      <p:sp>
        <p:nvSpPr>
          <p:cNvPr id="31" name="編號"/>
          <p:cNvSpPr/>
          <p:nvPr/>
        </p:nvSpPr>
        <p:spPr>
          <a:xfrm>
            <a:off x="685800" y="2903220"/>
            <a:ext cx="388620" cy="3886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400" dirty="0"/>
          </a:p>
        </p:txBody>
      </p:sp>
      <p:sp>
        <p:nvSpPr>
          <p:cNvPr id="32" name="編號"/>
          <p:cNvSpPr/>
          <p:nvPr/>
        </p:nvSpPr>
        <p:spPr>
          <a:xfrm>
            <a:off x="1154430" y="2903220"/>
            <a:ext cx="388620" cy="3886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400" dirty="0"/>
          </a:p>
        </p:txBody>
      </p:sp>
      <p:sp>
        <p:nvSpPr>
          <p:cNvPr id="33" name="標籤"/>
          <p:cNvSpPr/>
          <p:nvPr/>
        </p:nvSpPr>
        <p:spPr>
          <a:xfrm>
            <a:off x="1657350" y="2914650"/>
            <a:ext cx="1005738" cy="36576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排序優先</a:t>
            </a:r>
            <a:endParaRPr lang="en-US" sz="1400" dirty="0"/>
          </a:p>
        </p:txBody>
      </p:sp>
      <p:sp>
        <p:nvSpPr>
          <p:cNvPr id="34" name="編號"/>
          <p:cNvSpPr/>
          <p:nvPr/>
        </p:nvSpPr>
        <p:spPr>
          <a:xfrm>
            <a:off x="12086539" y="2331720"/>
            <a:ext cx="388620" cy="3886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400" dirty="0"/>
          </a:p>
        </p:txBody>
      </p:sp>
      <p:sp>
        <p:nvSpPr>
          <p:cNvPr id="35" name="編號"/>
          <p:cNvSpPr/>
          <p:nvPr/>
        </p:nvSpPr>
        <p:spPr>
          <a:xfrm>
            <a:off x="12555169" y="2331720"/>
            <a:ext cx="388620" cy="3886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1400" dirty="0"/>
          </a:p>
        </p:txBody>
      </p:sp>
      <p:sp>
        <p:nvSpPr>
          <p:cNvPr id="36" name="標籤"/>
          <p:cNvSpPr/>
          <p:nvPr/>
        </p:nvSpPr>
        <p:spPr>
          <a:xfrm>
            <a:off x="13058089" y="2343150"/>
            <a:ext cx="1005738" cy="365760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設定目標</a:t>
            </a:r>
            <a:endParaRPr lang="en-US" sz="1400" dirty="0"/>
          </a:p>
        </p:txBody>
      </p:sp>
      <p:sp>
        <p:nvSpPr>
          <p:cNvPr id="37" name="編號"/>
          <p:cNvSpPr/>
          <p:nvPr/>
        </p:nvSpPr>
        <p:spPr>
          <a:xfrm>
            <a:off x="12086539" y="2903220"/>
            <a:ext cx="388620" cy="3886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1400" dirty="0"/>
          </a:p>
        </p:txBody>
      </p:sp>
      <p:sp>
        <p:nvSpPr>
          <p:cNvPr id="38" name="編號"/>
          <p:cNvSpPr/>
          <p:nvPr/>
        </p:nvSpPr>
        <p:spPr>
          <a:xfrm>
            <a:off x="12555169" y="2903220"/>
            <a:ext cx="388620" cy="3886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1400" dirty="0"/>
          </a:p>
        </p:txBody>
      </p:sp>
      <p:sp>
        <p:nvSpPr>
          <p:cNvPr id="39" name="標籤"/>
          <p:cNvSpPr/>
          <p:nvPr/>
        </p:nvSpPr>
        <p:spPr>
          <a:xfrm>
            <a:off x="13058089" y="2914650"/>
            <a:ext cx="1005738" cy="365760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規劃路徑</a:t>
            </a:r>
            <a:endParaRPr lang="en-US" sz="1400" dirty="0"/>
          </a:p>
        </p:txBody>
      </p:sp>
      <p:sp>
        <p:nvSpPr>
          <p:cNvPr id="40" name="卡片"/>
          <p:cNvSpPr/>
          <p:nvPr/>
        </p:nvSpPr>
        <p:spPr>
          <a:xfrm>
            <a:off x="685800" y="6343650"/>
            <a:ext cx="13868019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7F7F7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85800" y="6343650"/>
            <a:ext cx="1386801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</a:t>
            </a:r>
            <a:r>
              <a:rPr lang="en-US" sz="14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Organization</a:t>
            </a:r>
            <a:endParaRPr lang="en-US" sz="1750" dirty="0"/>
          </a:p>
        </p:txBody>
      </p:sp>
      <p:sp>
        <p:nvSpPr>
          <p:cNvPr id="42" name="編號"/>
          <p:cNvSpPr/>
          <p:nvPr/>
        </p:nvSpPr>
        <p:spPr>
          <a:xfrm>
            <a:off x="1430658" y="7269480"/>
            <a:ext cx="388620" cy="3886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1400" dirty="0"/>
          </a:p>
        </p:txBody>
      </p:sp>
      <p:sp>
        <p:nvSpPr>
          <p:cNvPr id="43" name="編號"/>
          <p:cNvSpPr/>
          <p:nvPr/>
        </p:nvSpPr>
        <p:spPr>
          <a:xfrm>
            <a:off x="1899288" y="7269480"/>
            <a:ext cx="388620" cy="3886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400" dirty="0"/>
          </a:p>
        </p:txBody>
      </p:sp>
      <p:sp>
        <p:nvSpPr>
          <p:cNvPr id="44" name="標籤"/>
          <p:cNvSpPr/>
          <p:nvPr/>
        </p:nvSpPr>
        <p:spPr>
          <a:xfrm>
            <a:off x="2402208" y="7280910"/>
            <a:ext cx="1005738" cy="36576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凝聚共識</a:t>
            </a:r>
            <a:endParaRPr lang="en-US" sz="1400" dirty="0"/>
          </a:p>
        </p:txBody>
      </p:sp>
      <p:sp>
        <p:nvSpPr>
          <p:cNvPr id="45" name="編號"/>
          <p:cNvSpPr/>
          <p:nvPr/>
        </p:nvSpPr>
        <p:spPr>
          <a:xfrm>
            <a:off x="4897663" y="7269480"/>
            <a:ext cx="388620" cy="3886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400" dirty="0"/>
          </a:p>
        </p:txBody>
      </p:sp>
      <p:sp>
        <p:nvSpPr>
          <p:cNvPr id="46" name="編號"/>
          <p:cNvSpPr/>
          <p:nvPr/>
        </p:nvSpPr>
        <p:spPr>
          <a:xfrm>
            <a:off x="5366293" y="7269480"/>
            <a:ext cx="388620" cy="3886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400" dirty="0"/>
          </a:p>
        </p:txBody>
      </p:sp>
      <p:sp>
        <p:nvSpPr>
          <p:cNvPr id="47" name="標籤"/>
          <p:cNvSpPr/>
          <p:nvPr/>
        </p:nvSpPr>
        <p:spPr>
          <a:xfrm>
            <a:off x="5869213" y="7280910"/>
            <a:ext cx="1005738" cy="365760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提升能力</a:t>
            </a:r>
            <a:endParaRPr lang="en-US" sz="1400" dirty="0"/>
          </a:p>
        </p:txBody>
      </p:sp>
      <p:sp>
        <p:nvSpPr>
          <p:cNvPr id="48" name="編號"/>
          <p:cNvSpPr/>
          <p:nvPr/>
        </p:nvSpPr>
        <p:spPr>
          <a:xfrm>
            <a:off x="8598983" y="7269480"/>
            <a:ext cx="388620" cy="3886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400" dirty="0"/>
          </a:p>
        </p:txBody>
      </p:sp>
      <p:sp>
        <p:nvSpPr>
          <p:cNvPr id="49" name="標籤"/>
          <p:cNvSpPr/>
          <p:nvPr/>
        </p:nvSpPr>
        <p:spPr>
          <a:xfrm>
            <a:off x="9101903" y="7280910"/>
            <a:ext cx="1005738" cy="36576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資訊透明</a:t>
            </a:r>
            <a:endParaRPr lang="en-US" sz="1400" dirty="0"/>
          </a:p>
        </p:txBody>
      </p:sp>
      <p:sp>
        <p:nvSpPr>
          <p:cNvPr id="50" name="編號"/>
          <p:cNvSpPr/>
          <p:nvPr/>
        </p:nvSpPr>
        <p:spPr>
          <a:xfrm>
            <a:off x="11831672" y="7269480"/>
            <a:ext cx="388620" cy="3886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1400" dirty="0"/>
          </a:p>
        </p:txBody>
      </p:sp>
      <p:sp>
        <p:nvSpPr>
          <p:cNvPr id="51" name="編號"/>
          <p:cNvSpPr/>
          <p:nvPr/>
        </p:nvSpPr>
        <p:spPr>
          <a:xfrm>
            <a:off x="12300302" y="7269480"/>
            <a:ext cx="388620" cy="3886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1400" dirty="0"/>
          </a:p>
        </p:txBody>
      </p:sp>
      <p:sp>
        <p:nvSpPr>
          <p:cNvPr id="52" name="標籤"/>
          <p:cNvSpPr/>
          <p:nvPr/>
        </p:nvSpPr>
        <p:spPr>
          <a:xfrm>
            <a:off x="12803222" y="7280910"/>
            <a:ext cx="1005738" cy="365760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激勵動機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685800" y="78867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冰山能力圖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12839319" y="78867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/ 14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85750" y="285750"/>
            <a:ext cx="14668119" cy="800100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85800" y="571500"/>
            <a:ext cx="80010" cy="11658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標題"/>
          <p:cNvSpPr/>
          <p:nvPr/>
        </p:nvSpPr>
        <p:spPr>
          <a:xfrm>
            <a:off x="982980" y="45720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5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能力成長地圖</a:t>
            </a:r>
            <a:endParaRPr lang="en-US" sz="4250" dirty="0"/>
          </a:p>
        </p:txBody>
      </p:sp>
      <p:sp>
        <p:nvSpPr>
          <p:cNvPr id="5" name="Text 3"/>
          <p:cNvSpPr/>
          <p:nvPr/>
        </p:nvSpPr>
        <p:spPr>
          <a:xfrm>
            <a:off x="982980" y="1257300"/>
            <a:ext cx="12573000" cy="434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B9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從個人特質到可遷移能力的三階段路徑</a:t>
            </a:r>
            <a:endParaRPr lang="en-US" sz="2000" dirty="0"/>
          </a:p>
        </p:txBody>
      </p:sp>
      <p:sp>
        <p:nvSpPr>
          <p:cNvPr id="6" name="漸隱箭頭"/>
          <p:cNvSpPr/>
          <p:nvPr/>
        </p:nvSpPr>
        <p:spPr>
          <a:xfrm>
            <a:off x="7172325" y="2914650"/>
            <a:ext cx="445770" cy="4202125"/>
          </a:xfrm>
          <a:prstGeom prst="rect">
            <a:avLst/>
          </a:prstGeom>
          <a:solidFill>
            <a:srgbClr val="5B9BD5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漸隱箭頭"/>
          <p:cNvSpPr/>
          <p:nvPr/>
        </p:nvSpPr>
        <p:spPr>
          <a:xfrm>
            <a:off x="7172325" y="3613099"/>
            <a:ext cx="445770" cy="3503676"/>
          </a:xfrm>
          <a:prstGeom prst="rect">
            <a:avLst/>
          </a:prstGeom>
          <a:solidFill>
            <a:srgbClr val="5B9BD5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漸隱箭頭"/>
          <p:cNvSpPr/>
          <p:nvPr/>
        </p:nvSpPr>
        <p:spPr>
          <a:xfrm>
            <a:off x="7172325" y="4311548"/>
            <a:ext cx="445770" cy="2805227"/>
          </a:xfrm>
          <a:prstGeom prst="rect">
            <a:avLst/>
          </a:prstGeom>
          <a:solidFill>
            <a:srgbClr val="5B9BD5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漸隱箭頭"/>
          <p:cNvSpPr/>
          <p:nvPr/>
        </p:nvSpPr>
        <p:spPr>
          <a:xfrm>
            <a:off x="7172325" y="5009998"/>
            <a:ext cx="445770" cy="2106778"/>
          </a:xfrm>
          <a:prstGeom prst="rect">
            <a:avLst/>
          </a:prstGeom>
          <a:solidFill>
            <a:srgbClr val="5B9BD5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漸隱箭頭"/>
          <p:cNvSpPr/>
          <p:nvPr/>
        </p:nvSpPr>
        <p:spPr>
          <a:xfrm>
            <a:off x="7172325" y="5708447"/>
            <a:ext cx="445770" cy="1408328"/>
          </a:xfrm>
          <a:prstGeom prst="rect">
            <a:avLst/>
          </a:prstGeom>
          <a:solidFill>
            <a:srgbClr val="5B9BD5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漸隱箭頭"/>
          <p:cNvSpPr/>
          <p:nvPr/>
        </p:nvSpPr>
        <p:spPr>
          <a:xfrm>
            <a:off x="7172325" y="6406896"/>
            <a:ext cx="445770" cy="709879"/>
          </a:xfrm>
          <a:prstGeom prst="rect">
            <a:avLst/>
          </a:prstGeom>
          <a:solidFill>
            <a:srgbClr val="5B9BD5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漸隱箭頭"/>
          <p:cNvSpPr/>
          <p:nvPr/>
        </p:nvSpPr>
        <p:spPr>
          <a:xfrm>
            <a:off x="6949440" y="7105345"/>
            <a:ext cx="891540" cy="552755"/>
          </a:xfrm>
          <a:custGeom>
            <a:avLst/>
            <a:gdLst/>
            <a:ahLst/>
            <a:cxnLst/>
            <a:rect l="l" t="t" r="r" b="b"/>
            <a:pathLst>
              <a:path w="891540" h="552755">
                <a:moveTo>
                  <a:pt x="0" y="0"/>
                </a:moveTo>
                <a:lnTo>
                  <a:pt x="891540" y="0"/>
                </a:lnTo>
                <a:lnTo>
                  <a:pt x="445770" y="552755"/>
                </a:lnTo>
                <a:close/>
              </a:path>
            </a:pathLst>
          </a:custGeom>
          <a:solidFill>
            <a:srgbClr val="5B9BD5">
              <a:alpha val="54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78140" y="7200900"/>
            <a:ext cx="14859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B9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成長路徑</a:t>
            </a:r>
            <a:endParaRPr lang="en-US" sz="1500" dirty="0"/>
          </a:p>
        </p:txBody>
      </p:sp>
      <p:sp>
        <p:nvSpPr>
          <p:cNvPr id="14" name="處理"/>
          <p:cNvSpPr/>
          <p:nvPr/>
        </p:nvSpPr>
        <p:spPr>
          <a:xfrm>
            <a:off x="685800" y="4743450"/>
            <a:ext cx="1085850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707070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特質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71500" y="5520690"/>
            <a:ext cx="131445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個性、動機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與價值觀</a:t>
            </a:r>
            <a:endParaRPr lang="en-US" sz="1300" dirty="0"/>
          </a:p>
        </p:txBody>
      </p:sp>
      <p:sp>
        <p:nvSpPr>
          <p:cNvPr id="16" name="處理"/>
          <p:cNvSpPr/>
          <p:nvPr/>
        </p:nvSpPr>
        <p:spPr>
          <a:xfrm>
            <a:off x="2343150" y="3749040"/>
            <a:ext cx="1143000" cy="6172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875">
            <a:solidFill>
              <a:srgbClr val="707070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</a:t>
            </a:r>
            <a:endParaRPr lang="en-US" sz="1750" dirty="0"/>
          </a:p>
        </p:txBody>
      </p:sp>
      <p:sp>
        <p:nvSpPr>
          <p:cNvPr id="17" name="處理"/>
          <p:cNvSpPr/>
          <p:nvPr/>
        </p:nvSpPr>
        <p:spPr>
          <a:xfrm>
            <a:off x="2343150" y="5806440"/>
            <a:ext cx="1143000" cy="6172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875">
            <a:solidFill>
              <a:srgbClr val="707070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2286000" y="3429000"/>
            <a:ext cx="1257300" cy="2971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知道是什麼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286000" y="6469380"/>
            <a:ext cx="1257300" cy="2971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知道怎麼做</a:t>
            </a:r>
            <a:endParaRPr lang="en-US" sz="1300" dirty="0"/>
          </a:p>
        </p:txBody>
      </p:sp>
      <p:sp>
        <p:nvSpPr>
          <p:cNvPr id="20" name="處理"/>
          <p:cNvSpPr/>
          <p:nvPr/>
        </p:nvSpPr>
        <p:spPr>
          <a:xfrm>
            <a:off x="4057650" y="4743450"/>
            <a:ext cx="1085850" cy="685800"/>
          </a:xfrm>
          <a:prstGeom prst="roundRect">
            <a:avLst>
              <a:gd name="adj" fmla="val 5000"/>
            </a:avLst>
          </a:prstGeom>
          <a:solidFill>
            <a:srgbClr val="40404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3943350" y="5520690"/>
            <a:ext cx="1314450" cy="2971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能產生價值</a:t>
            </a:r>
            <a:endParaRPr lang="en-US" sz="1300" dirty="0"/>
          </a:p>
        </p:txBody>
      </p:sp>
      <p:sp>
        <p:nvSpPr>
          <p:cNvPr id="22" name="連接線"/>
          <p:cNvSpPr/>
          <p:nvPr/>
        </p:nvSpPr>
        <p:spPr>
          <a:xfrm>
            <a:off x="1840230" y="4057650"/>
            <a:ext cx="434340" cy="1028700"/>
          </a:xfrm>
          <a:custGeom>
            <a:avLst/>
            <a:gdLst/>
            <a:ahLst/>
            <a:cxnLst/>
            <a:rect l="l" t="t" r="r" b="b"/>
            <a:pathLst>
              <a:path w="434340" h="1028700">
                <a:moveTo>
                  <a:pt x="0" y="1028700"/>
                </a:moveTo>
                <a:lnTo>
                  <a:pt x="217170" y="1028700"/>
                </a:lnTo>
                <a:lnTo>
                  <a:pt x="217170" y="0"/>
                </a:lnTo>
                <a:lnTo>
                  <a:pt x="434340" y="0"/>
                </a:lnTo>
              </a:path>
            </a:pathLst>
          </a:custGeom>
          <a:noFill/>
          <a:ln w="15875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連接線"/>
          <p:cNvSpPr/>
          <p:nvPr/>
        </p:nvSpPr>
        <p:spPr>
          <a:xfrm>
            <a:off x="1840230" y="5086350"/>
            <a:ext cx="434340" cy="1028700"/>
          </a:xfrm>
          <a:custGeom>
            <a:avLst/>
            <a:gdLst/>
            <a:ahLst/>
            <a:cxnLst/>
            <a:rect l="l" t="t" r="r" b="b"/>
            <a:pathLst>
              <a:path w="434340" h="1028700">
                <a:moveTo>
                  <a:pt x="0" y="0"/>
                </a:moveTo>
                <a:lnTo>
                  <a:pt x="217170" y="0"/>
                </a:lnTo>
                <a:lnTo>
                  <a:pt x="217170" y="1028700"/>
                </a:lnTo>
                <a:lnTo>
                  <a:pt x="434340" y="1028700"/>
                </a:lnTo>
              </a:path>
            </a:pathLst>
          </a:custGeom>
          <a:noFill/>
          <a:ln w="15875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連接線"/>
          <p:cNvSpPr/>
          <p:nvPr/>
        </p:nvSpPr>
        <p:spPr>
          <a:xfrm>
            <a:off x="3554730" y="4057650"/>
            <a:ext cx="434340" cy="1028700"/>
          </a:xfrm>
          <a:custGeom>
            <a:avLst/>
            <a:gdLst/>
            <a:ahLst/>
            <a:cxnLst/>
            <a:rect l="l" t="t" r="r" b="b"/>
            <a:pathLst>
              <a:path w="434340" h="1028700">
                <a:moveTo>
                  <a:pt x="0" y="0"/>
                </a:moveTo>
                <a:lnTo>
                  <a:pt x="217170" y="0"/>
                </a:lnTo>
                <a:lnTo>
                  <a:pt x="217170" y="1028700"/>
                </a:lnTo>
                <a:lnTo>
                  <a:pt x="434340" y="1028700"/>
                </a:lnTo>
              </a:path>
            </a:pathLst>
          </a:custGeom>
          <a:noFill/>
          <a:ln w="15875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連接線"/>
          <p:cNvSpPr/>
          <p:nvPr/>
        </p:nvSpPr>
        <p:spPr>
          <a:xfrm>
            <a:off x="3554730" y="5086350"/>
            <a:ext cx="434340" cy="1028700"/>
          </a:xfrm>
          <a:custGeom>
            <a:avLst/>
            <a:gdLst/>
            <a:ahLst/>
            <a:cxnLst/>
            <a:rect l="l" t="t" r="r" b="b"/>
            <a:pathLst>
              <a:path w="434340" h="1028700">
                <a:moveTo>
                  <a:pt x="0" y="1028700"/>
                </a:moveTo>
                <a:lnTo>
                  <a:pt x="217170" y="1028700"/>
                </a:lnTo>
                <a:lnTo>
                  <a:pt x="217170" y="0"/>
                </a:lnTo>
                <a:lnTo>
                  <a:pt x="434340" y="0"/>
                </a:lnTo>
              </a:path>
            </a:pathLst>
          </a:custGeom>
          <a:noFill/>
          <a:ln w="15875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連接線"/>
          <p:cNvSpPr/>
          <p:nvPr/>
        </p:nvSpPr>
        <p:spPr>
          <a:xfrm>
            <a:off x="5212080" y="3429000"/>
            <a:ext cx="720090" cy="1657350"/>
          </a:xfrm>
          <a:custGeom>
            <a:avLst/>
            <a:gdLst/>
            <a:ahLst/>
            <a:cxnLst/>
            <a:rect l="l" t="t" r="r" b="b"/>
            <a:pathLst>
              <a:path w="720090" h="1657350">
                <a:moveTo>
                  <a:pt x="0" y="1657350"/>
                </a:moveTo>
                <a:lnTo>
                  <a:pt x="360045" y="1657350"/>
                </a:lnTo>
                <a:lnTo>
                  <a:pt x="360045" y="0"/>
                </a:lnTo>
                <a:lnTo>
                  <a:pt x="720090" y="0"/>
                </a:lnTo>
              </a:path>
            </a:pathLst>
          </a:custGeom>
          <a:noFill/>
          <a:ln w="15875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線條"/>
          <p:cNvSpPr/>
          <p:nvPr/>
        </p:nvSpPr>
        <p:spPr>
          <a:xfrm>
            <a:off x="5212080" y="5086350"/>
            <a:ext cx="72009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28" name="連接線"/>
          <p:cNvSpPr/>
          <p:nvPr/>
        </p:nvSpPr>
        <p:spPr>
          <a:xfrm>
            <a:off x="5212080" y="5086350"/>
            <a:ext cx="720090" cy="1657350"/>
          </a:xfrm>
          <a:custGeom>
            <a:avLst/>
            <a:gdLst/>
            <a:ahLst/>
            <a:cxnLst/>
            <a:rect l="l" t="t" r="r" b="b"/>
            <a:pathLst>
              <a:path w="720090" h="1657350">
                <a:moveTo>
                  <a:pt x="0" y="0"/>
                </a:moveTo>
                <a:lnTo>
                  <a:pt x="360045" y="0"/>
                </a:lnTo>
                <a:lnTo>
                  <a:pt x="360045" y="1657350"/>
                </a:lnTo>
                <a:lnTo>
                  <a:pt x="720090" y="1657350"/>
                </a:lnTo>
              </a:path>
            </a:pathLst>
          </a:custGeom>
          <a:noFill/>
          <a:ln w="15875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卡片"/>
          <p:cNvSpPr/>
          <p:nvPr/>
        </p:nvSpPr>
        <p:spPr>
          <a:xfrm>
            <a:off x="6000750" y="3017520"/>
            <a:ext cx="2286000" cy="8229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5875">
            <a:solidFill>
              <a:srgbClr val="7F7F7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000750" y="301752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執行實踐</a:t>
            </a:r>
            <a:endParaRPr lang="en-US" sz="2000" dirty="0"/>
          </a:p>
        </p:txBody>
      </p:sp>
      <p:sp>
        <p:nvSpPr>
          <p:cNvPr id="31" name="標籤"/>
          <p:cNvSpPr/>
          <p:nvPr/>
        </p:nvSpPr>
        <p:spPr>
          <a:xfrm>
            <a:off x="7500620" y="2857500"/>
            <a:ext cx="614680" cy="32004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前期</a:t>
            </a:r>
            <a:endParaRPr lang="en-US" sz="1250" dirty="0"/>
          </a:p>
        </p:txBody>
      </p:sp>
      <p:sp>
        <p:nvSpPr>
          <p:cNvPr id="32" name="標籤"/>
          <p:cNvSpPr/>
          <p:nvPr/>
        </p:nvSpPr>
        <p:spPr>
          <a:xfrm>
            <a:off x="6172200" y="3680460"/>
            <a:ext cx="773430" cy="320040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打基礎</a:t>
            </a:r>
            <a:endParaRPr lang="en-US" sz="1250" dirty="0"/>
          </a:p>
        </p:txBody>
      </p:sp>
      <p:sp>
        <p:nvSpPr>
          <p:cNvPr id="33" name="卡片"/>
          <p:cNvSpPr/>
          <p:nvPr/>
        </p:nvSpPr>
        <p:spPr>
          <a:xfrm>
            <a:off x="6000750" y="4674870"/>
            <a:ext cx="2286000" cy="8229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5875">
            <a:solidFill>
              <a:srgbClr val="7F7F7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000750" y="467487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溝通協作</a:t>
            </a:r>
            <a:endParaRPr lang="en-US" sz="2000" dirty="0"/>
          </a:p>
        </p:txBody>
      </p:sp>
      <p:sp>
        <p:nvSpPr>
          <p:cNvPr id="35" name="標籤"/>
          <p:cNvSpPr/>
          <p:nvPr/>
        </p:nvSpPr>
        <p:spPr>
          <a:xfrm>
            <a:off x="7500620" y="4514850"/>
            <a:ext cx="614680" cy="32004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中期</a:t>
            </a:r>
            <a:endParaRPr lang="en-US" sz="1250" dirty="0"/>
          </a:p>
        </p:txBody>
      </p:sp>
      <p:sp>
        <p:nvSpPr>
          <p:cNvPr id="36" name="標籤"/>
          <p:cNvSpPr/>
          <p:nvPr/>
        </p:nvSpPr>
        <p:spPr>
          <a:xfrm>
            <a:off x="6172200" y="5337810"/>
            <a:ext cx="773430" cy="320040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擴影響</a:t>
            </a:r>
            <a:endParaRPr lang="en-US" sz="1250" dirty="0"/>
          </a:p>
        </p:txBody>
      </p:sp>
      <p:sp>
        <p:nvSpPr>
          <p:cNvPr id="37" name="卡片"/>
          <p:cNvSpPr/>
          <p:nvPr/>
        </p:nvSpPr>
        <p:spPr>
          <a:xfrm>
            <a:off x="6000750" y="6332220"/>
            <a:ext cx="2286000" cy="8229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5875">
            <a:solidFill>
              <a:srgbClr val="7F7F7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000750" y="633222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整合創新</a:t>
            </a:r>
            <a:endParaRPr lang="en-US" sz="2000" dirty="0"/>
          </a:p>
        </p:txBody>
      </p:sp>
      <p:sp>
        <p:nvSpPr>
          <p:cNvPr id="39" name="標籤"/>
          <p:cNvSpPr/>
          <p:nvPr/>
        </p:nvSpPr>
        <p:spPr>
          <a:xfrm>
            <a:off x="7500620" y="6172200"/>
            <a:ext cx="614680" cy="32004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後期</a:t>
            </a:r>
            <a:endParaRPr lang="en-US" sz="1250" dirty="0"/>
          </a:p>
        </p:txBody>
      </p:sp>
      <p:sp>
        <p:nvSpPr>
          <p:cNvPr id="40" name="標籤"/>
          <p:cNvSpPr/>
          <p:nvPr/>
        </p:nvSpPr>
        <p:spPr>
          <a:xfrm>
            <a:off x="6172200" y="6995160"/>
            <a:ext cx="773430" cy="320040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建槓桿</a:t>
            </a:r>
            <a:endParaRPr lang="en-US" sz="1250" dirty="0"/>
          </a:p>
        </p:txBody>
      </p:sp>
      <p:sp>
        <p:nvSpPr>
          <p:cNvPr id="41" name="寬欄條"/>
          <p:cNvSpPr/>
          <p:nvPr/>
        </p:nvSpPr>
        <p:spPr>
          <a:xfrm>
            <a:off x="8858250" y="2571750"/>
            <a:ext cx="685800" cy="4857750"/>
          </a:xfrm>
          <a:prstGeom prst="roundRect">
            <a:avLst>
              <a:gd name="adj" fmla="val 50000"/>
            </a:avLst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寬欄條"/>
          <p:cNvSpPr/>
          <p:nvPr/>
        </p:nvSpPr>
        <p:spPr>
          <a:xfrm>
            <a:off x="9772650" y="2571750"/>
            <a:ext cx="685800" cy="4857750"/>
          </a:xfrm>
          <a:prstGeom prst="roundRect">
            <a:avLst>
              <a:gd name="adj" fmla="val 50000"/>
            </a:avLst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8458200" y="2194560"/>
            <a:ext cx="24003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吸收　／　產出</a:t>
            </a:r>
            <a:endParaRPr lang="en-US" sz="1400" dirty="0"/>
          </a:p>
        </p:txBody>
      </p:sp>
      <p:sp>
        <p:nvSpPr>
          <p:cNvPr id="44" name="編號"/>
          <p:cNvSpPr/>
          <p:nvPr/>
        </p:nvSpPr>
        <p:spPr>
          <a:xfrm>
            <a:off x="8926830" y="3154680"/>
            <a:ext cx="548640" cy="54864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</a:t>
            </a:r>
            <a:endParaRPr lang="en-US" sz="1750" dirty="0"/>
          </a:p>
        </p:txBody>
      </p:sp>
      <p:sp>
        <p:nvSpPr>
          <p:cNvPr id="45" name="編號"/>
          <p:cNvSpPr/>
          <p:nvPr/>
        </p:nvSpPr>
        <p:spPr>
          <a:xfrm>
            <a:off x="9841230" y="3154680"/>
            <a:ext cx="548640" cy="54864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</a:t>
            </a:r>
            <a:endParaRPr lang="en-US" sz="1750" dirty="0"/>
          </a:p>
        </p:txBody>
      </p:sp>
      <p:sp>
        <p:nvSpPr>
          <p:cNvPr id="46" name="線條"/>
          <p:cNvSpPr/>
          <p:nvPr/>
        </p:nvSpPr>
        <p:spPr>
          <a:xfrm>
            <a:off x="8378190" y="3429000"/>
            <a:ext cx="48006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47" name="編號"/>
          <p:cNvSpPr/>
          <p:nvPr/>
        </p:nvSpPr>
        <p:spPr>
          <a:xfrm>
            <a:off x="8926830" y="4812030"/>
            <a:ext cx="548640" cy="54864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</a:t>
            </a:r>
            <a:endParaRPr lang="en-US" sz="1750" dirty="0"/>
          </a:p>
        </p:txBody>
      </p:sp>
      <p:sp>
        <p:nvSpPr>
          <p:cNvPr id="48" name="編號"/>
          <p:cNvSpPr/>
          <p:nvPr/>
        </p:nvSpPr>
        <p:spPr>
          <a:xfrm>
            <a:off x="9841230" y="4812030"/>
            <a:ext cx="548640" cy="54864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談</a:t>
            </a:r>
            <a:endParaRPr lang="en-US" sz="1750" dirty="0"/>
          </a:p>
        </p:txBody>
      </p:sp>
      <p:sp>
        <p:nvSpPr>
          <p:cNvPr id="49" name="線條"/>
          <p:cNvSpPr/>
          <p:nvPr/>
        </p:nvSpPr>
        <p:spPr>
          <a:xfrm>
            <a:off x="8378190" y="5086350"/>
            <a:ext cx="48006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50" name="編號"/>
          <p:cNvSpPr/>
          <p:nvPr/>
        </p:nvSpPr>
        <p:spPr>
          <a:xfrm>
            <a:off x="8926830" y="6469380"/>
            <a:ext cx="548640" cy="54864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</a:t>
            </a:r>
            <a:endParaRPr lang="en-US" sz="1750" dirty="0"/>
          </a:p>
        </p:txBody>
      </p:sp>
      <p:sp>
        <p:nvSpPr>
          <p:cNvPr id="51" name="編號"/>
          <p:cNvSpPr/>
          <p:nvPr/>
        </p:nvSpPr>
        <p:spPr>
          <a:xfrm>
            <a:off x="9841230" y="6469380"/>
            <a:ext cx="548640" cy="54864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</a:t>
            </a:r>
            <a:endParaRPr lang="en-US" sz="1750" dirty="0"/>
          </a:p>
        </p:txBody>
      </p:sp>
      <p:sp>
        <p:nvSpPr>
          <p:cNvPr id="52" name="線條"/>
          <p:cNvSpPr/>
          <p:nvPr/>
        </p:nvSpPr>
        <p:spPr>
          <a:xfrm>
            <a:off x="8378190" y="6743700"/>
            <a:ext cx="48006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53" name="線條"/>
          <p:cNvSpPr/>
          <p:nvPr/>
        </p:nvSpPr>
        <p:spPr>
          <a:xfrm>
            <a:off x="10458450" y="3429000"/>
            <a:ext cx="28575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</a:ln>
        </p:spPr>
      </p:sp>
      <p:sp>
        <p:nvSpPr>
          <p:cNvPr id="54" name="連接線"/>
          <p:cNvSpPr/>
          <p:nvPr/>
        </p:nvSpPr>
        <p:spPr>
          <a:xfrm>
            <a:off x="10744200" y="3063240"/>
            <a:ext cx="308610" cy="365760"/>
          </a:xfrm>
          <a:custGeom>
            <a:avLst/>
            <a:gdLst/>
            <a:ahLst/>
            <a:cxnLst/>
            <a:rect l="l" t="t" r="r" b="b"/>
            <a:pathLst>
              <a:path w="308610" h="365760">
                <a:moveTo>
                  <a:pt x="0" y="365760"/>
                </a:moveTo>
                <a:lnTo>
                  <a:pt x="0" y="0"/>
                </a:lnTo>
                <a:lnTo>
                  <a:pt x="308610" y="0"/>
                </a:lnTo>
              </a:path>
            </a:pathLst>
          </a:custGeom>
          <a:noFill/>
          <a:ln w="15875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11144250" y="2891790"/>
            <a:ext cx="26289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流程操作、工具使用</a:t>
            </a:r>
            <a:endParaRPr lang="en-US" sz="1400" dirty="0"/>
          </a:p>
        </p:txBody>
      </p:sp>
      <p:sp>
        <p:nvSpPr>
          <p:cNvPr id="56" name="連接線"/>
          <p:cNvSpPr/>
          <p:nvPr/>
        </p:nvSpPr>
        <p:spPr>
          <a:xfrm>
            <a:off x="10744200" y="3429000"/>
            <a:ext cx="308610" cy="365760"/>
          </a:xfrm>
          <a:custGeom>
            <a:avLst/>
            <a:gdLst/>
            <a:ahLst/>
            <a:cxnLst/>
            <a:rect l="l" t="t" r="r" b="b"/>
            <a:pathLst>
              <a:path w="308610" h="365760">
                <a:moveTo>
                  <a:pt x="0" y="0"/>
                </a:moveTo>
                <a:lnTo>
                  <a:pt x="0" y="365760"/>
                </a:lnTo>
                <a:lnTo>
                  <a:pt x="308610" y="365760"/>
                </a:lnTo>
              </a:path>
            </a:pathLst>
          </a:custGeom>
          <a:noFill/>
          <a:ln w="15875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11144250" y="3623310"/>
            <a:ext cx="26289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標準作業與規範</a:t>
            </a:r>
            <a:endParaRPr lang="en-US" sz="1400" dirty="0"/>
          </a:p>
        </p:txBody>
      </p:sp>
      <p:sp>
        <p:nvSpPr>
          <p:cNvPr id="58" name="線條"/>
          <p:cNvSpPr/>
          <p:nvPr/>
        </p:nvSpPr>
        <p:spPr>
          <a:xfrm>
            <a:off x="10458450" y="5086350"/>
            <a:ext cx="28575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</a:ln>
        </p:spPr>
      </p:sp>
      <p:sp>
        <p:nvSpPr>
          <p:cNvPr id="59" name="連接線"/>
          <p:cNvSpPr/>
          <p:nvPr/>
        </p:nvSpPr>
        <p:spPr>
          <a:xfrm>
            <a:off x="10744200" y="4720590"/>
            <a:ext cx="308610" cy="365760"/>
          </a:xfrm>
          <a:custGeom>
            <a:avLst/>
            <a:gdLst/>
            <a:ahLst/>
            <a:cxnLst/>
            <a:rect l="l" t="t" r="r" b="b"/>
            <a:pathLst>
              <a:path w="308610" h="365760">
                <a:moveTo>
                  <a:pt x="0" y="365760"/>
                </a:moveTo>
                <a:lnTo>
                  <a:pt x="0" y="0"/>
                </a:lnTo>
                <a:lnTo>
                  <a:pt x="308610" y="0"/>
                </a:lnTo>
              </a:path>
            </a:pathLst>
          </a:custGeom>
          <a:noFill/>
          <a:ln w="15875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11144250" y="4549140"/>
            <a:ext cx="26289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表達、傾聽、協調</a:t>
            </a:r>
            <a:endParaRPr lang="en-US" sz="1400" dirty="0"/>
          </a:p>
        </p:txBody>
      </p:sp>
      <p:sp>
        <p:nvSpPr>
          <p:cNvPr id="61" name="連接線"/>
          <p:cNvSpPr/>
          <p:nvPr/>
        </p:nvSpPr>
        <p:spPr>
          <a:xfrm>
            <a:off x="10744200" y="5086350"/>
            <a:ext cx="308610" cy="365760"/>
          </a:xfrm>
          <a:custGeom>
            <a:avLst/>
            <a:gdLst/>
            <a:ahLst/>
            <a:cxnLst/>
            <a:rect l="l" t="t" r="r" b="b"/>
            <a:pathLst>
              <a:path w="308610" h="365760">
                <a:moveTo>
                  <a:pt x="0" y="0"/>
                </a:moveTo>
                <a:lnTo>
                  <a:pt x="0" y="365760"/>
                </a:lnTo>
                <a:lnTo>
                  <a:pt x="308610" y="365760"/>
                </a:lnTo>
              </a:path>
            </a:pathLst>
          </a:custGeom>
          <a:noFill/>
          <a:ln w="15875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11144250" y="5280660"/>
            <a:ext cx="26289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提案、談判、領導</a:t>
            </a:r>
            <a:endParaRPr lang="en-US" sz="1400" dirty="0"/>
          </a:p>
        </p:txBody>
      </p:sp>
      <p:sp>
        <p:nvSpPr>
          <p:cNvPr id="63" name="線條"/>
          <p:cNvSpPr/>
          <p:nvPr/>
        </p:nvSpPr>
        <p:spPr>
          <a:xfrm>
            <a:off x="10458450" y="6743700"/>
            <a:ext cx="28575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</a:ln>
        </p:spPr>
      </p:sp>
      <p:sp>
        <p:nvSpPr>
          <p:cNvPr id="64" name="連接線"/>
          <p:cNvSpPr/>
          <p:nvPr/>
        </p:nvSpPr>
        <p:spPr>
          <a:xfrm>
            <a:off x="10744200" y="6377940"/>
            <a:ext cx="308610" cy="365760"/>
          </a:xfrm>
          <a:custGeom>
            <a:avLst/>
            <a:gdLst/>
            <a:ahLst/>
            <a:cxnLst/>
            <a:rect l="l" t="t" r="r" b="b"/>
            <a:pathLst>
              <a:path w="308610" h="365760">
                <a:moveTo>
                  <a:pt x="0" y="365760"/>
                </a:moveTo>
                <a:lnTo>
                  <a:pt x="0" y="0"/>
                </a:lnTo>
                <a:lnTo>
                  <a:pt x="308610" y="0"/>
                </a:lnTo>
              </a:path>
            </a:pathLst>
          </a:custGeom>
          <a:noFill/>
          <a:ln w="15875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11144250" y="6206490"/>
            <a:ext cx="26289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結構思考、問題解決</a:t>
            </a:r>
            <a:endParaRPr lang="en-US" sz="1400" dirty="0"/>
          </a:p>
        </p:txBody>
      </p:sp>
      <p:sp>
        <p:nvSpPr>
          <p:cNvPr id="66" name="連接線"/>
          <p:cNvSpPr/>
          <p:nvPr/>
        </p:nvSpPr>
        <p:spPr>
          <a:xfrm>
            <a:off x="10744200" y="6743700"/>
            <a:ext cx="308610" cy="365760"/>
          </a:xfrm>
          <a:custGeom>
            <a:avLst/>
            <a:gdLst/>
            <a:ahLst/>
            <a:cxnLst/>
            <a:rect l="l" t="t" r="r" b="b"/>
            <a:pathLst>
              <a:path w="308610" h="365760">
                <a:moveTo>
                  <a:pt x="0" y="0"/>
                </a:moveTo>
                <a:lnTo>
                  <a:pt x="0" y="365760"/>
                </a:lnTo>
                <a:lnTo>
                  <a:pt x="308610" y="365760"/>
                </a:lnTo>
              </a:path>
            </a:pathLst>
          </a:custGeom>
          <a:noFill/>
          <a:ln w="15875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11144250" y="6938010"/>
            <a:ext cx="26289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資源整合、創新</a:t>
            </a:r>
            <a:endParaRPr lang="en-US" sz="1400" dirty="0"/>
          </a:p>
        </p:txBody>
      </p:sp>
      <p:sp>
        <p:nvSpPr>
          <p:cNvPr id="68" name="漸隱直條"/>
          <p:cNvSpPr/>
          <p:nvPr/>
        </p:nvSpPr>
        <p:spPr>
          <a:xfrm>
            <a:off x="14167485" y="2810637"/>
            <a:ext cx="217170" cy="4391406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漸隱直條"/>
          <p:cNvSpPr/>
          <p:nvPr/>
        </p:nvSpPr>
        <p:spPr>
          <a:xfrm>
            <a:off x="14167485" y="3175635"/>
            <a:ext cx="217170" cy="3661410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漸隱直條"/>
          <p:cNvSpPr/>
          <p:nvPr/>
        </p:nvSpPr>
        <p:spPr>
          <a:xfrm>
            <a:off x="14167485" y="3540633"/>
            <a:ext cx="217170" cy="2931414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漸隱直條"/>
          <p:cNvSpPr/>
          <p:nvPr/>
        </p:nvSpPr>
        <p:spPr>
          <a:xfrm>
            <a:off x="14167485" y="3905631"/>
            <a:ext cx="217170" cy="2201418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漸隱直條"/>
          <p:cNvSpPr/>
          <p:nvPr/>
        </p:nvSpPr>
        <p:spPr>
          <a:xfrm>
            <a:off x="14167485" y="4270629"/>
            <a:ext cx="217170" cy="1471422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漸隱直條"/>
          <p:cNvSpPr/>
          <p:nvPr/>
        </p:nvSpPr>
        <p:spPr>
          <a:xfrm>
            <a:off x="14167485" y="4635627"/>
            <a:ext cx="217170" cy="741426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14058900" y="2571750"/>
            <a:ext cx="434340" cy="238887"/>
          </a:xfrm>
          <a:custGeom>
            <a:avLst/>
            <a:gdLst/>
            <a:ahLst/>
            <a:cxnLst/>
            <a:rect l="l" t="t" r="r" b="b"/>
            <a:pathLst>
              <a:path w="434340" h="238887">
                <a:moveTo>
                  <a:pt x="0" y="238887"/>
                </a:moveTo>
                <a:lnTo>
                  <a:pt x="217170" y="0"/>
                </a:lnTo>
                <a:lnTo>
                  <a:pt x="434340" y="238887"/>
                </a:lnTo>
                <a:close/>
              </a:path>
            </a:pathLst>
          </a:cu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14058900" y="7190613"/>
            <a:ext cx="434340" cy="238887"/>
          </a:xfrm>
          <a:custGeom>
            <a:avLst/>
            <a:gdLst/>
            <a:ahLst/>
            <a:cxnLst/>
            <a:rect l="l" t="t" r="r" b="b"/>
            <a:pathLst>
              <a:path w="434340" h="238887">
                <a:moveTo>
                  <a:pt x="0" y="0"/>
                </a:moveTo>
                <a:lnTo>
                  <a:pt x="434340" y="0"/>
                </a:lnTo>
                <a:lnTo>
                  <a:pt x="217170" y="238887"/>
                </a:lnTo>
                <a:close/>
              </a:path>
            </a:pathLst>
          </a:custGeom>
          <a:solidFill>
            <a:srgbClr val="A6A6A6">
              <a:alpha val="50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12973050" y="2194560"/>
            <a:ext cx="16002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情境限定</a:t>
            </a:r>
            <a:endParaRPr lang="en-US" sz="1250" dirty="0"/>
          </a:p>
        </p:txBody>
      </p:sp>
      <p:sp>
        <p:nvSpPr>
          <p:cNvPr id="77" name="Text 75"/>
          <p:cNvSpPr/>
          <p:nvPr/>
        </p:nvSpPr>
        <p:spPr>
          <a:xfrm>
            <a:off x="12973050" y="7486650"/>
            <a:ext cx="16002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B9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跨域通用</a:t>
            </a:r>
            <a:endParaRPr lang="en-US" sz="1250" dirty="0"/>
          </a:p>
        </p:txBody>
      </p:sp>
      <p:sp>
        <p:nvSpPr>
          <p:cNvPr id="78" name="Text 76"/>
          <p:cNvSpPr/>
          <p:nvPr/>
        </p:nvSpPr>
        <p:spPr>
          <a:xfrm>
            <a:off x="685800" y="78867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冰山能力圖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79" name="Text 77"/>
          <p:cNvSpPr/>
          <p:nvPr/>
        </p:nvSpPr>
        <p:spPr>
          <a:xfrm>
            <a:off x="12839319" y="78867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 / 14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精緻圖解元件庫 · 冰山能力圖</dc:title>
  <dc:subject>PptxGenJS Presentation</dc:subject>
  <dc:creator>PPT Style Studio</dc:creator>
  <cp:lastModifiedBy>PPT Style Studio</cp:lastModifiedBy>
  <cp:revision>1</cp:revision>
  <dcterms:created xsi:type="dcterms:W3CDTF">2026-10-09T02:56:27Z</dcterms:created>
  <dcterms:modified xsi:type="dcterms:W3CDTF">2026-10-09T02:56:27Z</dcterms:modified>
</cp:coreProperties>
</file>