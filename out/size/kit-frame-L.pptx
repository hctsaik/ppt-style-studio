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5239619" cy="8572500"/>
  <p:notesSz cx="8572500" cy="15239619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71500" y="45720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5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《元件總表 Element Catalog》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685800" y="1257300"/>
            <a:ext cx="1257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一頁看完本風格的所有元件變化：挑好樣式，直接複製圖形使用</a:t>
            </a:r>
            <a:endParaRPr lang="en-US" sz="1900" dirty="0"/>
          </a:p>
        </p:txBody>
      </p:sp>
      <p:sp>
        <p:nvSpPr>
          <p:cNvPr id="4" name="線條"/>
          <p:cNvSpPr/>
          <p:nvPr/>
        </p:nvSpPr>
        <p:spPr>
          <a:xfrm>
            <a:off x="685800" y="1851660"/>
            <a:ext cx="138680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23085"/>
            <a:ext cx="1257300" cy="57150"/>
          </a:xfrm>
          <a:prstGeom prst="rect">
            <a:avLst/>
          </a:pr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類別"/>
          <p:cNvSpPr/>
          <p:nvPr/>
        </p:nvSpPr>
        <p:spPr>
          <a:xfrm>
            <a:off x="685800" y="2177415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流程方塊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750" dirty="0"/>
          </a:p>
        </p:txBody>
      </p:sp>
      <p:sp>
        <p:nvSpPr>
          <p:cNvPr id="7" name="流程方塊"/>
          <p:cNvSpPr/>
          <p:nvPr/>
        </p:nvSpPr>
        <p:spPr>
          <a:xfrm>
            <a:off x="2497700" y="2091690"/>
            <a:ext cx="1371600" cy="48006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8" name="圖說"/>
          <p:cNvSpPr/>
          <p:nvPr/>
        </p:nvSpPr>
        <p:spPr>
          <a:xfrm>
            <a:off x="2343150" y="26117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無陰影・外框</a:t>
            </a:r>
            <a:endParaRPr lang="en-US" sz="1050" dirty="0"/>
          </a:p>
        </p:txBody>
      </p:sp>
      <p:sp>
        <p:nvSpPr>
          <p:cNvPr id="9" name="流程方塊"/>
          <p:cNvSpPr/>
          <p:nvPr/>
        </p:nvSpPr>
        <p:spPr>
          <a:xfrm>
            <a:off x="4246980" y="2091690"/>
            <a:ext cx="1371600" cy="48006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8001">
            <a:solidFill>
              <a:srgbClr val="D9D9D9"/>
            </a:solidFill>
            <a:prstDash val="solid"/>
          </a:ln>
          <a:effectLst>
            <a:outerShdw blurRad="106045" dist="30353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10" name="圖說"/>
          <p:cNvSpPr/>
          <p:nvPr/>
        </p:nvSpPr>
        <p:spPr>
          <a:xfrm>
            <a:off x="4092430" y="26117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1050" dirty="0"/>
          </a:p>
        </p:txBody>
      </p:sp>
      <p:sp>
        <p:nvSpPr>
          <p:cNvPr id="11" name="流程方塊"/>
          <p:cNvSpPr/>
          <p:nvPr/>
        </p:nvSpPr>
        <p:spPr>
          <a:xfrm>
            <a:off x="5996260" y="2091690"/>
            <a:ext cx="1371600" cy="480060"/>
          </a:xfrm>
          <a:prstGeom prst="roundRect">
            <a:avLst>
              <a:gd name="adj" fmla="val 23810"/>
            </a:avLst>
          </a:prstGeom>
          <a:solidFill>
            <a:srgbClr val="E3E8EF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12" name="圖說"/>
          <p:cNvSpPr/>
          <p:nvPr/>
        </p:nvSpPr>
        <p:spPr>
          <a:xfrm>
            <a:off x="5841710" y="26117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1050" dirty="0"/>
          </a:p>
        </p:txBody>
      </p:sp>
      <p:sp>
        <p:nvSpPr>
          <p:cNvPr id="13" name="流程方塊"/>
          <p:cNvSpPr/>
          <p:nvPr/>
        </p:nvSpPr>
        <p:spPr>
          <a:xfrm>
            <a:off x="7745540" y="2091690"/>
            <a:ext cx="1371600" cy="480060"/>
          </a:xfrm>
          <a:prstGeom prst="roundRect">
            <a:avLst>
              <a:gd name="adj" fmla="val 23810"/>
            </a:avLst>
          </a:prstGeom>
          <a:solidFill>
            <a:srgbClr val="F2F2F2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14" name="圖說"/>
          <p:cNvSpPr/>
          <p:nvPr/>
        </p:nvSpPr>
        <p:spPr>
          <a:xfrm>
            <a:off x="7590990" y="26117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1050" dirty="0"/>
          </a:p>
        </p:txBody>
      </p:sp>
      <p:sp>
        <p:nvSpPr>
          <p:cNvPr id="15" name="流程方塊"/>
          <p:cNvSpPr/>
          <p:nvPr/>
        </p:nvSpPr>
        <p:spPr>
          <a:xfrm>
            <a:off x="9494819" y="2091690"/>
            <a:ext cx="1371600" cy="48006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27813">
            <a:solidFill>
              <a:srgbClr val="2F4B6E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16" name="圖說"/>
          <p:cNvSpPr/>
          <p:nvPr/>
        </p:nvSpPr>
        <p:spPr>
          <a:xfrm>
            <a:off x="9340269" y="26117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主色粗外框</a:t>
            </a:r>
            <a:endParaRPr lang="en-US" sz="1050" dirty="0"/>
          </a:p>
        </p:txBody>
      </p:sp>
      <p:sp>
        <p:nvSpPr>
          <p:cNvPr id="17" name="流程方塊"/>
          <p:cNvSpPr/>
          <p:nvPr/>
        </p:nvSpPr>
        <p:spPr>
          <a:xfrm>
            <a:off x="11244099" y="2091690"/>
            <a:ext cx="1371600" cy="480060"/>
          </a:xfrm>
          <a:prstGeom prst="roundRect">
            <a:avLst>
              <a:gd name="adj" fmla="val 23810"/>
            </a:avLst>
          </a:prstGeom>
          <a:solidFill>
            <a:srgbClr val="2F4B6E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關鍵步驟</a:t>
            </a:r>
            <a:endParaRPr lang="en-US" sz="1450" dirty="0"/>
          </a:p>
        </p:txBody>
      </p:sp>
      <p:sp>
        <p:nvSpPr>
          <p:cNvPr id="18" name="圖說"/>
          <p:cNvSpPr/>
          <p:nvPr/>
        </p:nvSpPr>
        <p:spPr>
          <a:xfrm>
            <a:off x="11089549" y="26117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1050" dirty="0"/>
          </a:p>
        </p:txBody>
      </p:sp>
      <p:sp>
        <p:nvSpPr>
          <p:cNvPr id="19" name="流程方塊"/>
          <p:cNvSpPr/>
          <p:nvPr/>
        </p:nvSpPr>
        <p:spPr>
          <a:xfrm>
            <a:off x="12993379" y="2091690"/>
            <a:ext cx="1371600" cy="48006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待定步驟</a:t>
            </a:r>
            <a:endParaRPr lang="en-US" sz="1450" dirty="0"/>
          </a:p>
        </p:txBody>
      </p:sp>
      <p:sp>
        <p:nvSpPr>
          <p:cNvPr id="20" name="圖說"/>
          <p:cNvSpPr/>
          <p:nvPr/>
        </p:nvSpPr>
        <p:spPr>
          <a:xfrm>
            <a:off x="12838829" y="26117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虛線・待定</a:t>
            </a:r>
            <a:endParaRPr lang="en-US" sz="1050" dirty="0"/>
          </a:p>
        </p:txBody>
      </p:sp>
      <p:sp>
        <p:nvSpPr>
          <p:cNvPr id="21" name="線條"/>
          <p:cNvSpPr/>
          <p:nvPr/>
        </p:nvSpPr>
        <p:spPr>
          <a:xfrm>
            <a:off x="685800" y="282892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22" name="類別"/>
          <p:cNvSpPr/>
          <p:nvPr/>
        </p:nvSpPr>
        <p:spPr>
          <a:xfrm>
            <a:off x="685800" y="3034665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判斷菱形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750" dirty="0"/>
          </a:p>
        </p:txBody>
      </p:sp>
      <p:sp>
        <p:nvSpPr>
          <p:cNvPr id="23" name="判斷菱形"/>
          <p:cNvSpPr/>
          <p:nvPr/>
        </p:nvSpPr>
        <p:spPr>
          <a:xfrm>
            <a:off x="2583425" y="2891790"/>
            <a:ext cx="1200150" cy="5943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24" name="圖說"/>
          <p:cNvSpPr/>
          <p:nvPr/>
        </p:nvSpPr>
        <p:spPr>
          <a:xfrm>
            <a:off x="2343150" y="35261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1050" dirty="0"/>
          </a:p>
        </p:txBody>
      </p:sp>
      <p:sp>
        <p:nvSpPr>
          <p:cNvPr id="25" name="判斷菱形"/>
          <p:cNvSpPr/>
          <p:nvPr/>
        </p:nvSpPr>
        <p:spPr>
          <a:xfrm>
            <a:off x="4332705" y="2891790"/>
            <a:ext cx="1200150" cy="594360"/>
          </a:xfrm>
          <a:prstGeom prst="diamond">
            <a:avLst/>
          </a:prstGeom>
          <a:solidFill>
            <a:srgbClr val="FFFFFF"/>
          </a:solidFill>
          <a:ln w="8001">
            <a:solidFill>
              <a:srgbClr val="D9D9D9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26" name="圖說"/>
          <p:cNvSpPr/>
          <p:nvPr/>
        </p:nvSpPr>
        <p:spPr>
          <a:xfrm>
            <a:off x="4092430" y="35261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1050" dirty="0"/>
          </a:p>
        </p:txBody>
      </p:sp>
      <p:sp>
        <p:nvSpPr>
          <p:cNvPr id="27" name="判斷菱形"/>
          <p:cNvSpPr/>
          <p:nvPr/>
        </p:nvSpPr>
        <p:spPr>
          <a:xfrm>
            <a:off x="6081985" y="2891790"/>
            <a:ext cx="1200150" cy="594360"/>
          </a:xfrm>
          <a:prstGeom prst="diamond">
            <a:avLst/>
          </a:prstGeom>
          <a:solidFill>
            <a:srgbClr val="E3E8E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28" name="圖說"/>
          <p:cNvSpPr/>
          <p:nvPr/>
        </p:nvSpPr>
        <p:spPr>
          <a:xfrm>
            <a:off x="5841710" y="35261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1050" dirty="0"/>
          </a:p>
        </p:txBody>
      </p:sp>
      <p:sp>
        <p:nvSpPr>
          <p:cNvPr id="29" name="判斷菱形"/>
          <p:cNvSpPr/>
          <p:nvPr/>
        </p:nvSpPr>
        <p:spPr>
          <a:xfrm>
            <a:off x="7831265" y="2891790"/>
            <a:ext cx="1200150" cy="594360"/>
          </a:xfrm>
          <a:prstGeom prst="diamond">
            <a:avLst/>
          </a:prstGeom>
          <a:solidFill>
            <a:srgbClr val="FFFFFF"/>
          </a:solidFill>
          <a:ln w="23876">
            <a:solidFill>
              <a:srgbClr val="2F4B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30" name="圖說"/>
          <p:cNvSpPr/>
          <p:nvPr/>
        </p:nvSpPr>
        <p:spPr>
          <a:xfrm>
            <a:off x="7590990" y="35261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主色外框</a:t>
            </a:r>
            <a:endParaRPr lang="en-US" sz="1050" dirty="0"/>
          </a:p>
        </p:txBody>
      </p:sp>
      <p:sp>
        <p:nvSpPr>
          <p:cNvPr id="31" name="判斷菱形"/>
          <p:cNvSpPr/>
          <p:nvPr/>
        </p:nvSpPr>
        <p:spPr>
          <a:xfrm>
            <a:off x="9580544" y="2891790"/>
            <a:ext cx="1200150" cy="594360"/>
          </a:xfrm>
          <a:prstGeom prst="diamond">
            <a:avLst/>
          </a:prstGeom>
          <a:solidFill>
            <a:srgbClr val="2F4B6E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32" name="圖說"/>
          <p:cNvSpPr/>
          <p:nvPr/>
        </p:nvSpPr>
        <p:spPr>
          <a:xfrm>
            <a:off x="9340269" y="35261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1050" dirty="0"/>
          </a:p>
        </p:txBody>
      </p:sp>
      <p:sp>
        <p:nvSpPr>
          <p:cNvPr id="33" name="判斷菱形"/>
          <p:cNvSpPr/>
          <p:nvPr/>
        </p:nvSpPr>
        <p:spPr>
          <a:xfrm>
            <a:off x="11329824" y="2891790"/>
            <a:ext cx="1200150" cy="5943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34" name="圖說"/>
          <p:cNvSpPr/>
          <p:nvPr/>
        </p:nvSpPr>
        <p:spPr>
          <a:xfrm>
            <a:off x="11089549" y="35261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虛線・待確認</a:t>
            </a:r>
            <a:endParaRPr lang="en-US" sz="1050" dirty="0"/>
          </a:p>
        </p:txBody>
      </p:sp>
      <p:grpSp>
        <p:nvGrpSpPr>
          <p:cNvPr id="5000" name="判斷＋分岔箭頭"/>
          <p:cNvGrpSpPr/>
          <p:nvPr/>
        </p:nvGrpSpPr>
        <p:grpSpPr>
          <a:xfrm>
            <a:off x="12913369" y="2891790"/>
            <a:ext cx="1394460" cy="594360"/>
            <a:chOff x="12913369" y="2891790"/>
            <a:chExt cx="1394460" cy="594360"/>
          </a:xfrm>
        </p:grpSpPr>
        <p:sp>
          <p:nvSpPr>
            <p:cNvPr id="35" name="判斷菱形"/>
            <p:cNvSpPr/>
            <p:nvPr/>
          </p:nvSpPr>
          <p:spPr>
            <a:xfrm>
              <a:off x="12913369" y="2891790"/>
              <a:ext cx="708660" cy="594360"/>
            </a:xfrm>
            <a:prstGeom prst="diamond">
              <a:avLst/>
            </a:prstGeom>
            <a:solidFill>
              <a:srgbClr val="FFFFFF"/>
            </a:solidFill>
            <a:ln w="19812">
              <a:solidFill>
                <a:srgbClr val="2F4B6E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36" name="線條"/>
            <p:cNvSpPr/>
            <p:nvPr/>
          </p:nvSpPr>
          <p:spPr>
            <a:xfrm>
              <a:off x="13622029" y="3188970"/>
              <a:ext cx="685800" cy="0"/>
            </a:xfrm>
            <a:prstGeom prst="line">
              <a:avLst/>
            </a:prstGeom>
            <a:noFill/>
            <a:ln w="19812">
              <a:solidFill>
                <a:srgbClr val="595959"/>
              </a:solidFill>
              <a:prstDash val="sysDot"/>
              <a:tailEnd type="triangle" w="lg" len="lg"/>
            </a:ln>
          </p:spPr>
        </p:sp>
        <p:sp>
          <p:nvSpPr>
            <p:cNvPr id="37" name="標註"/>
            <p:cNvSpPr/>
            <p:nvPr/>
          </p:nvSpPr>
          <p:spPr>
            <a:xfrm>
              <a:off x="13644889" y="2960370"/>
              <a:ext cx="34290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1000" dirty="0"/>
            </a:p>
          </p:txBody>
        </p:sp>
      </p:grpSp>
      <p:sp>
        <p:nvSpPr>
          <p:cNvPr id="38" name="圖說"/>
          <p:cNvSpPr/>
          <p:nvPr/>
        </p:nvSpPr>
        <p:spPr>
          <a:xfrm>
            <a:off x="12838829" y="35261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判斷＋分岔箭頭</a:t>
            </a:r>
            <a:endParaRPr lang="en-US" sz="1050" dirty="0"/>
          </a:p>
        </p:txBody>
      </p:sp>
      <p:sp>
        <p:nvSpPr>
          <p:cNvPr id="39" name="線條"/>
          <p:cNvSpPr/>
          <p:nvPr/>
        </p:nvSpPr>
        <p:spPr>
          <a:xfrm>
            <a:off x="685800" y="374332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40" name="類別"/>
          <p:cNvSpPr/>
          <p:nvPr/>
        </p:nvSpPr>
        <p:spPr>
          <a:xfrm>
            <a:off x="685800" y="3869055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Start / End</a:t>
            </a:r>
            <a:endParaRPr lang="en-US" sz="1750" dirty="0"/>
          </a:p>
        </p:txBody>
      </p:sp>
      <p:sp>
        <p:nvSpPr>
          <p:cNvPr id="41" name="開始／結束"/>
          <p:cNvSpPr/>
          <p:nvPr/>
        </p:nvSpPr>
        <p:spPr>
          <a:xfrm>
            <a:off x="2497700" y="38061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812">
            <a:solidFill>
              <a:srgbClr val="2F4B6E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50" dirty="0"/>
          </a:p>
        </p:txBody>
      </p:sp>
      <p:sp>
        <p:nvSpPr>
          <p:cNvPr id="42" name="圖說"/>
          <p:cNvSpPr/>
          <p:nvPr/>
        </p:nvSpPr>
        <p:spPr>
          <a:xfrm>
            <a:off x="2343150" y="42805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1050" dirty="0"/>
          </a:p>
        </p:txBody>
      </p:sp>
      <p:sp>
        <p:nvSpPr>
          <p:cNvPr id="43" name="開始／結束"/>
          <p:cNvSpPr/>
          <p:nvPr/>
        </p:nvSpPr>
        <p:spPr>
          <a:xfrm>
            <a:off x="4246980" y="38061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50" dirty="0"/>
          </a:p>
        </p:txBody>
      </p:sp>
      <p:sp>
        <p:nvSpPr>
          <p:cNvPr id="44" name="圖說"/>
          <p:cNvSpPr/>
          <p:nvPr/>
        </p:nvSpPr>
        <p:spPr>
          <a:xfrm>
            <a:off x="4092430" y="42805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1050" dirty="0"/>
          </a:p>
        </p:txBody>
      </p:sp>
      <p:sp>
        <p:nvSpPr>
          <p:cNvPr id="45" name="開始／結束"/>
          <p:cNvSpPr/>
          <p:nvPr/>
        </p:nvSpPr>
        <p:spPr>
          <a:xfrm>
            <a:off x="5996260" y="38061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50" dirty="0"/>
          </a:p>
        </p:txBody>
      </p:sp>
      <p:sp>
        <p:nvSpPr>
          <p:cNvPr id="46" name="圖說"/>
          <p:cNvSpPr/>
          <p:nvPr/>
        </p:nvSpPr>
        <p:spPr>
          <a:xfrm>
            <a:off x="5841710" y="42805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1050" dirty="0"/>
          </a:p>
        </p:txBody>
      </p:sp>
      <p:sp>
        <p:nvSpPr>
          <p:cNvPr id="47" name="開始／結束"/>
          <p:cNvSpPr/>
          <p:nvPr/>
        </p:nvSpPr>
        <p:spPr>
          <a:xfrm>
            <a:off x="7745540" y="38061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001">
            <a:solidFill>
              <a:srgbClr val="D9D9D9"/>
            </a:solidFill>
            <a:prstDash val="solid"/>
          </a:ln>
          <a:effectLst>
            <a:outerShdw blurRad="96012" dist="27432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50" dirty="0"/>
          </a:p>
        </p:txBody>
      </p:sp>
      <p:sp>
        <p:nvSpPr>
          <p:cNvPr id="48" name="圖說"/>
          <p:cNvSpPr/>
          <p:nvPr/>
        </p:nvSpPr>
        <p:spPr>
          <a:xfrm>
            <a:off x="7590990" y="42805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1050" dirty="0"/>
          </a:p>
        </p:txBody>
      </p:sp>
      <p:sp>
        <p:nvSpPr>
          <p:cNvPr id="49" name="開始／結束"/>
          <p:cNvSpPr/>
          <p:nvPr/>
        </p:nvSpPr>
        <p:spPr>
          <a:xfrm>
            <a:off x="9494819" y="38061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450" dirty="0"/>
          </a:p>
        </p:txBody>
      </p:sp>
      <p:sp>
        <p:nvSpPr>
          <p:cNvPr id="50" name="圖說"/>
          <p:cNvSpPr/>
          <p:nvPr/>
        </p:nvSpPr>
        <p:spPr>
          <a:xfrm>
            <a:off x="9340269" y="42805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1050" dirty="0"/>
          </a:p>
        </p:txBody>
      </p:sp>
      <p:sp>
        <p:nvSpPr>
          <p:cNvPr id="51" name="線條"/>
          <p:cNvSpPr/>
          <p:nvPr/>
        </p:nvSpPr>
        <p:spPr>
          <a:xfrm>
            <a:off x="685800" y="449770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52" name="類別"/>
          <p:cNvSpPr/>
          <p:nvPr/>
        </p:nvSpPr>
        <p:spPr>
          <a:xfrm>
            <a:off x="685800" y="4634865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箭頭與連接線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Arrows</a:t>
            </a:r>
            <a:endParaRPr lang="en-US" sz="1750" dirty="0"/>
          </a:p>
        </p:txBody>
      </p:sp>
      <p:sp>
        <p:nvSpPr>
          <p:cNvPr id="53" name="線條"/>
          <p:cNvSpPr/>
          <p:nvPr/>
        </p:nvSpPr>
        <p:spPr>
          <a:xfrm>
            <a:off x="2520560" y="4789170"/>
            <a:ext cx="1325880" cy="0"/>
          </a:xfrm>
          <a:prstGeom prst="line">
            <a:avLst/>
          </a:prstGeom>
          <a:noFill/>
          <a:ln w="19812">
            <a:solidFill>
              <a:srgbClr val="595959"/>
            </a:solidFill>
            <a:prstDash val="sysDot"/>
            <a:tailEnd type="triangle" w="lg" len="lg"/>
          </a:ln>
        </p:spPr>
      </p:sp>
      <p:sp>
        <p:nvSpPr>
          <p:cNvPr id="54" name="圖說"/>
          <p:cNvSpPr/>
          <p:nvPr/>
        </p:nvSpPr>
        <p:spPr>
          <a:xfrm>
            <a:off x="2343150" y="505777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細直線箭頭</a:t>
            </a:r>
            <a:endParaRPr lang="en-US" sz="1050" dirty="0"/>
          </a:p>
        </p:txBody>
      </p:sp>
      <p:sp>
        <p:nvSpPr>
          <p:cNvPr id="55" name="線條"/>
          <p:cNvSpPr/>
          <p:nvPr/>
        </p:nvSpPr>
        <p:spPr>
          <a:xfrm>
            <a:off x="4269840" y="4789170"/>
            <a:ext cx="1325880" cy="0"/>
          </a:xfrm>
          <a:prstGeom prst="line">
            <a:avLst/>
          </a:prstGeom>
          <a:noFill/>
          <a:ln w="35687">
            <a:solidFill>
              <a:srgbClr val="2F4B6E"/>
            </a:solidFill>
            <a:prstDash val="solid"/>
            <a:tailEnd type="triangle"/>
          </a:ln>
        </p:spPr>
      </p:sp>
      <p:sp>
        <p:nvSpPr>
          <p:cNvPr id="56" name="圖說"/>
          <p:cNvSpPr/>
          <p:nvPr/>
        </p:nvSpPr>
        <p:spPr>
          <a:xfrm>
            <a:off x="4092430" y="505777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粗箭頭</a:t>
            </a:r>
            <a:endParaRPr lang="en-US" sz="1050" dirty="0"/>
          </a:p>
        </p:txBody>
      </p:sp>
      <p:sp>
        <p:nvSpPr>
          <p:cNvPr id="57" name="連接線"/>
          <p:cNvSpPr/>
          <p:nvPr/>
        </p:nvSpPr>
        <p:spPr>
          <a:xfrm>
            <a:off x="6019120" y="4617720"/>
            <a:ext cx="1325880" cy="342900"/>
          </a:xfrm>
          <a:custGeom>
            <a:avLst/>
            <a:gdLst/>
            <a:ahLst/>
            <a:cxnLst/>
            <a:rect l="l" t="t" r="r" b="b"/>
            <a:pathLst>
              <a:path w="1325880" h="342900">
                <a:moveTo>
                  <a:pt x="0" y="0"/>
                </a:moveTo>
                <a:lnTo>
                  <a:pt x="662940" y="0"/>
                </a:lnTo>
                <a:lnTo>
                  <a:pt x="662940" y="342900"/>
                </a:lnTo>
                <a:lnTo>
                  <a:pt x="1325880" y="342900"/>
                </a:lnTo>
              </a:path>
            </a:pathLst>
          </a:custGeom>
          <a:ln w="19812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圖說"/>
          <p:cNvSpPr/>
          <p:nvPr/>
        </p:nvSpPr>
        <p:spPr>
          <a:xfrm>
            <a:off x="5841710" y="505777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折線連接</a:t>
            </a:r>
            <a:endParaRPr lang="en-US" sz="1050" dirty="0"/>
          </a:p>
        </p:txBody>
      </p:sp>
      <p:sp>
        <p:nvSpPr>
          <p:cNvPr id="59" name="線條"/>
          <p:cNvSpPr/>
          <p:nvPr/>
        </p:nvSpPr>
        <p:spPr>
          <a:xfrm>
            <a:off x="7768400" y="4789170"/>
            <a:ext cx="1325880" cy="0"/>
          </a:xfrm>
          <a:prstGeom prst="line">
            <a:avLst/>
          </a:prstGeom>
          <a:noFill/>
          <a:ln w="19812">
            <a:solidFill>
              <a:srgbClr val="707070"/>
            </a:solidFill>
            <a:prstDash val="sysDash"/>
            <a:tailEnd type="arrow"/>
          </a:ln>
        </p:spPr>
      </p:sp>
      <p:sp>
        <p:nvSpPr>
          <p:cNvPr id="60" name="圖說"/>
          <p:cNvSpPr/>
          <p:nvPr/>
        </p:nvSpPr>
        <p:spPr>
          <a:xfrm>
            <a:off x="7590990" y="505777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虛線（次要／回饋）</a:t>
            </a:r>
            <a:endParaRPr lang="en-US" sz="1050" dirty="0"/>
          </a:p>
        </p:txBody>
      </p:sp>
      <p:sp>
        <p:nvSpPr>
          <p:cNvPr id="61" name="線條"/>
          <p:cNvSpPr/>
          <p:nvPr/>
        </p:nvSpPr>
        <p:spPr>
          <a:xfrm>
            <a:off x="9517679" y="4789170"/>
            <a:ext cx="1325880" cy="0"/>
          </a:xfrm>
          <a:prstGeom prst="line">
            <a:avLst/>
          </a:prstGeom>
          <a:noFill/>
          <a:ln w="19812">
            <a:solidFill>
              <a:srgbClr val="595959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62" name="圖說"/>
          <p:cNvSpPr/>
          <p:nvPr/>
        </p:nvSpPr>
        <p:spPr>
          <a:xfrm>
            <a:off x="9340269" y="505777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雙向箭頭</a:t>
            </a:r>
            <a:endParaRPr lang="en-US" sz="1050" dirty="0"/>
          </a:p>
        </p:txBody>
      </p:sp>
      <p:grpSp>
        <p:nvGrpSpPr>
          <p:cNvPr id="5001" name="▶ 三角／V 形分隔"/>
          <p:cNvGrpSpPr/>
          <p:nvPr/>
        </p:nvGrpSpPr>
        <p:grpSpPr>
          <a:xfrm>
            <a:off x="11518419" y="4629150"/>
            <a:ext cx="800100" cy="320040"/>
            <a:chOff x="11518419" y="4629150"/>
            <a:chExt cx="800100" cy="320040"/>
          </a:xfrm>
        </p:grpSpPr>
        <p:sp>
          <p:nvSpPr>
            <p:cNvPr id="63" name="三角分隔"/>
            <p:cNvSpPr/>
            <p:nvPr/>
          </p:nvSpPr>
          <p:spPr>
            <a:xfrm>
              <a:off x="11518419" y="4663440"/>
              <a:ext cx="194310" cy="251460"/>
            </a:xfrm>
            <a:custGeom>
              <a:avLst/>
              <a:gdLst/>
              <a:ahLst/>
              <a:cxnLst/>
              <a:rect l="l" t="t" r="r" b="b"/>
              <a:pathLst>
                <a:path w="194310" h="251460">
                  <a:moveTo>
                    <a:pt x="0" y="0"/>
                  </a:moveTo>
                  <a:lnTo>
                    <a:pt x="194310" y="125730"/>
                  </a:lnTo>
                  <a:lnTo>
                    <a:pt x="0" y="251460"/>
                  </a:lnTo>
                  <a:close/>
                </a:path>
              </a:pathLst>
            </a:custGeom>
            <a:solidFill>
              <a:srgbClr val="595959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4" name="V 形分隔"/>
            <p:cNvSpPr/>
            <p:nvPr/>
          </p:nvSpPr>
          <p:spPr>
            <a:xfrm>
              <a:off x="12135639" y="4629150"/>
              <a:ext cx="182880" cy="320040"/>
            </a:xfrm>
            <a:prstGeom prst="chevron">
              <a:avLst>
                <a:gd name="adj" fmla="val 62500"/>
              </a:avLst>
            </a:prstGeom>
            <a:solidFill>
              <a:srgbClr val="2F4B6E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65" name="圖說"/>
          <p:cNvSpPr/>
          <p:nvPr/>
        </p:nvSpPr>
        <p:spPr>
          <a:xfrm>
            <a:off x="11089549" y="505777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三角／V 形分隔</a:t>
            </a:r>
            <a:endParaRPr lang="en-US" sz="1050" dirty="0"/>
          </a:p>
        </p:txBody>
      </p:sp>
      <p:sp>
        <p:nvSpPr>
          <p:cNvPr id="66" name="區塊箭頭"/>
          <p:cNvSpPr/>
          <p:nvPr/>
        </p:nvSpPr>
        <p:spPr>
          <a:xfrm>
            <a:off x="13050529" y="4560570"/>
            <a:ext cx="1257300" cy="457200"/>
          </a:xfrm>
          <a:custGeom>
            <a:avLst/>
            <a:gdLst/>
            <a:ahLst/>
            <a:cxnLst/>
            <a:rect l="l" t="t" r="r" b="b"/>
            <a:pathLst>
              <a:path w="1257300" h="457200">
                <a:moveTo>
                  <a:pt x="0" y="137160"/>
                </a:moveTo>
                <a:lnTo>
                  <a:pt x="982980" y="137160"/>
                </a:lnTo>
                <a:lnTo>
                  <a:pt x="982980" y="0"/>
                </a:lnTo>
                <a:lnTo>
                  <a:pt x="1257300" y="228600"/>
                </a:lnTo>
                <a:lnTo>
                  <a:pt x="982980" y="457200"/>
                </a:lnTo>
                <a:lnTo>
                  <a:pt x="982980" y="320040"/>
                </a:lnTo>
                <a:lnTo>
                  <a:pt x="0" y="320040"/>
                </a:lnTo>
                <a:close/>
              </a:path>
            </a:pathLst>
          </a:cu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圖說"/>
          <p:cNvSpPr/>
          <p:nvPr/>
        </p:nvSpPr>
        <p:spPr>
          <a:xfrm>
            <a:off x="12838829" y="505777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區塊箭頭</a:t>
            </a:r>
            <a:endParaRPr lang="en-US" sz="1050" dirty="0"/>
          </a:p>
        </p:txBody>
      </p:sp>
      <p:sp>
        <p:nvSpPr>
          <p:cNvPr id="68" name="線條"/>
          <p:cNvSpPr/>
          <p:nvPr/>
        </p:nvSpPr>
        <p:spPr>
          <a:xfrm>
            <a:off x="685800" y="527494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69" name="類別"/>
          <p:cNvSpPr/>
          <p:nvPr/>
        </p:nvSpPr>
        <p:spPr>
          <a:xfrm>
            <a:off x="685800" y="5434965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例外與警示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Exception</a:t>
            </a:r>
            <a:endParaRPr lang="en-US" sz="1750" dirty="0"/>
          </a:p>
        </p:txBody>
      </p:sp>
      <p:sp>
        <p:nvSpPr>
          <p:cNvPr id="70" name="警示方塊"/>
          <p:cNvSpPr/>
          <p:nvPr/>
        </p:nvSpPr>
        <p:spPr>
          <a:xfrm>
            <a:off x="2497700" y="5337810"/>
            <a:ext cx="1371600" cy="50292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23876">
            <a:solidFill>
              <a:srgbClr val="C0504D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903C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例外狀況</a:t>
            </a:r>
            <a:endParaRPr lang="en-US" sz="1450" dirty="0"/>
          </a:p>
        </p:txBody>
      </p:sp>
      <p:sp>
        <p:nvSpPr>
          <p:cNvPr id="71" name="圖說"/>
          <p:cNvSpPr/>
          <p:nvPr/>
        </p:nvSpPr>
        <p:spPr>
          <a:xfrm>
            <a:off x="2343150" y="58807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警示外框</a:t>
            </a:r>
            <a:endParaRPr lang="en-US" sz="1050" dirty="0"/>
          </a:p>
        </p:txBody>
      </p:sp>
      <p:sp>
        <p:nvSpPr>
          <p:cNvPr id="72" name="警示方塊"/>
          <p:cNvSpPr/>
          <p:nvPr/>
        </p:nvSpPr>
        <p:spPr>
          <a:xfrm>
            <a:off x="4246980" y="5337810"/>
            <a:ext cx="1371600" cy="502920"/>
          </a:xfrm>
          <a:prstGeom prst="roundRect">
            <a:avLst>
              <a:gd name="adj" fmla="val 22727"/>
            </a:avLst>
          </a:prstGeom>
          <a:solidFill>
            <a:srgbClr val="F6E6E6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903C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注意事項</a:t>
            </a:r>
            <a:endParaRPr lang="en-US" sz="1450" dirty="0"/>
          </a:p>
        </p:txBody>
      </p:sp>
      <p:sp>
        <p:nvSpPr>
          <p:cNvPr id="73" name="圖說"/>
          <p:cNvSpPr/>
          <p:nvPr/>
        </p:nvSpPr>
        <p:spPr>
          <a:xfrm>
            <a:off x="4092430" y="58807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警示淺底</a:t>
            </a:r>
            <a:endParaRPr lang="en-US" sz="1050" dirty="0"/>
          </a:p>
        </p:txBody>
      </p:sp>
      <p:sp>
        <p:nvSpPr>
          <p:cNvPr id="74" name="警示方塊"/>
          <p:cNvSpPr/>
          <p:nvPr/>
        </p:nvSpPr>
        <p:spPr>
          <a:xfrm>
            <a:off x="5996260" y="5337810"/>
            <a:ext cx="1371600" cy="502920"/>
          </a:xfrm>
          <a:prstGeom prst="roundRect">
            <a:avLst>
              <a:gd name="adj" fmla="val 22727"/>
            </a:avLst>
          </a:prstGeom>
          <a:solidFill>
            <a:srgbClr val="C0504D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中止</a:t>
            </a:r>
            <a:endParaRPr lang="en-US" sz="1450" dirty="0"/>
          </a:p>
        </p:txBody>
      </p:sp>
      <p:sp>
        <p:nvSpPr>
          <p:cNvPr id="75" name="圖說"/>
          <p:cNvSpPr/>
          <p:nvPr/>
        </p:nvSpPr>
        <p:spPr>
          <a:xfrm>
            <a:off x="5841710" y="58807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深底警示</a:t>
            </a:r>
            <a:endParaRPr lang="en-US" sz="1050" dirty="0"/>
          </a:p>
        </p:txBody>
      </p:sp>
      <p:grpSp>
        <p:nvGrpSpPr>
          <p:cNvPr id="5002" name="警告三角"/>
          <p:cNvGrpSpPr/>
          <p:nvPr/>
        </p:nvGrpSpPr>
        <p:grpSpPr>
          <a:xfrm>
            <a:off x="8133812" y="5332781"/>
            <a:ext cx="595055" cy="512978"/>
            <a:chOff x="8133812" y="5332781"/>
            <a:chExt cx="595055" cy="512978"/>
          </a:xfrm>
        </p:grpSpPr>
        <p:sp>
          <p:nvSpPr>
            <p:cNvPr id="76" name="警告三角"/>
            <p:cNvSpPr/>
            <p:nvPr/>
          </p:nvSpPr>
          <p:spPr>
            <a:xfrm>
              <a:off x="8133812" y="5332781"/>
              <a:ext cx="595055" cy="512978"/>
            </a:xfrm>
            <a:custGeom>
              <a:avLst/>
              <a:gdLst/>
              <a:ahLst/>
              <a:cxnLst/>
              <a:rect l="l" t="t" r="r" b="b"/>
              <a:pathLst>
                <a:path w="595055" h="512978">
                  <a:moveTo>
                    <a:pt x="0" y="512978"/>
                  </a:moveTo>
                  <a:lnTo>
                    <a:pt x="297527" y="0"/>
                  </a:lnTo>
                  <a:lnTo>
                    <a:pt x="595055" y="512978"/>
                  </a:lnTo>
                  <a:close/>
                </a:path>
              </a:pathLst>
            </a:custGeom>
            <a:solidFill>
              <a:srgbClr val="C0504D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7" name="驚嘆號"/>
            <p:cNvSpPr/>
            <p:nvPr/>
          </p:nvSpPr>
          <p:spPr>
            <a:xfrm>
              <a:off x="8133812" y="5486674"/>
              <a:ext cx="595055" cy="3488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1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!</a:t>
              </a:r>
              <a:endParaRPr lang="en-US" sz="2150" dirty="0"/>
            </a:p>
          </p:txBody>
        </p:sp>
      </p:grpSp>
      <p:sp>
        <p:nvSpPr>
          <p:cNvPr id="78" name="圖說"/>
          <p:cNvSpPr/>
          <p:nvPr/>
        </p:nvSpPr>
        <p:spPr>
          <a:xfrm>
            <a:off x="7590990" y="58807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警告三角</a:t>
            </a:r>
            <a:endParaRPr lang="en-US" sz="1050" dirty="0"/>
          </a:p>
        </p:txBody>
      </p:sp>
      <p:sp>
        <p:nvSpPr>
          <p:cNvPr id="79" name="錯誤標記"/>
          <p:cNvSpPr/>
          <p:nvPr/>
        </p:nvSpPr>
        <p:spPr>
          <a:xfrm>
            <a:off x="9974422" y="5383073"/>
            <a:ext cx="412394" cy="412394"/>
          </a:xfrm>
          <a:prstGeom prst="ellipse">
            <a:avLst/>
          </a:prstGeom>
          <a:solidFill>
            <a:srgbClr val="C050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000" dirty="0"/>
          </a:p>
        </p:txBody>
      </p:sp>
      <p:sp>
        <p:nvSpPr>
          <p:cNvPr id="80" name="圖說"/>
          <p:cNvSpPr/>
          <p:nvPr/>
        </p:nvSpPr>
        <p:spPr>
          <a:xfrm>
            <a:off x="9340269" y="58807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錯誤標記</a:t>
            </a:r>
            <a:endParaRPr lang="en-US" sz="1050" dirty="0"/>
          </a:p>
        </p:txBody>
      </p:sp>
      <p:grpSp>
        <p:nvGrpSpPr>
          <p:cNvPr id="5003" name="紅點提示"/>
          <p:cNvGrpSpPr/>
          <p:nvPr/>
        </p:nvGrpSpPr>
        <p:grpSpPr>
          <a:xfrm>
            <a:off x="11244099" y="5263515"/>
            <a:ext cx="1445895" cy="577215"/>
            <a:chOff x="11244099" y="5263515"/>
            <a:chExt cx="1445895" cy="577215"/>
          </a:xfrm>
        </p:grpSpPr>
        <p:sp>
          <p:nvSpPr>
            <p:cNvPr id="81" name="流程方塊"/>
            <p:cNvSpPr/>
            <p:nvPr/>
          </p:nvSpPr>
          <p:spPr>
            <a:xfrm>
              <a:off x="11244099" y="5337810"/>
              <a:ext cx="1371600" cy="50292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5875">
              <a:solidFill>
                <a:srgbClr val="BFBFBF"/>
              </a:solidFill>
              <a:prstDash val="solid"/>
            </a:ln>
          </p:spPr>
          <p:txBody>
            <a:bodyPr wrap="square" lIns="31750" tIns="0" rIns="31750" bIns="0" rtlCol="0" anchor="ctr"/>
            <a:lstStyle/>
            <a:p>
              <a:pPr algn="ctr" indent="0" marL="0">
                <a:buNone/>
              </a:pPr>
              <a:r>
                <a:rPr lang="en-US" sz="14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待處理</a:t>
              </a:r>
              <a:endParaRPr lang="en-US" sz="1450" dirty="0"/>
            </a:p>
          </p:txBody>
        </p:sp>
        <p:sp>
          <p:nvSpPr>
            <p:cNvPr id="82" name="提示紅點"/>
            <p:cNvSpPr/>
            <p:nvPr/>
          </p:nvSpPr>
          <p:spPr>
            <a:xfrm>
              <a:off x="12495684" y="5263515"/>
              <a:ext cx="194310" cy="194310"/>
            </a:xfrm>
            <a:prstGeom prst="ellipse">
              <a:avLst/>
            </a:prstGeom>
            <a:solidFill>
              <a:srgbClr val="C0504D"/>
            </a:solidFill>
            <a:ln w="19812">
              <a:solidFill>
                <a:srgbClr val="FFFFF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83" name="圖說"/>
          <p:cNvSpPr/>
          <p:nvPr/>
        </p:nvSpPr>
        <p:spPr>
          <a:xfrm>
            <a:off x="11089549" y="58807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紅點提示</a:t>
            </a:r>
            <a:endParaRPr lang="en-US" sz="1050" dirty="0"/>
          </a:p>
        </p:txBody>
      </p:sp>
      <p:sp>
        <p:nvSpPr>
          <p:cNvPr id="84" name="連接線"/>
          <p:cNvSpPr/>
          <p:nvPr/>
        </p:nvSpPr>
        <p:spPr>
          <a:xfrm>
            <a:off x="13016239" y="5406390"/>
            <a:ext cx="1325880" cy="365760"/>
          </a:xfrm>
          <a:custGeom>
            <a:avLst/>
            <a:gdLst/>
            <a:ahLst/>
            <a:cxnLst/>
            <a:rect l="l" t="t" r="r" b="b"/>
            <a:pathLst>
              <a:path w="1325880" h="365760">
                <a:moveTo>
                  <a:pt x="0" y="0"/>
                </a:moveTo>
                <a:lnTo>
                  <a:pt x="548640" y="0"/>
                </a:lnTo>
                <a:lnTo>
                  <a:pt x="548640" y="365760"/>
                </a:lnTo>
                <a:lnTo>
                  <a:pt x="1325880" y="365760"/>
                </a:lnTo>
              </a:path>
            </a:pathLst>
          </a:custGeom>
          <a:ln w="19812">
            <a:solidFill>
              <a:srgbClr val="C0504D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圖說"/>
          <p:cNvSpPr/>
          <p:nvPr/>
        </p:nvSpPr>
        <p:spPr>
          <a:xfrm>
            <a:off x="12838829" y="58807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例外路徑（虛線）</a:t>
            </a:r>
            <a:endParaRPr lang="en-US" sz="1050" dirty="0"/>
          </a:p>
        </p:txBody>
      </p:sp>
      <p:sp>
        <p:nvSpPr>
          <p:cNvPr id="86" name="線條"/>
          <p:cNvSpPr/>
          <p:nvPr/>
        </p:nvSpPr>
        <p:spPr>
          <a:xfrm>
            <a:off x="685800" y="609790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87" name="類別"/>
          <p:cNvSpPr/>
          <p:nvPr/>
        </p:nvSpPr>
        <p:spPr>
          <a:xfrm>
            <a:off x="685800" y="6360795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圓形・編號・標籤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Circle / Badge / Tag</a:t>
            </a:r>
            <a:endParaRPr lang="en-US" sz="1750" dirty="0"/>
          </a:p>
        </p:txBody>
      </p:sp>
      <p:sp>
        <p:nvSpPr>
          <p:cNvPr id="88" name="光暈大圓"/>
          <p:cNvSpPr/>
          <p:nvPr/>
        </p:nvSpPr>
        <p:spPr>
          <a:xfrm>
            <a:off x="2829170" y="6160770"/>
            <a:ext cx="708660" cy="708660"/>
          </a:xfrm>
          <a:prstGeom prst="ellipse">
            <a:avLst/>
          </a:prstGeom>
          <a:solidFill>
            <a:srgbClr val="F2F2F2"/>
          </a:solidFill>
          <a:ln/>
          <a:effectLst>
            <a:outerShdw blurRad="106680" dist="19050" dir="5400000" sx="100840" sy="100840" algn="ctr" rotWithShape="0">
              <a:srgbClr val="000000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圖說"/>
          <p:cNvSpPr/>
          <p:nvPr/>
        </p:nvSpPr>
        <p:spPr>
          <a:xfrm>
            <a:off x="2343150" y="69094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光暈大圓</a:t>
            </a:r>
            <a:endParaRPr lang="en-US" sz="1050" dirty="0"/>
          </a:p>
        </p:txBody>
      </p:sp>
      <p:grpSp>
        <p:nvGrpSpPr>
          <p:cNvPr id="5004" name="光暈＋外圈細環"/>
          <p:cNvGrpSpPr/>
          <p:nvPr/>
        </p:nvGrpSpPr>
        <p:grpSpPr>
          <a:xfrm>
            <a:off x="4509870" y="6092190"/>
            <a:ext cx="845820" cy="845820"/>
            <a:chOff x="4509870" y="6092190"/>
            <a:chExt cx="845820" cy="845820"/>
          </a:xfrm>
        </p:grpSpPr>
        <p:sp>
          <p:nvSpPr>
            <p:cNvPr id="90" name="外圈細環"/>
            <p:cNvSpPr/>
            <p:nvPr/>
          </p:nvSpPr>
          <p:spPr>
            <a:xfrm>
              <a:off x="4509870" y="6092190"/>
              <a:ext cx="845820" cy="845820"/>
            </a:xfrm>
            <a:prstGeom prst="ellipse">
              <a:avLst/>
            </a:prstGeom>
            <a:ln w="11938">
              <a:solidFill>
                <a:srgbClr val="E6E6E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1" name="光暈大圓"/>
            <p:cNvSpPr/>
            <p:nvPr/>
          </p:nvSpPr>
          <p:spPr>
            <a:xfrm>
              <a:off x="4578450" y="6160770"/>
              <a:ext cx="708660" cy="708660"/>
            </a:xfrm>
            <a:prstGeom prst="ellipse">
              <a:avLst/>
            </a:prstGeom>
            <a:solidFill>
              <a:srgbClr val="F2F2F2"/>
            </a:solidFill>
            <a:ln/>
            <a:effectLst>
              <a:outerShdw blurRad="106680" dist="19050" dir="5400000" sx="100840" sy="100840" algn="ctr" rotWithShape="0">
                <a:srgbClr val="000000">
                  <a:alpha val="28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92" name="圖說"/>
          <p:cNvSpPr/>
          <p:nvPr/>
        </p:nvSpPr>
        <p:spPr>
          <a:xfrm>
            <a:off x="4092430" y="69094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光暈＋外圈細環</a:t>
            </a:r>
            <a:endParaRPr lang="en-US" sz="1050" dirty="0"/>
          </a:p>
        </p:txBody>
      </p:sp>
      <p:sp>
        <p:nvSpPr>
          <p:cNvPr id="93" name="外框圓"/>
          <p:cNvSpPr/>
          <p:nvPr/>
        </p:nvSpPr>
        <p:spPr>
          <a:xfrm>
            <a:off x="6327730" y="6160770"/>
            <a:ext cx="708660" cy="70866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圖說"/>
          <p:cNvSpPr/>
          <p:nvPr/>
        </p:nvSpPr>
        <p:spPr>
          <a:xfrm>
            <a:off x="5841710" y="69094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無陰影外框圓</a:t>
            </a:r>
            <a:endParaRPr lang="en-US" sz="1050" dirty="0"/>
          </a:p>
        </p:txBody>
      </p:sp>
      <p:grpSp>
        <p:nvGrpSpPr>
          <p:cNvPr id="5005" name="編號徽章"/>
          <p:cNvGrpSpPr/>
          <p:nvPr/>
        </p:nvGrpSpPr>
        <p:grpSpPr>
          <a:xfrm>
            <a:off x="7708392" y="6382969"/>
            <a:ext cx="1445895" cy="264262"/>
            <a:chOff x="7708392" y="6382969"/>
            <a:chExt cx="1445895" cy="264262"/>
          </a:xfrm>
        </p:grpSpPr>
        <p:sp>
          <p:nvSpPr>
            <p:cNvPr id="95" name="編號"/>
            <p:cNvSpPr/>
            <p:nvPr/>
          </p:nvSpPr>
          <p:spPr>
            <a:xfrm>
              <a:off x="7708392" y="6382969"/>
              <a:ext cx="485775" cy="264262"/>
            </a:xfrm>
            <a:prstGeom prst="roundRect">
              <a:avLst>
                <a:gd name="adj" fmla="val 50000"/>
              </a:avLst>
            </a:prstGeom>
            <a:solidFill>
              <a:srgbClr val="2F4B6E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01</a:t>
              </a:r>
              <a:endParaRPr lang="en-US" sz="1000" dirty="0"/>
            </a:p>
          </p:txBody>
        </p:sp>
        <p:sp>
          <p:nvSpPr>
            <p:cNvPr id="96" name="編號"/>
            <p:cNvSpPr/>
            <p:nvPr/>
          </p:nvSpPr>
          <p:spPr>
            <a:xfrm>
              <a:off x="8188452" y="6382969"/>
              <a:ext cx="485775" cy="264262"/>
            </a:xfrm>
            <a:prstGeom prst="roundRect">
              <a:avLst>
                <a:gd name="adj" fmla="val 50000"/>
              </a:avLst>
            </a:prstGeom>
            <a:solidFill>
              <a:srgbClr val="2F4B6E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02</a:t>
              </a:r>
              <a:endParaRPr lang="en-US" sz="1000" dirty="0"/>
            </a:p>
          </p:txBody>
        </p:sp>
        <p:sp>
          <p:nvSpPr>
            <p:cNvPr id="97" name="編號"/>
            <p:cNvSpPr/>
            <p:nvPr/>
          </p:nvSpPr>
          <p:spPr>
            <a:xfrm>
              <a:off x="8668512" y="6382969"/>
              <a:ext cx="485775" cy="264262"/>
            </a:xfrm>
            <a:prstGeom prst="roundRect">
              <a:avLst>
                <a:gd name="adj" fmla="val 50000"/>
              </a:avLst>
            </a:prstGeom>
            <a:solidFill>
              <a:srgbClr val="E3E8EF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03</a:t>
              </a:r>
              <a:endParaRPr lang="en-US" sz="1000" dirty="0"/>
            </a:p>
          </p:txBody>
        </p:sp>
      </p:grpSp>
      <p:sp>
        <p:nvSpPr>
          <p:cNvPr id="98" name="圖說"/>
          <p:cNvSpPr/>
          <p:nvPr/>
        </p:nvSpPr>
        <p:spPr>
          <a:xfrm>
            <a:off x="7590990" y="69094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編號徽章</a:t>
            </a:r>
            <a:endParaRPr lang="en-US" sz="1050" dirty="0"/>
          </a:p>
        </p:txBody>
      </p:sp>
      <p:sp>
        <p:nvSpPr>
          <p:cNvPr id="99" name="標籤"/>
          <p:cNvSpPr/>
          <p:nvPr/>
        </p:nvSpPr>
        <p:spPr>
          <a:xfrm>
            <a:off x="9677750" y="6332220"/>
            <a:ext cx="1005738" cy="36576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400" dirty="0"/>
          </a:p>
        </p:txBody>
      </p:sp>
      <p:sp>
        <p:nvSpPr>
          <p:cNvPr id="100" name="圖說"/>
          <p:cNvSpPr/>
          <p:nvPr/>
        </p:nvSpPr>
        <p:spPr>
          <a:xfrm>
            <a:off x="9340269" y="69094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深色標籤</a:t>
            </a:r>
            <a:endParaRPr lang="en-US" sz="1050" dirty="0"/>
          </a:p>
        </p:txBody>
      </p:sp>
      <p:grpSp>
        <p:nvGrpSpPr>
          <p:cNvPr id="5006" name="淺色／灰階標籤"/>
          <p:cNvGrpSpPr/>
          <p:nvPr/>
        </p:nvGrpSpPr>
        <p:grpSpPr>
          <a:xfrm>
            <a:off x="11237749" y="6343650"/>
            <a:ext cx="1384300" cy="342900"/>
            <a:chOff x="11237749" y="6343650"/>
            <a:chExt cx="1384300" cy="342900"/>
          </a:xfrm>
        </p:grpSpPr>
        <p:sp>
          <p:nvSpPr>
            <p:cNvPr id="101" name="標籤"/>
            <p:cNvSpPr/>
            <p:nvPr/>
          </p:nvSpPr>
          <p:spPr>
            <a:xfrm>
              <a:off x="11237749" y="6343650"/>
              <a:ext cx="646430" cy="342900"/>
            </a:xfrm>
            <a:prstGeom prst="roundRect">
              <a:avLst>
                <a:gd name="adj" fmla="val 50000"/>
              </a:avLst>
            </a:prstGeom>
            <a:solidFill>
              <a:srgbClr val="E3E8EF"/>
            </a:solidFill>
            <a:ln/>
          </p:spPr>
          <p:txBody>
            <a:bodyPr wrap="square" lIns="31750" tIns="0" rIns="31750" bIns="0" rtlCol="0" anchor="ctr"/>
            <a:lstStyle/>
            <a:p>
              <a:pPr algn="ctr" indent="0" marL="0">
                <a:buNone/>
              </a:pPr>
              <a:r>
                <a:rPr lang="en-US" sz="14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輔助</a:t>
              </a:r>
              <a:endParaRPr lang="en-US" sz="1400" dirty="0"/>
            </a:p>
          </p:txBody>
        </p:sp>
        <p:sp>
          <p:nvSpPr>
            <p:cNvPr id="102" name="標籤"/>
            <p:cNvSpPr/>
            <p:nvPr/>
          </p:nvSpPr>
          <p:spPr>
            <a:xfrm>
              <a:off x="11975619" y="6343650"/>
              <a:ext cx="646430" cy="342900"/>
            </a:xfrm>
            <a:prstGeom prst="roundRect">
              <a:avLst>
                <a:gd name="adj" fmla="val 50000"/>
              </a:avLst>
            </a:prstGeom>
            <a:solidFill>
              <a:srgbClr val="F2F2F2"/>
            </a:solidFill>
            <a:ln/>
          </p:spPr>
          <p:txBody>
            <a:bodyPr wrap="square" lIns="31750" tIns="0" rIns="31750" bIns="0" rtlCol="0" anchor="ctr"/>
            <a:lstStyle/>
            <a:p>
              <a:pPr algn="ctr" indent="0" marL="0">
                <a:buNone/>
              </a:pPr>
              <a:r>
                <a:rPr lang="en-US" sz="14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灰階</a:t>
              </a:r>
              <a:endParaRPr lang="en-US" sz="1400" dirty="0"/>
            </a:p>
          </p:txBody>
        </p:sp>
      </p:grpSp>
      <p:sp>
        <p:nvSpPr>
          <p:cNvPr id="103" name="圖說"/>
          <p:cNvSpPr/>
          <p:nvPr/>
        </p:nvSpPr>
        <p:spPr>
          <a:xfrm>
            <a:off x="11089549" y="69094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淺色／灰階標籤</a:t>
            </a:r>
            <a:endParaRPr lang="en-US" sz="1050" dirty="0"/>
          </a:p>
        </p:txBody>
      </p:sp>
      <p:grpSp>
        <p:nvGrpSpPr>
          <p:cNvPr id="5007" name="小圓點"/>
          <p:cNvGrpSpPr/>
          <p:nvPr/>
        </p:nvGrpSpPr>
        <p:grpSpPr>
          <a:xfrm>
            <a:off x="13250554" y="6429375"/>
            <a:ext cx="857250" cy="171450"/>
            <a:chOff x="13250554" y="6429375"/>
            <a:chExt cx="857250" cy="171450"/>
          </a:xfrm>
        </p:grpSpPr>
        <p:sp>
          <p:nvSpPr>
            <p:cNvPr id="104" name="圓點"/>
            <p:cNvSpPr/>
            <p:nvPr/>
          </p:nvSpPr>
          <p:spPr>
            <a:xfrm>
              <a:off x="13250554" y="6429375"/>
              <a:ext cx="171450" cy="171450"/>
            </a:xfrm>
            <a:prstGeom prst="ellipse">
              <a:avLst/>
            </a:prstGeom>
            <a:solidFill>
              <a:srgbClr val="2F4B6E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5" name="圓點"/>
            <p:cNvSpPr/>
            <p:nvPr/>
          </p:nvSpPr>
          <p:spPr>
            <a:xfrm>
              <a:off x="13593454" y="6429375"/>
              <a:ext cx="171450" cy="171450"/>
            </a:xfrm>
            <a:prstGeom prst="ellipse">
              <a:avLst/>
            </a:prstGeom>
            <a:solidFill>
              <a:srgbClr val="2F4B6E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6" name="圓點"/>
            <p:cNvSpPr/>
            <p:nvPr/>
          </p:nvSpPr>
          <p:spPr>
            <a:xfrm>
              <a:off x="13936354" y="6429375"/>
              <a:ext cx="171450" cy="171450"/>
            </a:xfrm>
            <a:prstGeom prst="ellipse">
              <a:avLst/>
            </a:prstGeom>
            <a:solidFill>
              <a:srgbClr val="BFBFBF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07" name="圖說"/>
          <p:cNvSpPr/>
          <p:nvPr/>
        </p:nvSpPr>
        <p:spPr>
          <a:xfrm>
            <a:off x="12838829" y="69094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小圓點</a:t>
            </a:r>
            <a:endParaRPr lang="en-US" sz="1050" dirty="0"/>
          </a:p>
        </p:txBody>
      </p:sp>
      <p:sp>
        <p:nvSpPr>
          <p:cNvPr id="108" name="線條"/>
          <p:cNvSpPr/>
          <p:nvPr/>
        </p:nvSpPr>
        <p:spPr>
          <a:xfrm>
            <a:off x="685800" y="712660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109" name="類別"/>
          <p:cNvSpPr/>
          <p:nvPr/>
        </p:nvSpPr>
        <p:spPr>
          <a:xfrm>
            <a:off x="685800" y="7298055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容器與群組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Container</a:t>
            </a:r>
            <a:endParaRPr lang="en-US" sz="1750" dirty="0"/>
          </a:p>
        </p:txBody>
      </p:sp>
      <p:grpSp>
        <p:nvGrpSpPr>
          <p:cNvPr id="5008" name="虛線群組框"/>
          <p:cNvGrpSpPr/>
          <p:nvPr/>
        </p:nvGrpSpPr>
        <p:grpSpPr>
          <a:xfrm>
            <a:off x="2497700" y="7155180"/>
            <a:ext cx="1371600" cy="560070"/>
            <a:chOff x="2497700" y="7155180"/>
            <a:chExt cx="1371600" cy="560070"/>
          </a:xfrm>
        </p:grpSpPr>
        <p:sp>
          <p:nvSpPr>
            <p:cNvPr id="110" name="群組框"/>
            <p:cNvSpPr/>
            <p:nvPr/>
          </p:nvSpPr>
          <p:spPr>
            <a:xfrm>
              <a:off x="2497700" y="7258050"/>
              <a:ext cx="1371600" cy="457200"/>
            </a:xfrm>
            <a:prstGeom prst="roundRect">
              <a:avLst>
                <a:gd name="adj" fmla="val 25000"/>
              </a:avLst>
            </a:prstGeom>
            <a:ln w="11938">
              <a:solidFill>
                <a:srgbClr val="8C8C8C"/>
              </a:solidFill>
              <a:prstDash val="dash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1" name="群組名稱"/>
            <p:cNvSpPr/>
            <p:nvPr/>
          </p:nvSpPr>
          <p:spPr>
            <a:xfrm>
              <a:off x="2612000" y="7155180"/>
              <a:ext cx="708660" cy="20574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群組 A</a:t>
              </a:r>
              <a:endParaRPr lang="en-US" sz="1000" dirty="0"/>
            </a:p>
          </p:txBody>
        </p:sp>
      </p:grpSp>
      <p:sp>
        <p:nvSpPr>
          <p:cNvPr id="112" name="圖說"/>
          <p:cNvSpPr/>
          <p:nvPr/>
        </p:nvSpPr>
        <p:spPr>
          <a:xfrm>
            <a:off x="2343150" y="77552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虛線群組框</a:t>
            </a:r>
            <a:endParaRPr lang="en-US" sz="1050" dirty="0"/>
          </a:p>
        </p:txBody>
      </p:sp>
      <p:sp>
        <p:nvSpPr>
          <p:cNvPr id="113" name="淺灰面板"/>
          <p:cNvSpPr/>
          <p:nvPr/>
        </p:nvSpPr>
        <p:spPr>
          <a:xfrm>
            <a:off x="4246980" y="7189470"/>
            <a:ext cx="1371600" cy="525780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4" name="圖說"/>
          <p:cNvSpPr/>
          <p:nvPr/>
        </p:nvSpPr>
        <p:spPr>
          <a:xfrm>
            <a:off x="4092430" y="77552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淺灰面板</a:t>
            </a:r>
            <a:endParaRPr lang="en-US" sz="1050" dirty="0"/>
          </a:p>
        </p:txBody>
      </p:sp>
      <p:sp>
        <p:nvSpPr>
          <p:cNvPr id="115" name="卡片"/>
          <p:cNvSpPr/>
          <p:nvPr/>
        </p:nvSpPr>
        <p:spPr>
          <a:xfrm>
            <a:off x="5996260" y="7189470"/>
            <a:ext cx="1371600" cy="525780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/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6" name="圖說"/>
          <p:cNvSpPr/>
          <p:nvPr/>
        </p:nvSpPr>
        <p:spPr>
          <a:xfrm>
            <a:off x="5841710" y="77552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本風格卡片</a:t>
            </a:r>
            <a:endParaRPr lang="en-US" sz="1050" dirty="0"/>
          </a:p>
        </p:txBody>
      </p:sp>
      <p:sp>
        <p:nvSpPr>
          <p:cNvPr id="117" name="卡片"/>
          <p:cNvSpPr/>
          <p:nvPr/>
        </p:nvSpPr>
        <p:spPr>
          <a:xfrm>
            <a:off x="7745540" y="7189470"/>
            <a:ext cx="1371600" cy="525780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/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圖說"/>
          <p:cNvSpPr/>
          <p:nvPr/>
        </p:nvSpPr>
        <p:spPr>
          <a:xfrm>
            <a:off x="7590990" y="77552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卡片＋陰影</a:t>
            </a:r>
            <a:endParaRPr lang="en-US" sz="1050" dirty="0"/>
          </a:p>
        </p:txBody>
      </p:sp>
      <p:grpSp>
        <p:nvGrpSpPr>
          <p:cNvPr id="5009" name="表頭色帶卡"/>
          <p:cNvGrpSpPr/>
          <p:nvPr/>
        </p:nvGrpSpPr>
        <p:grpSpPr>
          <a:xfrm>
            <a:off x="9494819" y="7189470"/>
            <a:ext cx="1371600" cy="525780"/>
            <a:chOff x="9494819" y="7189470"/>
            <a:chExt cx="1371600" cy="525780"/>
          </a:xfrm>
        </p:grpSpPr>
        <p:sp>
          <p:nvSpPr>
            <p:cNvPr id="119" name="卡片"/>
            <p:cNvSpPr/>
            <p:nvPr/>
          </p:nvSpPr>
          <p:spPr>
            <a:xfrm>
              <a:off x="9494819" y="7189470"/>
              <a:ext cx="1371600" cy="52578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0" name="表頭"/>
            <p:cNvSpPr/>
            <p:nvPr/>
          </p:nvSpPr>
          <p:spPr>
            <a:xfrm>
              <a:off x="9494819" y="7189470"/>
              <a:ext cx="1371600" cy="182880"/>
            </a:xfrm>
            <a:custGeom>
              <a:avLst/>
              <a:gdLst/>
              <a:ahLst/>
              <a:cxnLst/>
              <a:rect l="l" t="t" r="r" b="b"/>
              <a:pathLst>
                <a:path w="1371600" h="182880">
                  <a:moveTo>
                    <a:pt x="0" y="182880"/>
                  </a:moveTo>
                  <a:lnTo>
                    <a:pt x="0" y="114300"/>
                  </a:lnTo>
                  <a:arcTo hR="114300" wR="114300" stAng="10800000" swAng="5400000"/>
                  <a:lnTo>
                    <a:pt x="1257300" y="0"/>
                  </a:lnTo>
                  <a:arcTo hR="114300" wR="114300" stAng="16200000" swAng="5400000"/>
                  <a:lnTo>
                    <a:pt x="1371600" y="182880"/>
                  </a:lnTo>
                  <a:close/>
                </a:path>
              </a:pathLst>
            </a:custGeom>
            <a:solidFill>
              <a:srgbClr val="2F4B6E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1" name="圖說"/>
          <p:cNvSpPr/>
          <p:nvPr/>
        </p:nvSpPr>
        <p:spPr>
          <a:xfrm>
            <a:off x="9340269" y="77552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表頭色帶卡</a:t>
            </a:r>
            <a:endParaRPr lang="en-US" sz="1050" dirty="0"/>
          </a:p>
        </p:txBody>
      </p:sp>
      <p:grpSp>
        <p:nvGrpSpPr>
          <p:cNvPr id="5010" name="頂邊／側邊色條"/>
          <p:cNvGrpSpPr/>
          <p:nvPr/>
        </p:nvGrpSpPr>
        <p:grpSpPr>
          <a:xfrm>
            <a:off x="11244099" y="7189470"/>
            <a:ext cx="1371600" cy="525780"/>
            <a:chOff x="11244099" y="7189470"/>
            <a:chExt cx="1371600" cy="525780"/>
          </a:xfrm>
        </p:grpSpPr>
        <p:sp>
          <p:nvSpPr>
            <p:cNvPr id="122" name="卡片"/>
            <p:cNvSpPr/>
            <p:nvPr/>
          </p:nvSpPr>
          <p:spPr>
            <a:xfrm>
              <a:off x="11244099" y="7189470"/>
              <a:ext cx="1371600" cy="52578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3" name="側邊色條"/>
            <p:cNvSpPr/>
            <p:nvPr/>
          </p:nvSpPr>
          <p:spPr>
            <a:xfrm>
              <a:off x="11244099" y="7189470"/>
              <a:ext cx="68580" cy="525780"/>
            </a:xfrm>
            <a:prstGeom prst="rect">
              <a:avLst/>
            </a:prstGeom>
            <a:solidFill>
              <a:srgbClr val="2F4B6E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4" name="圖說"/>
          <p:cNvSpPr/>
          <p:nvPr/>
        </p:nvSpPr>
        <p:spPr>
          <a:xfrm>
            <a:off x="11089549" y="77552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頂邊／側邊色條</a:t>
            </a:r>
            <a:endParaRPr lang="en-US" sz="1050" dirty="0"/>
          </a:p>
        </p:txBody>
      </p:sp>
      <p:grpSp>
        <p:nvGrpSpPr>
          <p:cNvPr id="5011" name="半透明寬欄條"/>
          <p:cNvGrpSpPr/>
          <p:nvPr/>
        </p:nvGrpSpPr>
        <p:grpSpPr>
          <a:xfrm>
            <a:off x="13221979" y="7189470"/>
            <a:ext cx="914400" cy="525780"/>
            <a:chOff x="13221979" y="7189470"/>
            <a:chExt cx="914400" cy="525780"/>
          </a:xfrm>
        </p:grpSpPr>
        <p:sp>
          <p:nvSpPr>
            <p:cNvPr id="125" name="寬欄條"/>
            <p:cNvSpPr/>
            <p:nvPr/>
          </p:nvSpPr>
          <p:spPr>
            <a:xfrm>
              <a:off x="13221979" y="7189470"/>
              <a:ext cx="388620" cy="525780"/>
            </a:xfrm>
            <a:prstGeom prst="roundRect">
              <a:avLst>
                <a:gd name="adj" fmla="val 29412"/>
              </a:avLst>
            </a:prstGeom>
            <a:solidFill>
              <a:srgbClr val="A6A6A6">
                <a:alpha val="38000"/>
              </a:srgbClr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6" name="寬欄條"/>
            <p:cNvSpPr/>
            <p:nvPr/>
          </p:nvSpPr>
          <p:spPr>
            <a:xfrm>
              <a:off x="13747759" y="7189470"/>
              <a:ext cx="388620" cy="525780"/>
            </a:xfrm>
            <a:prstGeom prst="roundRect">
              <a:avLst>
                <a:gd name="adj" fmla="val 29412"/>
              </a:avLst>
            </a:prstGeom>
            <a:solidFill>
              <a:srgbClr val="A6A6A6">
                <a:alpha val="38000"/>
              </a:srgbClr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7" name="圖說"/>
          <p:cNvSpPr/>
          <p:nvPr/>
        </p:nvSpPr>
        <p:spPr>
          <a:xfrm>
            <a:off x="12838829" y="77552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半透明寬欄條</a:t>
            </a:r>
            <a:endParaRPr lang="en-US" sz="1050" dirty="0"/>
          </a:p>
        </p:txBody>
      </p:sp>
      <p:sp>
        <p:nvSpPr>
          <p:cNvPr id="128" name="線條"/>
          <p:cNvSpPr/>
          <p:nvPr/>
        </p:nvSpPr>
        <p:spPr>
          <a:xfrm>
            <a:off x="2171700" y="2125980"/>
            <a:ext cx="0" cy="5783580"/>
          </a:xfrm>
          <a:prstGeom prst="line">
            <a:avLst/>
          </a:prstGeom>
          <a:noFill/>
          <a:ln w="8001">
            <a:solidFill>
              <a:srgbClr val="E4E4E4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130" name="Text 128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/ 13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71500" y="45720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5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《常見組合 Common Patterns》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685800" y="1257300"/>
            <a:ext cx="1257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已排好、已連線的流程小組合：整組複製即可使用（純流程圖語意）</a:t>
            </a:r>
            <a:endParaRPr lang="en-US" sz="1900" dirty="0"/>
          </a:p>
        </p:txBody>
      </p:sp>
      <p:sp>
        <p:nvSpPr>
          <p:cNvPr id="4" name="線條"/>
          <p:cNvSpPr/>
          <p:nvPr/>
        </p:nvSpPr>
        <p:spPr>
          <a:xfrm>
            <a:off x="685800" y="1851660"/>
            <a:ext cx="138680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23085"/>
            <a:ext cx="1257300" cy="57150"/>
          </a:xfrm>
          <a:prstGeom prst="rect">
            <a:avLst/>
          </a:pr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組合名稱"/>
          <p:cNvSpPr/>
          <p:nvPr/>
        </p:nvSpPr>
        <p:spPr>
          <a:xfrm>
            <a:off x="685800" y="2171700"/>
            <a:ext cx="3278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三步驟流程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Linear Process</a:t>
            </a:r>
            <a:endParaRPr lang="en-US" sz="1750" dirty="0"/>
          </a:p>
        </p:txBody>
      </p:sp>
      <p:sp>
        <p:nvSpPr>
          <p:cNvPr id="7" name="線條"/>
          <p:cNvSpPr/>
          <p:nvPr/>
        </p:nvSpPr>
        <p:spPr>
          <a:xfrm>
            <a:off x="685800" y="256032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0" name="三步驟流程"/>
          <p:cNvGrpSpPr/>
          <p:nvPr/>
        </p:nvGrpSpPr>
        <p:grpSpPr>
          <a:xfrm>
            <a:off x="685800" y="2893619"/>
            <a:ext cx="3278410" cy="924001"/>
            <a:chOff x="685800" y="2893619"/>
            <a:chExt cx="3278410" cy="924001"/>
          </a:xfrm>
        </p:grpSpPr>
        <p:sp>
          <p:nvSpPr>
            <p:cNvPr id="8" name="處理"/>
            <p:cNvSpPr/>
            <p:nvPr/>
          </p:nvSpPr>
          <p:spPr>
            <a:xfrm>
              <a:off x="685800" y="3337560"/>
              <a:ext cx="845820" cy="480060"/>
            </a:xfrm>
            <a:prstGeom prst="roundRect">
              <a:avLst>
                <a:gd name="adj" fmla="val 23810"/>
              </a:avLst>
            </a:prstGeom>
            <a:solidFill>
              <a:srgbClr val="F2F2F2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步驟一</a:t>
              </a:r>
              <a:endParaRPr lang="en-US" sz="1300" dirty="0"/>
            </a:p>
          </p:txBody>
        </p:sp>
        <p:sp>
          <p:nvSpPr>
            <p:cNvPr id="9" name="編號"/>
            <p:cNvSpPr/>
            <p:nvPr/>
          </p:nvSpPr>
          <p:spPr>
            <a:xfrm>
              <a:off x="922972" y="2893619"/>
              <a:ext cx="371475" cy="202082"/>
            </a:xfrm>
            <a:prstGeom prst="roundRect">
              <a:avLst>
                <a:gd name="adj" fmla="val 50000"/>
              </a:avLst>
            </a:prstGeom>
            <a:solidFill>
              <a:srgbClr val="2F4B6E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01</a:t>
              </a:r>
              <a:endParaRPr lang="en-US" sz="900" dirty="0"/>
            </a:p>
          </p:txBody>
        </p:sp>
        <p:sp>
          <p:nvSpPr>
            <p:cNvPr id="10" name="處理"/>
            <p:cNvSpPr/>
            <p:nvPr/>
          </p:nvSpPr>
          <p:spPr>
            <a:xfrm>
              <a:off x="1902095" y="3337560"/>
              <a:ext cx="845820" cy="480060"/>
            </a:xfrm>
            <a:prstGeom prst="roundRect">
              <a:avLst>
                <a:gd name="adj" fmla="val 23810"/>
              </a:avLst>
            </a:prstGeom>
            <a:solidFill>
              <a:srgbClr val="F2F2F2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步驟二</a:t>
              </a:r>
              <a:endParaRPr lang="en-US" sz="1300" dirty="0"/>
            </a:p>
          </p:txBody>
        </p:sp>
        <p:sp>
          <p:nvSpPr>
            <p:cNvPr id="11" name="編號"/>
            <p:cNvSpPr/>
            <p:nvPr/>
          </p:nvSpPr>
          <p:spPr>
            <a:xfrm>
              <a:off x="2139267" y="2893619"/>
              <a:ext cx="371475" cy="202082"/>
            </a:xfrm>
            <a:prstGeom prst="roundRect">
              <a:avLst>
                <a:gd name="adj" fmla="val 50000"/>
              </a:avLst>
            </a:prstGeom>
            <a:solidFill>
              <a:srgbClr val="2F4B6E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02</a:t>
              </a:r>
              <a:endParaRPr lang="en-US" sz="900" dirty="0"/>
            </a:p>
          </p:txBody>
        </p:sp>
        <p:sp>
          <p:nvSpPr>
            <p:cNvPr id="12" name="處理"/>
            <p:cNvSpPr/>
            <p:nvPr/>
          </p:nvSpPr>
          <p:spPr>
            <a:xfrm>
              <a:off x="3118390" y="3337560"/>
              <a:ext cx="845820" cy="480060"/>
            </a:xfrm>
            <a:prstGeom prst="roundRect">
              <a:avLst>
                <a:gd name="adj" fmla="val 23810"/>
              </a:avLst>
            </a:prstGeom>
            <a:solidFill>
              <a:srgbClr val="2F4B6E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步驟三</a:t>
              </a:r>
              <a:endParaRPr lang="en-US" sz="1300" dirty="0"/>
            </a:p>
          </p:txBody>
        </p:sp>
        <p:sp>
          <p:nvSpPr>
            <p:cNvPr id="13" name="編號"/>
            <p:cNvSpPr/>
            <p:nvPr/>
          </p:nvSpPr>
          <p:spPr>
            <a:xfrm>
              <a:off x="3355562" y="2893619"/>
              <a:ext cx="371475" cy="202082"/>
            </a:xfrm>
            <a:prstGeom prst="roundRect">
              <a:avLst>
                <a:gd name="adj" fmla="val 50000"/>
              </a:avLst>
            </a:prstGeom>
            <a:solidFill>
              <a:srgbClr val="2F4B6E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03</a:t>
              </a:r>
              <a:endParaRPr lang="en-US" sz="900" dirty="0"/>
            </a:p>
          </p:txBody>
        </p:sp>
        <p:cxnSp>
          <p:nvCxnSpPr>
            <p:cNvPr id="14" name="連接線"/>
            <p:cNvCxnSpPr>
              <a:stCxn id="8" idx="3"/>
              <a:endCxn id="10" idx="1"/>
            </p:cNvCxnSpPr>
            <p:nvPr/>
          </p:nvCxnSpPr>
          <p:spPr>
            <a:xfrm>
              <a:off x="1531620" y="3577590"/>
              <a:ext cx="370475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15" name="連接線"/>
            <p:cNvCxnSpPr>
              <a:stCxn id="10" idx="3"/>
              <a:endCxn id="12" idx="1"/>
            </p:cNvCxnSpPr>
            <p:nvPr/>
          </p:nvCxnSpPr>
          <p:spPr>
            <a:xfrm>
              <a:off x="2747915" y="3577590"/>
              <a:ext cx="370475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ysDot"/>
              <a:tailEnd type="triangle" w="lg" len="lg"/>
            </a:ln>
          </p:spPr>
        </p:cxnSp>
      </p:grpSp>
      <p:sp>
        <p:nvSpPr>
          <p:cNvPr id="16" name="組合名稱"/>
          <p:cNvSpPr/>
          <p:nvPr/>
        </p:nvSpPr>
        <p:spPr>
          <a:xfrm>
            <a:off x="4215670" y="2171700"/>
            <a:ext cx="3278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判斷分岔（是／否）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Decision Branch</a:t>
            </a:r>
            <a:endParaRPr lang="en-US" sz="1750" dirty="0"/>
          </a:p>
        </p:txBody>
      </p:sp>
      <p:sp>
        <p:nvSpPr>
          <p:cNvPr id="17" name="線條"/>
          <p:cNvSpPr/>
          <p:nvPr/>
        </p:nvSpPr>
        <p:spPr>
          <a:xfrm>
            <a:off x="4215670" y="256032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1" name="判斷分岔（是／否）"/>
          <p:cNvGrpSpPr/>
          <p:nvPr/>
        </p:nvGrpSpPr>
        <p:grpSpPr>
          <a:xfrm>
            <a:off x="4215670" y="2777490"/>
            <a:ext cx="3278410" cy="1771650"/>
            <a:chOff x="4215670" y="2777490"/>
            <a:chExt cx="3278410" cy="1771650"/>
          </a:xfrm>
        </p:grpSpPr>
        <p:sp>
          <p:nvSpPr>
            <p:cNvPr id="18" name="處理"/>
            <p:cNvSpPr/>
            <p:nvPr/>
          </p:nvSpPr>
          <p:spPr>
            <a:xfrm>
              <a:off x="4215670" y="2903220"/>
              <a:ext cx="822960" cy="480060"/>
            </a:xfrm>
            <a:prstGeom prst="roundRect">
              <a:avLst>
                <a:gd name="adj" fmla="val 23810"/>
              </a:avLst>
            </a:prstGeom>
            <a:solidFill>
              <a:srgbClr val="F2F2F2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檢查</a:t>
              </a:r>
              <a:endParaRPr lang="en-US" sz="1300" dirty="0"/>
            </a:p>
          </p:txBody>
        </p:sp>
        <p:sp>
          <p:nvSpPr>
            <p:cNvPr id="19" name="判斷"/>
            <p:cNvSpPr/>
            <p:nvPr/>
          </p:nvSpPr>
          <p:spPr>
            <a:xfrm>
              <a:off x="5335810" y="2777490"/>
              <a:ext cx="960120" cy="731520"/>
            </a:xfrm>
            <a:prstGeom prst="diamond">
              <a:avLst/>
            </a:prstGeom>
            <a:solidFill>
              <a:srgbClr val="F2F2F2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通過？</a:t>
              </a:r>
              <a:endParaRPr lang="en-US" sz="1200" dirty="0"/>
            </a:p>
          </p:txBody>
        </p:sp>
        <p:cxnSp>
          <p:nvCxnSpPr>
            <p:cNvPr id="20" name="連接線"/>
            <p:cNvCxnSpPr>
              <a:stCxn id="18" idx="3"/>
              <a:endCxn id="19" idx="1"/>
            </p:cNvCxnSpPr>
            <p:nvPr/>
          </p:nvCxnSpPr>
          <p:spPr>
            <a:xfrm>
              <a:off x="5038630" y="3143250"/>
              <a:ext cx="297180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ysDot"/>
              <a:tailEnd type="triangle" w="lg" len="lg"/>
            </a:ln>
          </p:spPr>
        </p:cxnSp>
        <p:sp>
          <p:nvSpPr>
            <p:cNvPr id="21" name="處理"/>
            <p:cNvSpPr/>
            <p:nvPr/>
          </p:nvSpPr>
          <p:spPr>
            <a:xfrm>
              <a:off x="6648260" y="2903220"/>
              <a:ext cx="845820" cy="480060"/>
            </a:xfrm>
            <a:prstGeom prst="roundRect">
              <a:avLst>
                <a:gd name="adj" fmla="val 23810"/>
              </a:avLst>
            </a:prstGeom>
            <a:solidFill>
              <a:srgbClr val="2F4B6E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執行</a:t>
              </a:r>
              <a:endParaRPr lang="en-US" sz="1300" dirty="0"/>
            </a:p>
          </p:txBody>
        </p:sp>
        <p:cxnSp>
          <p:nvCxnSpPr>
            <p:cNvPr id="22" name="連接線"/>
            <p:cNvCxnSpPr>
              <a:stCxn id="19" idx="3"/>
              <a:endCxn id="21" idx="1"/>
            </p:cNvCxnSpPr>
            <p:nvPr/>
          </p:nvCxnSpPr>
          <p:spPr>
            <a:xfrm>
              <a:off x="6295930" y="3143250"/>
              <a:ext cx="352330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ysDot"/>
              <a:tailEnd type="triangle" w="lg" len="lg"/>
            </a:ln>
          </p:spPr>
        </p:cxnSp>
        <p:sp>
          <p:nvSpPr>
            <p:cNvPr id="23" name="標註"/>
            <p:cNvSpPr/>
            <p:nvPr/>
          </p:nvSpPr>
          <p:spPr>
            <a:xfrm>
              <a:off x="6295930" y="286893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1050" dirty="0"/>
            </a:p>
          </p:txBody>
        </p:sp>
        <p:sp>
          <p:nvSpPr>
            <p:cNvPr id="24" name="處理"/>
            <p:cNvSpPr/>
            <p:nvPr/>
          </p:nvSpPr>
          <p:spPr>
            <a:xfrm>
              <a:off x="5392960" y="4069080"/>
              <a:ext cx="845820" cy="480060"/>
            </a:xfrm>
            <a:prstGeom prst="roundRect">
              <a:avLst>
                <a:gd name="adj" fmla="val 23810"/>
              </a:avLst>
            </a:prstGeom>
            <a:solidFill>
              <a:srgbClr val="F2F2F2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修正</a:t>
              </a:r>
              <a:endParaRPr lang="en-US" sz="1300" dirty="0"/>
            </a:p>
          </p:txBody>
        </p:sp>
        <p:cxnSp>
          <p:nvCxnSpPr>
            <p:cNvPr id="25" name="連接線"/>
            <p:cNvCxnSpPr>
              <a:stCxn id="19" idx="2"/>
              <a:endCxn id="24" idx="0"/>
            </p:cNvCxnSpPr>
            <p:nvPr/>
          </p:nvCxnSpPr>
          <p:spPr>
            <a:xfrm>
              <a:off x="5815870" y="3509010"/>
              <a:ext cx="0" cy="56007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ysDot"/>
              <a:tailEnd type="triangle" w="lg" len="lg"/>
            </a:ln>
          </p:spPr>
        </p:cxnSp>
        <p:sp>
          <p:nvSpPr>
            <p:cNvPr id="26" name="標註"/>
            <p:cNvSpPr/>
            <p:nvPr/>
          </p:nvSpPr>
          <p:spPr>
            <a:xfrm>
              <a:off x="5838730" y="3554730"/>
              <a:ext cx="3429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否</a:t>
              </a:r>
              <a:endParaRPr lang="en-US" sz="1050" dirty="0"/>
            </a:p>
          </p:txBody>
        </p:sp>
      </p:grpSp>
      <p:sp>
        <p:nvSpPr>
          <p:cNvPr id="27" name="組合名稱"/>
          <p:cNvSpPr/>
          <p:nvPr/>
        </p:nvSpPr>
        <p:spPr>
          <a:xfrm>
            <a:off x="7745540" y="2171700"/>
            <a:ext cx="3278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例外退回路徑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Exception Return</a:t>
            </a:r>
            <a:endParaRPr lang="en-US" sz="1750" dirty="0"/>
          </a:p>
        </p:txBody>
      </p:sp>
      <p:sp>
        <p:nvSpPr>
          <p:cNvPr id="28" name="線條"/>
          <p:cNvSpPr/>
          <p:nvPr/>
        </p:nvSpPr>
        <p:spPr>
          <a:xfrm>
            <a:off x="7745540" y="256032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2" name="例外退回路徑"/>
          <p:cNvGrpSpPr/>
          <p:nvPr/>
        </p:nvGrpSpPr>
        <p:grpSpPr>
          <a:xfrm>
            <a:off x="7745540" y="3040380"/>
            <a:ext cx="3278410" cy="1234440"/>
            <a:chOff x="7745540" y="3040380"/>
            <a:chExt cx="3278410" cy="1234440"/>
          </a:xfrm>
        </p:grpSpPr>
        <p:sp>
          <p:nvSpPr>
            <p:cNvPr id="29" name="處理"/>
            <p:cNvSpPr/>
            <p:nvPr/>
          </p:nvSpPr>
          <p:spPr>
            <a:xfrm>
              <a:off x="7745540" y="3040380"/>
              <a:ext cx="845820" cy="480060"/>
            </a:xfrm>
            <a:prstGeom prst="roundRect">
              <a:avLst>
                <a:gd name="adj" fmla="val 23810"/>
              </a:avLst>
            </a:prstGeom>
            <a:solidFill>
              <a:srgbClr val="F2F2F2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受理</a:t>
              </a:r>
              <a:endParaRPr lang="en-US" sz="1300" dirty="0"/>
            </a:p>
          </p:txBody>
        </p:sp>
        <p:sp>
          <p:nvSpPr>
            <p:cNvPr id="30" name="處理"/>
            <p:cNvSpPr/>
            <p:nvPr/>
          </p:nvSpPr>
          <p:spPr>
            <a:xfrm>
              <a:off x="8961834" y="3040380"/>
              <a:ext cx="845820" cy="480060"/>
            </a:xfrm>
            <a:prstGeom prst="roundRect">
              <a:avLst>
                <a:gd name="adj" fmla="val 23810"/>
              </a:avLst>
            </a:prstGeom>
            <a:solidFill>
              <a:srgbClr val="F2F2F2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審查</a:t>
              </a:r>
              <a:endParaRPr lang="en-US" sz="1300" dirty="0"/>
            </a:p>
          </p:txBody>
        </p:sp>
        <p:sp>
          <p:nvSpPr>
            <p:cNvPr id="31" name="處理"/>
            <p:cNvSpPr/>
            <p:nvPr/>
          </p:nvSpPr>
          <p:spPr>
            <a:xfrm>
              <a:off x="10178129" y="3040380"/>
              <a:ext cx="845820" cy="480060"/>
            </a:xfrm>
            <a:prstGeom prst="roundRect">
              <a:avLst>
                <a:gd name="adj" fmla="val 23810"/>
              </a:avLst>
            </a:prstGeom>
            <a:solidFill>
              <a:srgbClr val="2F4B6E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完成</a:t>
              </a:r>
              <a:endParaRPr lang="en-US" sz="1300" dirty="0"/>
            </a:p>
          </p:txBody>
        </p:sp>
        <p:cxnSp>
          <p:nvCxnSpPr>
            <p:cNvPr id="32" name="連接線"/>
            <p:cNvCxnSpPr>
              <a:stCxn id="29" idx="3"/>
              <a:endCxn id="30" idx="1"/>
            </p:cNvCxnSpPr>
            <p:nvPr/>
          </p:nvCxnSpPr>
          <p:spPr>
            <a:xfrm>
              <a:off x="8591360" y="3280410"/>
              <a:ext cx="370475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33" name="連接線"/>
            <p:cNvCxnSpPr>
              <a:stCxn id="30" idx="3"/>
              <a:endCxn id="31" idx="1"/>
            </p:cNvCxnSpPr>
            <p:nvPr/>
          </p:nvCxnSpPr>
          <p:spPr>
            <a:xfrm>
              <a:off x="9807654" y="3280410"/>
              <a:ext cx="370475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34" name="連接線"/>
            <p:cNvCxnSpPr>
              <a:stCxn id="30" idx="2"/>
              <a:endCxn id="29" idx="2"/>
            </p:cNvCxnSpPr>
            <p:nvPr/>
          </p:nvCxnSpPr>
          <p:spPr>
            <a:xfrm rot="5400000">
              <a:off x="8773854" y="2915036"/>
              <a:ext cx="5486" cy="1216295"/>
            </a:xfrm>
            <a:prstGeom prst="bentConnector3">
              <a:avLst>
                <a:gd name="adj1" fmla="val 8750000"/>
              </a:avLst>
            </a:prstGeom>
            <a:ln w="19812">
              <a:solidFill>
                <a:srgbClr val="C0504D"/>
              </a:solidFill>
              <a:prstDash val="sysDash"/>
              <a:tailEnd type="triangle"/>
            </a:ln>
          </p:spPr>
        </p:cxnSp>
        <p:sp>
          <p:nvSpPr>
            <p:cNvPr id="35" name="標註"/>
            <p:cNvSpPr/>
            <p:nvPr/>
          </p:nvSpPr>
          <p:spPr>
            <a:xfrm>
              <a:off x="8168450" y="4046220"/>
              <a:ext cx="121629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903C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例外：退回補件</a:t>
              </a:r>
              <a:endParaRPr lang="en-US" sz="1050" dirty="0"/>
            </a:p>
          </p:txBody>
        </p:sp>
      </p:grpSp>
      <p:sp>
        <p:nvSpPr>
          <p:cNvPr id="36" name="組合名稱"/>
          <p:cNvSpPr/>
          <p:nvPr/>
        </p:nvSpPr>
        <p:spPr>
          <a:xfrm>
            <a:off x="11275409" y="2171700"/>
            <a:ext cx="3278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審核迴圈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Approval Loop</a:t>
            </a:r>
            <a:endParaRPr lang="en-US" sz="1750" dirty="0"/>
          </a:p>
        </p:txBody>
      </p:sp>
      <p:sp>
        <p:nvSpPr>
          <p:cNvPr id="37" name="線條"/>
          <p:cNvSpPr/>
          <p:nvPr/>
        </p:nvSpPr>
        <p:spPr>
          <a:xfrm>
            <a:off x="11275409" y="256032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3" name="審核迴圈"/>
          <p:cNvGrpSpPr/>
          <p:nvPr/>
        </p:nvGrpSpPr>
        <p:grpSpPr>
          <a:xfrm>
            <a:off x="11275409" y="2651760"/>
            <a:ext cx="3278410" cy="1451610"/>
            <a:chOff x="11275409" y="2651760"/>
            <a:chExt cx="3278410" cy="1451610"/>
          </a:xfrm>
        </p:grpSpPr>
        <p:sp>
          <p:nvSpPr>
            <p:cNvPr id="38" name="處理"/>
            <p:cNvSpPr/>
            <p:nvPr/>
          </p:nvSpPr>
          <p:spPr>
            <a:xfrm>
              <a:off x="11275409" y="3520440"/>
              <a:ext cx="914400" cy="480060"/>
            </a:xfrm>
            <a:prstGeom prst="roundRect">
              <a:avLst>
                <a:gd name="adj" fmla="val 23810"/>
              </a:avLst>
            </a:prstGeom>
            <a:solidFill>
              <a:srgbClr val="F2F2F2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提出申請</a:t>
              </a:r>
              <a:endParaRPr lang="en-US" sz="1300" dirty="0"/>
            </a:p>
          </p:txBody>
        </p:sp>
        <p:sp>
          <p:nvSpPr>
            <p:cNvPr id="39" name="判斷"/>
            <p:cNvSpPr/>
            <p:nvPr/>
          </p:nvSpPr>
          <p:spPr>
            <a:xfrm>
              <a:off x="12418409" y="3417570"/>
              <a:ext cx="845820" cy="685800"/>
            </a:xfrm>
            <a:prstGeom prst="diamond">
              <a:avLst/>
            </a:prstGeom>
            <a:solidFill>
              <a:srgbClr val="F2F2F2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1200" dirty="0"/>
            </a:p>
          </p:txBody>
        </p:sp>
        <p:cxnSp>
          <p:nvCxnSpPr>
            <p:cNvPr id="40" name="連接線"/>
            <p:cNvCxnSpPr>
              <a:stCxn id="38" idx="3"/>
              <a:endCxn id="39" idx="1"/>
            </p:cNvCxnSpPr>
            <p:nvPr/>
          </p:nvCxnSpPr>
          <p:spPr>
            <a:xfrm>
              <a:off x="12189809" y="3760470"/>
              <a:ext cx="228600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ysDot"/>
              <a:tailEnd type="triangle" w="lg" len="lg"/>
            </a:ln>
          </p:spPr>
        </p:cxnSp>
        <p:sp>
          <p:nvSpPr>
            <p:cNvPr id="41" name="處理"/>
            <p:cNvSpPr/>
            <p:nvPr/>
          </p:nvSpPr>
          <p:spPr>
            <a:xfrm>
              <a:off x="13845159" y="3520440"/>
              <a:ext cx="708660" cy="480060"/>
            </a:xfrm>
            <a:prstGeom prst="roundRect">
              <a:avLst>
                <a:gd name="adj" fmla="val 23810"/>
              </a:avLst>
            </a:prstGeom>
            <a:solidFill>
              <a:srgbClr val="2F4B6E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核准</a:t>
              </a:r>
              <a:endParaRPr lang="en-US" sz="1300" dirty="0"/>
            </a:p>
          </p:txBody>
        </p:sp>
        <p:cxnSp>
          <p:nvCxnSpPr>
            <p:cNvPr id="42" name="連接線"/>
            <p:cNvCxnSpPr>
              <a:stCxn id="39" idx="3"/>
              <a:endCxn id="41" idx="1"/>
            </p:cNvCxnSpPr>
            <p:nvPr/>
          </p:nvCxnSpPr>
          <p:spPr>
            <a:xfrm>
              <a:off x="13264229" y="3760470"/>
              <a:ext cx="580930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ysDot"/>
              <a:tailEnd type="triangle" w="lg" len="lg"/>
            </a:ln>
          </p:spPr>
        </p:cxnSp>
        <p:sp>
          <p:nvSpPr>
            <p:cNvPr id="43" name="標註"/>
            <p:cNvSpPr/>
            <p:nvPr/>
          </p:nvSpPr>
          <p:spPr>
            <a:xfrm>
              <a:off x="13264229" y="3486150"/>
              <a:ext cx="58093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</a:t>
              </a:r>
              <a:endParaRPr lang="en-US" sz="1050" dirty="0"/>
            </a:p>
          </p:txBody>
        </p:sp>
        <p:cxnSp>
          <p:nvCxnSpPr>
            <p:cNvPr id="44" name="連接線"/>
            <p:cNvCxnSpPr>
              <a:stCxn id="39" idx="0"/>
              <a:endCxn id="38" idx="0"/>
            </p:cNvCxnSpPr>
            <p:nvPr/>
          </p:nvCxnSpPr>
          <p:spPr>
            <a:xfrm rot="5400000">
              <a:off x="12235529" y="2914650"/>
              <a:ext cx="102870" cy="1108710"/>
            </a:xfrm>
            <a:prstGeom prst="bentConnector3">
              <a:avLst>
                <a:gd name="adj1" fmla="val -500000"/>
              </a:avLst>
            </a:prstGeom>
            <a:ln w="19812">
              <a:solidFill>
                <a:srgbClr val="595959"/>
              </a:solidFill>
              <a:prstDash val="sysDot"/>
              <a:tailEnd type="triangle" w="lg" len="lg"/>
            </a:ln>
          </p:spPr>
        </p:cxnSp>
        <p:sp>
          <p:nvSpPr>
            <p:cNvPr id="45" name="標註"/>
            <p:cNvSpPr/>
            <p:nvPr/>
          </p:nvSpPr>
          <p:spPr>
            <a:xfrm>
              <a:off x="11755469" y="2651760"/>
              <a:ext cx="10858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退回修改後重送</a:t>
              </a:r>
              <a:endParaRPr lang="en-US" sz="1050" dirty="0"/>
            </a:p>
          </p:txBody>
        </p:sp>
      </p:grpSp>
      <p:sp>
        <p:nvSpPr>
          <p:cNvPr id="46" name="組合名稱"/>
          <p:cNvSpPr/>
          <p:nvPr/>
        </p:nvSpPr>
        <p:spPr>
          <a:xfrm>
            <a:off x="685800" y="5052060"/>
            <a:ext cx="3278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泳道（雙道）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Swimlane</a:t>
            </a:r>
            <a:endParaRPr lang="en-US" sz="1750" dirty="0"/>
          </a:p>
        </p:txBody>
      </p:sp>
      <p:sp>
        <p:nvSpPr>
          <p:cNvPr id="47" name="線條"/>
          <p:cNvSpPr/>
          <p:nvPr/>
        </p:nvSpPr>
        <p:spPr>
          <a:xfrm>
            <a:off x="685800" y="544068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4" name="泳道（雙道）"/>
          <p:cNvGrpSpPr/>
          <p:nvPr/>
        </p:nvGrpSpPr>
        <p:grpSpPr>
          <a:xfrm>
            <a:off x="685800" y="5554980"/>
            <a:ext cx="3278410" cy="1897380"/>
            <a:chOff x="685800" y="5554980"/>
            <a:chExt cx="3278410" cy="1897380"/>
          </a:xfrm>
        </p:grpSpPr>
        <p:sp>
          <p:nvSpPr>
            <p:cNvPr id="48" name="泳道"/>
            <p:cNvSpPr/>
            <p:nvPr/>
          </p:nvSpPr>
          <p:spPr>
            <a:xfrm>
              <a:off x="685800" y="5554980"/>
              <a:ext cx="3278410" cy="91440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49" name="泳道標題"/>
            <p:cNvSpPr/>
            <p:nvPr/>
          </p:nvSpPr>
          <p:spPr>
            <a:xfrm>
              <a:off x="685800" y="5554980"/>
              <a:ext cx="525780" cy="914400"/>
            </a:xfrm>
            <a:prstGeom prst="rect">
              <a:avLst/>
            </a:prstGeom>
            <a:solidFill>
              <a:srgbClr val="F2F2F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申</a:t>
              </a:r>
              <a:endParaRPr lang="en-US" sz="10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請</a:t>
              </a:r>
              <a:endParaRPr lang="en-US" sz="10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人</a:t>
              </a:r>
              <a:endParaRPr lang="en-US" sz="1050" dirty="0"/>
            </a:p>
          </p:txBody>
        </p:sp>
        <p:sp>
          <p:nvSpPr>
            <p:cNvPr id="50" name="泳道"/>
            <p:cNvSpPr/>
            <p:nvPr/>
          </p:nvSpPr>
          <p:spPr>
            <a:xfrm>
              <a:off x="685800" y="6537960"/>
              <a:ext cx="3278410" cy="91440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1" name="泳道標題"/>
            <p:cNvSpPr/>
            <p:nvPr/>
          </p:nvSpPr>
          <p:spPr>
            <a:xfrm>
              <a:off x="685800" y="6537960"/>
              <a:ext cx="525780" cy="914400"/>
            </a:xfrm>
            <a:prstGeom prst="rect">
              <a:avLst/>
            </a:prstGeom>
            <a:solidFill>
              <a:srgbClr val="F2F2F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主</a:t>
              </a:r>
              <a:endParaRPr lang="en-US" sz="10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管</a:t>
              </a:r>
              <a:endParaRPr lang="en-US" sz="1050" dirty="0"/>
            </a:p>
          </p:txBody>
        </p:sp>
        <p:sp>
          <p:nvSpPr>
            <p:cNvPr id="52" name="處理"/>
            <p:cNvSpPr/>
            <p:nvPr/>
          </p:nvSpPr>
          <p:spPr>
            <a:xfrm>
              <a:off x="1371600" y="5772150"/>
              <a:ext cx="800100" cy="480060"/>
            </a:xfrm>
            <a:prstGeom prst="roundRect">
              <a:avLst>
                <a:gd name="adj" fmla="val 23810"/>
              </a:avLst>
            </a:prstGeom>
            <a:solidFill>
              <a:srgbClr val="F2F2F2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填寫</a:t>
              </a:r>
              <a:endParaRPr lang="en-US" sz="1300" dirty="0"/>
            </a:p>
          </p:txBody>
        </p:sp>
        <p:sp>
          <p:nvSpPr>
            <p:cNvPr id="53" name="處理"/>
            <p:cNvSpPr/>
            <p:nvPr/>
          </p:nvSpPr>
          <p:spPr>
            <a:xfrm>
              <a:off x="2514600" y="6755130"/>
              <a:ext cx="800100" cy="480060"/>
            </a:xfrm>
            <a:prstGeom prst="roundRect">
              <a:avLst>
                <a:gd name="adj" fmla="val 23810"/>
              </a:avLst>
            </a:prstGeom>
            <a:solidFill>
              <a:srgbClr val="F2F2F2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1300" dirty="0"/>
            </a:p>
          </p:txBody>
        </p:sp>
        <p:sp>
          <p:nvSpPr>
            <p:cNvPr id="54" name="處理"/>
            <p:cNvSpPr/>
            <p:nvPr/>
          </p:nvSpPr>
          <p:spPr>
            <a:xfrm>
              <a:off x="3072670" y="5772150"/>
              <a:ext cx="800100" cy="480060"/>
            </a:xfrm>
            <a:prstGeom prst="roundRect">
              <a:avLst>
                <a:gd name="adj" fmla="val 23810"/>
              </a:avLst>
            </a:prstGeom>
            <a:solidFill>
              <a:srgbClr val="2F4B6E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歸檔</a:t>
              </a:r>
              <a:endParaRPr lang="en-US" sz="1300" dirty="0"/>
            </a:p>
          </p:txBody>
        </p:sp>
        <p:cxnSp>
          <p:nvCxnSpPr>
            <p:cNvPr id="55" name="連接線"/>
            <p:cNvCxnSpPr>
              <a:stCxn id="52" idx="3"/>
              <a:endCxn id="53" idx="0"/>
            </p:cNvCxnSpPr>
            <p:nvPr/>
          </p:nvCxnSpPr>
          <p:spPr>
            <a:xfrm>
              <a:off x="2171700" y="6012180"/>
              <a:ext cx="742950" cy="742950"/>
            </a:xfrm>
            <a:prstGeom prst="bentConnector2">
              <a:avLst/>
            </a:prstGeom>
            <a:ln w="19812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56" name="連接線"/>
            <p:cNvCxnSpPr>
              <a:stCxn id="53" idx="3"/>
              <a:endCxn id="54" idx="2"/>
            </p:cNvCxnSpPr>
            <p:nvPr/>
          </p:nvCxnSpPr>
          <p:spPr>
            <a:xfrm flipV="1">
              <a:off x="3314700" y="6252210"/>
              <a:ext cx="158020" cy="742950"/>
            </a:xfrm>
            <a:prstGeom prst="bentConnector2">
              <a:avLst/>
            </a:prstGeom>
            <a:ln w="19812">
              <a:solidFill>
                <a:srgbClr val="595959"/>
              </a:solidFill>
              <a:prstDash val="sysDot"/>
              <a:tailEnd type="triangle" w="lg" len="lg"/>
            </a:ln>
          </p:spPr>
        </p:cxnSp>
      </p:grpSp>
      <p:sp>
        <p:nvSpPr>
          <p:cNvPr id="57" name="組合名稱"/>
          <p:cNvSpPr/>
          <p:nvPr/>
        </p:nvSpPr>
        <p:spPr>
          <a:xfrm>
            <a:off x="4215670" y="5052060"/>
            <a:ext cx="3278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平行分流／合流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Parallel Split / Merge</a:t>
            </a:r>
            <a:endParaRPr lang="en-US" sz="1750" dirty="0"/>
          </a:p>
        </p:txBody>
      </p:sp>
      <p:sp>
        <p:nvSpPr>
          <p:cNvPr id="58" name="線條"/>
          <p:cNvSpPr/>
          <p:nvPr/>
        </p:nvSpPr>
        <p:spPr>
          <a:xfrm>
            <a:off x="4215670" y="544068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5" name="平行分流／合流"/>
          <p:cNvGrpSpPr/>
          <p:nvPr/>
        </p:nvGrpSpPr>
        <p:grpSpPr>
          <a:xfrm>
            <a:off x="4215670" y="5623560"/>
            <a:ext cx="3278410" cy="1691640"/>
            <a:chOff x="4215670" y="5623560"/>
            <a:chExt cx="3278410" cy="1691640"/>
          </a:xfrm>
        </p:grpSpPr>
        <p:sp>
          <p:nvSpPr>
            <p:cNvPr id="59" name="處理"/>
            <p:cNvSpPr/>
            <p:nvPr/>
          </p:nvSpPr>
          <p:spPr>
            <a:xfrm>
              <a:off x="4215670" y="6229350"/>
              <a:ext cx="640080" cy="480060"/>
            </a:xfrm>
            <a:prstGeom prst="roundRect">
              <a:avLst>
                <a:gd name="adj" fmla="val 23810"/>
              </a:avLst>
            </a:prstGeom>
            <a:solidFill>
              <a:srgbClr val="F2F2F2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開始</a:t>
              </a:r>
              <a:endParaRPr lang="en-US" sz="1300" dirty="0"/>
            </a:p>
          </p:txBody>
        </p:sp>
        <p:sp>
          <p:nvSpPr>
            <p:cNvPr id="60" name="分流"/>
            <p:cNvSpPr/>
            <p:nvPr/>
          </p:nvSpPr>
          <p:spPr>
            <a:xfrm>
              <a:off x="5084350" y="5623560"/>
              <a:ext cx="80010" cy="1691640"/>
            </a:xfrm>
            <a:prstGeom prst="rect">
              <a:avLst/>
            </a:prstGeom>
            <a:solidFill>
              <a:srgbClr val="2F4B6E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1" name="處理"/>
            <p:cNvSpPr/>
            <p:nvPr/>
          </p:nvSpPr>
          <p:spPr>
            <a:xfrm>
              <a:off x="5404390" y="5703570"/>
              <a:ext cx="845820" cy="480060"/>
            </a:xfrm>
            <a:prstGeom prst="roundRect">
              <a:avLst>
                <a:gd name="adj" fmla="val 23810"/>
              </a:avLst>
            </a:prstGeom>
            <a:solidFill>
              <a:srgbClr val="F2F2F2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A</a:t>
              </a:r>
              <a:endParaRPr lang="en-US" sz="1300" dirty="0"/>
            </a:p>
          </p:txBody>
        </p:sp>
        <p:sp>
          <p:nvSpPr>
            <p:cNvPr id="62" name="處理"/>
            <p:cNvSpPr/>
            <p:nvPr/>
          </p:nvSpPr>
          <p:spPr>
            <a:xfrm>
              <a:off x="5404390" y="6755130"/>
              <a:ext cx="845820" cy="480060"/>
            </a:xfrm>
            <a:prstGeom prst="roundRect">
              <a:avLst>
                <a:gd name="adj" fmla="val 23810"/>
              </a:avLst>
            </a:prstGeom>
            <a:solidFill>
              <a:srgbClr val="F2F2F2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B</a:t>
              </a:r>
              <a:endParaRPr lang="en-US" sz="1300" dirty="0"/>
            </a:p>
          </p:txBody>
        </p:sp>
        <p:sp>
          <p:nvSpPr>
            <p:cNvPr id="63" name="合流"/>
            <p:cNvSpPr/>
            <p:nvPr/>
          </p:nvSpPr>
          <p:spPr>
            <a:xfrm>
              <a:off x="6282500" y="5623560"/>
              <a:ext cx="80010" cy="1691640"/>
            </a:xfrm>
            <a:prstGeom prst="rect">
              <a:avLst/>
            </a:prstGeom>
            <a:solidFill>
              <a:srgbClr val="2F4B6E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4" name="處理"/>
            <p:cNvSpPr/>
            <p:nvPr/>
          </p:nvSpPr>
          <p:spPr>
            <a:xfrm>
              <a:off x="6785420" y="6229350"/>
              <a:ext cx="708660" cy="480060"/>
            </a:xfrm>
            <a:prstGeom prst="roundRect">
              <a:avLst>
                <a:gd name="adj" fmla="val 23810"/>
              </a:avLst>
            </a:prstGeom>
            <a:solidFill>
              <a:srgbClr val="2F4B6E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彙整</a:t>
              </a:r>
              <a:endParaRPr lang="en-US" sz="1300" dirty="0"/>
            </a:p>
          </p:txBody>
        </p:sp>
        <p:cxnSp>
          <p:nvCxnSpPr>
            <p:cNvPr id="65" name="連接線"/>
            <p:cNvCxnSpPr>
              <a:stCxn id="59" idx="3"/>
              <a:endCxn id="60" idx="1"/>
            </p:cNvCxnSpPr>
            <p:nvPr/>
          </p:nvCxnSpPr>
          <p:spPr>
            <a:xfrm>
              <a:off x="4855750" y="6469380"/>
              <a:ext cx="228600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66" name="連接線"/>
            <p:cNvCxnSpPr>
              <a:endCxn id="61" idx="1"/>
            </p:cNvCxnSpPr>
            <p:nvPr/>
          </p:nvCxnSpPr>
          <p:spPr>
            <a:xfrm>
              <a:off x="5164360" y="5943600"/>
              <a:ext cx="240030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67" name="連接線"/>
            <p:cNvCxnSpPr>
              <a:endCxn id="62" idx="1"/>
            </p:cNvCxnSpPr>
            <p:nvPr/>
          </p:nvCxnSpPr>
          <p:spPr>
            <a:xfrm>
              <a:off x="5164360" y="6995160"/>
              <a:ext cx="240030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68" name="連接線"/>
            <p:cNvCxnSpPr>
              <a:stCxn id="61" idx="3"/>
            </p:cNvCxnSpPr>
            <p:nvPr/>
          </p:nvCxnSpPr>
          <p:spPr>
            <a:xfrm>
              <a:off x="6250210" y="5943600"/>
              <a:ext cx="32290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69" name="連接線"/>
            <p:cNvCxnSpPr>
              <a:stCxn id="62" idx="3"/>
            </p:cNvCxnSpPr>
            <p:nvPr/>
          </p:nvCxnSpPr>
          <p:spPr>
            <a:xfrm>
              <a:off x="6250210" y="6995160"/>
              <a:ext cx="32290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70" name="連接線"/>
            <p:cNvCxnSpPr>
              <a:stCxn id="63" idx="3"/>
              <a:endCxn id="64" idx="1"/>
            </p:cNvCxnSpPr>
            <p:nvPr/>
          </p:nvCxnSpPr>
          <p:spPr>
            <a:xfrm>
              <a:off x="6362510" y="6469380"/>
              <a:ext cx="422910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ysDot"/>
              <a:tailEnd type="triangle" w="lg" len="lg"/>
            </a:ln>
          </p:spPr>
        </p:cxnSp>
      </p:grpSp>
      <p:sp>
        <p:nvSpPr>
          <p:cNvPr id="71" name="組合名稱"/>
          <p:cNvSpPr/>
          <p:nvPr/>
        </p:nvSpPr>
        <p:spPr>
          <a:xfrm>
            <a:off x="7745540" y="5052060"/>
            <a:ext cx="3278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輸入→處理→輸出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Input / Process / Output</a:t>
            </a:r>
            <a:endParaRPr lang="en-US" sz="1750" dirty="0"/>
          </a:p>
        </p:txBody>
      </p:sp>
      <p:sp>
        <p:nvSpPr>
          <p:cNvPr id="72" name="線條"/>
          <p:cNvSpPr/>
          <p:nvPr/>
        </p:nvSpPr>
        <p:spPr>
          <a:xfrm>
            <a:off x="7745540" y="544068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6" name="輸入→處理→輸出"/>
          <p:cNvGrpSpPr/>
          <p:nvPr/>
        </p:nvGrpSpPr>
        <p:grpSpPr>
          <a:xfrm>
            <a:off x="7688390" y="6023610"/>
            <a:ext cx="3392710" cy="971550"/>
            <a:chOff x="7688390" y="6023610"/>
            <a:chExt cx="3392710" cy="971550"/>
          </a:xfrm>
        </p:grpSpPr>
        <p:sp>
          <p:nvSpPr>
            <p:cNvPr id="73" name="輸入輸出"/>
            <p:cNvSpPr/>
            <p:nvPr/>
          </p:nvSpPr>
          <p:spPr>
            <a:xfrm>
              <a:off x="7745540" y="6080760"/>
              <a:ext cx="937260" cy="480060"/>
            </a:xfrm>
            <a:prstGeom prst="parallelogram">
              <a:avLst>
                <a:gd name="adj" fmla="val 42000"/>
              </a:avLst>
            </a:prstGeom>
            <a:solidFill>
              <a:srgbClr val="F2F2F2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輸入</a:t>
              </a:r>
              <a:endParaRPr lang="en-US" sz="1300" dirty="0"/>
            </a:p>
          </p:txBody>
        </p:sp>
        <p:sp>
          <p:nvSpPr>
            <p:cNvPr id="74" name="標註"/>
            <p:cNvSpPr/>
            <p:nvPr/>
          </p:nvSpPr>
          <p:spPr>
            <a:xfrm>
              <a:off x="7688390" y="6766560"/>
              <a:ext cx="10515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資料來源</a:t>
              </a:r>
              <a:endParaRPr lang="en-US" sz="1050" dirty="0"/>
            </a:p>
          </p:txBody>
        </p:sp>
        <p:sp>
          <p:nvSpPr>
            <p:cNvPr id="75" name="處理"/>
            <p:cNvSpPr/>
            <p:nvPr/>
          </p:nvSpPr>
          <p:spPr>
            <a:xfrm>
              <a:off x="8984694" y="6080760"/>
              <a:ext cx="800100" cy="480060"/>
            </a:xfrm>
            <a:prstGeom prst="roundRect">
              <a:avLst>
                <a:gd name="adj" fmla="val 23810"/>
              </a:avLst>
            </a:prstGeom>
            <a:solidFill>
              <a:srgbClr val="2F4B6E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處理</a:t>
              </a:r>
              <a:endParaRPr lang="en-US" sz="1300" dirty="0"/>
            </a:p>
          </p:txBody>
        </p:sp>
        <p:sp>
          <p:nvSpPr>
            <p:cNvPr id="76" name="標註"/>
            <p:cNvSpPr/>
            <p:nvPr/>
          </p:nvSpPr>
          <p:spPr>
            <a:xfrm>
              <a:off x="8927544" y="6766560"/>
              <a:ext cx="914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整理運算</a:t>
              </a:r>
              <a:endParaRPr lang="en-US" sz="1050" dirty="0"/>
            </a:p>
          </p:txBody>
        </p:sp>
        <p:sp>
          <p:nvSpPr>
            <p:cNvPr id="77" name="文件"/>
            <p:cNvSpPr/>
            <p:nvPr/>
          </p:nvSpPr>
          <p:spPr>
            <a:xfrm>
              <a:off x="10086689" y="6023610"/>
              <a:ext cx="937260" cy="594360"/>
            </a:xfrm>
            <a:prstGeom prst="flowChartDocument">
              <a:avLst/>
            </a:prstGeom>
            <a:solidFill>
              <a:srgbClr val="F2F2F2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0" rIns="47625" bIns="0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報表</a:t>
              </a:r>
              <a:endParaRPr lang="en-US" sz="1300" dirty="0"/>
            </a:p>
          </p:txBody>
        </p:sp>
        <p:sp>
          <p:nvSpPr>
            <p:cNvPr id="78" name="標註"/>
            <p:cNvSpPr/>
            <p:nvPr/>
          </p:nvSpPr>
          <p:spPr>
            <a:xfrm>
              <a:off x="10029539" y="6766560"/>
              <a:ext cx="10515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產出結果</a:t>
              </a:r>
              <a:endParaRPr lang="en-US" sz="1050" dirty="0"/>
            </a:p>
          </p:txBody>
        </p:sp>
        <p:cxnSp>
          <p:nvCxnSpPr>
            <p:cNvPr id="79" name="連接線"/>
            <p:cNvCxnSpPr>
              <a:stCxn id="73" idx="2"/>
              <a:endCxn id="75" idx="1"/>
            </p:cNvCxnSpPr>
            <p:nvPr/>
          </p:nvCxnSpPr>
          <p:spPr>
            <a:xfrm>
              <a:off x="8581987" y="6320790"/>
              <a:ext cx="402707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80" name="連接線"/>
            <p:cNvCxnSpPr>
              <a:stCxn id="75" idx="3"/>
              <a:endCxn id="77" idx="1"/>
            </p:cNvCxnSpPr>
            <p:nvPr/>
          </p:nvCxnSpPr>
          <p:spPr>
            <a:xfrm>
              <a:off x="9784794" y="6320790"/>
              <a:ext cx="301895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ysDot"/>
              <a:tailEnd type="triangle" w="lg" len="lg"/>
            </a:ln>
          </p:spPr>
        </p:cxnSp>
      </p:grpSp>
      <p:sp>
        <p:nvSpPr>
          <p:cNvPr id="81" name="組合名稱"/>
          <p:cNvSpPr/>
          <p:nvPr/>
        </p:nvSpPr>
        <p:spPr>
          <a:xfrm>
            <a:off x="11275409" y="5052060"/>
            <a:ext cx="3278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前後對照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</a:t>
            </a:r>
            <a:endParaRPr lang="en-US" sz="1750" dirty="0"/>
          </a:p>
        </p:txBody>
      </p:sp>
      <p:sp>
        <p:nvSpPr>
          <p:cNvPr id="82" name="線條"/>
          <p:cNvSpPr/>
          <p:nvPr/>
        </p:nvSpPr>
        <p:spPr>
          <a:xfrm>
            <a:off x="11275409" y="544068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7" name="前後對照"/>
          <p:cNvGrpSpPr/>
          <p:nvPr/>
        </p:nvGrpSpPr>
        <p:grpSpPr>
          <a:xfrm>
            <a:off x="11275409" y="5737860"/>
            <a:ext cx="3278410" cy="1485900"/>
            <a:chOff x="11275409" y="5737860"/>
            <a:chExt cx="3278410" cy="1485900"/>
          </a:xfrm>
        </p:grpSpPr>
        <p:sp>
          <p:nvSpPr>
            <p:cNvPr id="83" name="卡片"/>
            <p:cNvSpPr/>
            <p:nvPr/>
          </p:nvSpPr>
          <p:spPr>
            <a:xfrm>
              <a:off x="11275409" y="5737860"/>
              <a:ext cx="1348740" cy="1485900"/>
            </a:xfrm>
            <a:prstGeom prst="roundRect">
              <a:avLst>
                <a:gd name="adj" fmla="val 8475"/>
              </a:avLst>
            </a:prstGeom>
            <a:solidFill>
              <a:srgbClr val="F2F2F2"/>
            </a:solidFill>
            <a:ln/>
            <a:effectLst>
              <a:outerShdw blurRad="111125" dist="3175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4" name="卡片標題"/>
            <p:cNvSpPr/>
            <p:nvPr/>
          </p:nvSpPr>
          <p:spPr>
            <a:xfrm>
              <a:off x="11435429" y="5875020"/>
              <a:ext cx="10287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4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現況 </a:t>
              </a:r>
              <a:r>
                <a:rPr lang="en-US" sz="10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Before</a:t>
              </a:r>
              <a:endParaRPr lang="en-US" sz="1400" dirty="0"/>
            </a:p>
          </p:txBody>
        </p:sp>
        <p:sp>
          <p:nvSpPr>
            <p:cNvPr id="85" name="卡片內文"/>
            <p:cNvSpPr/>
            <p:nvPr/>
          </p:nvSpPr>
          <p:spPr>
            <a:xfrm>
              <a:off x="11435429" y="6286500"/>
              <a:ext cx="1028700" cy="800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流程分散</a:t>
              </a:r>
              <a:endParaRPr lang="en-US" sz="120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交接常出錯</a:t>
              </a:r>
              <a:endParaRPr lang="en-US" sz="1200" dirty="0"/>
            </a:p>
          </p:txBody>
        </p:sp>
        <p:sp>
          <p:nvSpPr>
            <p:cNvPr id="86" name="三角形"/>
            <p:cNvSpPr/>
            <p:nvPr/>
          </p:nvSpPr>
          <p:spPr>
            <a:xfrm>
              <a:off x="12828889" y="6366510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0" y="0"/>
                  </a:moveTo>
                  <a:lnTo>
                    <a:pt x="17145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595959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7" name="強調卡片"/>
            <p:cNvSpPr/>
            <p:nvPr/>
          </p:nvSpPr>
          <p:spPr>
            <a:xfrm>
              <a:off x="13205079" y="5737860"/>
              <a:ext cx="1348740" cy="1485900"/>
            </a:xfrm>
            <a:prstGeom prst="roundRect">
              <a:avLst>
                <a:gd name="adj" fmla="val 8475"/>
              </a:avLst>
            </a:prstGeom>
            <a:solidFill>
              <a:srgbClr val="FFFFFF"/>
            </a:solidFill>
            <a:ln w="27813">
              <a:solidFill>
                <a:srgbClr val="2F4B6E"/>
              </a:solidFill>
              <a:prstDash val="solid"/>
            </a:ln>
            <a:effectLst>
              <a:outerShdw blurRad="111125" dist="3175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8" name="卡片標題"/>
            <p:cNvSpPr/>
            <p:nvPr/>
          </p:nvSpPr>
          <p:spPr>
            <a:xfrm>
              <a:off x="13365099" y="5875020"/>
              <a:ext cx="10287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4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改善後 </a:t>
              </a:r>
              <a:r>
                <a:rPr lang="en-US" sz="10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After</a:t>
              </a:r>
              <a:endParaRPr lang="en-US" sz="1400" dirty="0"/>
            </a:p>
          </p:txBody>
        </p:sp>
        <p:sp>
          <p:nvSpPr>
            <p:cNvPr id="89" name="卡片內文"/>
            <p:cNvSpPr/>
            <p:nvPr/>
          </p:nvSpPr>
          <p:spPr>
            <a:xfrm>
              <a:off x="13365099" y="6286500"/>
              <a:ext cx="1028700" cy="800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單一窗口</a:t>
              </a:r>
              <a:endParaRPr lang="en-US" sz="120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進度一目了然</a:t>
              </a:r>
              <a:endParaRPr lang="en-US" sz="1200" dirty="0"/>
            </a:p>
          </p:txBody>
        </p:sp>
      </p:grpSp>
      <p:sp>
        <p:nvSpPr>
          <p:cNvPr id="90" name="Text 88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91" name="Text 89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/ 13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71500" y="45720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5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《常見組合（二）Common Patterns II》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685800" y="1257300"/>
            <a:ext cx="1257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分工表、前後對照、問題對策、方案比較、KPI 數字卡與 PDCA：整組複製即可使用</a:t>
            </a:r>
            <a:endParaRPr lang="en-US" sz="1900" dirty="0"/>
          </a:p>
        </p:txBody>
      </p:sp>
      <p:sp>
        <p:nvSpPr>
          <p:cNvPr id="4" name="線條"/>
          <p:cNvSpPr/>
          <p:nvPr/>
        </p:nvSpPr>
        <p:spPr>
          <a:xfrm>
            <a:off x="685800" y="1851660"/>
            <a:ext cx="138680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23085"/>
            <a:ext cx="1257300" cy="57150"/>
          </a:xfrm>
          <a:prstGeom prst="rect">
            <a:avLst/>
          </a:pr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組合名稱"/>
          <p:cNvSpPr/>
          <p:nvPr/>
        </p:nvSpPr>
        <p:spPr>
          <a:xfrm>
            <a:off x="685800" y="2171700"/>
            <a:ext cx="43635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責任分工 RACI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RACI Matrix</a:t>
            </a:r>
            <a:endParaRPr lang="en-US" sz="1750" dirty="0"/>
          </a:p>
        </p:txBody>
      </p:sp>
      <p:sp>
        <p:nvSpPr>
          <p:cNvPr id="7" name="線條"/>
          <p:cNvSpPr/>
          <p:nvPr/>
        </p:nvSpPr>
        <p:spPr>
          <a:xfrm>
            <a:off x="685800" y="25603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628900"/>
          <a:ext cx="4363593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59428"/>
                <a:gridCol w="759428"/>
                <a:gridCol w="759428"/>
                <a:gridCol w="759428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工作項目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2F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PM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2F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2F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工程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2F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2F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需求定義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方案設計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開發測試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上線推廣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RACI 標記"/>
          <p:cNvSpPr/>
          <p:nvPr/>
        </p:nvSpPr>
        <p:spPr>
          <a:xfrm>
            <a:off x="2197084" y="306895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243A5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00" dirty="0"/>
          </a:p>
        </p:txBody>
      </p:sp>
      <p:sp>
        <p:nvSpPr>
          <p:cNvPr id="10" name="RACI 標記"/>
          <p:cNvSpPr/>
          <p:nvPr/>
        </p:nvSpPr>
        <p:spPr>
          <a:xfrm>
            <a:off x="2956512" y="306895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11" name="RACI 標記"/>
          <p:cNvSpPr/>
          <p:nvPr/>
        </p:nvSpPr>
        <p:spPr>
          <a:xfrm>
            <a:off x="3715941" y="306895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12" name="RACI 標記"/>
          <p:cNvSpPr/>
          <p:nvPr/>
        </p:nvSpPr>
        <p:spPr>
          <a:xfrm>
            <a:off x="4475369" y="306895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000" dirty="0"/>
          </a:p>
        </p:txBody>
      </p:sp>
      <p:sp>
        <p:nvSpPr>
          <p:cNvPr id="13" name="RACI 標記"/>
          <p:cNvSpPr/>
          <p:nvPr/>
        </p:nvSpPr>
        <p:spPr>
          <a:xfrm>
            <a:off x="2197084" y="345757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243A5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00" dirty="0"/>
          </a:p>
        </p:txBody>
      </p:sp>
      <p:sp>
        <p:nvSpPr>
          <p:cNvPr id="14" name="RACI 標記"/>
          <p:cNvSpPr/>
          <p:nvPr/>
        </p:nvSpPr>
        <p:spPr>
          <a:xfrm>
            <a:off x="2956512" y="345757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000" dirty="0"/>
          </a:p>
        </p:txBody>
      </p:sp>
      <p:sp>
        <p:nvSpPr>
          <p:cNvPr id="15" name="RACI 標記"/>
          <p:cNvSpPr/>
          <p:nvPr/>
        </p:nvSpPr>
        <p:spPr>
          <a:xfrm>
            <a:off x="3715941" y="345757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RACI 標記"/>
          <p:cNvSpPr/>
          <p:nvPr/>
        </p:nvSpPr>
        <p:spPr>
          <a:xfrm>
            <a:off x="4475369" y="345757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38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1000" dirty="0"/>
          </a:p>
        </p:txBody>
      </p:sp>
      <p:sp>
        <p:nvSpPr>
          <p:cNvPr id="17" name="RACI 標記"/>
          <p:cNvSpPr/>
          <p:nvPr/>
        </p:nvSpPr>
        <p:spPr>
          <a:xfrm>
            <a:off x="2197084" y="384619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243A5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00" dirty="0"/>
          </a:p>
        </p:txBody>
      </p:sp>
      <p:sp>
        <p:nvSpPr>
          <p:cNvPr id="18" name="RACI 標記"/>
          <p:cNvSpPr/>
          <p:nvPr/>
        </p:nvSpPr>
        <p:spPr>
          <a:xfrm>
            <a:off x="2956512" y="384619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19" name="RACI 標記"/>
          <p:cNvSpPr/>
          <p:nvPr/>
        </p:nvSpPr>
        <p:spPr>
          <a:xfrm>
            <a:off x="3715941" y="384619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000" dirty="0"/>
          </a:p>
        </p:txBody>
      </p:sp>
      <p:sp>
        <p:nvSpPr>
          <p:cNvPr id="20" name="RACI 標記"/>
          <p:cNvSpPr/>
          <p:nvPr/>
        </p:nvSpPr>
        <p:spPr>
          <a:xfrm>
            <a:off x="4475369" y="384619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38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1000" dirty="0"/>
          </a:p>
        </p:txBody>
      </p:sp>
      <p:sp>
        <p:nvSpPr>
          <p:cNvPr id="21" name="RACI 標記"/>
          <p:cNvSpPr/>
          <p:nvPr/>
        </p:nvSpPr>
        <p:spPr>
          <a:xfrm>
            <a:off x="2197084" y="423481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243A5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00" dirty="0"/>
          </a:p>
        </p:txBody>
      </p:sp>
      <p:sp>
        <p:nvSpPr>
          <p:cNvPr id="22" name="RACI 標記"/>
          <p:cNvSpPr/>
          <p:nvPr/>
        </p:nvSpPr>
        <p:spPr>
          <a:xfrm>
            <a:off x="2956512" y="423481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38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1000" dirty="0"/>
          </a:p>
        </p:txBody>
      </p:sp>
      <p:sp>
        <p:nvSpPr>
          <p:cNvPr id="23" name="RACI 標記"/>
          <p:cNvSpPr/>
          <p:nvPr/>
        </p:nvSpPr>
        <p:spPr>
          <a:xfrm>
            <a:off x="3715941" y="423481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24" name="RACI 標記"/>
          <p:cNvSpPr/>
          <p:nvPr/>
        </p:nvSpPr>
        <p:spPr>
          <a:xfrm>
            <a:off x="4475369" y="423481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000" dirty="0"/>
          </a:p>
        </p:txBody>
      </p:sp>
      <p:sp>
        <p:nvSpPr>
          <p:cNvPr id="25" name="圖例"/>
          <p:cNvSpPr/>
          <p:nvPr/>
        </p:nvSpPr>
        <p:spPr>
          <a:xfrm>
            <a:off x="685800" y="4663440"/>
            <a:ext cx="251460" cy="18288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800" dirty="0"/>
          </a:p>
        </p:txBody>
      </p:sp>
      <p:sp>
        <p:nvSpPr>
          <p:cNvPr id="26" name="圖例"/>
          <p:cNvSpPr/>
          <p:nvPr/>
        </p:nvSpPr>
        <p:spPr>
          <a:xfrm>
            <a:off x="982980" y="464058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000" dirty="0"/>
          </a:p>
        </p:txBody>
      </p:sp>
      <p:sp>
        <p:nvSpPr>
          <p:cNvPr id="27" name="圖例"/>
          <p:cNvSpPr/>
          <p:nvPr/>
        </p:nvSpPr>
        <p:spPr>
          <a:xfrm>
            <a:off x="1668780" y="4663440"/>
            <a:ext cx="251460" cy="182880"/>
          </a:xfrm>
          <a:prstGeom prst="roundRect">
            <a:avLst>
              <a:gd name="adj" fmla="val 50000"/>
            </a:avLst>
          </a:prstGeom>
          <a:solidFill>
            <a:srgbClr val="243A5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800" dirty="0"/>
          </a:p>
        </p:txBody>
      </p:sp>
      <p:sp>
        <p:nvSpPr>
          <p:cNvPr id="28" name="圖例"/>
          <p:cNvSpPr/>
          <p:nvPr/>
        </p:nvSpPr>
        <p:spPr>
          <a:xfrm>
            <a:off x="1965960" y="464058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當責</a:t>
            </a:r>
            <a:endParaRPr lang="en-US" sz="1000" dirty="0"/>
          </a:p>
        </p:txBody>
      </p:sp>
      <p:sp>
        <p:nvSpPr>
          <p:cNvPr id="29" name="圖例"/>
          <p:cNvSpPr/>
          <p:nvPr/>
        </p:nvSpPr>
        <p:spPr>
          <a:xfrm>
            <a:off x="2651760" y="4663440"/>
            <a:ext cx="251460" cy="182880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00" dirty="0"/>
          </a:p>
        </p:txBody>
      </p:sp>
      <p:sp>
        <p:nvSpPr>
          <p:cNvPr id="30" name="圖例"/>
          <p:cNvSpPr/>
          <p:nvPr/>
        </p:nvSpPr>
        <p:spPr>
          <a:xfrm>
            <a:off x="2948940" y="464058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諮詢</a:t>
            </a:r>
            <a:endParaRPr lang="en-US" sz="1000" dirty="0"/>
          </a:p>
        </p:txBody>
      </p:sp>
      <p:sp>
        <p:nvSpPr>
          <p:cNvPr id="31" name="圖例"/>
          <p:cNvSpPr/>
          <p:nvPr/>
        </p:nvSpPr>
        <p:spPr>
          <a:xfrm>
            <a:off x="3634740" y="4663440"/>
            <a:ext cx="2514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001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800" dirty="0"/>
          </a:p>
        </p:txBody>
      </p:sp>
      <p:sp>
        <p:nvSpPr>
          <p:cNvPr id="32" name="圖例"/>
          <p:cNvSpPr/>
          <p:nvPr/>
        </p:nvSpPr>
        <p:spPr>
          <a:xfrm>
            <a:off x="3931920" y="464058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知會</a:t>
            </a:r>
            <a:endParaRPr lang="en-US" sz="1000" dirty="0"/>
          </a:p>
        </p:txBody>
      </p:sp>
      <p:sp>
        <p:nvSpPr>
          <p:cNvPr id="33" name="組合名稱"/>
          <p:cNvSpPr/>
          <p:nvPr/>
        </p:nvSpPr>
        <p:spPr>
          <a:xfrm>
            <a:off x="5438013" y="2171700"/>
            <a:ext cx="43635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改善前後對照表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 Table</a:t>
            </a:r>
            <a:endParaRPr lang="en-US" sz="1750" dirty="0"/>
          </a:p>
        </p:txBody>
      </p:sp>
      <p:sp>
        <p:nvSpPr>
          <p:cNvPr id="34" name="線條"/>
          <p:cNvSpPr/>
          <p:nvPr/>
        </p:nvSpPr>
        <p:spPr>
          <a:xfrm>
            <a:off x="5438013" y="25603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38013" y="2628900"/>
          <a:ext cx="4363593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610297"/>
                <a:gridCol w="1610297"/>
              </a:tblGrid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2F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改善前 Before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改善後 After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2F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B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交期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天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4B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 天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不良率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3.2%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4B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1.1%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人力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人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4B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人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客訴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 件／月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4B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件／月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6" name="Text 32"/>
          <p:cNvSpPr/>
          <p:nvPr/>
        </p:nvSpPr>
        <p:spPr>
          <a:xfrm>
            <a:off x="5438013" y="4732020"/>
            <a:ext cx="43635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改善後一欄以主色粗體標示</a:t>
            </a:r>
            <a:endParaRPr lang="en-US" sz="1000" dirty="0"/>
          </a:p>
        </p:txBody>
      </p:sp>
      <p:sp>
        <p:nvSpPr>
          <p:cNvPr id="37" name="組合名稱"/>
          <p:cNvSpPr/>
          <p:nvPr/>
        </p:nvSpPr>
        <p:spPr>
          <a:xfrm>
            <a:off x="10190226" y="2171700"/>
            <a:ext cx="43635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 → 原因 → 對策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Problem / Cause / Countermeasure</a:t>
            </a:r>
            <a:endParaRPr lang="en-US" sz="1750" dirty="0"/>
          </a:p>
        </p:txBody>
      </p:sp>
      <p:sp>
        <p:nvSpPr>
          <p:cNvPr id="38" name="線條"/>
          <p:cNvSpPr/>
          <p:nvPr/>
        </p:nvSpPr>
        <p:spPr>
          <a:xfrm>
            <a:off x="10190226" y="25603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2" name="問題 → 原因 → 對策"/>
          <p:cNvGrpSpPr/>
          <p:nvPr/>
        </p:nvGrpSpPr>
        <p:grpSpPr>
          <a:xfrm>
            <a:off x="10190226" y="2880360"/>
            <a:ext cx="4363593" cy="1325880"/>
            <a:chOff x="10190226" y="2880360"/>
            <a:chExt cx="4363593" cy="1325880"/>
          </a:xfrm>
        </p:grpSpPr>
        <p:sp>
          <p:nvSpPr>
            <p:cNvPr id="39" name="問題"/>
            <p:cNvSpPr/>
            <p:nvPr/>
          </p:nvSpPr>
          <p:spPr>
            <a:xfrm>
              <a:off x="10190226" y="2880360"/>
              <a:ext cx="1165860" cy="1325880"/>
            </a:xfrm>
            <a:prstGeom prst="roundRect">
              <a:avLst>
                <a:gd name="adj" fmla="val 9804"/>
              </a:avLst>
            </a:prstGeom>
            <a:solidFill>
              <a:srgbClr val="FFFFFF"/>
            </a:solidFill>
            <a:ln w="23876">
              <a:solidFill>
                <a:srgbClr val="C0504D"/>
              </a:solidFill>
              <a:prstDash val="solid"/>
            </a:ln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111125" tIns="127000" rIns="79375" bIns="635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450" b="1" dirty="0">
                  <a:solidFill>
                    <a:srgbClr val="903C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問題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Problem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交期常延誤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客戶抱怨增加</a:t>
              </a:r>
              <a:endParaRPr lang="en-US" sz="1050" dirty="0"/>
            </a:p>
          </p:txBody>
        </p:sp>
        <p:sp>
          <p:nvSpPr>
            <p:cNvPr id="40" name="原因"/>
            <p:cNvSpPr/>
            <p:nvPr/>
          </p:nvSpPr>
          <p:spPr>
            <a:xfrm>
              <a:off x="11789093" y="2880360"/>
              <a:ext cx="1165860" cy="1325880"/>
            </a:xfrm>
            <a:prstGeom prst="roundRect">
              <a:avLst>
                <a:gd name="adj" fmla="val 9804"/>
              </a:avLst>
            </a:prstGeom>
            <a:solidFill>
              <a:srgbClr val="F2F2F2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111125" tIns="127000" rIns="79375" bIns="635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4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原因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Cause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需求變更頻繁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排程未同步</a:t>
              </a:r>
              <a:endParaRPr lang="en-US" sz="1050" dirty="0"/>
            </a:p>
          </p:txBody>
        </p:sp>
        <p:sp>
          <p:nvSpPr>
            <p:cNvPr id="41" name="對策"/>
            <p:cNvSpPr/>
            <p:nvPr/>
          </p:nvSpPr>
          <p:spPr>
            <a:xfrm>
              <a:off x="13387959" y="2880360"/>
              <a:ext cx="1165860" cy="1325880"/>
            </a:xfrm>
            <a:prstGeom prst="roundRect">
              <a:avLst>
                <a:gd name="adj" fmla="val 9804"/>
              </a:avLst>
            </a:prstGeom>
            <a:solidFill>
              <a:srgbClr val="2F4B6E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111125" tIns="127000" rIns="79375" bIns="635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4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對策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dirty="0">
                  <a:solidFill>
                    <a:srgbClr val="C1C9D4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Countermeasure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需求凍結點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每週排程會議</a:t>
              </a:r>
              <a:endParaRPr lang="en-US" sz="1050" dirty="0"/>
            </a:p>
          </p:txBody>
        </p:sp>
        <p:cxnSp>
          <p:nvCxnSpPr>
            <p:cNvPr id="42" name="連接線"/>
            <p:cNvCxnSpPr>
              <a:stCxn id="39" idx="3"/>
              <a:endCxn id="40" idx="1"/>
            </p:cNvCxnSpPr>
            <p:nvPr/>
          </p:nvCxnSpPr>
          <p:spPr>
            <a:xfrm>
              <a:off x="11356086" y="3543300"/>
              <a:ext cx="433007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43" name="連接線"/>
            <p:cNvCxnSpPr>
              <a:stCxn id="40" idx="3"/>
              <a:endCxn id="41" idx="1"/>
            </p:cNvCxnSpPr>
            <p:nvPr/>
          </p:nvCxnSpPr>
          <p:spPr>
            <a:xfrm>
              <a:off x="12954953" y="3543300"/>
              <a:ext cx="433006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ysDot"/>
              <a:tailEnd type="triangle" w="lg" len="lg"/>
            </a:ln>
          </p:spPr>
        </p:cxnSp>
      </p:grpSp>
      <p:sp>
        <p:nvSpPr>
          <p:cNvPr id="44" name="組合名稱"/>
          <p:cNvSpPr/>
          <p:nvPr/>
        </p:nvSpPr>
        <p:spPr>
          <a:xfrm>
            <a:off x="685800" y="5029200"/>
            <a:ext cx="43635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三方案比較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3-Column Comparison</a:t>
            </a:r>
            <a:endParaRPr lang="en-US" sz="1750" dirty="0"/>
          </a:p>
        </p:txBody>
      </p:sp>
      <p:sp>
        <p:nvSpPr>
          <p:cNvPr id="45" name="線條"/>
          <p:cNvSpPr/>
          <p:nvPr/>
        </p:nvSpPr>
        <p:spPr>
          <a:xfrm>
            <a:off x="685800" y="54178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3" name="三方案比較"/>
          <p:cNvGrpSpPr/>
          <p:nvPr/>
        </p:nvGrpSpPr>
        <p:grpSpPr>
          <a:xfrm>
            <a:off x="685800" y="5554980"/>
            <a:ext cx="4363593" cy="2217420"/>
            <a:chOff x="685800" y="5554980"/>
            <a:chExt cx="4363593" cy="2217420"/>
          </a:xfrm>
        </p:grpSpPr>
        <p:sp>
          <p:nvSpPr>
            <p:cNvPr id="46" name="方案"/>
            <p:cNvSpPr/>
            <p:nvPr/>
          </p:nvSpPr>
          <p:spPr>
            <a:xfrm>
              <a:off x="685800" y="5554980"/>
              <a:ext cx="1363091" cy="2057400"/>
            </a:xfrm>
            <a:prstGeom prst="roundRect">
              <a:avLst>
                <a:gd name="adj" fmla="val 8385"/>
              </a:avLst>
            </a:prstGeom>
            <a:solidFill>
              <a:srgbClr val="FFFFFF"/>
            </a:solidFill>
            <a:ln w="1587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47" name="表頭底"/>
            <p:cNvSpPr/>
            <p:nvPr/>
          </p:nvSpPr>
          <p:spPr>
            <a:xfrm>
              <a:off x="686943" y="5556123"/>
              <a:ext cx="1360805" cy="457200"/>
            </a:xfrm>
            <a:prstGeom prst="rect">
              <a:avLst/>
            </a:prstGeom>
            <a:solidFill>
              <a:srgbClr val="F2F2F2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48" name="方案名稱"/>
            <p:cNvSpPr/>
            <p:nvPr/>
          </p:nvSpPr>
          <p:spPr>
            <a:xfrm>
              <a:off x="685800" y="5554980"/>
              <a:ext cx="1363091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A</a:t>
              </a:r>
              <a:endParaRPr lang="en-US" sz="17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A</a:t>
              </a:r>
              <a:endParaRPr lang="en-US" sz="1750" dirty="0"/>
            </a:p>
          </p:txBody>
        </p:sp>
        <p:sp>
          <p:nvSpPr>
            <p:cNvPr id="49" name="項目"/>
            <p:cNvSpPr/>
            <p:nvPr/>
          </p:nvSpPr>
          <p:spPr>
            <a:xfrm>
              <a:off x="822960" y="6172200"/>
              <a:ext cx="1088771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950" dirty="0"/>
            </a:p>
          </p:txBody>
        </p:sp>
        <p:sp>
          <p:nvSpPr>
            <p:cNvPr id="50" name="內容"/>
            <p:cNvSpPr/>
            <p:nvPr/>
          </p:nvSpPr>
          <p:spPr>
            <a:xfrm>
              <a:off x="822960" y="6343650"/>
              <a:ext cx="108877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低</a:t>
              </a:r>
              <a:endParaRPr lang="en-US" sz="1200" dirty="0"/>
            </a:p>
          </p:txBody>
        </p:sp>
        <p:sp>
          <p:nvSpPr>
            <p:cNvPr id="51" name="項目"/>
            <p:cNvSpPr/>
            <p:nvPr/>
          </p:nvSpPr>
          <p:spPr>
            <a:xfrm>
              <a:off x="822960" y="6583680"/>
              <a:ext cx="1088771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950" dirty="0"/>
            </a:p>
          </p:txBody>
        </p:sp>
        <p:sp>
          <p:nvSpPr>
            <p:cNvPr id="52" name="內容"/>
            <p:cNvSpPr/>
            <p:nvPr/>
          </p:nvSpPr>
          <p:spPr>
            <a:xfrm>
              <a:off x="822960" y="6755130"/>
              <a:ext cx="108877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 週</a:t>
              </a:r>
              <a:endParaRPr lang="en-US" sz="1200" dirty="0"/>
            </a:p>
          </p:txBody>
        </p:sp>
        <p:sp>
          <p:nvSpPr>
            <p:cNvPr id="53" name="項目"/>
            <p:cNvSpPr/>
            <p:nvPr/>
          </p:nvSpPr>
          <p:spPr>
            <a:xfrm>
              <a:off x="822960" y="6995160"/>
              <a:ext cx="1088771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950" dirty="0"/>
            </a:p>
          </p:txBody>
        </p:sp>
        <p:sp>
          <p:nvSpPr>
            <p:cNvPr id="54" name="內容"/>
            <p:cNvSpPr/>
            <p:nvPr/>
          </p:nvSpPr>
          <p:spPr>
            <a:xfrm>
              <a:off x="822960" y="7166610"/>
              <a:ext cx="108877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有限</a:t>
              </a:r>
              <a:endParaRPr lang="en-US" sz="1200" dirty="0"/>
            </a:p>
          </p:txBody>
        </p:sp>
        <p:sp>
          <p:nvSpPr>
            <p:cNvPr id="55" name="推薦方案"/>
            <p:cNvSpPr/>
            <p:nvPr/>
          </p:nvSpPr>
          <p:spPr>
            <a:xfrm>
              <a:off x="2186051" y="5554980"/>
              <a:ext cx="1363091" cy="2057400"/>
            </a:xfrm>
            <a:prstGeom prst="roundRect">
              <a:avLst>
                <a:gd name="adj" fmla="val 8385"/>
              </a:avLst>
            </a:prstGeom>
            <a:solidFill>
              <a:srgbClr val="FFFFFF"/>
            </a:solidFill>
            <a:ln w="27813">
              <a:solidFill>
                <a:srgbClr val="2F4B6E"/>
              </a:solidFill>
              <a:prstDash val="solid"/>
            </a:ln>
            <a:effectLst>
              <a:outerShdw blurRad="111125" dist="3175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6" name="表頭"/>
            <p:cNvSpPr/>
            <p:nvPr/>
          </p:nvSpPr>
          <p:spPr>
            <a:xfrm>
              <a:off x="2186051" y="5554980"/>
              <a:ext cx="1363091" cy="457200"/>
            </a:xfrm>
            <a:custGeom>
              <a:avLst/>
              <a:gdLst/>
              <a:ahLst/>
              <a:cxnLst/>
              <a:rect l="l" t="t" r="r" b="b"/>
              <a:pathLst>
                <a:path w="1363091" h="457200">
                  <a:moveTo>
                    <a:pt x="0" y="457200"/>
                  </a:moveTo>
                  <a:lnTo>
                    <a:pt x="0" y="114300"/>
                  </a:lnTo>
                  <a:arcTo hR="114300" wR="114300" stAng="10800000" swAng="5400000"/>
                  <a:lnTo>
                    <a:pt x="1248791" y="0"/>
                  </a:lnTo>
                  <a:arcTo hR="114300" wR="114300" stAng="16200000" swAng="5400000"/>
                  <a:lnTo>
                    <a:pt x="1363091" y="457200"/>
                  </a:lnTo>
                  <a:close/>
                </a:path>
              </a:pathLst>
            </a:custGeom>
            <a:solidFill>
              <a:srgbClr val="2F4B6E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7" name="方案名稱"/>
            <p:cNvSpPr/>
            <p:nvPr/>
          </p:nvSpPr>
          <p:spPr>
            <a:xfrm>
              <a:off x="2186051" y="5554980"/>
              <a:ext cx="1363091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B</a:t>
              </a:r>
              <a:endParaRPr lang="en-US" sz="17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900" dirty="0">
                  <a:solidFill>
                    <a:srgbClr val="C1C9D4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B</a:t>
              </a:r>
              <a:endParaRPr lang="en-US" sz="1750" dirty="0"/>
            </a:p>
          </p:txBody>
        </p:sp>
        <p:sp>
          <p:nvSpPr>
            <p:cNvPr id="58" name="項目"/>
            <p:cNvSpPr/>
            <p:nvPr/>
          </p:nvSpPr>
          <p:spPr>
            <a:xfrm>
              <a:off x="2323211" y="6172200"/>
              <a:ext cx="1088771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950" dirty="0"/>
            </a:p>
          </p:txBody>
        </p:sp>
        <p:sp>
          <p:nvSpPr>
            <p:cNvPr id="59" name="內容"/>
            <p:cNvSpPr/>
            <p:nvPr/>
          </p:nvSpPr>
          <p:spPr>
            <a:xfrm>
              <a:off x="2323211" y="6343650"/>
              <a:ext cx="108877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中</a:t>
              </a:r>
              <a:endParaRPr lang="en-US" sz="1200" dirty="0"/>
            </a:p>
          </p:txBody>
        </p:sp>
        <p:sp>
          <p:nvSpPr>
            <p:cNvPr id="60" name="項目"/>
            <p:cNvSpPr/>
            <p:nvPr/>
          </p:nvSpPr>
          <p:spPr>
            <a:xfrm>
              <a:off x="2323211" y="6583680"/>
              <a:ext cx="1088771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950" dirty="0"/>
            </a:p>
          </p:txBody>
        </p:sp>
        <p:sp>
          <p:nvSpPr>
            <p:cNvPr id="61" name="內容"/>
            <p:cNvSpPr/>
            <p:nvPr/>
          </p:nvSpPr>
          <p:spPr>
            <a:xfrm>
              <a:off x="2323211" y="6755130"/>
              <a:ext cx="108877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4 週</a:t>
              </a:r>
              <a:endParaRPr lang="en-US" sz="1200" dirty="0"/>
            </a:p>
          </p:txBody>
        </p:sp>
        <p:sp>
          <p:nvSpPr>
            <p:cNvPr id="62" name="項目"/>
            <p:cNvSpPr/>
            <p:nvPr/>
          </p:nvSpPr>
          <p:spPr>
            <a:xfrm>
              <a:off x="2323211" y="6995160"/>
              <a:ext cx="1088771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950" dirty="0"/>
            </a:p>
          </p:txBody>
        </p:sp>
        <p:sp>
          <p:nvSpPr>
            <p:cNvPr id="63" name="內容"/>
            <p:cNvSpPr/>
            <p:nvPr/>
          </p:nvSpPr>
          <p:spPr>
            <a:xfrm>
              <a:off x="2323211" y="7166610"/>
              <a:ext cx="108877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佳</a:t>
              </a:r>
              <a:endParaRPr lang="en-US" sz="1200" dirty="0"/>
            </a:p>
          </p:txBody>
        </p:sp>
        <p:sp>
          <p:nvSpPr>
            <p:cNvPr id="64" name="標籤"/>
            <p:cNvSpPr/>
            <p:nvPr/>
          </p:nvSpPr>
          <p:spPr>
            <a:xfrm>
              <a:off x="2592007" y="7520940"/>
              <a:ext cx="551180" cy="251460"/>
            </a:xfrm>
            <a:prstGeom prst="roundRect">
              <a:avLst>
                <a:gd name="adj" fmla="val 50000"/>
              </a:avLst>
            </a:prstGeom>
            <a:solidFill>
              <a:srgbClr val="E3E8EF"/>
            </a:solidFill>
            <a:ln/>
          </p:spPr>
          <p:txBody>
            <a:bodyPr wrap="square" lIns="31750" tIns="0" rIns="3175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推薦</a:t>
              </a:r>
              <a:endParaRPr lang="en-US" sz="1000" dirty="0"/>
            </a:p>
          </p:txBody>
        </p:sp>
        <p:sp>
          <p:nvSpPr>
            <p:cNvPr id="65" name="方案"/>
            <p:cNvSpPr/>
            <p:nvPr/>
          </p:nvSpPr>
          <p:spPr>
            <a:xfrm>
              <a:off x="3686302" y="5554980"/>
              <a:ext cx="1363091" cy="2057400"/>
            </a:xfrm>
            <a:prstGeom prst="roundRect">
              <a:avLst>
                <a:gd name="adj" fmla="val 8385"/>
              </a:avLst>
            </a:prstGeom>
            <a:solidFill>
              <a:srgbClr val="FFFFFF"/>
            </a:solidFill>
            <a:ln w="1587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6" name="表頭底"/>
            <p:cNvSpPr/>
            <p:nvPr/>
          </p:nvSpPr>
          <p:spPr>
            <a:xfrm>
              <a:off x="3687445" y="5556123"/>
              <a:ext cx="1360805" cy="457200"/>
            </a:xfrm>
            <a:prstGeom prst="rect">
              <a:avLst/>
            </a:prstGeom>
            <a:solidFill>
              <a:srgbClr val="F2F2F2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7" name="方案名稱"/>
            <p:cNvSpPr/>
            <p:nvPr/>
          </p:nvSpPr>
          <p:spPr>
            <a:xfrm>
              <a:off x="3686302" y="5554980"/>
              <a:ext cx="1363091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C</a:t>
              </a:r>
              <a:endParaRPr lang="en-US" sz="17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C</a:t>
              </a:r>
              <a:endParaRPr lang="en-US" sz="1750" dirty="0"/>
            </a:p>
          </p:txBody>
        </p:sp>
        <p:sp>
          <p:nvSpPr>
            <p:cNvPr id="68" name="項目"/>
            <p:cNvSpPr/>
            <p:nvPr/>
          </p:nvSpPr>
          <p:spPr>
            <a:xfrm>
              <a:off x="3823462" y="6172200"/>
              <a:ext cx="1088771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950" dirty="0"/>
            </a:p>
          </p:txBody>
        </p:sp>
        <p:sp>
          <p:nvSpPr>
            <p:cNvPr id="69" name="內容"/>
            <p:cNvSpPr/>
            <p:nvPr/>
          </p:nvSpPr>
          <p:spPr>
            <a:xfrm>
              <a:off x="3823462" y="6343650"/>
              <a:ext cx="108877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高</a:t>
              </a:r>
              <a:endParaRPr lang="en-US" sz="1200" dirty="0"/>
            </a:p>
          </p:txBody>
        </p:sp>
        <p:sp>
          <p:nvSpPr>
            <p:cNvPr id="70" name="項目"/>
            <p:cNvSpPr/>
            <p:nvPr/>
          </p:nvSpPr>
          <p:spPr>
            <a:xfrm>
              <a:off x="3823462" y="6583680"/>
              <a:ext cx="1088771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950" dirty="0"/>
            </a:p>
          </p:txBody>
        </p:sp>
        <p:sp>
          <p:nvSpPr>
            <p:cNvPr id="71" name="內容"/>
            <p:cNvSpPr/>
            <p:nvPr/>
          </p:nvSpPr>
          <p:spPr>
            <a:xfrm>
              <a:off x="3823462" y="6755130"/>
              <a:ext cx="108877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8 週</a:t>
              </a:r>
              <a:endParaRPr lang="en-US" sz="1200" dirty="0"/>
            </a:p>
          </p:txBody>
        </p:sp>
        <p:sp>
          <p:nvSpPr>
            <p:cNvPr id="72" name="項目"/>
            <p:cNvSpPr/>
            <p:nvPr/>
          </p:nvSpPr>
          <p:spPr>
            <a:xfrm>
              <a:off x="3823462" y="6995160"/>
              <a:ext cx="1088771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950" dirty="0"/>
            </a:p>
          </p:txBody>
        </p:sp>
        <p:sp>
          <p:nvSpPr>
            <p:cNvPr id="73" name="內容"/>
            <p:cNvSpPr/>
            <p:nvPr/>
          </p:nvSpPr>
          <p:spPr>
            <a:xfrm>
              <a:off x="3823462" y="7166610"/>
              <a:ext cx="108877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最佳</a:t>
              </a:r>
              <a:endParaRPr lang="en-US" sz="1200" dirty="0"/>
            </a:p>
          </p:txBody>
        </p:sp>
      </p:grpSp>
      <p:sp>
        <p:nvSpPr>
          <p:cNvPr id="74" name="組合名稱"/>
          <p:cNvSpPr/>
          <p:nvPr/>
        </p:nvSpPr>
        <p:spPr>
          <a:xfrm>
            <a:off x="5438013" y="5029200"/>
            <a:ext cx="43635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數字卡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KPI Cards</a:t>
            </a:r>
            <a:endParaRPr lang="en-US" sz="1750" dirty="0"/>
          </a:p>
        </p:txBody>
      </p:sp>
      <p:sp>
        <p:nvSpPr>
          <p:cNvPr id="75" name="線條"/>
          <p:cNvSpPr/>
          <p:nvPr/>
        </p:nvSpPr>
        <p:spPr>
          <a:xfrm>
            <a:off x="5438013" y="54178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4" name="KPI 數字卡"/>
          <p:cNvGrpSpPr/>
          <p:nvPr/>
        </p:nvGrpSpPr>
        <p:grpSpPr>
          <a:xfrm>
            <a:off x="5438013" y="5737860"/>
            <a:ext cx="4363593" cy="1554480"/>
            <a:chOff x="5438013" y="5737860"/>
            <a:chExt cx="4363593" cy="1554480"/>
          </a:xfrm>
        </p:grpSpPr>
        <p:sp>
          <p:nvSpPr>
            <p:cNvPr id="76" name="卡片"/>
            <p:cNvSpPr/>
            <p:nvPr/>
          </p:nvSpPr>
          <p:spPr>
            <a:xfrm>
              <a:off x="5438013" y="5737860"/>
              <a:ext cx="1347851" cy="1554480"/>
            </a:xfrm>
            <a:prstGeom prst="roundRect">
              <a:avLst>
                <a:gd name="adj" fmla="val 8480"/>
              </a:avLst>
            </a:prstGeom>
            <a:solidFill>
              <a:srgbClr val="F2F2F2"/>
            </a:solidFill>
            <a:ln/>
            <a:effectLst>
              <a:outerShdw blurRad="111125" dist="3175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7" name="色條"/>
            <p:cNvSpPr/>
            <p:nvPr/>
          </p:nvSpPr>
          <p:spPr>
            <a:xfrm>
              <a:off x="5598033" y="5920740"/>
              <a:ext cx="274320" cy="45720"/>
            </a:xfrm>
            <a:prstGeom prst="rect">
              <a:avLst/>
            </a:prstGeom>
            <a:solidFill>
              <a:srgbClr val="2F4B6E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8" name="指標名稱"/>
            <p:cNvSpPr/>
            <p:nvPr/>
          </p:nvSpPr>
          <p:spPr>
            <a:xfrm>
              <a:off x="5598033" y="6035040"/>
              <a:ext cx="1119251" cy="2514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準時交貨率</a:t>
              </a:r>
              <a:endParaRPr lang="en-US" sz="1050" dirty="0"/>
            </a:p>
          </p:txBody>
        </p:sp>
        <p:sp>
          <p:nvSpPr>
            <p:cNvPr id="79" name="數值"/>
            <p:cNvSpPr/>
            <p:nvPr/>
          </p:nvSpPr>
          <p:spPr>
            <a:xfrm>
              <a:off x="5575173" y="6309360"/>
              <a:ext cx="1142111" cy="5257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30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98.6</a:t>
              </a: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750" dirty="0"/>
            </a:p>
          </p:txBody>
        </p:sp>
        <p:sp>
          <p:nvSpPr>
            <p:cNvPr id="80" name="變化"/>
            <p:cNvSpPr/>
            <p:nvPr/>
          </p:nvSpPr>
          <p:spPr>
            <a:xfrm>
              <a:off x="5598033" y="6880860"/>
              <a:ext cx="111925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▲ 2.1 pt</a:t>
              </a: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750" dirty="0"/>
            </a:p>
          </p:txBody>
        </p:sp>
        <p:sp>
          <p:nvSpPr>
            <p:cNvPr id="81" name="卡片"/>
            <p:cNvSpPr/>
            <p:nvPr/>
          </p:nvSpPr>
          <p:spPr>
            <a:xfrm>
              <a:off x="6945884" y="5737860"/>
              <a:ext cx="1347851" cy="1554480"/>
            </a:xfrm>
            <a:prstGeom prst="roundRect">
              <a:avLst>
                <a:gd name="adj" fmla="val 8480"/>
              </a:avLst>
            </a:prstGeom>
            <a:solidFill>
              <a:srgbClr val="F2F2F2"/>
            </a:solidFill>
            <a:ln/>
            <a:effectLst>
              <a:outerShdw blurRad="111125" dist="3175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2" name="色條"/>
            <p:cNvSpPr/>
            <p:nvPr/>
          </p:nvSpPr>
          <p:spPr>
            <a:xfrm>
              <a:off x="7105904" y="5920740"/>
              <a:ext cx="274320" cy="45720"/>
            </a:xfrm>
            <a:prstGeom prst="rect">
              <a:avLst/>
            </a:prstGeom>
            <a:solidFill>
              <a:srgbClr val="BFBFBF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3" name="指標名稱"/>
            <p:cNvSpPr/>
            <p:nvPr/>
          </p:nvSpPr>
          <p:spPr>
            <a:xfrm>
              <a:off x="7105904" y="6035040"/>
              <a:ext cx="1119251" cy="2514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平均交期</a:t>
              </a:r>
              <a:endParaRPr lang="en-US" sz="1050" dirty="0"/>
            </a:p>
          </p:txBody>
        </p:sp>
        <p:sp>
          <p:nvSpPr>
            <p:cNvPr id="84" name="數值"/>
            <p:cNvSpPr/>
            <p:nvPr/>
          </p:nvSpPr>
          <p:spPr>
            <a:xfrm>
              <a:off x="7083044" y="6309360"/>
              <a:ext cx="1142111" cy="5257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30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6.2</a:t>
              </a: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天</a:t>
              </a:r>
              <a:endParaRPr lang="en-US" sz="1750" dirty="0"/>
            </a:p>
          </p:txBody>
        </p:sp>
        <p:sp>
          <p:nvSpPr>
            <p:cNvPr id="85" name="變化"/>
            <p:cNvSpPr/>
            <p:nvPr/>
          </p:nvSpPr>
          <p:spPr>
            <a:xfrm>
              <a:off x="7105904" y="6880860"/>
              <a:ext cx="111925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1.8 天</a:t>
              </a: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750" dirty="0"/>
            </a:p>
          </p:txBody>
        </p:sp>
        <p:sp>
          <p:nvSpPr>
            <p:cNvPr id="86" name="卡片"/>
            <p:cNvSpPr/>
            <p:nvPr/>
          </p:nvSpPr>
          <p:spPr>
            <a:xfrm>
              <a:off x="8453755" y="5737860"/>
              <a:ext cx="1347851" cy="1554480"/>
            </a:xfrm>
            <a:prstGeom prst="roundRect">
              <a:avLst>
                <a:gd name="adj" fmla="val 8480"/>
              </a:avLst>
            </a:prstGeom>
            <a:solidFill>
              <a:srgbClr val="F2F2F2"/>
            </a:solidFill>
            <a:ln/>
            <a:effectLst>
              <a:outerShdw blurRad="111125" dist="3175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7" name="色條"/>
            <p:cNvSpPr/>
            <p:nvPr/>
          </p:nvSpPr>
          <p:spPr>
            <a:xfrm>
              <a:off x="8613775" y="5920740"/>
              <a:ext cx="274320" cy="45720"/>
            </a:xfrm>
            <a:prstGeom prst="rect">
              <a:avLst/>
            </a:prstGeom>
            <a:solidFill>
              <a:srgbClr val="BFBFBF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8" name="指標名稱"/>
            <p:cNvSpPr/>
            <p:nvPr/>
          </p:nvSpPr>
          <p:spPr>
            <a:xfrm>
              <a:off x="8613775" y="6035040"/>
              <a:ext cx="1119251" cy="2514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客訴件數</a:t>
              </a:r>
              <a:endParaRPr lang="en-US" sz="1050" dirty="0"/>
            </a:p>
          </p:txBody>
        </p:sp>
        <p:sp>
          <p:nvSpPr>
            <p:cNvPr id="89" name="數值"/>
            <p:cNvSpPr/>
            <p:nvPr/>
          </p:nvSpPr>
          <p:spPr>
            <a:xfrm>
              <a:off x="8590915" y="6309360"/>
              <a:ext cx="1142111" cy="5257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30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件／月</a:t>
              </a:r>
              <a:endParaRPr lang="en-US" sz="1750" dirty="0"/>
            </a:p>
          </p:txBody>
        </p:sp>
        <p:sp>
          <p:nvSpPr>
            <p:cNvPr id="90" name="變化"/>
            <p:cNvSpPr/>
            <p:nvPr/>
          </p:nvSpPr>
          <p:spPr>
            <a:xfrm>
              <a:off x="8613775" y="6880860"/>
              <a:ext cx="111925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75%</a:t>
              </a: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750" dirty="0"/>
            </a:p>
          </p:txBody>
        </p:sp>
      </p:grpSp>
      <p:sp>
        <p:nvSpPr>
          <p:cNvPr id="91" name="組合名稱"/>
          <p:cNvSpPr/>
          <p:nvPr/>
        </p:nvSpPr>
        <p:spPr>
          <a:xfrm>
            <a:off x="10190226" y="5029200"/>
            <a:ext cx="43635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PDCA 循環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PDCA Cycle</a:t>
            </a:r>
            <a:endParaRPr lang="en-US" sz="1750" dirty="0"/>
          </a:p>
        </p:txBody>
      </p:sp>
      <p:sp>
        <p:nvSpPr>
          <p:cNvPr id="92" name="線條"/>
          <p:cNvSpPr/>
          <p:nvPr/>
        </p:nvSpPr>
        <p:spPr>
          <a:xfrm>
            <a:off x="10190226" y="54178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5" name="PDCA 循環"/>
          <p:cNvGrpSpPr/>
          <p:nvPr/>
        </p:nvGrpSpPr>
        <p:grpSpPr>
          <a:xfrm>
            <a:off x="10190226" y="5554980"/>
            <a:ext cx="4363593" cy="2057400"/>
            <a:chOff x="10190226" y="5554980"/>
            <a:chExt cx="4363593" cy="2057400"/>
          </a:xfrm>
        </p:grpSpPr>
        <p:sp>
          <p:nvSpPr>
            <p:cNvPr id="93" name="PDCA Plan"/>
            <p:cNvSpPr/>
            <p:nvPr/>
          </p:nvSpPr>
          <p:spPr>
            <a:xfrm>
              <a:off x="10190226" y="5554980"/>
              <a:ext cx="1645920" cy="777240"/>
            </a:xfrm>
            <a:prstGeom prst="roundRect">
              <a:avLst>
                <a:gd name="adj" fmla="val 14706"/>
              </a:avLst>
            </a:prstGeom>
            <a:solidFill>
              <a:srgbClr val="F2F2F2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127000" tIns="0" rIns="635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9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</a:t>
              </a: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計畫 </a:t>
              </a: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Plan</a:t>
              </a:r>
              <a:endParaRPr lang="en-US" sz="10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設定目標與做法</a:t>
              </a:r>
              <a:endParaRPr lang="en-US" sz="1050" dirty="0"/>
            </a:p>
          </p:txBody>
        </p:sp>
        <p:sp>
          <p:nvSpPr>
            <p:cNvPr id="94" name="PDCA Do"/>
            <p:cNvSpPr/>
            <p:nvPr/>
          </p:nvSpPr>
          <p:spPr>
            <a:xfrm>
              <a:off x="12907899" y="5554980"/>
              <a:ext cx="1645920" cy="777240"/>
            </a:xfrm>
            <a:prstGeom prst="roundRect">
              <a:avLst>
                <a:gd name="adj" fmla="val 14706"/>
              </a:avLst>
            </a:prstGeom>
            <a:solidFill>
              <a:srgbClr val="F2F2F2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127000" tIns="0" rIns="635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9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</a:t>
              </a: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執行 </a:t>
              </a: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Do</a:t>
              </a:r>
              <a:endParaRPr lang="en-US" sz="10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依計畫小步執行</a:t>
              </a:r>
              <a:endParaRPr lang="en-US" sz="1050" dirty="0"/>
            </a:p>
          </p:txBody>
        </p:sp>
        <p:sp>
          <p:nvSpPr>
            <p:cNvPr id="95" name="PDCA Check"/>
            <p:cNvSpPr/>
            <p:nvPr/>
          </p:nvSpPr>
          <p:spPr>
            <a:xfrm>
              <a:off x="12907899" y="6835140"/>
              <a:ext cx="1645920" cy="777240"/>
            </a:xfrm>
            <a:prstGeom prst="roundRect">
              <a:avLst>
                <a:gd name="adj" fmla="val 14706"/>
              </a:avLst>
            </a:prstGeom>
            <a:solidFill>
              <a:srgbClr val="F2F2F2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127000" tIns="0" rIns="635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9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</a:t>
              </a: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查核 </a:t>
              </a: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Check</a:t>
              </a:r>
              <a:endParaRPr lang="en-US" sz="10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量測結果與差異</a:t>
              </a:r>
              <a:endParaRPr lang="en-US" sz="1050" dirty="0"/>
            </a:p>
          </p:txBody>
        </p:sp>
        <p:sp>
          <p:nvSpPr>
            <p:cNvPr id="96" name="PDCA Act"/>
            <p:cNvSpPr/>
            <p:nvPr/>
          </p:nvSpPr>
          <p:spPr>
            <a:xfrm>
              <a:off x="10190226" y="6835140"/>
              <a:ext cx="1645920" cy="777240"/>
            </a:xfrm>
            <a:prstGeom prst="roundRect">
              <a:avLst>
                <a:gd name="adj" fmla="val 14706"/>
              </a:avLst>
            </a:prstGeom>
            <a:solidFill>
              <a:srgbClr val="F2F2F2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127000" tIns="0" rIns="635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9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</a:t>
              </a: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行動 </a:t>
              </a: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Act</a:t>
              </a:r>
              <a:endParaRPr lang="en-US" sz="10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標準化並修正</a:t>
              </a:r>
              <a:endParaRPr lang="en-US" sz="1050" dirty="0"/>
            </a:p>
          </p:txBody>
        </p:sp>
        <p:cxnSp>
          <p:nvCxnSpPr>
            <p:cNvPr id="97" name="連接線"/>
            <p:cNvCxnSpPr>
              <a:stCxn id="93" idx="3"/>
              <a:endCxn id="94" idx="1"/>
            </p:cNvCxnSpPr>
            <p:nvPr/>
          </p:nvCxnSpPr>
          <p:spPr>
            <a:xfrm>
              <a:off x="11836146" y="5943600"/>
              <a:ext cx="1071753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98" name="連接線"/>
            <p:cNvCxnSpPr>
              <a:stCxn id="94" idx="2"/>
              <a:endCxn id="95" idx="0"/>
            </p:cNvCxnSpPr>
            <p:nvPr/>
          </p:nvCxnSpPr>
          <p:spPr>
            <a:xfrm>
              <a:off x="13730859" y="6332220"/>
              <a:ext cx="0" cy="50292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99" name="連接線"/>
            <p:cNvCxnSpPr>
              <a:stCxn id="95" idx="1"/>
              <a:endCxn id="96" idx="3"/>
            </p:cNvCxnSpPr>
            <p:nvPr/>
          </p:nvCxnSpPr>
          <p:spPr>
            <a:xfrm flipH="1">
              <a:off x="11836146" y="7223760"/>
              <a:ext cx="1071753" cy="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100" name="連接線"/>
            <p:cNvCxnSpPr>
              <a:stCxn id="96" idx="0"/>
              <a:endCxn id="93" idx="2"/>
            </p:cNvCxnSpPr>
            <p:nvPr/>
          </p:nvCxnSpPr>
          <p:spPr>
            <a:xfrm flipV="1">
              <a:off x="11013186" y="6332220"/>
              <a:ext cx="0" cy="502920"/>
            </a:xfrm>
            <a:prstGeom prst="straightConnector1">
              <a:avLst/>
            </a:prstGeom>
            <a:ln w="19812">
              <a:solidFill>
                <a:srgbClr val="595959"/>
              </a:solidFill>
              <a:prstDash val="sysDot"/>
              <a:tailEnd type="triangle" w="lg" len="lg"/>
            </a:ln>
          </p:spPr>
        </p:cxnSp>
        <p:sp>
          <p:nvSpPr>
            <p:cNvPr id="101" name="中心標籤"/>
            <p:cNvSpPr/>
            <p:nvPr/>
          </p:nvSpPr>
          <p:spPr>
            <a:xfrm>
              <a:off x="11800523" y="6435090"/>
              <a:ext cx="1143000" cy="2971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PDCA</a:t>
              </a:r>
              <a:r>
                <a:rPr lang="en-US" sz="9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持續改善</a:t>
              </a:r>
              <a:endParaRPr lang="en-US" sz="1000" dirty="0"/>
            </a:p>
          </p:txBody>
        </p:sp>
      </p:grpSp>
      <p:sp>
        <p:nvSpPr>
          <p:cNvPr id="102" name="Text 98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103" name="Text 99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/ 13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71500" y="45720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5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《風格規範》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685800" y="1257300"/>
            <a:ext cx="1257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色彩、字級與元件語言一覽：淺灰實心圓角卡＋陰影</a:t>
            </a:r>
            <a:endParaRPr lang="en-US" sz="1900" dirty="0"/>
          </a:p>
        </p:txBody>
      </p:sp>
      <p:sp>
        <p:nvSpPr>
          <p:cNvPr id="4" name="線條"/>
          <p:cNvSpPr/>
          <p:nvPr/>
        </p:nvSpPr>
        <p:spPr>
          <a:xfrm>
            <a:off x="685800" y="1851660"/>
            <a:ext cx="138680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23085"/>
            <a:ext cx="1257300" cy="57150"/>
          </a:xfrm>
          <a:prstGeom prst="rect">
            <a:avLst/>
          </a:pr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2228850"/>
            <a:ext cx="6286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 Palette</a:t>
            </a:r>
            <a:endParaRPr lang="en-US" sz="1650" dirty="0"/>
          </a:p>
        </p:txBody>
      </p:sp>
      <p:sp>
        <p:nvSpPr>
          <p:cNvPr id="7" name="線條"/>
          <p:cNvSpPr/>
          <p:nvPr/>
        </p:nvSpPr>
        <p:spPr>
          <a:xfrm>
            <a:off x="685800" y="2708910"/>
            <a:ext cx="62865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4360" y="361188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863340"/>
            <a:ext cx="891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#2F4B6E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47447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243A5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83030" y="361188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337310" y="3863340"/>
            <a:ext cx="891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#243A56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6314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E3E8EF"/>
          </a:solidFill>
          <a:ln w="11938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171700" y="361188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125980" y="3863340"/>
            <a:ext cx="891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#E3E8EF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05181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3A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960370" y="361188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914650" y="3863340"/>
            <a:ext cx="891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#3A3A3A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4048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8C8C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749040" y="361188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703320" y="3863340"/>
            <a:ext cx="891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#8C8C8C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2915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BFBF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37710" y="361188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框線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491990" y="3863340"/>
            <a:ext cx="891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#BFBFBF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1782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F2F2F2"/>
          </a:solidFill>
          <a:ln w="11938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326380" y="361188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底色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280660" y="3863340"/>
            <a:ext cx="891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#F2F2F2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" y="4434840"/>
            <a:ext cx="6286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字級 Typography</a:t>
            </a:r>
            <a:endParaRPr lang="en-US" sz="1650" dirty="0"/>
          </a:p>
        </p:txBody>
      </p:sp>
      <p:sp>
        <p:nvSpPr>
          <p:cNvPr id="30" name="線條"/>
          <p:cNvSpPr/>
          <p:nvPr/>
        </p:nvSpPr>
        <p:spPr>
          <a:xfrm>
            <a:off x="685800" y="4914900"/>
            <a:ext cx="62865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914900"/>
            <a:ext cx="62865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大標題文字</a:t>
            </a: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34pt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685800" y="5737860"/>
            <a:ext cx="6286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9687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副標題・細字主色</a:t>
            </a: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685800" y="6240780"/>
            <a:ext cx="62865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標籤與卡片標題</a:t>
            </a: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685800" y="6720840"/>
            <a:ext cx="628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內文說明文字，灰色、行距寬鬆</a:t>
            </a: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12pt</a:t>
            </a:r>
            <a:endParaRPr lang="en-US" sz="1750" dirty="0"/>
          </a:p>
        </p:txBody>
      </p:sp>
      <p:sp>
        <p:nvSpPr>
          <p:cNvPr id="35" name="Text 33"/>
          <p:cNvSpPr/>
          <p:nvPr/>
        </p:nvSpPr>
        <p:spPr>
          <a:xfrm>
            <a:off x="685800" y="7155180"/>
            <a:ext cx="62865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註解文字以灰色呈現，10.5pt，放在版面下緣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715250" y="2228850"/>
            <a:ext cx="68385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元件語言 Shape Language</a:t>
            </a:r>
            <a:endParaRPr lang="en-US" sz="1650" dirty="0"/>
          </a:p>
        </p:txBody>
      </p:sp>
      <p:sp>
        <p:nvSpPr>
          <p:cNvPr id="37" name="線條"/>
          <p:cNvSpPr/>
          <p:nvPr/>
        </p:nvSpPr>
        <p:spPr>
          <a:xfrm>
            <a:off x="7715250" y="2708910"/>
            <a:ext cx="683856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15250" y="2914650"/>
            <a:ext cx="1028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2515850" y="2914650"/>
            <a:ext cx="20379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淺灰實心＋陰影</a:t>
            </a:r>
            <a:endParaRPr lang="en-US" sz="1250" dirty="0"/>
          </a:p>
        </p:txBody>
      </p:sp>
      <p:sp>
        <p:nvSpPr>
          <p:cNvPr id="40" name="卡片"/>
          <p:cNvSpPr/>
          <p:nvPr/>
        </p:nvSpPr>
        <p:spPr>
          <a:xfrm>
            <a:off x="8858250" y="2960370"/>
            <a:ext cx="1657350" cy="594360"/>
          </a:xfrm>
          <a:prstGeom prst="roundRect">
            <a:avLst>
              <a:gd name="adj" fmla="val 19231"/>
            </a:avLst>
          </a:prstGeom>
          <a:solidFill>
            <a:srgbClr val="F2F2F2"/>
          </a:solidFill>
          <a:ln/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卡片"/>
          <p:cNvSpPr/>
          <p:nvPr/>
        </p:nvSpPr>
        <p:spPr>
          <a:xfrm>
            <a:off x="10744200" y="2960370"/>
            <a:ext cx="1485900" cy="594360"/>
          </a:xfrm>
          <a:prstGeom prst="roundRect">
            <a:avLst>
              <a:gd name="adj" fmla="val 19231"/>
            </a:avLst>
          </a:prstGeom>
          <a:solidFill>
            <a:srgbClr val="F2F2F2"/>
          </a:solidFill>
          <a:ln/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0744200" y="2960370"/>
            <a:ext cx="1485900" cy="205740"/>
          </a:xfrm>
          <a:custGeom>
            <a:avLst/>
            <a:gdLst/>
            <a:ahLst/>
            <a:cxnLst/>
            <a:rect l="l" t="t" r="r" b="b"/>
            <a:pathLst>
              <a:path w="1485900" h="205740">
                <a:moveTo>
                  <a:pt x="0" y="205740"/>
                </a:moveTo>
                <a:lnTo>
                  <a:pt x="0" y="114300"/>
                </a:lnTo>
                <a:arcTo hR="114300" wR="114300" stAng="10800000" swAng="5400000"/>
                <a:lnTo>
                  <a:pt x="1371600" y="0"/>
                </a:lnTo>
                <a:arcTo hR="114300" wR="114300" stAng="16200000" swAng="5400000"/>
                <a:lnTo>
                  <a:pt x="1485900" y="205740"/>
                </a:lnTo>
                <a:close/>
              </a:path>
            </a:pathLst>
          </a:cu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線條"/>
          <p:cNvSpPr/>
          <p:nvPr/>
        </p:nvSpPr>
        <p:spPr>
          <a:xfrm>
            <a:off x="7715250" y="366903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15250" y="3726180"/>
            <a:ext cx="1028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2515850" y="3726180"/>
            <a:ext cx="20379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全圓角膠囊</a:t>
            </a:r>
            <a:endParaRPr lang="en-US" sz="1250" dirty="0"/>
          </a:p>
        </p:txBody>
      </p:sp>
      <p:sp>
        <p:nvSpPr>
          <p:cNvPr id="46" name="標籤"/>
          <p:cNvSpPr/>
          <p:nvPr/>
        </p:nvSpPr>
        <p:spPr>
          <a:xfrm>
            <a:off x="8858250" y="3886200"/>
            <a:ext cx="688238" cy="36576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</a:t>
            </a:r>
            <a:endParaRPr lang="en-US" sz="1500" dirty="0"/>
          </a:p>
        </p:txBody>
      </p:sp>
      <p:sp>
        <p:nvSpPr>
          <p:cNvPr id="47" name="標籤"/>
          <p:cNvSpPr/>
          <p:nvPr/>
        </p:nvSpPr>
        <p:spPr>
          <a:xfrm>
            <a:off x="9683648" y="3886200"/>
            <a:ext cx="688238" cy="365760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</a:t>
            </a:r>
            <a:endParaRPr lang="en-US" sz="1500" dirty="0"/>
          </a:p>
        </p:txBody>
      </p:sp>
      <p:sp>
        <p:nvSpPr>
          <p:cNvPr id="48" name="標籤"/>
          <p:cNvSpPr/>
          <p:nvPr/>
        </p:nvSpPr>
        <p:spPr>
          <a:xfrm>
            <a:off x="10509047" y="3886200"/>
            <a:ext cx="688238" cy="36576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</a:t>
            </a:r>
            <a:endParaRPr lang="en-US" sz="1500" dirty="0"/>
          </a:p>
        </p:txBody>
      </p:sp>
      <p:sp>
        <p:nvSpPr>
          <p:cNvPr id="49" name="線條"/>
          <p:cNvSpPr/>
          <p:nvPr/>
        </p:nvSpPr>
        <p:spPr>
          <a:xfrm>
            <a:off x="7715250" y="448056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15250" y="4537710"/>
            <a:ext cx="1028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12515850" y="4537710"/>
            <a:ext cx="20379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數字膠囊</a:t>
            </a:r>
            <a:endParaRPr lang="en-US" sz="1250" dirty="0"/>
          </a:p>
        </p:txBody>
      </p:sp>
      <p:sp>
        <p:nvSpPr>
          <p:cNvPr id="52" name="編號"/>
          <p:cNvSpPr/>
          <p:nvPr/>
        </p:nvSpPr>
        <p:spPr>
          <a:xfrm>
            <a:off x="8846820" y="4725162"/>
            <a:ext cx="571500" cy="310896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250" dirty="0"/>
          </a:p>
        </p:txBody>
      </p:sp>
      <p:sp>
        <p:nvSpPr>
          <p:cNvPr id="53" name="編號"/>
          <p:cNvSpPr/>
          <p:nvPr/>
        </p:nvSpPr>
        <p:spPr>
          <a:xfrm>
            <a:off x="9555480" y="4725162"/>
            <a:ext cx="571500" cy="310896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250" dirty="0"/>
          </a:p>
        </p:txBody>
      </p:sp>
      <p:sp>
        <p:nvSpPr>
          <p:cNvPr id="54" name="編號"/>
          <p:cNvSpPr/>
          <p:nvPr/>
        </p:nvSpPr>
        <p:spPr>
          <a:xfrm>
            <a:off x="10264140" y="4725162"/>
            <a:ext cx="571500" cy="310896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11087100" y="4537710"/>
            <a:ext cx="1257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② ③</a:t>
            </a:r>
            <a:endParaRPr lang="en-US" sz="1750" dirty="0"/>
          </a:p>
        </p:txBody>
      </p:sp>
      <p:sp>
        <p:nvSpPr>
          <p:cNvPr id="56" name="線條"/>
          <p:cNvSpPr/>
          <p:nvPr/>
        </p:nvSpPr>
        <p:spPr>
          <a:xfrm>
            <a:off x="7715250" y="529209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15250" y="5349240"/>
            <a:ext cx="1028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分隔</a:t>
            </a:r>
            <a:endParaRPr lang="en-US" sz="1650" dirty="0"/>
          </a:p>
        </p:txBody>
      </p:sp>
      <p:sp>
        <p:nvSpPr>
          <p:cNvPr id="58" name="Text 56"/>
          <p:cNvSpPr/>
          <p:nvPr/>
        </p:nvSpPr>
        <p:spPr>
          <a:xfrm>
            <a:off x="12515850" y="5349240"/>
            <a:ext cx="20379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小三角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8858250" y="5349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500" dirty="0"/>
          </a:p>
        </p:txBody>
      </p:sp>
      <p:sp>
        <p:nvSpPr>
          <p:cNvPr id="60" name="三角形"/>
          <p:cNvSpPr/>
          <p:nvPr/>
        </p:nvSpPr>
        <p:spPr>
          <a:xfrm>
            <a:off x="9801225" y="557784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10229850" y="5349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500" dirty="0"/>
          </a:p>
        </p:txBody>
      </p:sp>
      <p:sp>
        <p:nvSpPr>
          <p:cNvPr id="62" name="三角形"/>
          <p:cNvSpPr/>
          <p:nvPr/>
        </p:nvSpPr>
        <p:spPr>
          <a:xfrm>
            <a:off x="11172825" y="557784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11601450" y="5349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500" dirty="0"/>
          </a:p>
        </p:txBody>
      </p:sp>
      <p:sp>
        <p:nvSpPr>
          <p:cNvPr id="64" name="線條"/>
          <p:cNvSpPr/>
          <p:nvPr/>
        </p:nvSpPr>
        <p:spPr>
          <a:xfrm>
            <a:off x="7715250" y="610362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15250" y="6160770"/>
            <a:ext cx="1028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</a:t>
            </a:r>
            <a:endParaRPr lang="en-US" sz="1650" dirty="0"/>
          </a:p>
        </p:txBody>
      </p:sp>
      <p:sp>
        <p:nvSpPr>
          <p:cNvPr id="66" name="Text 64"/>
          <p:cNvSpPr/>
          <p:nvPr/>
        </p:nvSpPr>
        <p:spPr>
          <a:xfrm>
            <a:off x="12515850" y="6160770"/>
            <a:ext cx="20379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1.25pt 點線＋三角箭頭</a:t>
            </a:r>
            <a:endParaRPr lang="en-US" sz="1250" dirty="0"/>
          </a:p>
        </p:txBody>
      </p:sp>
      <p:sp>
        <p:nvSpPr>
          <p:cNvPr id="67" name="線條"/>
          <p:cNvSpPr/>
          <p:nvPr/>
        </p:nvSpPr>
        <p:spPr>
          <a:xfrm>
            <a:off x="8858250" y="6503670"/>
            <a:ext cx="1485900" cy="0"/>
          </a:xfrm>
          <a:prstGeom prst="line">
            <a:avLst/>
          </a:prstGeom>
          <a:noFill/>
          <a:ln w="19812">
            <a:solidFill>
              <a:srgbClr val="595959"/>
            </a:solidFill>
            <a:prstDash val="sysDot"/>
            <a:tailEnd type="triangle" w="lg" len="lg"/>
          </a:ln>
        </p:spPr>
      </p:sp>
      <p:sp>
        <p:nvSpPr>
          <p:cNvPr id="68" name="連接線"/>
          <p:cNvSpPr/>
          <p:nvPr/>
        </p:nvSpPr>
        <p:spPr>
          <a:xfrm>
            <a:off x="10687050" y="6252210"/>
            <a:ext cx="1543050" cy="502920"/>
          </a:xfrm>
          <a:custGeom>
            <a:avLst/>
            <a:gdLst/>
            <a:ahLst/>
            <a:cxnLst/>
            <a:rect l="l" t="t" r="r" b="b"/>
            <a:pathLst>
              <a:path w="1543050" h="502920">
                <a:moveTo>
                  <a:pt x="0" y="0"/>
                </a:moveTo>
                <a:lnTo>
                  <a:pt x="685800" y="0"/>
                </a:lnTo>
                <a:lnTo>
                  <a:pt x="685800" y="502920"/>
                </a:lnTo>
                <a:lnTo>
                  <a:pt x="1543050" y="502920"/>
                </a:lnTo>
              </a:path>
            </a:pathLst>
          </a:custGeom>
          <a:ln w="19812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線條"/>
          <p:cNvSpPr/>
          <p:nvPr/>
        </p:nvSpPr>
        <p:spPr>
          <a:xfrm>
            <a:off x="7715250" y="691515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715250" y="6972300"/>
            <a:ext cx="1028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</a:t>
            </a:r>
            <a:endParaRPr lang="en-US" sz="1650" dirty="0"/>
          </a:p>
        </p:txBody>
      </p:sp>
      <p:sp>
        <p:nvSpPr>
          <p:cNvPr id="71" name="Text 69"/>
          <p:cNvSpPr/>
          <p:nvPr/>
        </p:nvSpPr>
        <p:spPr>
          <a:xfrm>
            <a:off x="12515850" y="6972300"/>
            <a:ext cx="20379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灰卡＋▶</a:t>
            </a:r>
            <a:endParaRPr lang="en-US" sz="1250" dirty="0"/>
          </a:p>
        </p:txBody>
      </p:sp>
      <p:sp>
        <p:nvSpPr>
          <p:cNvPr id="72" name="流程鏈"/>
          <p:cNvSpPr/>
          <p:nvPr/>
        </p:nvSpPr>
        <p:spPr>
          <a:xfrm>
            <a:off x="8858250" y="7063740"/>
            <a:ext cx="838200" cy="50292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/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400" dirty="0"/>
          </a:p>
        </p:txBody>
      </p:sp>
      <p:sp>
        <p:nvSpPr>
          <p:cNvPr id="73" name="三角形"/>
          <p:cNvSpPr/>
          <p:nvPr/>
        </p:nvSpPr>
        <p:spPr>
          <a:xfrm>
            <a:off x="9839325" y="72009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流程鏈"/>
          <p:cNvSpPr/>
          <p:nvPr/>
        </p:nvSpPr>
        <p:spPr>
          <a:xfrm>
            <a:off x="10153650" y="7063740"/>
            <a:ext cx="838200" cy="50292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/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400" dirty="0"/>
          </a:p>
        </p:txBody>
      </p:sp>
      <p:sp>
        <p:nvSpPr>
          <p:cNvPr id="75" name="三角形"/>
          <p:cNvSpPr/>
          <p:nvPr/>
        </p:nvSpPr>
        <p:spPr>
          <a:xfrm>
            <a:off x="11134725" y="72009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流程鏈"/>
          <p:cNvSpPr/>
          <p:nvPr/>
        </p:nvSpPr>
        <p:spPr>
          <a:xfrm>
            <a:off x="11449050" y="7063740"/>
            <a:ext cx="838200" cy="502920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/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</a:t>
            </a:r>
            <a:endParaRPr lang="en-US" sz="1400" dirty="0"/>
          </a:p>
        </p:txBody>
      </p:sp>
      <p:sp>
        <p:nvSpPr>
          <p:cNvPr id="77" name="Text 75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78" name="Text 76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/ 13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71500" y="45720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5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《卡片》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685800" y="1257300"/>
            <a:ext cx="1257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標題＋內文、角落標籤、表頭強調三種基本卡片</a:t>
            </a:r>
            <a:endParaRPr lang="en-US" sz="1900" dirty="0"/>
          </a:p>
        </p:txBody>
      </p:sp>
      <p:sp>
        <p:nvSpPr>
          <p:cNvPr id="4" name="線條"/>
          <p:cNvSpPr/>
          <p:nvPr/>
        </p:nvSpPr>
        <p:spPr>
          <a:xfrm>
            <a:off x="685800" y="1851660"/>
            <a:ext cx="138680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23085"/>
            <a:ext cx="1257300" cy="57150"/>
          </a:xfrm>
          <a:prstGeom prst="rect">
            <a:avLst/>
          </a:pr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卡片"/>
          <p:cNvSpPr/>
          <p:nvPr/>
        </p:nvSpPr>
        <p:spPr>
          <a:xfrm>
            <a:off x="685800" y="2343150"/>
            <a:ext cx="4263390" cy="2686050"/>
          </a:xfrm>
          <a:prstGeom prst="roundRect">
            <a:avLst>
              <a:gd name="adj" fmla="val 4255"/>
            </a:avLst>
          </a:prstGeom>
          <a:solidFill>
            <a:srgbClr val="F2F2F2"/>
          </a:solidFill>
          <a:ln/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82980" y="2526030"/>
            <a:ext cx="36690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</a:t>
            </a:r>
            <a:r>
              <a:rPr lang="en-US" sz="1250" b="1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Card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82980" y="3326130"/>
            <a:ext cx="3669030" cy="147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先用一句話說清楚重點，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再以兩到三行補充說明。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內文維持灰色、行距寬鬆，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留白讓卡片更好讀。</a:t>
            </a:r>
            <a:endParaRPr lang="en-US" sz="1500" dirty="0"/>
          </a:p>
        </p:txBody>
      </p:sp>
      <p:sp>
        <p:nvSpPr>
          <p:cNvPr id="9" name="卡片"/>
          <p:cNvSpPr/>
          <p:nvPr/>
        </p:nvSpPr>
        <p:spPr>
          <a:xfrm>
            <a:off x="5488115" y="2343150"/>
            <a:ext cx="4263390" cy="2686050"/>
          </a:xfrm>
          <a:prstGeom prst="roundRect">
            <a:avLst>
              <a:gd name="adj" fmla="val 4255"/>
            </a:avLst>
          </a:prstGeom>
          <a:solidFill>
            <a:srgbClr val="F2F2F2"/>
          </a:solidFill>
          <a:ln/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85295" y="2526030"/>
            <a:ext cx="36690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角落標籤卡片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785295" y="3326130"/>
            <a:ext cx="3669030" cy="147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右上角的小標籤標示階段、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分類或狀態，跨在邊框上，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不佔用內文空間。</a:t>
            </a:r>
            <a:endParaRPr lang="en-US" sz="1500" dirty="0"/>
          </a:p>
        </p:txBody>
      </p:sp>
      <p:sp>
        <p:nvSpPr>
          <p:cNvPr id="12" name="標籤"/>
          <p:cNvSpPr/>
          <p:nvPr/>
        </p:nvSpPr>
        <p:spPr>
          <a:xfrm>
            <a:off x="8567865" y="2183130"/>
            <a:ext cx="932180" cy="32004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</a:t>
            </a:r>
            <a:endParaRPr lang="en-US" sz="1250" dirty="0"/>
          </a:p>
        </p:txBody>
      </p:sp>
      <p:sp>
        <p:nvSpPr>
          <p:cNvPr id="13" name="卡片"/>
          <p:cNvSpPr/>
          <p:nvPr/>
        </p:nvSpPr>
        <p:spPr>
          <a:xfrm>
            <a:off x="10290429" y="2343150"/>
            <a:ext cx="4263390" cy="2686050"/>
          </a:xfrm>
          <a:prstGeom prst="roundRect">
            <a:avLst>
              <a:gd name="adj" fmla="val 4255"/>
            </a:avLst>
          </a:prstGeom>
          <a:solidFill>
            <a:srgbClr val="F2F2F2"/>
          </a:solidFill>
          <a:ln/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表頭"/>
          <p:cNvSpPr/>
          <p:nvPr/>
        </p:nvSpPr>
        <p:spPr>
          <a:xfrm>
            <a:off x="10290429" y="2343150"/>
            <a:ext cx="4263390" cy="662940"/>
          </a:xfrm>
          <a:custGeom>
            <a:avLst/>
            <a:gdLst/>
            <a:ahLst/>
            <a:cxnLst/>
            <a:rect l="l" t="t" r="r" b="b"/>
            <a:pathLst>
              <a:path w="4263390" h="662940">
                <a:moveTo>
                  <a:pt x="0" y="662940"/>
                </a:moveTo>
                <a:lnTo>
                  <a:pt x="0" y="114300"/>
                </a:lnTo>
                <a:arcTo hR="114300" wR="114300" stAng="10800000" swAng="5400000"/>
                <a:lnTo>
                  <a:pt x="4149090" y="0"/>
                </a:lnTo>
                <a:arcTo hR="114300" wR="114300" stAng="16200000" swAng="5400000"/>
                <a:lnTo>
                  <a:pt x="4263390" y="662940"/>
                </a:lnTo>
                <a:close/>
              </a:path>
            </a:pathLst>
          </a:cu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587609" y="2343150"/>
            <a:ext cx="366903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表頭強調卡片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587609" y="3234690"/>
            <a:ext cx="3669030" cy="1565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以主色表頭強調，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用來標出最重要的一張卡。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同一頁建議只放一張。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" y="5234940"/>
            <a:ext cx="42633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A｜基本卡片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8115" y="5234940"/>
            <a:ext cx="42633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B｜角標卡片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90429" y="5234940"/>
            <a:ext cx="42633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C｜強調卡片（含陰影）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571500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標籤＋說明列</a:t>
            </a:r>
            <a:endParaRPr lang="en-US" sz="1650" dirty="0"/>
          </a:p>
        </p:txBody>
      </p:sp>
      <p:sp>
        <p:nvSpPr>
          <p:cNvPr id="21" name="線條"/>
          <p:cNvSpPr/>
          <p:nvPr/>
        </p:nvSpPr>
        <p:spPr>
          <a:xfrm>
            <a:off x="685800" y="6195060"/>
            <a:ext cx="80010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2" name="標籤"/>
          <p:cNvSpPr/>
          <p:nvPr/>
        </p:nvSpPr>
        <p:spPr>
          <a:xfrm>
            <a:off x="685800" y="6377940"/>
            <a:ext cx="937260" cy="36576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簡潔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828800" y="6377940"/>
            <a:ext cx="662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一頁只講一個重點，讀者不費力</a:t>
            </a:r>
            <a:endParaRPr lang="en-US" sz="1650" dirty="0"/>
          </a:p>
        </p:txBody>
      </p:sp>
      <p:sp>
        <p:nvSpPr>
          <p:cNvPr id="24" name="標籤"/>
          <p:cNvSpPr/>
          <p:nvPr/>
        </p:nvSpPr>
        <p:spPr>
          <a:xfrm>
            <a:off x="685800" y="6858000"/>
            <a:ext cx="937260" cy="36576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828800" y="6858000"/>
            <a:ext cx="662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用例子與數字說話，避免空泛</a:t>
            </a:r>
            <a:endParaRPr lang="en-US" sz="1650" dirty="0"/>
          </a:p>
        </p:txBody>
      </p:sp>
      <p:sp>
        <p:nvSpPr>
          <p:cNvPr id="26" name="標籤"/>
          <p:cNvSpPr/>
          <p:nvPr/>
        </p:nvSpPr>
        <p:spPr>
          <a:xfrm>
            <a:off x="685800" y="7338060"/>
            <a:ext cx="937260" cy="36576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深入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828800" y="7338060"/>
            <a:ext cx="662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提出觀點與洞見，留下記憶點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144000" y="5715000"/>
            <a:ext cx="540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 Note</a:t>
            </a:r>
            <a:endParaRPr lang="en-US" sz="1650" dirty="0"/>
          </a:p>
        </p:txBody>
      </p:sp>
      <p:sp>
        <p:nvSpPr>
          <p:cNvPr id="29" name="線條"/>
          <p:cNvSpPr/>
          <p:nvPr/>
        </p:nvSpPr>
        <p:spPr>
          <a:xfrm>
            <a:off x="9144000" y="6195060"/>
            <a:ext cx="54098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0" y="6400800"/>
            <a:ext cx="54098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註解用灰色小字，補充前提或資料來源。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44000" y="6858000"/>
            <a:ext cx="54098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每張卡片內文以 3–4 行為上限。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/ 13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71500" y="45720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5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《標籤與編號》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685800" y="1257300"/>
            <a:ext cx="1257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單一標籤、堆疊清單、編號徽章與圈號清單</a:t>
            </a:r>
            <a:endParaRPr lang="en-US" sz="1900" dirty="0"/>
          </a:p>
        </p:txBody>
      </p:sp>
      <p:sp>
        <p:nvSpPr>
          <p:cNvPr id="4" name="線條"/>
          <p:cNvSpPr/>
          <p:nvPr/>
        </p:nvSpPr>
        <p:spPr>
          <a:xfrm>
            <a:off x="685800" y="1851660"/>
            <a:ext cx="138680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23085"/>
            <a:ext cx="1257300" cy="57150"/>
          </a:xfrm>
          <a:prstGeom prst="rect">
            <a:avLst/>
          </a:pr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2228850"/>
            <a:ext cx="138680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 Tags</a:t>
            </a:r>
            <a:endParaRPr lang="en-US" sz="1650" dirty="0"/>
          </a:p>
        </p:txBody>
      </p:sp>
      <p:sp>
        <p:nvSpPr>
          <p:cNvPr id="7" name="線條"/>
          <p:cNvSpPr/>
          <p:nvPr/>
        </p:nvSpPr>
        <p:spPr>
          <a:xfrm>
            <a:off x="685800" y="2708910"/>
            <a:ext cx="138680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8" name="標籤"/>
          <p:cNvSpPr/>
          <p:nvPr/>
        </p:nvSpPr>
        <p:spPr>
          <a:xfrm>
            <a:off x="685800" y="2914650"/>
            <a:ext cx="1190346" cy="43434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650" dirty="0"/>
          </a:p>
        </p:txBody>
      </p:sp>
      <p:sp>
        <p:nvSpPr>
          <p:cNvPr id="9" name="標籤"/>
          <p:cNvSpPr/>
          <p:nvPr/>
        </p:nvSpPr>
        <p:spPr>
          <a:xfrm>
            <a:off x="2219046" y="2914650"/>
            <a:ext cx="1190346" cy="434340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輔助標籤</a:t>
            </a:r>
            <a:endParaRPr lang="en-US" sz="1650" dirty="0"/>
          </a:p>
        </p:txBody>
      </p:sp>
      <p:sp>
        <p:nvSpPr>
          <p:cNvPr id="10" name="標籤"/>
          <p:cNvSpPr/>
          <p:nvPr/>
        </p:nvSpPr>
        <p:spPr>
          <a:xfrm>
            <a:off x="3752291" y="2914650"/>
            <a:ext cx="1190346" cy="43434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灰階標籤</a:t>
            </a:r>
            <a:endParaRPr lang="en-US" sz="1650" dirty="0"/>
          </a:p>
        </p:txBody>
      </p:sp>
      <p:sp>
        <p:nvSpPr>
          <p:cNvPr id="11" name="標籤"/>
          <p:cNvSpPr/>
          <p:nvPr/>
        </p:nvSpPr>
        <p:spPr>
          <a:xfrm>
            <a:off x="5285537" y="2914650"/>
            <a:ext cx="1190346" cy="43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F4B6E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外框標籤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161682" y="2914650"/>
            <a:ext cx="10287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小尺寸</a:t>
            </a:r>
            <a:endParaRPr lang="en-US" sz="1400" dirty="0"/>
          </a:p>
        </p:txBody>
      </p:sp>
      <p:sp>
        <p:nvSpPr>
          <p:cNvPr id="13" name="標籤"/>
          <p:cNvSpPr/>
          <p:nvPr/>
        </p:nvSpPr>
        <p:spPr>
          <a:xfrm>
            <a:off x="8076082" y="2960370"/>
            <a:ext cx="61468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F4B6E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元素</a:t>
            </a:r>
            <a:endParaRPr lang="en-US" sz="1250" dirty="0"/>
          </a:p>
        </p:txBody>
      </p:sp>
      <p:sp>
        <p:nvSpPr>
          <p:cNvPr id="14" name="標籤"/>
          <p:cNvSpPr/>
          <p:nvPr/>
        </p:nvSpPr>
        <p:spPr>
          <a:xfrm>
            <a:off x="8862212" y="2960370"/>
            <a:ext cx="614680" cy="3429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關聯</a:t>
            </a:r>
            <a:endParaRPr lang="en-US" sz="1250" dirty="0"/>
          </a:p>
        </p:txBody>
      </p:sp>
      <p:sp>
        <p:nvSpPr>
          <p:cNvPr id="15" name="標籤"/>
          <p:cNvSpPr/>
          <p:nvPr/>
        </p:nvSpPr>
        <p:spPr>
          <a:xfrm>
            <a:off x="9648342" y="2960370"/>
            <a:ext cx="614680" cy="3429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因果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3829050"/>
            <a:ext cx="43319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堆疊清單 Stacked</a:t>
            </a:r>
            <a:endParaRPr lang="en-US" sz="1650" dirty="0"/>
          </a:p>
        </p:txBody>
      </p:sp>
      <p:sp>
        <p:nvSpPr>
          <p:cNvPr id="17" name="線條"/>
          <p:cNvSpPr/>
          <p:nvPr/>
        </p:nvSpPr>
        <p:spPr>
          <a:xfrm>
            <a:off x="685800" y="4309110"/>
            <a:ext cx="433197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18" name="標籤"/>
          <p:cNvSpPr/>
          <p:nvPr/>
        </p:nvSpPr>
        <p:spPr>
          <a:xfrm>
            <a:off x="685800" y="4583430"/>
            <a:ext cx="3314700" cy="48006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釐清溝通目的</a:t>
            </a:r>
            <a:endParaRPr lang="en-US" sz="1650" dirty="0"/>
          </a:p>
        </p:txBody>
      </p:sp>
      <p:sp>
        <p:nvSpPr>
          <p:cNvPr id="19" name="標籤"/>
          <p:cNvSpPr/>
          <p:nvPr/>
        </p:nvSpPr>
        <p:spPr>
          <a:xfrm>
            <a:off x="685800" y="5292090"/>
            <a:ext cx="3314700" cy="48006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對齊彼此期待</a:t>
            </a:r>
            <a:endParaRPr lang="en-US" sz="1650" dirty="0"/>
          </a:p>
        </p:txBody>
      </p:sp>
      <p:sp>
        <p:nvSpPr>
          <p:cNvPr id="20" name="標籤"/>
          <p:cNvSpPr/>
          <p:nvPr/>
        </p:nvSpPr>
        <p:spPr>
          <a:xfrm>
            <a:off x="685800" y="6000750"/>
            <a:ext cx="3314700" cy="48006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降低理解門檻</a:t>
            </a:r>
            <a:endParaRPr lang="en-US" sz="1650" dirty="0"/>
          </a:p>
        </p:txBody>
      </p:sp>
      <p:sp>
        <p:nvSpPr>
          <p:cNvPr id="21" name="標籤"/>
          <p:cNvSpPr/>
          <p:nvPr/>
        </p:nvSpPr>
        <p:spPr>
          <a:xfrm>
            <a:off x="685800" y="6709410"/>
            <a:ext cx="3314700" cy="48006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453825" y="3829050"/>
            <a:ext cx="43319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 Badges</a:t>
            </a:r>
            <a:endParaRPr lang="en-US" sz="1650" dirty="0"/>
          </a:p>
        </p:txBody>
      </p:sp>
      <p:sp>
        <p:nvSpPr>
          <p:cNvPr id="23" name="線條"/>
          <p:cNvSpPr/>
          <p:nvPr/>
        </p:nvSpPr>
        <p:spPr>
          <a:xfrm>
            <a:off x="5453825" y="4309110"/>
            <a:ext cx="433197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4" name="編號"/>
          <p:cNvSpPr/>
          <p:nvPr/>
        </p:nvSpPr>
        <p:spPr>
          <a:xfrm>
            <a:off x="5439537" y="4671670"/>
            <a:ext cx="600075" cy="326441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250" dirty="0"/>
          </a:p>
        </p:txBody>
      </p:sp>
      <p:sp>
        <p:nvSpPr>
          <p:cNvPr id="25" name="編號"/>
          <p:cNvSpPr/>
          <p:nvPr/>
        </p:nvSpPr>
        <p:spPr>
          <a:xfrm>
            <a:off x="6148197" y="4671670"/>
            <a:ext cx="600075" cy="326441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250" dirty="0"/>
          </a:p>
        </p:txBody>
      </p:sp>
      <p:sp>
        <p:nvSpPr>
          <p:cNvPr id="26" name="編號"/>
          <p:cNvSpPr/>
          <p:nvPr/>
        </p:nvSpPr>
        <p:spPr>
          <a:xfrm>
            <a:off x="6856857" y="4671670"/>
            <a:ext cx="600075" cy="326441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250" dirty="0"/>
          </a:p>
        </p:txBody>
      </p:sp>
      <p:sp>
        <p:nvSpPr>
          <p:cNvPr id="27" name="編號"/>
          <p:cNvSpPr/>
          <p:nvPr/>
        </p:nvSpPr>
        <p:spPr>
          <a:xfrm>
            <a:off x="7565517" y="4671670"/>
            <a:ext cx="600075" cy="326441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250" dirty="0"/>
          </a:p>
        </p:txBody>
      </p:sp>
      <p:sp>
        <p:nvSpPr>
          <p:cNvPr id="28" name="編號"/>
          <p:cNvSpPr/>
          <p:nvPr/>
        </p:nvSpPr>
        <p:spPr>
          <a:xfrm>
            <a:off x="5482400" y="5712257"/>
            <a:ext cx="514350" cy="279806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162485" y="5657850"/>
            <a:ext cx="1371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7454075" y="5657850"/>
            <a:ext cx="23317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先釐清要解決什麼</a:t>
            </a:r>
            <a:endParaRPr lang="en-US" sz="1400" dirty="0"/>
          </a:p>
        </p:txBody>
      </p:sp>
      <p:sp>
        <p:nvSpPr>
          <p:cNvPr id="31" name="編號"/>
          <p:cNvSpPr/>
          <p:nvPr/>
        </p:nvSpPr>
        <p:spPr>
          <a:xfrm>
            <a:off x="5482400" y="6420917"/>
            <a:ext cx="514350" cy="279806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162485" y="6366510"/>
            <a:ext cx="1371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盤點現況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454075" y="6366510"/>
            <a:ext cx="23317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蒐集事實與數據</a:t>
            </a:r>
            <a:endParaRPr lang="en-US" sz="1400" dirty="0"/>
          </a:p>
        </p:txBody>
      </p:sp>
      <p:sp>
        <p:nvSpPr>
          <p:cNvPr id="34" name="編號"/>
          <p:cNvSpPr/>
          <p:nvPr/>
        </p:nvSpPr>
        <p:spPr>
          <a:xfrm>
            <a:off x="5482400" y="7129577"/>
            <a:ext cx="514350" cy="279806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162485" y="7075170"/>
            <a:ext cx="1371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7454075" y="7075170"/>
            <a:ext cx="23317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聚焦影響最大處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221849" y="3829050"/>
            <a:ext cx="43319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圈號清單 ①②③</a:t>
            </a:r>
            <a:endParaRPr lang="en-US" sz="1650" dirty="0"/>
          </a:p>
        </p:txBody>
      </p:sp>
      <p:sp>
        <p:nvSpPr>
          <p:cNvPr id="38" name="線條"/>
          <p:cNvSpPr/>
          <p:nvPr/>
        </p:nvSpPr>
        <p:spPr>
          <a:xfrm>
            <a:off x="10221849" y="4309110"/>
            <a:ext cx="433197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21849" y="4572000"/>
            <a:ext cx="2057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釐清目的</a:t>
            </a:r>
            <a:endParaRPr lang="en-US" sz="1750" dirty="0"/>
          </a:p>
        </p:txBody>
      </p:sp>
      <p:sp>
        <p:nvSpPr>
          <p:cNvPr id="40" name="Text 38"/>
          <p:cNvSpPr/>
          <p:nvPr/>
        </p:nvSpPr>
        <p:spPr>
          <a:xfrm>
            <a:off x="10221849" y="5052060"/>
            <a:ext cx="2057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拆解結構</a:t>
            </a:r>
            <a:endParaRPr lang="en-US" sz="1750" dirty="0"/>
          </a:p>
        </p:txBody>
      </p:sp>
      <p:sp>
        <p:nvSpPr>
          <p:cNvPr id="41" name="Text 39"/>
          <p:cNvSpPr/>
          <p:nvPr/>
        </p:nvSpPr>
        <p:spPr>
          <a:xfrm>
            <a:off x="10221849" y="5532120"/>
            <a:ext cx="2057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重新組合</a:t>
            </a:r>
            <a:endParaRPr lang="en-US" sz="1750" dirty="0"/>
          </a:p>
        </p:txBody>
      </p:sp>
      <p:sp>
        <p:nvSpPr>
          <p:cNvPr id="42" name="Text 40"/>
          <p:cNvSpPr/>
          <p:nvPr/>
        </p:nvSpPr>
        <p:spPr>
          <a:xfrm>
            <a:off x="10221849" y="6012180"/>
            <a:ext cx="2057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檢查一致</a:t>
            </a:r>
            <a:endParaRPr lang="en-US" sz="1750" dirty="0"/>
          </a:p>
        </p:txBody>
      </p:sp>
      <p:sp>
        <p:nvSpPr>
          <p:cNvPr id="43" name="Text 41"/>
          <p:cNvSpPr/>
          <p:nvPr/>
        </p:nvSpPr>
        <p:spPr>
          <a:xfrm>
            <a:off x="12507849" y="4572000"/>
            <a:ext cx="204597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過濾數據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2507849" y="5052060"/>
            <a:ext cx="204597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確認關係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2507849" y="5532120"/>
            <a:ext cx="204597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產出圖表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0221849" y="6629400"/>
            <a:ext cx="4331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清單 3–5 項最易記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/ 13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71500" y="45720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5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《圓形與流程鏈》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685800" y="1257300"/>
            <a:ext cx="1257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大外框圓＋疊放小圓，以及三段式流程鏈</a:t>
            </a:r>
            <a:endParaRPr lang="en-US" sz="1900" dirty="0"/>
          </a:p>
        </p:txBody>
      </p:sp>
      <p:sp>
        <p:nvSpPr>
          <p:cNvPr id="4" name="線條"/>
          <p:cNvSpPr/>
          <p:nvPr/>
        </p:nvSpPr>
        <p:spPr>
          <a:xfrm>
            <a:off x="685800" y="1851660"/>
            <a:ext cx="138680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23085"/>
            <a:ext cx="1257300" cy="57150"/>
          </a:xfrm>
          <a:prstGeom prst="rect">
            <a:avLst/>
          </a:pr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222885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大圓＋疊圓 Circles</a:t>
            </a:r>
            <a:endParaRPr lang="en-US" sz="1650" dirty="0"/>
          </a:p>
        </p:txBody>
      </p:sp>
      <p:sp>
        <p:nvSpPr>
          <p:cNvPr id="7" name="線條"/>
          <p:cNvSpPr/>
          <p:nvPr/>
        </p:nvSpPr>
        <p:spPr>
          <a:xfrm>
            <a:off x="685800" y="2708910"/>
            <a:ext cx="64008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8" name="光暈大圓"/>
          <p:cNvSpPr/>
          <p:nvPr/>
        </p:nvSpPr>
        <p:spPr>
          <a:xfrm>
            <a:off x="2308860" y="2937510"/>
            <a:ext cx="3154680" cy="3154680"/>
          </a:xfrm>
          <a:prstGeom prst="ellipse">
            <a:avLst/>
          </a:prstGeom>
          <a:solidFill>
            <a:srgbClr val="F2F2F2"/>
          </a:solidFill>
          <a:ln/>
          <a:effectLst>
            <a:outerShdw blurRad="254000" dist="31750" dir="5400000" sx="102000" sy="102000" algn="ctr" rotWithShape="0">
              <a:srgbClr val="000000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308860" y="3347618"/>
            <a:ext cx="3154680" cy="977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5150" dirty="0"/>
          </a:p>
        </p:txBody>
      </p:sp>
      <p:sp>
        <p:nvSpPr>
          <p:cNvPr id="10" name="Text 8"/>
          <p:cNvSpPr/>
          <p:nvPr/>
        </p:nvSpPr>
        <p:spPr>
          <a:xfrm>
            <a:off x="2624328" y="4357116"/>
            <a:ext cx="2523744" cy="88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如何做到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900" dirty="0"/>
          </a:p>
        </p:txBody>
      </p:sp>
      <p:sp>
        <p:nvSpPr>
          <p:cNvPr id="11" name="小圓"/>
          <p:cNvSpPr/>
          <p:nvPr/>
        </p:nvSpPr>
        <p:spPr>
          <a:xfrm>
            <a:off x="2146420" y="4984057"/>
            <a:ext cx="960120" cy="960120"/>
          </a:xfrm>
          <a:prstGeom prst="ellipse">
            <a:avLst/>
          </a:prstGeom>
          <a:solidFill>
            <a:srgbClr val="2F4B6E"/>
          </a:solidFill>
          <a:ln w="39751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2000" dirty="0"/>
          </a:p>
        </p:txBody>
      </p:sp>
      <p:sp>
        <p:nvSpPr>
          <p:cNvPr id="12" name="小圓"/>
          <p:cNvSpPr/>
          <p:nvPr/>
        </p:nvSpPr>
        <p:spPr>
          <a:xfrm>
            <a:off x="3406140" y="5612130"/>
            <a:ext cx="960120" cy="960120"/>
          </a:xfrm>
          <a:prstGeom prst="ellipse">
            <a:avLst/>
          </a:prstGeom>
          <a:solidFill>
            <a:srgbClr val="2F4B6E"/>
          </a:solidFill>
          <a:ln w="39751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2000" dirty="0"/>
          </a:p>
        </p:txBody>
      </p:sp>
      <p:sp>
        <p:nvSpPr>
          <p:cNvPr id="13" name="小圓"/>
          <p:cNvSpPr/>
          <p:nvPr/>
        </p:nvSpPr>
        <p:spPr>
          <a:xfrm>
            <a:off x="4665860" y="4984057"/>
            <a:ext cx="960120" cy="960120"/>
          </a:xfrm>
          <a:prstGeom prst="ellipse">
            <a:avLst/>
          </a:prstGeom>
          <a:solidFill>
            <a:srgbClr val="2F4B6E"/>
          </a:solidFill>
          <a:ln w="39751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86700" y="2228850"/>
            <a:ext cx="66671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 Chain</a:t>
            </a:r>
            <a:endParaRPr lang="en-US" sz="1650" dirty="0"/>
          </a:p>
        </p:txBody>
      </p:sp>
      <p:sp>
        <p:nvSpPr>
          <p:cNvPr id="15" name="線條"/>
          <p:cNvSpPr/>
          <p:nvPr/>
        </p:nvSpPr>
        <p:spPr>
          <a:xfrm>
            <a:off x="7886700" y="2708910"/>
            <a:ext cx="66671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16" name="流程鏈"/>
          <p:cNvSpPr/>
          <p:nvPr/>
        </p:nvSpPr>
        <p:spPr>
          <a:xfrm>
            <a:off x="7886700" y="2994660"/>
            <a:ext cx="1917573" cy="822960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/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主題思考</a:t>
            </a:r>
            <a:endParaRPr lang="en-US" sz="2000" dirty="0"/>
          </a:p>
        </p:txBody>
      </p:sp>
      <p:sp>
        <p:nvSpPr>
          <p:cNvPr id="17" name="三角形"/>
          <p:cNvSpPr/>
          <p:nvPr/>
        </p:nvSpPr>
        <p:spPr>
          <a:xfrm>
            <a:off x="9947148" y="329184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流程鏈"/>
          <p:cNvSpPr/>
          <p:nvPr/>
        </p:nvSpPr>
        <p:spPr>
          <a:xfrm>
            <a:off x="10261473" y="2994660"/>
            <a:ext cx="1917573" cy="822960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/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主題定位</a:t>
            </a:r>
            <a:endParaRPr lang="en-US" sz="2000" dirty="0"/>
          </a:p>
        </p:txBody>
      </p:sp>
      <p:sp>
        <p:nvSpPr>
          <p:cNvPr id="19" name="三角形"/>
          <p:cNvSpPr/>
          <p:nvPr/>
        </p:nvSpPr>
        <p:spPr>
          <a:xfrm>
            <a:off x="12321921" y="329184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流程鏈"/>
          <p:cNvSpPr/>
          <p:nvPr/>
        </p:nvSpPr>
        <p:spPr>
          <a:xfrm>
            <a:off x="12636246" y="2994660"/>
            <a:ext cx="1917573" cy="822960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/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內容產出</a:t>
            </a:r>
            <a:endParaRPr lang="en-US" sz="2000" dirty="0"/>
          </a:p>
        </p:txBody>
      </p:sp>
      <p:sp>
        <p:nvSpPr>
          <p:cNvPr id="21" name="流程鏈"/>
          <p:cNvSpPr/>
          <p:nvPr/>
        </p:nvSpPr>
        <p:spPr>
          <a:xfrm>
            <a:off x="7886700" y="4400550"/>
            <a:ext cx="1048131" cy="640080"/>
          </a:xfrm>
          <a:prstGeom prst="roundRect">
            <a:avLst>
              <a:gd name="adj" fmla="val 17857"/>
            </a:avLst>
          </a:prstGeom>
          <a:solidFill>
            <a:srgbClr val="F2F2F2"/>
          </a:solidFill>
          <a:ln/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750" dirty="0"/>
          </a:p>
        </p:txBody>
      </p:sp>
      <p:sp>
        <p:nvSpPr>
          <p:cNvPr id="22" name="三角形"/>
          <p:cNvSpPr/>
          <p:nvPr/>
        </p:nvSpPr>
        <p:spPr>
          <a:xfrm>
            <a:off x="9027414" y="460629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流程鏈"/>
          <p:cNvSpPr/>
          <p:nvPr/>
        </p:nvSpPr>
        <p:spPr>
          <a:xfrm>
            <a:off x="9291447" y="4400550"/>
            <a:ext cx="1048131" cy="640080"/>
          </a:xfrm>
          <a:prstGeom prst="roundRect">
            <a:avLst>
              <a:gd name="adj" fmla="val 17857"/>
            </a:avLst>
          </a:prstGeom>
          <a:solidFill>
            <a:srgbClr val="F2F2F2"/>
          </a:solidFill>
          <a:ln/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750" dirty="0"/>
          </a:p>
        </p:txBody>
      </p:sp>
      <p:sp>
        <p:nvSpPr>
          <p:cNvPr id="24" name="三角形"/>
          <p:cNvSpPr/>
          <p:nvPr/>
        </p:nvSpPr>
        <p:spPr>
          <a:xfrm>
            <a:off x="10432161" y="460629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流程鏈"/>
          <p:cNvSpPr/>
          <p:nvPr/>
        </p:nvSpPr>
        <p:spPr>
          <a:xfrm>
            <a:off x="10696194" y="4400550"/>
            <a:ext cx="1048131" cy="640080"/>
          </a:xfrm>
          <a:prstGeom prst="roundRect">
            <a:avLst>
              <a:gd name="adj" fmla="val 17857"/>
            </a:avLst>
          </a:prstGeom>
          <a:solidFill>
            <a:srgbClr val="F2F2F2"/>
          </a:solidFill>
          <a:ln/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750" dirty="0"/>
          </a:p>
        </p:txBody>
      </p:sp>
      <p:sp>
        <p:nvSpPr>
          <p:cNvPr id="26" name="三角形"/>
          <p:cNvSpPr/>
          <p:nvPr/>
        </p:nvSpPr>
        <p:spPr>
          <a:xfrm>
            <a:off x="11836908" y="460629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流程鏈"/>
          <p:cNvSpPr/>
          <p:nvPr/>
        </p:nvSpPr>
        <p:spPr>
          <a:xfrm>
            <a:off x="12100941" y="4400550"/>
            <a:ext cx="1048131" cy="640080"/>
          </a:xfrm>
          <a:prstGeom prst="roundRect">
            <a:avLst>
              <a:gd name="adj" fmla="val 17857"/>
            </a:avLst>
          </a:prstGeom>
          <a:solidFill>
            <a:srgbClr val="F2F2F2"/>
          </a:solidFill>
          <a:ln/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750" dirty="0"/>
          </a:p>
        </p:txBody>
      </p:sp>
      <p:sp>
        <p:nvSpPr>
          <p:cNvPr id="28" name="三角形"/>
          <p:cNvSpPr/>
          <p:nvPr/>
        </p:nvSpPr>
        <p:spPr>
          <a:xfrm>
            <a:off x="13241655" y="460629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流程鏈"/>
          <p:cNvSpPr/>
          <p:nvPr/>
        </p:nvSpPr>
        <p:spPr>
          <a:xfrm>
            <a:off x="13505688" y="4400550"/>
            <a:ext cx="1048131" cy="640080"/>
          </a:xfrm>
          <a:prstGeom prst="roundRect">
            <a:avLst>
              <a:gd name="adj" fmla="val 17857"/>
            </a:avLst>
          </a:prstGeom>
          <a:solidFill>
            <a:srgbClr val="F2F2F2"/>
          </a:solidFill>
          <a:ln/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750" dirty="0"/>
          </a:p>
        </p:txBody>
      </p:sp>
      <p:sp>
        <p:nvSpPr>
          <p:cNvPr id="30" name="流程鏈"/>
          <p:cNvSpPr/>
          <p:nvPr/>
        </p:nvSpPr>
        <p:spPr>
          <a:xfrm>
            <a:off x="7886700" y="5657850"/>
            <a:ext cx="1323880" cy="640080"/>
          </a:xfrm>
          <a:prstGeom prst="roundRect">
            <a:avLst>
              <a:gd name="adj" fmla="val 17857"/>
            </a:avLst>
          </a:prstGeom>
          <a:solidFill>
            <a:srgbClr val="F2F2F2"/>
          </a:solidFill>
          <a:ln/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750" dirty="0"/>
          </a:p>
        </p:txBody>
      </p:sp>
      <p:sp>
        <p:nvSpPr>
          <p:cNvPr id="31" name="三角形"/>
          <p:cNvSpPr/>
          <p:nvPr/>
        </p:nvSpPr>
        <p:spPr>
          <a:xfrm>
            <a:off x="9353455" y="586359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流程鏈"/>
          <p:cNvSpPr/>
          <p:nvPr/>
        </p:nvSpPr>
        <p:spPr>
          <a:xfrm>
            <a:off x="9667780" y="5657850"/>
            <a:ext cx="1323880" cy="640080"/>
          </a:xfrm>
          <a:prstGeom prst="roundRect">
            <a:avLst>
              <a:gd name="adj" fmla="val 17857"/>
            </a:avLst>
          </a:prstGeom>
          <a:solidFill>
            <a:srgbClr val="F2F2F2"/>
          </a:solidFill>
          <a:ln/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</a:t>
            </a:r>
            <a:endParaRPr lang="en-US" sz="1750" dirty="0"/>
          </a:p>
        </p:txBody>
      </p:sp>
      <p:sp>
        <p:nvSpPr>
          <p:cNvPr id="33" name="三角形"/>
          <p:cNvSpPr/>
          <p:nvPr/>
        </p:nvSpPr>
        <p:spPr>
          <a:xfrm>
            <a:off x="11134535" y="586359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流程鏈"/>
          <p:cNvSpPr/>
          <p:nvPr/>
        </p:nvSpPr>
        <p:spPr>
          <a:xfrm>
            <a:off x="11448860" y="5657850"/>
            <a:ext cx="1323880" cy="640080"/>
          </a:xfrm>
          <a:prstGeom prst="roundRect">
            <a:avLst>
              <a:gd name="adj" fmla="val 17857"/>
            </a:avLst>
          </a:prstGeom>
          <a:solidFill>
            <a:srgbClr val="F2F2F2"/>
          </a:solidFill>
          <a:ln/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750" dirty="0"/>
          </a:p>
        </p:txBody>
      </p:sp>
      <p:sp>
        <p:nvSpPr>
          <p:cNvPr id="35" name="三角形"/>
          <p:cNvSpPr/>
          <p:nvPr/>
        </p:nvSpPr>
        <p:spPr>
          <a:xfrm>
            <a:off x="12915614" y="586359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流程鏈"/>
          <p:cNvSpPr/>
          <p:nvPr/>
        </p:nvSpPr>
        <p:spPr>
          <a:xfrm>
            <a:off x="13229939" y="5657850"/>
            <a:ext cx="1323880" cy="640080"/>
          </a:xfrm>
          <a:prstGeom prst="roundRect">
            <a:avLst>
              <a:gd name="adj" fmla="val 17857"/>
            </a:avLst>
          </a:prstGeom>
          <a:solidFill>
            <a:srgbClr val="F2F2F2"/>
          </a:solidFill>
          <a:ln/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檢討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7886700" y="6423660"/>
            <a:ext cx="13238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界定範圍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667780" y="6423660"/>
            <a:ext cx="13238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產出方案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1448860" y="6423660"/>
            <a:ext cx="13238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落實計畫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3229939" y="6423660"/>
            <a:ext cx="13238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回顧改善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886700" y="7200900"/>
            <a:ext cx="66671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流程鏈以 3–5 個步驟為佳，重點步驟可用強調色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/ 13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71500" y="45720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5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《連接線與箭頭》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685800" y="1257300"/>
            <a:ext cx="1257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細直線、折線、點狀線、曲線、▶ 小三角與區塊箭號</a:t>
            </a:r>
            <a:endParaRPr lang="en-US" sz="1900" dirty="0"/>
          </a:p>
        </p:txBody>
      </p:sp>
      <p:sp>
        <p:nvSpPr>
          <p:cNvPr id="4" name="線條"/>
          <p:cNvSpPr/>
          <p:nvPr/>
        </p:nvSpPr>
        <p:spPr>
          <a:xfrm>
            <a:off x="685800" y="1851660"/>
            <a:ext cx="138680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23085"/>
            <a:ext cx="1257300" cy="57150"/>
          </a:xfrm>
          <a:prstGeom prst="rect">
            <a:avLst/>
          </a:pr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2228850"/>
            <a:ext cx="31926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 Straight</a:t>
            </a:r>
            <a:endParaRPr lang="en-US" sz="1650" dirty="0"/>
          </a:p>
        </p:txBody>
      </p:sp>
      <p:sp>
        <p:nvSpPr>
          <p:cNvPr id="7" name="線條"/>
          <p:cNvSpPr/>
          <p:nvPr/>
        </p:nvSpPr>
        <p:spPr>
          <a:xfrm>
            <a:off x="685800" y="270891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8" name="處理"/>
          <p:cNvSpPr/>
          <p:nvPr/>
        </p:nvSpPr>
        <p:spPr>
          <a:xfrm>
            <a:off x="685800" y="3509010"/>
            <a:ext cx="1028700" cy="525780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9" name="處理"/>
          <p:cNvSpPr/>
          <p:nvPr/>
        </p:nvSpPr>
        <p:spPr>
          <a:xfrm>
            <a:off x="2849785" y="3509010"/>
            <a:ext cx="1028700" cy="525780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cxnSp>
        <p:nvCxnSpPr>
          <p:cNvPr id="10" name="連接線"/>
          <p:cNvCxnSpPr>
            <a:stCxn id="8" idx="3"/>
            <a:endCxn id="9" idx="1"/>
          </p:cNvCxnSpPr>
          <p:nvPr/>
        </p:nvCxnSpPr>
        <p:spPr>
          <a:xfrm>
            <a:off x="1714500" y="3771900"/>
            <a:ext cx="1135285" cy="0"/>
          </a:xfrm>
          <a:prstGeom prst="straightConnector1">
            <a:avLst/>
          </a:prstGeom>
          <a:ln w="19812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11" name="Text 9"/>
          <p:cNvSpPr/>
          <p:nvPr/>
        </p:nvSpPr>
        <p:spPr>
          <a:xfrm>
            <a:off x="4244245" y="2228850"/>
            <a:ext cx="31926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 Elbow</a:t>
            </a:r>
            <a:endParaRPr lang="en-US" sz="1650" dirty="0"/>
          </a:p>
        </p:txBody>
      </p:sp>
      <p:sp>
        <p:nvSpPr>
          <p:cNvPr id="12" name="線條"/>
          <p:cNvSpPr/>
          <p:nvPr/>
        </p:nvSpPr>
        <p:spPr>
          <a:xfrm>
            <a:off x="4244245" y="270891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13" name="處理"/>
          <p:cNvSpPr/>
          <p:nvPr/>
        </p:nvSpPr>
        <p:spPr>
          <a:xfrm>
            <a:off x="4244245" y="3086100"/>
            <a:ext cx="1028700" cy="525780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14" name="處理"/>
          <p:cNvSpPr/>
          <p:nvPr/>
        </p:nvSpPr>
        <p:spPr>
          <a:xfrm>
            <a:off x="6408230" y="4229100"/>
            <a:ext cx="1028700" cy="525780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cxnSp>
        <p:nvCxnSpPr>
          <p:cNvPr id="15" name="連接線"/>
          <p:cNvCxnSpPr>
            <a:stCxn id="13" idx="3"/>
            <a:endCxn id="14" idx="1"/>
          </p:cNvCxnSpPr>
          <p:nvPr/>
        </p:nvCxnSpPr>
        <p:spPr>
          <a:xfrm>
            <a:off x="5272945" y="3348990"/>
            <a:ext cx="1135285" cy="1143000"/>
          </a:xfrm>
          <a:prstGeom prst="bentConnector3">
            <a:avLst>
              <a:gd name="adj1" fmla="val 50000"/>
            </a:avLst>
          </a:prstGeom>
          <a:ln w="19812">
            <a:solidFill>
              <a:srgbClr val="595959"/>
            </a:solidFill>
            <a:prstDash val="sysDot"/>
            <a:tailEnd type="triangle" w="lg" len="lg"/>
          </a:ln>
        </p:spPr>
      </p:cxnSp>
      <p:sp>
        <p:nvSpPr>
          <p:cNvPr id="16" name="Text 14"/>
          <p:cNvSpPr/>
          <p:nvPr/>
        </p:nvSpPr>
        <p:spPr>
          <a:xfrm>
            <a:off x="7802690" y="2228850"/>
            <a:ext cx="31926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點狀線 Dotted</a:t>
            </a:r>
            <a:endParaRPr lang="en-US" sz="1650" dirty="0"/>
          </a:p>
        </p:txBody>
      </p:sp>
      <p:sp>
        <p:nvSpPr>
          <p:cNvPr id="17" name="線條"/>
          <p:cNvSpPr/>
          <p:nvPr/>
        </p:nvSpPr>
        <p:spPr>
          <a:xfrm>
            <a:off x="7802690" y="270891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18" name="處理"/>
          <p:cNvSpPr/>
          <p:nvPr/>
        </p:nvSpPr>
        <p:spPr>
          <a:xfrm>
            <a:off x="7802690" y="3509010"/>
            <a:ext cx="1028700" cy="525780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19" name="處理"/>
          <p:cNvSpPr/>
          <p:nvPr/>
        </p:nvSpPr>
        <p:spPr>
          <a:xfrm>
            <a:off x="9966674" y="3509010"/>
            <a:ext cx="1028700" cy="525780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cxnSp>
        <p:nvCxnSpPr>
          <p:cNvPr id="20" name="連接線"/>
          <p:cNvCxnSpPr>
            <a:stCxn id="18" idx="3"/>
            <a:endCxn id="19" idx="1"/>
          </p:cNvCxnSpPr>
          <p:nvPr/>
        </p:nvCxnSpPr>
        <p:spPr>
          <a:xfrm>
            <a:off x="8831389" y="3771900"/>
            <a:ext cx="1135285" cy="0"/>
          </a:xfrm>
          <a:prstGeom prst="straightConnector1">
            <a:avLst/>
          </a:prstGeom>
          <a:ln w="19812">
            <a:solidFill>
              <a:srgbClr val="595959"/>
            </a:solidFill>
            <a:prstDash val="sysDot"/>
            <a:tailEnd type="triangle" w="lg" len="lg"/>
          </a:ln>
        </p:spPr>
      </p:cxnSp>
      <p:sp>
        <p:nvSpPr>
          <p:cNvPr id="21" name="Text 19"/>
          <p:cNvSpPr/>
          <p:nvPr/>
        </p:nvSpPr>
        <p:spPr>
          <a:xfrm>
            <a:off x="11361134" y="2228850"/>
            <a:ext cx="31926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曲線 Curved</a:t>
            </a:r>
            <a:endParaRPr lang="en-US" sz="1650" dirty="0"/>
          </a:p>
        </p:txBody>
      </p:sp>
      <p:sp>
        <p:nvSpPr>
          <p:cNvPr id="22" name="線條"/>
          <p:cNvSpPr/>
          <p:nvPr/>
        </p:nvSpPr>
        <p:spPr>
          <a:xfrm>
            <a:off x="11361134" y="270891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3" name="處理"/>
          <p:cNvSpPr/>
          <p:nvPr/>
        </p:nvSpPr>
        <p:spPr>
          <a:xfrm>
            <a:off x="11361134" y="4057650"/>
            <a:ext cx="1028700" cy="525780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24" name="處理"/>
          <p:cNvSpPr/>
          <p:nvPr/>
        </p:nvSpPr>
        <p:spPr>
          <a:xfrm>
            <a:off x="13525119" y="4057650"/>
            <a:ext cx="1028700" cy="525780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sp>
        <p:nvSpPr>
          <p:cNvPr id="25" name="曲線箭頭"/>
          <p:cNvSpPr/>
          <p:nvPr/>
        </p:nvSpPr>
        <p:spPr>
          <a:xfrm>
            <a:off x="11875484" y="3028950"/>
            <a:ext cx="2163985" cy="960120"/>
          </a:xfrm>
          <a:custGeom>
            <a:avLst/>
            <a:gdLst/>
            <a:ahLst/>
            <a:cxnLst/>
            <a:rect l="l" t="t" r="r" b="b"/>
            <a:pathLst>
              <a:path w="2163985" h="960120">
                <a:moveTo>
                  <a:pt x="0" y="960120"/>
                </a:moveTo>
                <a:cubicBezTo>
                  <a:pt x="0" y="0"/>
                  <a:pt x="2163985" y="0"/>
                  <a:pt x="2163985" y="960120"/>
                </a:cubicBezTo>
              </a:path>
            </a:pathLst>
          </a:custGeom>
          <a:ln w="19812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85800" y="4914900"/>
            <a:ext cx="31926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小三角分隔</a:t>
            </a:r>
            <a:endParaRPr lang="en-US" sz="1650" dirty="0"/>
          </a:p>
        </p:txBody>
      </p:sp>
      <p:sp>
        <p:nvSpPr>
          <p:cNvPr id="27" name="線條"/>
          <p:cNvSpPr/>
          <p:nvPr/>
        </p:nvSpPr>
        <p:spPr>
          <a:xfrm>
            <a:off x="685800" y="539496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6229350"/>
            <a:ext cx="708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650" dirty="0"/>
          </a:p>
        </p:txBody>
      </p:sp>
      <p:sp>
        <p:nvSpPr>
          <p:cNvPr id="29" name="三角形"/>
          <p:cNvSpPr/>
          <p:nvPr/>
        </p:nvSpPr>
        <p:spPr>
          <a:xfrm>
            <a:off x="1575411" y="63436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927812" y="6229350"/>
            <a:ext cx="708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650" dirty="0"/>
          </a:p>
        </p:txBody>
      </p:sp>
      <p:sp>
        <p:nvSpPr>
          <p:cNvPr id="31" name="三角形"/>
          <p:cNvSpPr/>
          <p:nvPr/>
        </p:nvSpPr>
        <p:spPr>
          <a:xfrm>
            <a:off x="2817424" y="63436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169825" y="6229350"/>
            <a:ext cx="708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4244245" y="4914900"/>
            <a:ext cx="31926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▶▶▶ 點狀箭號</a:t>
            </a:r>
            <a:endParaRPr lang="en-US" sz="1650" dirty="0"/>
          </a:p>
        </p:txBody>
      </p:sp>
      <p:sp>
        <p:nvSpPr>
          <p:cNvPr id="34" name="線條"/>
          <p:cNvSpPr/>
          <p:nvPr/>
        </p:nvSpPr>
        <p:spPr>
          <a:xfrm>
            <a:off x="4244245" y="539496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35" name="處理"/>
          <p:cNvSpPr/>
          <p:nvPr/>
        </p:nvSpPr>
        <p:spPr>
          <a:xfrm>
            <a:off x="4244245" y="6195060"/>
            <a:ext cx="1028700" cy="525780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36" name="處理"/>
          <p:cNvSpPr/>
          <p:nvPr/>
        </p:nvSpPr>
        <p:spPr>
          <a:xfrm>
            <a:off x="6408230" y="6195060"/>
            <a:ext cx="1028700" cy="525780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sp>
        <p:nvSpPr>
          <p:cNvPr id="37" name="三角形"/>
          <p:cNvSpPr/>
          <p:nvPr/>
        </p:nvSpPr>
        <p:spPr>
          <a:xfrm>
            <a:off x="5579983" y="6368796"/>
            <a:ext cx="137160" cy="178308"/>
          </a:xfrm>
          <a:custGeom>
            <a:avLst/>
            <a:gdLst/>
            <a:ahLst/>
            <a:cxnLst/>
            <a:rect l="l" t="t" r="r" b="b"/>
            <a:pathLst>
              <a:path w="137160" h="178308">
                <a:moveTo>
                  <a:pt x="0" y="0"/>
                </a:moveTo>
                <a:lnTo>
                  <a:pt x="137160" y="89154"/>
                </a:lnTo>
                <a:lnTo>
                  <a:pt x="0" y="178308"/>
                </a:lnTo>
                <a:close/>
              </a:path>
            </a:pathLst>
          </a:cu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三角形"/>
          <p:cNvSpPr/>
          <p:nvPr/>
        </p:nvSpPr>
        <p:spPr>
          <a:xfrm>
            <a:off x="5772007" y="6368796"/>
            <a:ext cx="137160" cy="178308"/>
          </a:xfrm>
          <a:custGeom>
            <a:avLst/>
            <a:gdLst/>
            <a:ahLst/>
            <a:cxnLst/>
            <a:rect l="l" t="t" r="r" b="b"/>
            <a:pathLst>
              <a:path w="137160" h="178308">
                <a:moveTo>
                  <a:pt x="0" y="0"/>
                </a:moveTo>
                <a:lnTo>
                  <a:pt x="137160" y="89154"/>
                </a:lnTo>
                <a:lnTo>
                  <a:pt x="0" y="178308"/>
                </a:lnTo>
                <a:close/>
              </a:path>
            </a:pathLst>
          </a:cu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三角形"/>
          <p:cNvSpPr/>
          <p:nvPr/>
        </p:nvSpPr>
        <p:spPr>
          <a:xfrm>
            <a:off x="5964031" y="6368796"/>
            <a:ext cx="137160" cy="178308"/>
          </a:xfrm>
          <a:custGeom>
            <a:avLst/>
            <a:gdLst/>
            <a:ahLst/>
            <a:cxnLst/>
            <a:rect l="l" t="t" r="r" b="b"/>
            <a:pathLst>
              <a:path w="137160" h="178308">
                <a:moveTo>
                  <a:pt x="0" y="0"/>
                </a:moveTo>
                <a:lnTo>
                  <a:pt x="137160" y="89154"/>
                </a:lnTo>
                <a:lnTo>
                  <a:pt x="0" y="178308"/>
                </a:lnTo>
                <a:close/>
              </a:path>
            </a:pathLst>
          </a:cu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802690" y="4914900"/>
            <a:ext cx="31926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區塊箭號 Chevron</a:t>
            </a:r>
            <a:endParaRPr lang="en-US" sz="1650" dirty="0"/>
          </a:p>
        </p:txBody>
      </p:sp>
      <p:sp>
        <p:nvSpPr>
          <p:cNvPr id="41" name="線條"/>
          <p:cNvSpPr/>
          <p:nvPr/>
        </p:nvSpPr>
        <p:spPr>
          <a:xfrm>
            <a:off x="7802690" y="539496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42" name="區塊箭號"/>
          <p:cNvSpPr/>
          <p:nvPr/>
        </p:nvSpPr>
        <p:spPr>
          <a:xfrm>
            <a:off x="7802690" y="6149340"/>
            <a:ext cx="1201388" cy="617220"/>
          </a:xfrm>
          <a:prstGeom prst="homePlate">
            <a:avLst>
              <a:gd name="adj" fmla="val 33333"/>
            </a:avLst>
          </a:prstGeom>
          <a:solidFill>
            <a:srgbClr val="2F4B6E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1650" dirty="0"/>
          </a:p>
        </p:txBody>
      </p:sp>
      <p:sp>
        <p:nvSpPr>
          <p:cNvPr id="43" name="區塊箭號"/>
          <p:cNvSpPr/>
          <p:nvPr/>
        </p:nvSpPr>
        <p:spPr>
          <a:xfrm>
            <a:off x="8844058" y="6149340"/>
            <a:ext cx="1201388" cy="617220"/>
          </a:xfrm>
          <a:prstGeom prst="chevron">
            <a:avLst>
              <a:gd name="adj" fmla="val 33333"/>
            </a:avLst>
          </a:prstGeom>
          <a:solidFill>
            <a:srgbClr val="637892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1650" dirty="0"/>
          </a:p>
        </p:txBody>
      </p:sp>
      <p:sp>
        <p:nvSpPr>
          <p:cNvPr id="44" name="區塊箭號"/>
          <p:cNvSpPr/>
          <p:nvPr/>
        </p:nvSpPr>
        <p:spPr>
          <a:xfrm>
            <a:off x="9885426" y="6149340"/>
            <a:ext cx="1201388" cy="617220"/>
          </a:xfrm>
          <a:prstGeom prst="chevron">
            <a:avLst>
              <a:gd name="adj" fmla="val 33333"/>
            </a:avLst>
          </a:prstGeom>
          <a:solidFill>
            <a:srgbClr val="97A5B7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1361134" y="4914900"/>
            <a:ext cx="31926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 Branch</a:t>
            </a:r>
            <a:endParaRPr lang="en-US" sz="1650" dirty="0"/>
          </a:p>
        </p:txBody>
      </p:sp>
      <p:sp>
        <p:nvSpPr>
          <p:cNvPr id="46" name="線條"/>
          <p:cNvSpPr/>
          <p:nvPr/>
        </p:nvSpPr>
        <p:spPr>
          <a:xfrm>
            <a:off x="11361134" y="539496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47" name="處理"/>
          <p:cNvSpPr/>
          <p:nvPr/>
        </p:nvSpPr>
        <p:spPr>
          <a:xfrm>
            <a:off x="11361134" y="6195060"/>
            <a:ext cx="1028700" cy="525780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48" name="處理"/>
          <p:cNvSpPr/>
          <p:nvPr/>
        </p:nvSpPr>
        <p:spPr>
          <a:xfrm>
            <a:off x="13525119" y="5715000"/>
            <a:ext cx="1028700" cy="525780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</a:t>
            </a:r>
            <a:endParaRPr lang="en-US" sz="1650" dirty="0"/>
          </a:p>
        </p:txBody>
      </p:sp>
      <p:sp>
        <p:nvSpPr>
          <p:cNvPr id="49" name="處理"/>
          <p:cNvSpPr/>
          <p:nvPr/>
        </p:nvSpPr>
        <p:spPr>
          <a:xfrm>
            <a:off x="13525119" y="6675120"/>
            <a:ext cx="1028700" cy="525780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</a:t>
            </a:r>
            <a:endParaRPr lang="en-US" sz="1650" dirty="0"/>
          </a:p>
        </p:txBody>
      </p:sp>
      <p:cxnSp>
        <p:nvCxnSpPr>
          <p:cNvPr id="50" name="連接線"/>
          <p:cNvCxnSpPr>
            <a:stCxn id="47" idx="3"/>
            <a:endCxn id="48" idx="1"/>
          </p:cNvCxnSpPr>
          <p:nvPr/>
        </p:nvCxnSpPr>
        <p:spPr>
          <a:xfrm flipV="1">
            <a:off x="12389834" y="5977890"/>
            <a:ext cx="1135285" cy="480060"/>
          </a:xfrm>
          <a:prstGeom prst="bentConnector3">
            <a:avLst>
              <a:gd name="adj1" fmla="val 50000"/>
            </a:avLst>
          </a:prstGeom>
          <a:ln w="19812">
            <a:solidFill>
              <a:srgbClr val="595959"/>
            </a:solidFill>
            <a:prstDash val="sysDot"/>
            <a:tailEnd type="triangle" w="lg" len="lg"/>
          </a:ln>
        </p:spPr>
      </p:cxnSp>
      <p:cxnSp>
        <p:nvCxnSpPr>
          <p:cNvPr id="51" name="連接線"/>
          <p:cNvCxnSpPr>
            <a:stCxn id="47" idx="3"/>
            <a:endCxn id="49" idx="1"/>
          </p:cNvCxnSpPr>
          <p:nvPr/>
        </p:nvCxnSpPr>
        <p:spPr>
          <a:xfrm>
            <a:off x="12389834" y="6457950"/>
            <a:ext cx="1135285" cy="480060"/>
          </a:xfrm>
          <a:prstGeom prst="bentConnector3">
            <a:avLst>
              <a:gd name="adj1" fmla="val 50000"/>
            </a:avLst>
          </a:prstGeom>
          <a:ln w="19812">
            <a:solidFill>
              <a:srgbClr val="595959"/>
            </a:solidFill>
            <a:prstDash val="sysDot"/>
            <a:tailEnd type="triangle" w="lg" len="lg"/>
          </a:ln>
        </p:spPr>
      </p:cxnSp>
      <p:sp>
        <p:nvSpPr>
          <p:cNvPr id="52" name="Text 50"/>
          <p:cNvSpPr/>
          <p:nvPr/>
        </p:nvSpPr>
        <p:spPr>
          <a:xfrm>
            <a:off x="685800" y="7429500"/>
            <a:ext cx="138680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直線、折線、點狀線、分支在 pptx 中是「黏著連接線」：移動圖形，線會跟著走（曲線為一般線條）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 / 13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71500" y="45720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5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《流程圖符號》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685800" y="1257300"/>
            <a:ext cx="1257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開始／結束、處理、判斷、輸入輸出、文件、資料庫</a:t>
            </a:r>
            <a:endParaRPr lang="en-US" sz="1900" dirty="0"/>
          </a:p>
        </p:txBody>
      </p:sp>
      <p:sp>
        <p:nvSpPr>
          <p:cNvPr id="4" name="線條"/>
          <p:cNvSpPr/>
          <p:nvPr/>
        </p:nvSpPr>
        <p:spPr>
          <a:xfrm>
            <a:off x="685800" y="1851660"/>
            <a:ext cx="138680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23085"/>
            <a:ext cx="1257300" cy="57150"/>
          </a:xfrm>
          <a:prstGeom prst="rect">
            <a:avLst/>
          </a:pr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開始／結束"/>
          <p:cNvSpPr/>
          <p:nvPr/>
        </p:nvSpPr>
        <p:spPr>
          <a:xfrm>
            <a:off x="984218" y="2788920"/>
            <a:ext cx="1714500" cy="70866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85800" y="3909060"/>
            <a:ext cx="231133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Terminator</a:t>
            </a:r>
            <a:endParaRPr lang="en-US" sz="1750" dirty="0"/>
          </a:p>
        </p:txBody>
      </p:sp>
      <p:sp>
        <p:nvSpPr>
          <p:cNvPr id="8" name="處理"/>
          <p:cNvSpPr/>
          <p:nvPr/>
        </p:nvSpPr>
        <p:spPr>
          <a:xfrm>
            <a:off x="3238405" y="2731770"/>
            <a:ext cx="1828800" cy="822960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2997137" y="3909060"/>
            <a:ext cx="231133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750" dirty="0"/>
          </a:p>
        </p:txBody>
      </p:sp>
      <p:sp>
        <p:nvSpPr>
          <p:cNvPr id="10" name="判斷"/>
          <p:cNvSpPr/>
          <p:nvPr/>
        </p:nvSpPr>
        <p:spPr>
          <a:xfrm>
            <a:off x="5606891" y="2571750"/>
            <a:ext cx="1714500" cy="1143000"/>
          </a:xfrm>
          <a:prstGeom prst="diamond">
            <a:avLst/>
          </a:prstGeom>
          <a:solidFill>
            <a:srgbClr val="E3E8EF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308473" y="3909060"/>
            <a:ext cx="231133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750" dirty="0"/>
          </a:p>
        </p:txBody>
      </p:sp>
      <p:sp>
        <p:nvSpPr>
          <p:cNvPr id="12" name="輸入輸出"/>
          <p:cNvSpPr/>
          <p:nvPr/>
        </p:nvSpPr>
        <p:spPr>
          <a:xfrm>
            <a:off x="7803928" y="2731770"/>
            <a:ext cx="1943100" cy="822960"/>
          </a:xfrm>
          <a:prstGeom prst="parallelogram">
            <a:avLst>
              <a:gd name="adj" fmla="val 42000"/>
            </a:avLst>
          </a:prstGeom>
          <a:solidFill>
            <a:srgbClr val="F2F2F2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619809" y="3909060"/>
            <a:ext cx="231133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輸入／輸出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Input / Output</a:t>
            </a:r>
            <a:endParaRPr lang="en-US" sz="1750" dirty="0"/>
          </a:p>
        </p:txBody>
      </p:sp>
      <p:sp>
        <p:nvSpPr>
          <p:cNvPr id="14" name="文件"/>
          <p:cNvSpPr/>
          <p:nvPr/>
        </p:nvSpPr>
        <p:spPr>
          <a:xfrm>
            <a:off x="10229564" y="2657475"/>
            <a:ext cx="1714500" cy="971550"/>
          </a:xfrm>
          <a:prstGeom prst="flowChartDocument">
            <a:avLst/>
          </a:prstGeom>
          <a:solidFill>
            <a:srgbClr val="F2F2F2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0" rIns="47625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931146" y="3909060"/>
            <a:ext cx="231133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Document</a:t>
            </a:r>
            <a:endParaRPr lang="en-US" sz="1750" dirty="0"/>
          </a:p>
        </p:txBody>
      </p:sp>
      <p:sp>
        <p:nvSpPr>
          <p:cNvPr id="16" name="資料庫"/>
          <p:cNvSpPr/>
          <p:nvPr/>
        </p:nvSpPr>
        <p:spPr>
          <a:xfrm>
            <a:off x="12769501" y="2571750"/>
            <a:ext cx="1257300" cy="1143000"/>
          </a:xfrm>
          <a:prstGeom prst="can">
            <a:avLst>
              <a:gd name="adj" fmla="val 13000"/>
            </a:avLst>
          </a:prstGeom>
          <a:solidFill>
            <a:srgbClr val="F2F2F2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2242483" y="3909060"/>
            <a:ext cx="231133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Database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685800" y="4709160"/>
            <a:ext cx="138680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基本流程範例</a:t>
            </a:r>
            <a:endParaRPr lang="en-US" sz="1650" dirty="0"/>
          </a:p>
        </p:txBody>
      </p:sp>
      <p:sp>
        <p:nvSpPr>
          <p:cNvPr id="19" name="線條"/>
          <p:cNvSpPr/>
          <p:nvPr/>
        </p:nvSpPr>
        <p:spPr>
          <a:xfrm>
            <a:off x="685800" y="5189220"/>
            <a:ext cx="138680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0" name="開始／結束"/>
          <p:cNvSpPr/>
          <p:nvPr/>
        </p:nvSpPr>
        <p:spPr>
          <a:xfrm>
            <a:off x="685800" y="5543550"/>
            <a:ext cx="1428750" cy="68580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750" dirty="0"/>
          </a:p>
        </p:txBody>
      </p:sp>
      <p:sp>
        <p:nvSpPr>
          <p:cNvPr id="21" name="輸入輸出"/>
          <p:cNvSpPr/>
          <p:nvPr/>
        </p:nvSpPr>
        <p:spPr>
          <a:xfrm>
            <a:off x="2785034" y="5497830"/>
            <a:ext cx="2057400" cy="777240"/>
          </a:xfrm>
          <a:prstGeom prst="parallelogram">
            <a:avLst>
              <a:gd name="adj" fmla="val 42000"/>
            </a:avLst>
          </a:prstGeom>
          <a:solidFill>
            <a:srgbClr val="F2F2F2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輸入需求</a:t>
            </a:r>
            <a:endParaRPr lang="en-US" sz="1750" dirty="0"/>
          </a:p>
        </p:txBody>
      </p:sp>
      <p:sp>
        <p:nvSpPr>
          <p:cNvPr id="22" name="判斷"/>
          <p:cNvSpPr/>
          <p:nvPr/>
        </p:nvSpPr>
        <p:spPr>
          <a:xfrm>
            <a:off x="5512918" y="5314950"/>
            <a:ext cx="1943100" cy="1143000"/>
          </a:xfrm>
          <a:prstGeom prst="diamond">
            <a:avLst/>
          </a:prstGeom>
          <a:solidFill>
            <a:srgbClr val="E3E8EF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是否可行？</a:t>
            </a:r>
            <a:endParaRPr lang="en-US" sz="1650" dirty="0"/>
          </a:p>
        </p:txBody>
      </p:sp>
      <p:sp>
        <p:nvSpPr>
          <p:cNvPr id="23" name="處理"/>
          <p:cNvSpPr/>
          <p:nvPr/>
        </p:nvSpPr>
        <p:spPr>
          <a:xfrm>
            <a:off x="8126501" y="5497830"/>
            <a:ext cx="1828800" cy="777240"/>
          </a:xfrm>
          <a:prstGeom prst="roundRect">
            <a:avLst>
              <a:gd name="adj" fmla="val 14706"/>
            </a:avLst>
          </a:prstGeom>
          <a:solidFill>
            <a:srgbClr val="F2F2F2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執行處理</a:t>
            </a:r>
            <a:endParaRPr lang="en-US" sz="1750" dirty="0"/>
          </a:p>
        </p:txBody>
      </p:sp>
      <p:sp>
        <p:nvSpPr>
          <p:cNvPr id="24" name="文件"/>
          <p:cNvSpPr/>
          <p:nvPr/>
        </p:nvSpPr>
        <p:spPr>
          <a:xfrm>
            <a:off x="10625785" y="5429250"/>
            <a:ext cx="1828800" cy="914400"/>
          </a:xfrm>
          <a:prstGeom prst="flowChartDocument">
            <a:avLst/>
          </a:prstGeom>
          <a:solidFill>
            <a:srgbClr val="F2F2F2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0" rIns="47625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產出報告</a:t>
            </a:r>
            <a:endParaRPr lang="en-US" sz="1750" dirty="0"/>
          </a:p>
        </p:txBody>
      </p:sp>
      <p:sp>
        <p:nvSpPr>
          <p:cNvPr id="25" name="開始／結束"/>
          <p:cNvSpPr/>
          <p:nvPr/>
        </p:nvSpPr>
        <p:spPr>
          <a:xfrm>
            <a:off x="13125069" y="5543550"/>
            <a:ext cx="1428750" cy="68580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750" dirty="0"/>
          </a:p>
        </p:txBody>
      </p:sp>
      <p:cxnSp>
        <p:nvCxnSpPr>
          <p:cNvPr id="26" name="連接線"/>
          <p:cNvCxnSpPr>
            <a:stCxn id="20" idx="3"/>
            <a:endCxn id="21" idx="5"/>
          </p:cNvCxnSpPr>
          <p:nvPr/>
        </p:nvCxnSpPr>
        <p:spPr>
          <a:xfrm>
            <a:off x="2114550" y="5886450"/>
            <a:ext cx="833704" cy="0"/>
          </a:xfrm>
          <a:prstGeom prst="straightConnector1">
            <a:avLst/>
          </a:prstGeom>
          <a:ln w="19812">
            <a:solidFill>
              <a:srgbClr val="595959"/>
            </a:solidFill>
            <a:prstDash val="sysDot"/>
            <a:tailEnd type="triangle" w="lg" len="lg"/>
          </a:ln>
        </p:spPr>
      </p:cxnSp>
      <p:cxnSp>
        <p:nvCxnSpPr>
          <p:cNvPr id="27" name="連接線"/>
          <p:cNvCxnSpPr>
            <a:stCxn id="21" idx="2"/>
            <a:endCxn id="22" idx="1"/>
          </p:cNvCxnSpPr>
          <p:nvPr/>
        </p:nvCxnSpPr>
        <p:spPr>
          <a:xfrm>
            <a:off x="4679213" y="5886450"/>
            <a:ext cx="833704" cy="0"/>
          </a:xfrm>
          <a:prstGeom prst="straightConnector1">
            <a:avLst/>
          </a:prstGeom>
          <a:ln w="19812">
            <a:solidFill>
              <a:srgbClr val="595959"/>
            </a:solidFill>
            <a:prstDash val="sysDot"/>
            <a:tailEnd type="triangle" w="lg" len="lg"/>
          </a:ln>
        </p:spPr>
      </p:cxnSp>
      <p:cxnSp>
        <p:nvCxnSpPr>
          <p:cNvPr id="28" name="連接線"/>
          <p:cNvCxnSpPr>
            <a:stCxn id="22" idx="3"/>
            <a:endCxn id="23" idx="1"/>
          </p:cNvCxnSpPr>
          <p:nvPr/>
        </p:nvCxnSpPr>
        <p:spPr>
          <a:xfrm>
            <a:off x="7456018" y="5886450"/>
            <a:ext cx="670484" cy="0"/>
          </a:xfrm>
          <a:prstGeom prst="straightConnector1">
            <a:avLst/>
          </a:prstGeom>
          <a:ln w="19812">
            <a:solidFill>
              <a:srgbClr val="595959"/>
            </a:solidFill>
            <a:prstDash val="sysDot"/>
            <a:tailEnd type="triangle" w="lg" len="lg"/>
          </a:ln>
        </p:spPr>
      </p:cxnSp>
      <p:cxnSp>
        <p:nvCxnSpPr>
          <p:cNvPr id="29" name="連接線"/>
          <p:cNvCxnSpPr>
            <a:stCxn id="23" idx="3"/>
            <a:endCxn id="24" idx="1"/>
          </p:cNvCxnSpPr>
          <p:nvPr/>
        </p:nvCxnSpPr>
        <p:spPr>
          <a:xfrm>
            <a:off x="9955301" y="5886450"/>
            <a:ext cx="670484" cy="0"/>
          </a:xfrm>
          <a:prstGeom prst="straightConnector1">
            <a:avLst/>
          </a:prstGeom>
          <a:ln w="19812">
            <a:solidFill>
              <a:srgbClr val="595959"/>
            </a:solidFill>
            <a:prstDash val="sysDot"/>
            <a:tailEnd type="triangle" w="lg" len="lg"/>
          </a:ln>
        </p:spPr>
      </p:cxnSp>
      <p:cxnSp>
        <p:nvCxnSpPr>
          <p:cNvPr id="30" name="連接線"/>
          <p:cNvCxnSpPr>
            <a:stCxn id="24" idx="3"/>
            <a:endCxn id="25" idx="1"/>
          </p:cNvCxnSpPr>
          <p:nvPr/>
        </p:nvCxnSpPr>
        <p:spPr>
          <a:xfrm>
            <a:off x="12454585" y="5886450"/>
            <a:ext cx="670484" cy="0"/>
          </a:xfrm>
          <a:prstGeom prst="straightConnector1">
            <a:avLst/>
          </a:prstGeom>
          <a:ln w="19812">
            <a:solidFill>
              <a:srgbClr val="595959"/>
            </a:solidFill>
            <a:prstDash val="sysDot"/>
            <a:tailEnd type="triangle" w="lg" len="lg"/>
          </a:ln>
        </p:spPr>
      </p:cxnSp>
      <p:sp>
        <p:nvSpPr>
          <p:cNvPr id="31" name="Text 29"/>
          <p:cNvSpPr/>
          <p:nvPr/>
        </p:nvSpPr>
        <p:spPr>
          <a:xfrm>
            <a:off x="7478878" y="5406390"/>
            <a:ext cx="6704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</a:t>
            </a:r>
            <a:endParaRPr lang="en-US" sz="1400" dirty="0"/>
          </a:p>
        </p:txBody>
      </p:sp>
      <p:sp>
        <p:nvSpPr>
          <p:cNvPr id="32" name="資料庫"/>
          <p:cNvSpPr/>
          <p:nvPr/>
        </p:nvSpPr>
        <p:spPr>
          <a:xfrm>
            <a:off x="8469401" y="6766560"/>
            <a:ext cx="1143000" cy="937260"/>
          </a:xfrm>
          <a:prstGeom prst="can">
            <a:avLst>
              <a:gd name="adj" fmla="val 13000"/>
            </a:avLst>
          </a:prstGeom>
          <a:solidFill>
            <a:srgbClr val="F2F2F2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500" dirty="0"/>
          </a:p>
        </p:txBody>
      </p:sp>
      <p:cxnSp>
        <p:nvCxnSpPr>
          <p:cNvPr id="33" name="連接線"/>
          <p:cNvCxnSpPr>
            <a:stCxn id="23" idx="2"/>
            <a:endCxn id="32" idx="0"/>
          </p:cNvCxnSpPr>
          <p:nvPr/>
        </p:nvCxnSpPr>
        <p:spPr>
          <a:xfrm>
            <a:off x="9040901" y="6275070"/>
            <a:ext cx="0" cy="491490"/>
          </a:xfrm>
          <a:prstGeom prst="straightConnector1">
            <a:avLst/>
          </a:prstGeom>
          <a:ln w="19812">
            <a:solidFill>
              <a:srgbClr val="595959"/>
            </a:solidFill>
            <a:prstDash val="sysDash"/>
            <a:headEnd type="triangle" w="lg" len="lg"/>
            <a:tailEnd type="triangle" w="lg" len="lg"/>
          </a:ln>
        </p:spPr>
      </p:cxnSp>
      <p:cxnSp>
        <p:nvCxnSpPr>
          <p:cNvPr id="34" name="連接線"/>
          <p:cNvCxnSpPr>
            <a:stCxn id="22" idx="2"/>
            <a:endCxn id="21" idx="4"/>
          </p:cNvCxnSpPr>
          <p:nvPr/>
        </p:nvCxnSpPr>
        <p:spPr>
          <a:xfrm rot="5400000" flipH="1">
            <a:off x="5057661" y="5031143"/>
            <a:ext cx="182880" cy="2670734"/>
          </a:xfrm>
          <a:prstGeom prst="bentConnector3">
            <a:avLst>
              <a:gd name="adj1" fmla="val -468750"/>
            </a:avLst>
          </a:prstGeom>
          <a:ln w="19812">
            <a:solidFill>
              <a:srgbClr val="595959"/>
            </a:solidFill>
            <a:prstDash val="sysDot"/>
            <a:tailEnd type="triangle" w="lg" len="lg"/>
          </a:ln>
        </p:spPr>
      </p:cxnSp>
      <p:sp>
        <p:nvSpPr>
          <p:cNvPr id="35" name="Text 33"/>
          <p:cNvSpPr/>
          <p:nvPr/>
        </p:nvSpPr>
        <p:spPr>
          <a:xfrm>
            <a:off x="6598768" y="6595110"/>
            <a:ext cx="57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 / 13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71500" y="45720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5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《結構元件》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685800" y="1257300"/>
            <a:ext cx="1257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樹狀分支、十字矩陣與半透明寬欄條</a:t>
            </a:r>
            <a:endParaRPr lang="en-US" sz="1900" dirty="0"/>
          </a:p>
        </p:txBody>
      </p:sp>
      <p:sp>
        <p:nvSpPr>
          <p:cNvPr id="4" name="線條"/>
          <p:cNvSpPr/>
          <p:nvPr/>
        </p:nvSpPr>
        <p:spPr>
          <a:xfrm>
            <a:off x="685800" y="1851660"/>
            <a:ext cx="138680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23085"/>
            <a:ext cx="1257300" cy="57150"/>
          </a:xfrm>
          <a:prstGeom prst="rect">
            <a:avLst/>
          </a:pr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2228850"/>
            <a:ext cx="6515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 Tree</a:t>
            </a:r>
            <a:endParaRPr lang="en-US" sz="1650" dirty="0"/>
          </a:p>
        </p:txBody>
      </p:sp>
      <p:sp>
        <p:nvSpPr>
          <p:cNvPr id="7" name="線條"/>
          <p:cNvSpPr/>
          <p:nvPr/>
        </p:nvSpPr>
        <p:spPr>
          <a:xfrm>
            <a:off x="685800" y="2708910"/>
            <a:ext cx="65151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8" name="處理"/>
          <p:cNvSpPr/>
          <p:nvPr/>
        </p:nvSpPr>
        <p:spPr>
          <a:xfrm>
            <a:off x="685800" y="4743450"/>
            <a:ext cx="937260" cy="57150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</a:t>
            </a:r>
            <a:endParaRPr lang="en-US" sz="1650" dirty="0"/>
          </a:p>
        </p:txBody>
      </p:sp>
      <p:sp>
        <p:nvSpPr>
          <p:cNvPr id="9" name="處理"/>
          <p:cNvSpPr/>
          <p:nvPr/>
        </p:nvSpPr>
        <p:spPr>
          <a:xfrm>
            <a:off x="2343150" y="3829050"/>
            <a:ext cx="1051560" cy="57150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分支一</a:t>
            </a:r>
            <a:endParaRPr lang="en-US" sz="1500" dirty="0"/>
          </a:p>
        </p:txBody>
      </p:sp>
      <p:sp>
        <p:nvSpPr>
          <p:cNvPr id="10" name="處理"/>
          <p:cNvSpPr/>
          <p:nvPr/>
        </p:nvSpPr>
        <p:spPr>
          <a:xfrm>
            <a:off x="2343150" y="5657850"/>
            <a:ext cx="1051560" cy="57150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分支二</a:t>
            </a:r>
            <a:endParaRPr lang="en-US" sz="1500" dirty="0"/>
          </a:p>
        </p:txBody>
      </p:sp>
      <p:sp>
        <p:nvSpPr>
          <p:cNvPr id="11" name="處理"/>
          <p:cNvSpPr/>
          <p:nvPr/>
        </p:nvSpPr>
        <p:spPr>
          <a:xfrm>
            <a:off x="4114800" y="4743450"/>
            <a:ext cx="937260" cy="571500"/>
          </a:xfrm>
          <a:prstGeom prst="roundRect">
            <a:avLst>
              <a:gd name="adj" fmla="val 20000"/>
            </a:avLst>
          </a:prstGeom>
          <a:solidFill>
            <a:srgbClr val="2F4B6E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</a:t>
            </a:r>
            <a:endParaRPr lang="en-US" sz="1650" dirty="0"/>
          </a:p>
        </p:txBody>
      </p:sp>
      <p:sp>
        <p:nvSpPr>
          <p:cNvPr id="12" name="處理"/>
          <p:cNvSpPr/>
          <p:nvPr/>
        </p:nvSpPr>
        <p:spPr>
          <a:xfrm>
            <a:off x="5772150" y="3257550"/>
            <a:ext cx="1428750" cy="57150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A</a:t>
            </a:r>
            <a:endParaRPr lang="en-US" sz="1500" dirty="0"/>
          </a:p>
        </p:txBody>
      </p:sp>
      <p:sp>
        <p:nvSpPr>
          <p:cNvPr id="13" name="處理"/>
          <p:cNvSpPr/>
          <p:nvPr/>
        </p:nvSpPr>
        <p:spPr>
          <a:xfrm>
            <a:off x="5772150" y="4743450"/>
            <a:ext cx="1428750" cy="57150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B</a:t>
            </a:r>
            <a:endParaRPr lang="en-US" sz="1500" dirty="0"/>
          </a:p>
        </p:txBody>
      </p:sp>
      <p:sp>
        <p:nvSpPr>
          <p:cNvPr id="14" name="處理"/>
          <p:cNvSpPr/>
          <p:nvPr/>
        </p:nvSpPr>
        <p:spPr>
          <a:xfrm>
            <a:off x="5772150" y="6229350"/>
            <a:ext cx="1428750" cy="57150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C</a:t>
            </a:r>
            <a:endParaRPr lang="en-US" sz="1500" dirty="0"/>
          </a:p>
        </p:txBody>
      </p:sp>
      <p:sp>
        <p:nvSpPr>
          <p:cNvPr id="15" name="連接線"/>
          <p:cNvSpPr/>
          <p:nvPr/>
        </p:nvSpPr>
        <p:spPr>
          <a:xfrm>
            <a:off x="1691640" y="4114800"/>
            <a:ext cx="582930" cy="914400"/>
          </a:xfrm>
          <a:custGeom>
            <a:avLst/>
            <a:gdLst/>
            <a:ahLst/>
            <a:cxnLst/>
            <a:rect l="l" t="t" r="r" b="b"/>
            <a:pathLst>
              <a:path w="582930" h="914400">
                <a:moveTo>
                  <a:pt x="0" y="914400"/>
                </a:moveTo>
                <a:lnTo>
                  <a:pt x="291465" y="914400"/>
                </a:lnTo>
                <a:lnTo>
                  <a:pt x="291465" y="0"/>
                </a:lnTo>
                <a:lnTo>
                  <a:pt x="582930" y="0"/>
                </a:lnTo>
              </a:path>
            </a:pathLst>
          </a:custGeom>
          <a:ln w="19812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連接線"/>
          <p:cNvSpPr/>
          <p:nvPr/>
        </p:nvSpPr>
        <p:spPr>
          <a:xfrm>
            <a:off x="1691640" y="5029200"/>
            <a:ext cx="582930" cy="914400"/>
          </a:xfrm>
          <a:custGeom>
            <a:avLst/>
            <a:gdLst/>
            <a:ahLst/>
            <a:cxnLst/>
            <a:rect l="l" t="t" r="r" b="b"/>
            <a:pathLst>
              <a:path w="582930" h="914400">
                <a:moveTo>
                  <a:pt x="0" y="0"/>
                </a:moveTo>
                <a:lnTo>
                  <a:pt x="291465" y="0"/>
                </a:lnTo>
                <a:lnTo>
                  <a:pt x="291465" y="914400"/>
                </a:lnTo>
                <a:lnTo>
                  <a:pt x="582930" y="914400"/>
                </a:lnTo>
              </a:path>
            </a:pathLst>
          </a:custGeom>
          <a:ln w="19812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連接線"/>
          <p:cNvSpPr/>
          <p:nvPr/>
        </p:nvSpPr>
        <p:spPr>
          <a:xfrm>
            <a:off x="3463290" y="4114800"/>
            <a:ext cx="582930" cy="914400"/>
          </a:xfrm>
          <a:custGeom>
            <a:avLst/>
            <a:gdLst/>
            <a:ahLst/>
            <a:cxnLst/>
            <a:rect l="l" t="t" r="r" b="b"/>
            <a:pathLst>
              <a:path w="582930" h="914400">
                <a:moveTo>
                  <a:pt x="0" y="0"/>
                </a:moveTo>
                <a:lnTo>
                  <a:pt x="291465" y="0"/>
                </a:lnTo>
                <a:lnTo>
                  <a:pt x="291465" y="914400"/>
                </a:lnTo>
                <a:lnTo>
                  <a:pt x="582930" y="914400"/>
                </a:lnTo>
              </a:path>
            </a:pathLst>
          </a:custGeom>
          <a:ln w="19812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連接線"/>
          <p:cNvSpPr/>
          <p:nvPr/>
        </p:nvSpPr>
        <p:spPr>
          <a:xfrm>
            <a:off x="3463290" y="5029200"/>
            <a:ext cx="582930" cy="914400"/>
          </a:xfrm>
          <a:custGeom>
            <a:avLst/>
            <a:gdLst/>
            <a:ahLst/>
            <a:cxnLst/>
            <a:rect l="l" t="t" r="r" b="b"/>
            <a:pathLst>
              <a:path w="582930" h="914400">
                <a:moveTo>
                  <a:pt x="0" y="914400"/>
                </a:moveTo>
                <a:lnTo>
                  <a:pt x="291465" y="914400"/>
                </a:lnTo>
                <a:lnTo>
                  <a:pt x="291465" y="0"/>
                </a:lnTo>
                <a:lnTo>
                  <a:pt x="582930" y="0"/>
                </a:lnTo>
              </a:path>
            </a:pathLst>
          </a:custGeom>
          <a:ln w="19812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連接線"/>
          <p:cNvSpPr/>
          <p:nvPr/>
        </p:nvSpPr>
        <p:spPr>
          <a:xfrm>
            <a:off x="5120640" y="3543300"/>
            <a:ext cx="582930" cy="1485900"/>
          </a:xfrm>
          <a:custGeom>
            <a:avLst/>
            <a:gdLst/>
            <a:ahLst/>
            <a:cxnLst/>
            <a:rect l="l" t="t" r="r" b="b"/>
            <a:pathLst>
              <a:path w="582930" h="1485900">
                <a:moveTo>
                  <a:pt x="0" y="1485900"/>
                </a:moveTo>
                <a:lnTo>
                  <a:pt x="291465" y="1485900"/>
                </a:lnTo>
                <a:lnTo>
                  <a:pt x="291465" y="0"/>
                </a:lnTo>
                <a:lnTo>
                  <a:pt x="582930" y="0"/>
                </a:lnTo>
              </a:path>
            </a:pathLst>
          </a:custGeom>
          <a:ln w="19812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線條"/>
          <p:cNvSpPr/>
          <p:nvPr/>
        </p:nvSpPr>
        <p:spPr>
          <a:xfrm>
            <a:off x="5120640" y="5029200"/>
            <a:ext cx="582930" cy="0"/>
          </a:xfrm>
          <a:prstGeom prst="line">
            <a:avLst/>
          </a:prstGeom>
          <a:noFill/>
          <a:ln w="19812">
            <a:solidFill>
              <a:srgbClr val="595959"/>
            </a:solidFill>
            <a:prstDash val="sysDot"/>
            <a:tailEnd type="triangle" w="lg" len="lg"/>
          </a:ln>
        </p:spPr>
      </p:sp>
      <p:sp>
        <p:nvSpPr>
          <p:cNvPr id="21" name="連接線"/>
          <p:cNvSpPr/>
          <p:nvPr/>
        </p:nvSpPr>
        <p:spPr>
          <a:xfrm>
            <a:off x="5120640" y="5029200"/>
            <a:ext cx="582930" cy="1485900"/>
          </a:xfrm>
          <a:custGeom>
            <a:avLst/>
            <a:gdLst/>
            <a:ahLst/>
            <a:cxnLst/>
            <a:rect l="l" t="t" r="r" b="b"/>
            <a:pathLst>
              <a:path w="582930" h="1485900">
                <a:moveTo>
                  <a:pt x="0" y="0"/>
                </a:moveTo>
                <a:lnTo>
                  <a:pt x="291465" y="0"/>
                </a:lnTo>
                <a:lnTo>
                  <a:pt x="291465" y="1485900"/>
                </a:lnTo>
                <a:lnTo>
                  <a:pt x="582930" y="1485900"/>
                </a:lnTo>
              </a:path>
            </a:pathLst>
          </a:custGeom>
          <a:ln w="19812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715250" y="2228850"/>
            <a:ext cx="33718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十字矩陣 2×2</a:t>
            </a:r>
            <a:endParaRPr lang="en-US" sz="1650" dirty="0"/>
          </a:p>
        </p:txBody>
      </p:sp>
      <p:sp>
        <p:nvSpPr>
          <p:cNvPr id="23" name="線條"/>
          <p:cNvSpPr/>
          <p:nvPr/>
        </p:nvSpPr>
        <p:spPr>
          <a:xfrm>
            <a:off x="7715250" y="2708910"/>
            <a:ext cx="337185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4" name="線條"/>
          <p:cNvSpPr/>
          <p:nvPr/>
        </p:nvSpPr>
        <p:spPr>
          <a:xfrm>
            <a:off x="8195310" y="5029200"/>
            <a:ext cx="241173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25" name="線條"/>
          <p:cNvSpPr/>
          <p:nvPr/>
        </p:nvSpPr>
        <p:spPr>
          <a:xfrm>
            <a:off x="9401175" y="3371850"/>
            <a:ext cx="0" cy="331470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26" name="中心圓"/>
          <p:cNvSpPr/>
          <p:nvPr/>
        </p:nvSpPr>
        <p:spPr>
          <a:xfrm>
            <a:off x="8875395" y="4503420"/>
            <a:ext cx="1051560" cy="1051560"/>
          </a:xfrm>
          <a:prstGeom prst="ellipse">
            <a:avLst/>
          </a:prstGeom>
          <a:solidFill>
            <a:srgbClr val="2F4B6E"/>
          </a:solidFill>
          <a:ln w="31750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</a:t>
            </a:r>
            <a:endParaRPr lang="en-US" sz="15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</a:t>
            </a:r>
            <a:endParaRPr lang="en-US" sz="1500" dirty="0"/>
          </a:p>
        </p:txBody>
      </p:sp>
      <p:sp>
        <p:nvSpPr>
          <p:cNvPr id="27" name="標籤"/>
          <p:cNvSpPr/>
          <p:nvPr/>
        </p:nvSpPr>
        <p:spPr>
          <a:xfrm>
            <a:off x="8186420" y="4034790"/>
            <a:ext cx="646430" cy="3429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吸引</a:t>
            </a:r>
            <a:endParaRPr lang="en-US" sz="1400" dirty="0"/>
          </a:p>
        </p:txBody>
      </p:sp>
      <p:sp>
        <p:nvSpPr>
          <p:cNvPr id="28" name="標籤"/>
          <p:cNvSpPr/>
          <p:nvPr/>
        </p:nvSpPr>
        <p:spPr>
          <a:xfrm>
            <a:off x="9969500" y="4034790"/>
            <a:ext cx="646430" cy="34290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實用</a:t>
            </a:r>
            <a:endParaRPr lang="en-US" sz="1400" dirty="0"/>
          </a:p>
        </p:txBody>
      </p:sp>
      <p:sp>
        <p:nvSpPr>
          <p:cNvPr id="29" name="標籤"/>
          <p:cNvSpPr/>
          <p:nvPr/>
        </p:nvSpPr>
        <p:spPr>
          <a:xfrm>
            <a:off x="8186420" y="5680710"/>
            <a:ext cx="646430" cy="3429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好記</a:t>
            </a:r>
            <a:endParaRPr lang="en-US" sz="1400" dirty="0"/>
          </a:p>
        </p:txBody>
      </p:sp>
      <p:sp>
        <p:nvSpPr>
          <p:cNvPr id="30" name="標籤"/>
          <p:cNvSpPr/>
          <p:nvPr/>
        </p:nvSpPr>
        <p:spPr>
          <a:xfrm>
            <a:off x="9969500" y="5680710"/>
            <a:ext cx="646430" cy="3429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可信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715375" y="2971800"/>
            <a:ext cx="1371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715375" y="6743700"/>
            <a:ext cx="1371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658100" y="4857750"/>
            <a:ext cx="514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感性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629900" y="4857750"/>
            <a:ext cx="514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理性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544300" y="2228850"/>
            <a:ext cx="30095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寬欄透明條 Columns</a:t>
            </a:r>
            <a:endParaRPr lang="en-US" sz="1650" dirty="0"/>
          </a:p>
        </p:txBody>
      </p:sp>
      <p:sp>
        <p:nvSpPr>
          <p:cNvPr id="36" name="線條"/>
          <p:cNvSpPr/>
          <p:nvPr/>
        </p:nvSpPr>
        <p:spPr>
          <a:xfrm>
            <a:off x="11544300" y="2708910"/>
            <a:ext cx="30095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458700" y="2857500"/>
            <a:ext cx="11658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3430250" y="2857500"/>
            <a:ext cx="11658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400" dirty="0"/>
          </a:p>
        </p:txBody>
      </p:sp>
      <p:sp>
        <p:nvSpPr>
          <p:cNvPr id="39" name="寬欄條"/>
          <p:cNvSpPr/>
          <p:nvPr/>
        </p:nvSpPr>
        <p:spPr>
          <a:xfrm>
            <a:off x="12687300" y="3257550"/>
            <a:ext cx="708660" cy="3886200"/>
          </a:xfrm>
          <a:prstGeom prst="roundRect">
            <a:avLst>
              <a:gd name="adj" fmla="val 16129"/>
            </a:avLst>
          </a:prstGeom>
          <a:solidFill>
            <a:srgbClr val="A6A6A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寬欄條"/>
          <p:cNvSpPr/>
          <p:nvPr/>
        </p:nvSpPr>
        <p:spPr>
          <a:xfrm>
            <a:off x="13658850" y="3257550"/>
            <a:ext cx="708660" cy="3886200"/>
          </a:xfrm>
          <a:prstGeom prst="roundRect">
            <a:avLst>
              <a:gd name="adj" fmla="val 16129"/>
            </a:avLst>
          </a:prstGeom>
          <a:solidFill>
            <a:srgbClr val="A6A6A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1544300" y="3806190"/>
            <a:ext cx="10287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階段一</a:t>
            </a:r>
            <a:endParaRPr lang="en-US" sz="1400" dirty="0"/>
          </a:p>
        </p:txBody>
      </p:sp>
      <p:sp>
        <p:nvSpPr>
          <p:cNvPr id="42" name="編號"/>
          <p:cNvSpPr/>
          <p:nvPr/>
        </p:nvSpPr>
        <p:spPr>
          <a:xfrm>
            <a:off x="12713018" y="3821735"/>
            <a:ext cx="657225" cy="35753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250" dirty="0"/>
          </a:p>
        </p:txBody>
      </p:sp>
      <p:sp>
        <p:nvSpPr>
          <p:cNvPr id="43" name="編號"/>
          <p:cNvSpPr/>
          <p:nvPr/>
        </p:nvSpPr>
        <p:spPr>
          <a:xfrm>
            <a:off x="13684568" y="3821735"/>
            <a:ext cx="657225" cy="35753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11544300" y="5006340"/>
            <a:ext cx="10287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階段二</a:t>
            </a:r>
            <a:endParaRPr lang="en-US" sz="1400" dirty="0"/>
          </a:p>
        </p:txBody>
      </p:sp>
      <p:sp>
        <p:nvSpPr>
          <p:cNvPr id="45" name="編號"/>
          <p:cNvSpPr/>
          <p:nvPr/>
        </p:nvSpPr>
        <p:spPr>
          <a:xfrm>
            <a:off x="12713018" y="5021885"/>
            <a:ext cx="657225" cy="35753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250" dirty="0"/>
          </a:p>
        </p:txBody>
      </p:sp>
      <p:sp>
        <p:nvSpPr>
          <p:cNvPr id="46" name="編號"/>
          <p:cNvSpPr/>
          <p:nvPr/>
        </p:nvSpPr>
        <p:spPr>
          <a:xfrm>
            <a:off x="13684568" y="5021885"/>
            <a:ext cx="657225" cy="35753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1544300" y="6206490"/>
            <a:ext cx="10287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階段三</a:t>
            </a:r>
            <a:endParaRPr lang="en-US" sz="1400" dirty="0"/>
          </a:p>
        </p:txBody>
      </p:sp>
      <p:sp>
        <p:nvSpPr>
          <p:cNvPr id="48" name="編號"/>
          <p:cNvSpPr/>
          <p:nvPr/>
        </p:nvSpPr>
        <p:spPr>
          <a:xfrm>
            <a:off x="12713018" y="6222035"/>
            <a:ext cx="657225" cy="35753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250" dirty="0"/>
          </a:p>
        </p:txBody>
      </p:sp>
      <p:sp>
        <p:nvSpPr>
          <p:cNvPr id="49" name="編號"/>
          <p:cNvSpPr/>
          <p:nvPr/>
        </p:nvSpPr>
        <p:spPr>
          <a:xfrm>
            <a:off x="13684568" y="6222035"/>
            <a:ext cx="657225" cy="35753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13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71500" y="45720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5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《高效溝通：讓想法被看見》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685800" y="1257300"/>
            <a:ext cx="1257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關鍵在於把資訊整理成對方能理解的結構</a:t>
            </a:r>
            <a:endParaRPr lang="en-US" sz="1900" dirty="0"/>
          </a:p>
        </p:txBody>
      </p:sp>
      <p:sp>
        <p:nvSpPr>
          <p:cNvPr id="4" name="線條"/>
          <p:cNvSpPr/>
          <p:nvPr/>
        </p:nvSpPr>
        <p:spPr>
          <a:xfrm>
            <a:off x="685800" y="1851660"/>
            <a:ext cx="138680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23085"/>
            <a:ext cx="1257300" cy="57150"/>
          </a:xfrm>
          <a:prstGeom prst="rect">
            <a:avLst/>
          </a:pr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光暈大圓"/>
          <p:cNvSpPr/>
          <p:nvPr/>
        </p:nvSpPr>
        <p:spPr>
          <a:xfrm>
            <a:off x="1511237" y="2286000"/>
            <a:ext cx="2971800" cy="2971800"/>
          </a:xfrm>
          <a:prstGeom prst="ellipse">
            <a:avLst/>
          </a:prstGeom>
          <a:solidFill>
            <a:srgbClr val="F2F2F2"/>
          </a:solidFill>
          <a:ln/>
          <a:effectLst>
            <a:outerShdw blurRad="254000" dist="31750" dir="5400000" sx="102000" sy="102000" algn="ctr" rotWithShape="0">
              <a:srgbClr val="000000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511237" y="2672334"/>
            <a:ext cx="2971800" cy="921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Why</a:t>
            </a:r>
            <a:endParaRPr lang="en-US" sz="4900" dirty="0"/>
          </a:p>
        </p:txBody>
      </p:sp>
      <p:sp>
        <p:nvSpPr>
          <p:cNvPr id="8" name="Text 6"/>
          <p:cNvSpPr/>
          <p:nvPr/>
        </p:nvSpPr>
        <p:spPr>
          <a:xfrm>
            <a:off x="1808417" y="3623310"/>
            <a:ext cx="23774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為何要重視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溝通品質</a:t>
            </a:r>
            <a:endParaRPr lang="en-US" sz="1900" dirty="0"/>
          </a:p>
        </p:txBody>
      </p:sp>
      <p:sp>
        <p:nvSpPr>
          <p:cNvPr id="9" name="光暈大圓"/>
          <p:cNvSpPr/>
          <p:nvPr/>
        </p:nvSpPr>
        <p:spPr>
          <a:xfrm>
            <a:off x="6133910" y="2286000"/>
            <a:ext cx="2971800" cy="2971800"/>
          </a:xfrm>
          <a:prstGeom prst="ellipse">
            <a:avLst/>
          </a:prstGeom>
          <a:solidFill>
            <a:srgbClr val="F2F2F2"/>
          </a:solidFill>
          <a:ln/>
          <a:effectLst>
            <a:outerShdw blurRad="254000" dist="31750" dir="5400000" sx="102000" sy="102000" algn="ctr" rotWithShape="0">
              <a:srgbClr val="000000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33910" y="2672334"/>
            <a:ext cx="2971800" cy="921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4900" dirty="0"/>
          </a:p>
        </p:txBody>
      </p:sp>
      <p:sp>
        <p:nvSpPr>
          <p:cNvPr id="11" name="Text 9"/>
          <p:cNvSpPr/>
          <p:nvPr/>
        </p:nvSpPr>
        <p:spPr>
          <a:xfrm>
            <a:off x="6431090" y="3623310"/>
            <a:ext cx="23774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溝通的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900" dirty="0"/>
          </a:p>
        </p:txBody>
      </p:sp>
      <p:sp>
        <p:nvSpPr>
          <p:cNvPr id="12" name="光暈大圓"/>
          <p:cNvSpPr/>
          <p:nvPr/>
        </p:nvSpPr>
        <p:spPr>
          <a:xfrm>
            <a:off x="10756582" y="2286000"/>
            <a:ext cx="2971800" cy="2971800"/>
          </a:xfrm>
          <a:prstGeom prst="ellipse">
            <a:avLst/>
          </a:prstGeom>
          <a:solidFill>
            <a:srgbClr val="F2F2F2"/>
          </a:solidFill>
          <a:ln/>
          <a:effectLst>
            <a:outerShdw blurRad="254000" dist="31750" dir="5400000" sx="102000" sy="102000" algn="ctr" rotWithShape="0">
              <a:srgbClr val="000000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756582" y="2672334"/>
            <a:ext cx="2971800" cy="921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</a:t>
            </a:r>
            <a:endParaRPr lang="en-US" sz="4900" dirty="0"/>
          </a:p>
        </p:txBody>
      </p:sp>
      <p:sp>
        <p:nvSpPr>
          <p:cNvPr id="14" name="Text 12"/>
          <p:cNvSpPr/>
          <p:nvPr/>
        </p:nvSpPr>
        <p:spPr>
          <a:xfrm>
            <a:off x="11053763" y="3623310"/>
            <a:ext cx="23774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呈現的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三個層次</a:t>
            </a:r>
            <a:endParaRPr lang="en-US" sz="1900" dirty="0"/>
          </a:p>
        </p:txBody>
      </p:sp>
      <p:sp>
        <p:nvSpPr>
          <p:cNvPr id="15" name="三角形"/>
          <p:cNvSpPr/>
          <p:nvPr/>
        </p:nvSpPr>
        <p:spPr>
          <a:xfrm>
            <a:off x="5205603" y="3634740"/>
            <a:ext cx="205740" cy="274320"/>
          </a:xfrm>
          <a:custGeom>
            <a:avLst/>
            <a:gdLst/>
            <a:ahLst/>
            <a:cxnLst/>
            <a:rect l="l" t="t" r="r" b="b"/>
            <a:pathLst>
              <a:path w="205740" h="274320">
                <a:moveTo>
                  <a:pt x="0" y="0"/>
                </a:moveTo>
                <a:lnTo>
                  <a:pt x="205740" y="137160"/>
                </a:lnTo>
                <a:lnTo>
                  <a:pt x="0" y="27432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三角形"/>
          <p:cNvSpPr/>
          <p:nvPr/>
        </p:nvSpPr>
        <p:spPr>
          <a:xfrm>
            <a:off x="9828276" y="3634740"/>
            <a:ext cx="205740" cy="274320"/>
          </a:xfrm>
          <a:custGeom>
            <a:avLst/>
            <a:gdLst/>
            <a:ahLst/>
            <a:cxnLst/>
            <a:rect l="l" t="t" r="r" b="b"/>
            <a:pathLst>
              <a:path w="205740" h="274320">
                <a:moveTo>
                  <a:pt x="0" y="0"/>
                </a:moveTo>
                <a:lnTo>
                  <a:pt x="205740" y="137160"/>
                </a:lnTo>
                <a:lnTo>
                  <a:pt x="0" y="27432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小圓"/>
          <p:cNvSpPr/>
          <p:nvPr/>
        </p:nvSpPr>
        <p:spPr>
          <a:xfrm>
            <a:off x="5975917" y="4208937"/>
            <a:ext cx="914400" cy="914400"/>
          </a:xfrm>
          <a:prstGeom prst="ellipse">
            <a:avLst/>
          </a:prstGeom>
          <a:solidFill>
            <a:srgbClr val="2F4B6E"/>
          </a:solidFill>
          <a:ln w="39751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2000" dirty="0"/>
          </a:p>
        </p:txBody>
      </p:sp>
      <p:sp>
        <p:nvSpPr>
          <p:cNvPr id="18" name="小圓"/>
          <p:cNvSpPr/>
          <p:nvPr/>
        </p:nvSpPr>
        <p:spPr>
          <a:xfrm>
            <a:off x="7162610" y="4800600"/>
            <a:ext cx="914400" cy="914400"/>
          </a:xfrm>
          <a:prstGeom prst="ellipse">
            <a:avLst/>
          </a:prstGeom>
          <a:solidFill>
            <a:srgbClr val="2F4B6E"/>
          </a:solidFill>
          <a:ln w="39751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2000" dirty="0"/>
          </a:p>
        </p:txBody>
      </p:sp>
      <p:sp>
        <p:nvSpPr>
          <p:cNvPr id="19" name="小圓"/>
          <p:cNvSpPr/>
          <p:nvPr/>
        </p:nvSpPr>
        <p:spPr>
          <a:xfrm>
            <a:off x="8349302" y="4208937"/>
            <a:ext cx="914400" cy="914400"/>
          </a:xfrm>
          <a:prstGeom prst="ellipse">
            <a:avLst/>
          </a:prstGeom>
          <a:solidFill>
            <a:srgbClr val="2F4B6E"/>
          </a:solidFill>
          <a:ln w="39751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953057" y="5886450"/>
            <a:ext cx="108585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蒐集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篩選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歸納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139750" y="5886450"/>
            <a:ext cx="108585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比較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連結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326442" y="5886450"/>
            <a:ext cx="108585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聚焦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排序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呈現</a:t>
            </a:r>
            <a:endParaRPr lang="en-US" sz="1450" dirty="0"/>
          </a:p>
        </p:txBody>
      </p:sp>
      <p:sp>
        <p:nvSpPr>
          <p:cNvPr id="23" name="標籤"/>
          <p:cNvSpPr/>
          <p:nvPr/>
        </p:nvSpPr>
        <p:spPr>
          <a:xfrm>
            <a:off x="1682687" y="5715000"/>
            <a:ext cx="2628900" cy="48006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節省理解時間</a:t>
            </a:r>
            <a:endParaRPr lang="en-US" sz="1650" dirty="0"/>
          </a:p>
        </p:txBody>
      </p:sp>
      <p:sp>
        <p:nvSpPr>
          <p:cNvPr id="24" name="標籤"/>
          <p:cNvSpPr/>
          <p:nvPr/>
        </p:nvSpPr>
        <p:spPr>
          <a:xfrm>
            <a:off x="1682687" y="6343650"/>
            <a:ext cx="2628900" cy="48006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對齊彼此認知</a:t>
            </a:r>
            <a:endParaRPr lang="en-US" sz="1650" dirty="0"/>
          </a:p>
        </p:txBody>
      </p:sp>
      <p:sp>
        <p:nvSpPr>
          <p:cNvPr id="25" name="標籤"/>
          <p:cNvSpPr/>
          <p:nvPr/>
        </p:nvSpPr>
        <p:spPr>
          <a:xfrm>
            <a:off x="1682687" y="6972300"/>
            <a:ext cx="2628900" cy="48006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650" dirty="0"/>
          </a:p>
        </p:txBody>
      </p:sp>
      <p:sp>
        <p:nvSpPr>
          <p:cNvPr id="26" name="標籤"/>
          <p:cNvSpPr/>
          <p:nvPr/>
        </p:nvSpPr>
        <p:spPr>
          <a:xfrm>
            <a:off x="10928033" y="5715000"/>
            <a:ext cx="2628900" cy="48006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</a:t>
            </a:r>
            <a:endParaRPr lang="en-US" sz="1650" dirty="0"/>
          </a:p>
        </p:txBody>
      </p:sp>
      <p:sp>
        <p:nvSpPr>
          <p:cNvPr id="27" name="標籤"/>
          <p:cNvSpPr/>
          <p:nvPr/>
        </p:nvSpPr>
        <p:spPr>
          <a:xfrm>
            <a:off x="10928033" y="6343650"/>
            <a:ext cx="2628900" cy="48006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1650" dirty="0"/>
          </a:p>
        </p:txBody>
      </p:sp>
      <p:sp>
        <p:nvSpPr>
          <p:cNvPr id="28" name="標籤"/>
          <p:cNvSpPr/>
          <p:nvPr/>
        </p:nvSpPr>
        <p:spPr>
          <a:xfrm>
            <a:off x="10928033" y="6972300"/>
            <a:ext cx="2628900" cy="48006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洞見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685800" y="7520940"/>
            <a:ext cx="138680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三個圓依序回答 Why／How／What，中間的小圓拆出方法，左右兩側以清單補充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13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71500" y="45720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5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《策略規劃框架地圖》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685800" y="1257300"/>
            <a:ext cx="1257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從現況、課題到行動方案的思考路徑</a:t>
            </a:r>
            <a:endParaRPr lang="en-US" sz="1900" dirty="0"/>
          </a:p>
        </p:txBody>
      </p:sp>
      <p:sp>
        <p:nvSpPr>
          <p:cNvPr id="4" name="線條"/>
          <p:cNvSpPr/>
          <p:nvPr/>
        </p:nvSpPr>
        <p:spPr>
          <a:xfrm>
            <a:off x="685800" y="1851660"/>
            <a:ext cx="138680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23085"/>
            <a:ext cx="1257300" cy="57150"/>
          </a:xfrm>
          <a:prstGeom prst="rect">
            <a:avLst/>
          </a:pr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卡片"/>
          <p:cNvSpPr/>
          <p:nvPr/>
        </p:nvSpPr>
        <p:spPr>
          <a:xfrm>
            <a:off x="685800" y="4914900"/>
            <a:ext cx="2352980" cy="1051560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/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4914900"/>
            <a:ext cx="23529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Vision</a:t>
            </a:r>
            <a:endParaRPr lang="en-US" sz="1750" dirty="0"/>
          </a:p>
        </p:txBody>
      </p:sp>
      <p:sp>
        <p:nvSpPr>
          <p:cNvPr id="8" name="三角形"/>
          <p:cNvSpPr/>
          <p:nvPr/>
        </p:nvSpPr>
        <p:spPr>
          <a:xfrm>
            <a:off x="3215945" y="532638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卡片"/>
          <p:cNvSpPr/>
          <p:nvPr/>
        </p:nvSpPr>
        <p:spPr>
          <a:xfrm>
            <a:off x="3564560" y="4914900"/>
            <a:ext cx="2352980" cy="1051560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/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64560" y="4914900"/>
            <a:ext cx="23529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</a:t>
            </a:r>
            <a:endParaRPr lang="en-US" sz="1750" dirty="0"/>
          </a:p>
        </p:txBody>
      </p:sp>
      <p:sp>
        <p:nvSpPr>
          <p:cNvPr id="11" name="三角形"/>
          <p:cNvSpPr/>
          <p:nvPr/>
        </p:nvSpPr>
        <p:spPr>
          <a:xfrm>
            <a:off x="6094705" y="532638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重點卡片"/>
          <p:cNvSpPr/>
          <p:nvPr/>
        </p:nvSpPr>
        <p:spPr>
          <a:xfrm>
            <a:off x="6443320" y="4914900"/>
            <a:ext cx="2352980" cy="1051560"/>
          </a:xfrm>
          <a:prstGeom prst="roundRect">
            <a:avLst>
              <a:gd name="adj" fmla="val 10870"/>
            </a:avLst>
          </a:prstGeom>
          <a:solidFill>
            <a:srgbClr val="2F4B6E"/>
          </a:solidFill>
          <a:ln/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C1C9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Objective</a:t>
            </a:r>
            <a:endParaRPr lang="en-US" sz="1750" dirty="0"/>
          </a:p>
        </p:txBody>
      </p:sp>
      <p:sp>
        <p:nvSpPr>
          <p:cNvPr id="13" name="三角形"/>
          <p:cNvSpPr/>
          <p:nvPr/>
        </p:nvSpPr>
        <p:spPr>
          <a:xfrm>
            <a:off x="8973464" y="532638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卡片"/>
          <p:cNvSpPr/>
          <p:nvPr/>
        </p:nvSpPr>
        <p:spPr>
          <a:xfrm>
            <a:off x="9322079" y="4914900"/>
            <a:ext cx="2352980" cy="1051560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/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322079" y="4914900"/>
            <a:ext cx="23529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Strategy</a:t>
            </a:r>
            <a:endParaRPr lang="en-US" sz="1750" dirty="0"/>
          </a:p>
        </p:txBody>
      </p:sp>
      <p:sp>
        <p:nvSpPr>
          <p:cNvPr id="16" name="三角形"/>
          <p:cNvSpPr/>
          <p:nvPr/>
        </p:nvSpPr>
        <p:spPr>
          <a:xfrm>
            <a:off x="11852224" y="532638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卡片"/>
          <p:cNvSpPr/>
          <p:nvPr/>
        </p:nvSpPr>
        <p:spPr>
          <a:xfrm>
            <a:off x="12200839" y="4914900"/>
            <a:ext cx="2352980" cy="1051560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/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200839" y="4914900"/>
            <a:ext cx="23529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Tactic</a:t>
            </a:r>
            <a:endParaRPr lang="en-US" sz="1750" dirty="0"/>
          </a:p>
        </p:txBody>
      </p:sp>
      <p:sp>
        <p:nvSpPr>
          <p:cNvPr id="19" name="卡片"/>
          <p:cNvSpPr/>
          <p:nvPr/>
        </p:nvSpPr>
        <p:spPr>
          <a:xfrm>
            <a:off x="6443320" y="2286000"/>
            <a:ext cx="2352980" cy="1028700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/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43320" y="2286000"/>
            <a:ext cx="23529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Situation</a:t>
            </a:r>
            <a:endParaRPr lang="en-US" sz="1750" dirty="0"/>
          </a:p>
        </p:txBody>
      </p:sp>
      <p:sp>
        <p:nvSpPr>
          <p:cNvPr id="21" name="卡片"/>
          <p:cNvSpPr/>
          <p:nvPr/>
        </p:nvSpPr>
        <p:spPr>
          <a:xfrm>
            <a:off x="3335960" y="3486150"/>
            <a:ext cx="1929443" cy="822960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/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35960" y="3486150"/>
            <a:ext cx="19294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Problem</a:t>
            </a:r>
            <a:endParaRPr lang="en-US" sz="1750" dirty="0"/>
          </a:p>
        </p:txBody>
      </p:sp>
      <p:sp>
        <p:nvSpPr>
          <p:cNvPr id="23" name="卡片"/>
          <p:cNvSpPr/>
          <p:nvPr/>
        </p:nvSpPr>
        <p:spPr>
          <a:xfrm>
            <a:off x="9974216" y="3486150"/>
            <a:ext cx="1929443" cy="822960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/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974216" y="3486150"/>
            <a:ext cx="19294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課題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Question</a:t>
            </a:r>
            <a:endParaRPr lang="en-US" sz="1750" dirty="0"/>
          </a:p>
        </p:txBody>
      </p:sp>
      <p:sp>
        <p:nvSpPr>
          <p:cNvPr id="25" name="曲線箭頭"/>
          <p:cNvSpPr/>
          <p:nvPr/>
        </p:nvSpPr>
        <p:spPr>
          <a:xfrm>
            <a:off x="4300682" y="2800350"/>
            <a:ext cx="2051198" cy="617220"/>
          </a:xfrm>
          <a:custGeom>
            <a:avLst/>
            <a:gdLst/>
            <a:ahLst/>
            <a:cxnLst/>
            <a:rect l="l" t="t" r="r" b="b"/>
            <a:pathLst>
              <a:path w="2051198" h="617220">
                <a:moveTo>
                  <a:pt x="0" y="617220"/>
                </a:moveTo>
                <a:cubicBezTo>
                  <a:pt x="0" y="0"/>
                  <a:pt x="342900" y="0"/>
                  <a:pt x="2051198" y="0"/>
                </a:cubicBezTo>
              </a:path>
            </a:pathLst>
          </a:custGeom>
          <a:ln w="19812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曲線箭頭"/>
          <p:cNvSpPr/>
          <p:nvPr/>
        </p:nvSpPr>
        <p:spPr>
          <a:xfrm>
            <a:off x="8887739" y="2800350"/>
            <a:ext cx="2051198" cy="617220"/>
          </a:xfrm>
          <a:custGeom>
            <a:avLst/>
            <a:gdLst/>
            <a:ahLst/>
            <a:cxnLst/>
            <a:rect l="l" t="t" r="r" b="b"/>
            <a:pathLst>
              <a:path w="2051198" h="617220">
                <a:moveTo>
                  <a:pt x="0" y="0"/>
                </a:moveTo>
                <a:cubicBezTo>
                  <a:pt x="1708298" y="0"/>
                  <a:pt x="2051198" y="0"/>
                  <a:pt x="2051198" y="617220"/>
                </a:cubicBezTo>
              </a:path>
            </a:pathLst>
          </a:custGeom>
          <a:ln w="19812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線條"/>
          <p:cNvSpPr/>
          <p:nvPr/>
        </p:nvSpPr>
        <p:spPr>
          <a:xfrm>
            <a:off x="5356843" y="3897630"/>
            <a:ext cx="4525933" cy="0"/>
          </a:xfrm>
          <a:prstGeom prst="line">
            <a:avLst/>
          </a:prstGeom>
          <a:noFill/>
          <a:ln w="19812">
            <a:solidFill>
              <a:srgbClr val="A6A6A6"/>
            </a:solidFill>
            <a:prstDash val="sysDash"/>
            <a:headEnd type="triangle" w="lg" len="lg"/>
            <a:tailEnd type="triangle" w="lg" len="lg"/>
          </a:ln>
        </p:spPr>
      </p:sp>
      <p:sp>
        <p:nvSpPr>
          <p:cNvPr id="28" name="編號"/>
          <p:cNvSpPr/>
          <p:nvPr/>
        </p:nvSpPr>
        <p:spPr>
          <a:xfrm>
            <a:off x="694372" y="2393899"/>
            <a:ext cx="485775" cy="264262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150" dirty="0"/>
          </a:p>
        </p:txBody>
      </p:sp>
      <p:sp>
        <p:nvSpPr>
          <p:cNvPr id="29" name="編號"/>
          <p:cNvSpPr/>
          <p:nvPr/>
        </p:nvSpPr>
        <p:spPr>
          <a:xfrm>
            <a:off x="1277302" y="2393899"/>
            <a:ext cx="485775" cy="264262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150" dirty="0"/>
          </a:p>
        </p:txBody>
      </p:sp>
      <p:sp>
        <p:nvSpPr>
          <p:cNvPr id="30" name="標籤"/>
          <p:cNvSpPr/>
          <p:nvPr/>
        </p:nvSpPr>
        <p:spPr>
          <a:xfrm>
            <a:off x="1885950" y="2343150"/>
            <a:ext cx="1005738" cy="36576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400" dirty="0"/>
          </a:p>
        </p:txBody>
      </p:sp>
      <p:sp>
        <p:nvSpPr>
          <p:cNvPr id="31" name="編號"/>
          <p:cNvSpPr/>
          <p:nvPr/>
        </p:nvSpPr>
        <p:spPr>
          <a:xfrm>
            <a:off x="694372" y="2965399"/>
            <a:ext cx="485775" cy="264262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150" dirty="0"/>
          </a:p>
        </p:txBody>
      </p:sp>
      <p:sp>
        <p:nvSpPr>
          <p:cNvPr id="32" name="編號"/>
          <p:cNvSpPr/>
          <p:nvPr/>
        </p:nvSpPr>
        <p:spPr>
          <a:xfrm>
            <a:off x="1277302" y="2965399"/>
            <a:ext cx="485775" cy="264262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150" dirty="0"/>
          </a:p>
        </p:txBody>
      </p:sp>
      <p:sp>
        <p:nvSpPr>
          <p:cNvPr id="33" name="標籤"/>
          <p:cNvSpPr/>
          <p:nvPr/>
        </p:nvSpPr>
        <p:spPr>
          <a:xfrm>
            <a:off x="1885950" y="2914650"/>
            <a:ext cx="1005738" cy="36576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400" dirty="0"/>
          </a:p>
        </p:txBody>
      </p:sp>
      <p:sp>
        <p:nvSpPr>
          <p:cNvPr id="34" name="編號"/>
          <p:cNvSpPr/>
          <p:nvPr/>
        </p:nvSpPr>
        <p:spPr>
          <a:xfrm>
            <a:off x="12095112" y="2393899"/>
            <a:ext cx="485775" cy="264262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150" dirty="0"/>
          </a:p>
        </p:txBody>
      </p:sp>
      <p:sp>
        <p:nvSpPr>
          <p:cNvPr id="35" name="編號"/>
          <p:cNvSpPr/>
          <p:nvPr/>
        </p:nvSpPr>
        <p:spPr>
          <a:xfrm>
            <a:off x="12678042" y="2393899"/>
            <a:ext cx="485775" cy="264262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150" dirty="0"/>
          </a:p>
        </p:txBody>
      </p:sp>
      <p:sp>
        <p:nvSpPr>
          <p:cNvPr id="36" name="標籤"/>
          <p:cNvSpPr/>
          <p:nvPr/>
        </p:nvSpPr>
        <p:spPr>
          <a:xfrm>
            <a:off x="13286689" y="2343150"/>
            <a:ext cx="1005738" cy="36576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設定目標</a:t>
            </a:r>
            <a:endParaRPr lang="en-US" sz="1400" dirty="0"/>
          </a:p>
        </p:txBody>
      </p:sp>
      <p:sp>
        <p:nvSpPr>
          <p:cNvPr id="37" name="編號"/>
          <p:cNvSpPr/>
          <p:nvPr/>
        </p:nvSpPr>
        <p:spPr>
          <a:xfrm>
            <a:off x="12095112" y="2965399"/>
            <a:ext cx="485775" cy="264262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1150" dirty="0"/>
          </a:p>
        </p:txBody>
      </p:sp>
      <p:sp>
        <p:nvSpPr>
          <p:cNvPr id="38" name="編號"/>
          <p:cNvSpPr/>
          <p:nvPr/>
        </p:nvSpPr>
        <p:spPr>
          <a:xfrm>
            <a:off x="12678042" y="2965399"/>
            <a:ext cx="485775" cy="264262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1150" dirty="0"/>
          </a:p>
        </p:txBody>
      </p:sp>
      <p:sp>
        <p:nvSpPr>
          <p:cNvPr id="39" name="標籤"/>
          <p:cNvSpPr/>
          <p:nvPr/>
        </p:nvSpPr>
        <p:spPr>
          <a:xfrm>
            <a:off x="13286689" y="2914650"/>
            <a:ext cx="1005738" cy="36576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規劃路徑</a:t>
            </a:r>
            <a:endParaRPr lang="en-US" sz="1400" dirty="0"/>
          </a:p>
        </p:txBody>
      </p:sp>
      <p:sp>
        <p:nvSpPr>
          <p:cNvPr id="40" name="卡片"/>
          <p:cNvSpPr/>
          <p:nvPr/>
        </p:nvSpPr>
        <p:spPr>
          <a:xfrm>
            <a:off x="685800" y="6343650"/>
            <a:ext cx="13868019" cy="685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/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85800" y="6343650"/>
            <a:ext cx="138680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</a:t>
            </a:r>
            <a:r>
              <a:rPr lang="en-US" sz="14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Organization</a:t>
            </a:r>
            <a:endParaRPr lang="en-US" sz="1750" dirty="0"/>
          </a:p>
        </p:txBody>
      </p:sp>
      <p:sp>
        <p:nvSpPr>
          <p:cNvPr id="42" name="編號"/>
          <p:cNvSpPr/>
          <p:nvPr/>
        </p:nvSpPr>
        <p:spPr>
          <a:xfrm>
            <a:off x="1324931" y="7331659"/>
            <a:ext cx="485775" cy="264262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1150" dirty="0"/>
          </a:p>
        </p:txBody>
      </p:sp>
      <p:sp>
        <p:nvSpPr>
          <p:cNvPr id="43" name="編號"/>
          <p:cNvSpPr/>
          <p:nvPr/>
        </p:nvSpPr>
        <p:spPr>
          <a:xfrm>
            <a:off x="1907861" y="7331659"/>
            <a:ext cx="485775" cy="264262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50" dirty="0"/>
          </a:p>
        </p:txBody>
      </p:sp>
      <p:sp>
        <p:nvSpPr>
          <p:cNvPr id="44" name="標籤"/>
          <p:cNvSpPr/>
          <p:nvPr/>
        </p:nvSpPr>
        <p:spPr>
          <a:xfrm>
            <a:off x="2516508" y="7280910"/>
            <a:ext cx="1005738" cy="36576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凝聚共識</a:t>
            </a:r>
            <a:endParaRPr lang="en-US" sz="1400" dirty="0"/>
          </a:p>
        </p:txBody>
      </p:sp>
      <p:sp>
        <p:nvSpPr>
          <p:cNvPr id="45" name="編號"/>
          <p:cNvSpPr/>
          <p:nvPr/>
        </p:nvSpPr>
        <p:spPr>
          <a:xfrm>
            <a:off x="4791935" y="7331659"/>
            <a:ext cx="485775" cy="264262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50" dirty="0"/>
          </a:p>
        </p:txBody>
      </p:sp>
      <p:sp>
        <p:nvSpPr>
          <p:cNvPr id="46" name="編號"/>
          <p:cNvSpPr/>
          <p:nvPr/>
        </p:nvSpPr>
        <p:spPr>
          <a:xfrm>
            <a:off x="5374865" y="7331659"/>
            <a:ext cx="485775" cy="264262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50" dirty="0"/>
          </a:p>
        </p:txBody>
      </p:sp>
      <p:sp>
        <p:nvSpPr>
          <p:cNvPr id="47" name="標籤"/>
          <p:cNvSpPr/>
          <p:nvPr/>
        </p:nvSpPr>
        <p:spPr>
          <a:xfrm>
            <a:off x="5983513" y="7280910"/>
            <a:ext cx="1005738" cy="36576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提升能力</a:t>
            </a:r>
            <a:endParaRPr lang="en-US" sz="1400" dirty="0"/>
          </a:p>
        </p:txBody>
      </p:sp>
      <p:sp>
        <p:nvSpPr>
          <p:cNvPr id="48" name="編號"/>
          <p:cNvSpPr/>
          <p:nvPr/>
        </p:nvSpPr>
        <p:spPr>
          <a:xfrm>
            <a:off x="8550405" y="7331659"/>
            <a:ext cx="485775" cy="264262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50" dirty="0"/>
          </a:p>
        </p:txBody>
      </p:sp>
      <p:sp>
        <p:nvSpPr>
          <p:cNvPr id="49" name="標籤"/>
          <p:cNvSpPr/>
          <p:nvPr/>
        </p:nvSpPr>
        <p:spPr>
          <a:xfrm>
            <a:off x="9159053" y="7280910"/>
            <a:ext cx="1005738" cy="36576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資訊透明</a:t>
            </a:r>
            <a:endParaRPr lang="en-US" sz="1400" dirty="0"/>
          </a:p>
        </p:txBody>
      </p:sp>
      <p:sp>
        <p:nvSpPr>
          <p:cNvPr id="50" name="編號"/>
          <p:cNvSpPr/>
          <p:nvPr/>
        </p:nvSpPr>
        <p:spPr>
          <a:xfrm>
            <a:off x="11725945" y="7331659"/>
            <a:ext cx="485775" cy="264262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150" dirty="0"/>
          </a:p>
        </p:txBody>
      </p:sp>
      <p:sp>
        <p:nvSpPr>
          <p:cNvPr id="51" name="編號"/>
          <p:cNvSpPr/>
          <p:nvPr/>
        </p:nvSpPr>
        <p:spPr>
          <a:xfrm>
            <a:off x="12308875" y="7331659"/>
            <a:ext cx="485775" cy="264262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150" dirty="0"/>
          </a:p>
        </p:txBody>
      </p:sp>
      <p:sp>
        <p:nvSpPr>
          <p:cNvPr id="52" name="標籤"/>
          <p:cNvSpPr/>
          <p:nvPr/>
        </p:nvSpPr>
        <p:spPr>
          <a:xfrm>
            <a:off x="12917522" y="7280910"/>
            <a:ext cx="1005738" cy="36576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激勵動機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13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71500" y="45720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5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《能力成長地圖》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685800" y="1257300"/>
            <a:ext cx="1257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從個人特質到可遷移能力的三階段路徑</a:t>
            </a:r>
            <a:endParaRPr lang="en-US" sz="1900" dirty="0"/>
          </a:p>
        </p:txBody>
      </p:sp>
      <p:sp>
        <p:nvSpPr>
          <p:cNvPr id="4" name="線條"/>
          <p:cNvSpPr/>
          <p:nvPr/>
        </p:nvSpPr>
        <p:spPr>
          <a:xfrm>
            <a:off x="685800" y="1851660"/>
            <a:ext cx="138680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23085"/>
            <a:ext cx="1257300" cy="57150"/>
          </a:xfrm>
          <a:prstGeom prst="rect">
            <a:avLst/>
          </a:pr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漸隱箭頭"/>
          <p:cNvSpPr/>
          <p:nvPr/>
        </p:nvSpPr>
        <p:spPr>
          <a:xfrm>
            <a:off x="7172325" y="2914650"/>
            <a:ext cx="445770" cy="4202125"/>
          </a:xfrm>
          <a:prstGeom prst="rect">
            <a:avLst/>
          </a:prstGeom>
          <a:solidFill>
            <a:srgbClr val="2F4B6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漸隱箭頭"/>
          <p:cNvSpPr/>
          <p:nvPr/>
        </p:nvSpPr>
        <p:spPr>
          <a:xfrm>
            <a:off x="7172325" y="3613099"/>
            <a:ext cx="445770" cy="3503676"/>
          </a:xfrm>
          <a:prstGeom prst="rect">
            <a:avLst/>
          </a:prstGeom>
          <a:solidFill>
            <a:srgbClr val="2F4B6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漸隱箭頭"/>
          <p:cNvSpPr/>
          <p:nvPr/>
        </p:nvSpPr>
        <p:spPr>
          <a:xfrm>
            <a:off x="7172325" y="4311548"/>
            <a:ext cx="445770" cy="2805227"/>
          </a:xfrm>
          <a:prstGeom prst="rect">
            <a:avLst/>
          </a:prstGeom>
          <a:solidFill>
            <a:srgbClr val="2F4B6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漸隱箭頭"/>
          <p:cNvSpPr/>
          <p:nvPr/>
        </p:nvSpPr>
        <p:spPr>
          <a:xfrm>
            <a:off x="7172325" y="5009998"/>
            <a:ext cx="445770" cy="2106778"/>
          </a:xfrm>
          <a:prstGeom prst="rect">
            <a:avLst/>
          </a:prstGeom>
          <a:solidFill>
            <a:srgbClr val="2F4B6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漸隱箭頭"/>
          <p:cNvSpPr/>
          <p:nvPr/>
        </p:nvSpPr>
        <p:spPr>
          <a:xfrm>
            <a:off x="7172325" y="5708447"/>
            <a:ext cx="445770" cy="1408328"/>
          </a:xfrm>
          <a:prstGeom prst="rect">
            <a:avLst/>
          </a:prstGeom>
          <a:solidFill>
            <a:srgbClr val="2F4B6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漸隱箭頭"/>
          <p:cNvSpPr/>
          <p:nvPr/>
        </p:nvSpPr>
        <p:spPr>
          <a:xfrm>
            <a:off x="7172325" y="6406896"/>
            <a:ext cx="445770" cy="709879"/>
          </a:xfrm>
          <a:prstGeom prst="rect">
            <a:avLst/>
          </a:prstGeom>
          <a:solidFill>
            <a:srgbClr val="2F4B6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漸隱箭頭"/>
          <p:cNvSpPr/>
          <p:nvPr/>
        </p:nvSpPr>
        <p:spPr>
          <a:xfrm>
            <a:off x="6949440" y="7105345"/>
            <a:ext cx="891540" cy="552755"/>
          </a:xfrm>
          <a:custGeom>
            <a:avLst/>
            <a:gdLst/>
            <a:ahLst/>
            <a:cxnLst/>
            <a:rect l="l" t="t" r="r" b="b"/>
            <a:pathLst>
              <a:path w="891540" h="552755">
                <a:moveTo>
                  <a:pt x="0" y="0"/>
                </a:moveTo>
                <a:lnTo>
                  <a:pt x="891540" y="0"/>
                </a:lnTo>
                <a:lnTo>
                  <a:pt x="445770" y="552755"/>
                </a:lnTo>
                <a:close/>
              </a:path>
            </a:pathLst>
          </a:custGeom>
          <a:solidFill>
            <a:srgbClr val="2F4B6E">
              <a:alpha val="5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78140" y="7200900"/>
            <a:ext cx="14859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成長路徑</a:t>
            </a:r>
            <a:endParaRPr lang="en-US" sz="1500" dirty="0"/>
          </a:p>
        </p:txBody>
      </p:sp>
      <p:sp>
        <p:nvSpPr>
          <p:cNvPr id="14" name="處理"/>
          <p:cNvSpPr/>
          <p:nvPr/>
        </p:nvSpPr>
        <p:spPr>
          <a:xfrm>
            <a:off x="685800" y="4743450"/>
            <a:ext cx="1085850" cy="685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特質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71500" y="5520690"/>
            <a:ext cx="13144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個性、動機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與價值觀</a:t>
            </a:r>
            <a:endParaRPr lang="en-US" sz="1300" dirty="0"/>
          </a:p>
        </p:txBody>
      </p:sp>
      <p:sp>
        <p:nvSpPr>
          <p:cNvPr id="16" name="處理"/>
          <p:cNvSpPr/>
          <p:nvPr/>
        </p:nvSpPr>
        <p:spPr>
          <a:xfrm>
            <a:off x="2343150" y="3749040"/>
            <a:ext cx="1143000" cy="617220"/>
          </a:xfrm>
          <a:prstGeom prst="roundRect">
            <a:avLst>
              <a:gd name="adj" fmla="val 18519"/>
            </a:avLst>
          </a:prstGeom>
          <a:solidFill>
            <a:srgbClr val="F2F2F2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</a:t>
            </a:r>
            <a:endParaRPr lang="en-US" sz="1750" dirty="0"/>
          </a:p>
        </p:txBody>
      </p:sp>
      <p:sp>
        <p:nvSpPr>
          <p:cNvPr id="17" name="處理"/>
          <p:cNvSpPr/>
          <p:nvPr/>
        </p:nvSpPr>
        <p:spPr>
          <a:xfrm>
            <a:off x="2343150" y="5806440"/>
            <a:ext cx="1143000" cy="617220"/>
          </a:xfrm>
          <a:prstGeom prst="roundRect">
            <a:avLst>
              <a:gd name="adj" fmla="val 18519"/>
            </a:avLst>
          </a:prstGeom>
          <a:solidFill>
            <a:srgbClr val="F2F2F2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2286000" y="3429000"/>
            <a:ext cx="12573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知道是什麼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86000" y="6469380"/>
            <a:ext cx="12573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知道怎麼做</a:t>
            </a:r>
            <a:endParaRPr lang="en-US" sz="1300" dirty="0"/>
          </a:p>
        </p:txBody>
      </p:sp>
      <p:sp>
        <p:nvSpPr>
          <p:cNvPr id="20" name="處理"/>
          <p:cNvSpPr/>
          <p:nvPr/>
        </p:nvSpPr>
        <p:spPr>
          <a:xfrm>
            <a:off x="4057650" y="4743450"/>
            <a:ext cx="1085850" cy="685800"/>
          </a:xfrm>
          <a:prstGeom prst="roundRect">
            <a:avLst>
              <a:gd name="adj" fmla="val 16667"/>
            </a:avLst>
          </a:prstGeom>
          <a:solidFill>
            <a:srgbClr val="2F4B6E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3943350" y="5520690"/>
            <a:ext cx="131445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能產生價值</a:t>
            </a:r>
            <a:endParaRPr lang="en-US" sz="1300" dirty="0"/>
          </a:p>
        </p:txBody>
      </p:sp>
      <p:sp>
        <p:nvSpPr>
          <p:cNvPr id="22" name="連接線"/>
          <p:cNvSpPr/>
          <p:nvPr/>
        </p:nvSpPr>
        <p:spPr>
          <a:xfrm>
            <a:off x="1840230" y="4057650"/>
            <a:ext cx="434340" cy="1028700"/>
          </a:xfrm>
          <a:custGeom>
            <a:avLst/>
            <a:gdLst/>
            <a:ahLst/>
            <a:cxnLst/>
            <a:rect l="l" t="t" r="r" b="b"/>
            <a:pathLst>
              <a:path w="434340" h="1028700">
                <a:moveTo>
                  <a:pt x="0" y="1028700"/>
                </a:moveTo>
                <a:lnTo>
                  <a:pt x="217170" y="1028700"/>
                </a:lnTo>
                <a:lnTo>
                  <a:pt x="217170" y="0"/>
                </a:lnTo>
                <a:lnTo>
                  <a:pt x="434340" y="0"/>
                </a:lnTo>
              </a:path>
            </a:pathLst>
          </a:custGeom>
          <a:ln w="19812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連接線"/>
          <p:cNvSpPr/>
          <p:nvPr/>
        </p:nvSpPr>
        <p:spPr>
          <a:xfrm>
            <a:off x="1840230" y="5086350"/>
            <a:ext cx="434340" cy="1028700"/>
          </a:xfrm>
          <a:custGeom>
            <a:avLst/>
            <a:gdLst/>
            <a:ahLst/>
            <a:cxnLst/>
            <a:rect l="l" t="t" r="r" b="b"/>
            <a:pathLst>
              <a:path w="434340" h="1028700">
                <a:moveTo>
                  <a:pt x="0" y="0"/>
                </a:moveTo>
                <a:lnTo>
                  <a:pt x="217170" y="0"/>
                </a:lnTo>
                <a:lnTo>
                  <a:pt x="217170" y="1028700"/>
                </a:lnTo>
                <a:lnTo>
                  <a:pt x="434340" y="1028700"/>
                </a:lnTo>
              </a:path>
            </a:pathLst>
          </a:custGeom>
          <a:ln w="19812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連接線"/>
          <p:cNvSpPr/>
          <p:nvPr/>
        </p:nvSpPr>
        <p:spPr>
          <a:xfrm>
            <a:off x="3554730" y="4057650"/>
            <a:ext cx="434340" cy="1028700"/>
          </a:xfrm>
          <a:custGeom>
            <a:avLst/>
            <a:gdLst/>
            <a:ahLst/>
            <a:cxnLst/>
            <a:rect l="l" t="t" r="r" b="b"/>
            <a:pathLst>
              <a:path w="434340" h="1028700">
                <a:moveTo>
                  <a:pt x="0" y="0"/>
                </a:moveTo>
                <a:lnTo>
                  <a:pt x="217170" y="0"/>
                </a:lnTo>
                <a:lnTo>
                  <a:pt x="217170" y="1028700"/>
                </a:lnTo>
                <a:lnTo>
                  <a:pt x="434340" y="1028700"/>
                </a:lnTo>
              </a:path>
            </a:pathLst>
          </a:custGeom>
          <a:ln w="19812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連接線"/>
          <p:cNvSpPr/>
          <p:nvPr/>
        </p:nvSpPr>
        <p:spPr>
          <a:xfrm>
            <a:off x="3554730" y="5086350"/>
            <a:ext cx="434340" cy="1028700"/>
          </a:xfrm>
          <a:custGeom>
            <a:avLst/>
            <a:gdLst/>
            <a:ahLst/>
            <a:cxnLst/>
            <a:rect l="l" t="t" r="r" b="b"/>
            <a:pathLst>
              <a:path w="434340" h="1028700">
                <a:moveTo>
                  <a:pt x="0" y="1028700"/>
                </a:moveTo>
                <a:lnTo>
                  <a:pt x="217170" y="1028700"/>
                </a:lnTo>
                <a:lnTo>
                  <a:pt x="217170" y="0"/>
                </a:lnTo>
                <a:lnTo>
                  <a:pt x="434340" y="0"/>
                </a:lnTo>
              </a:path>
            </a:pathLst>
          </a:custGeom>
          <a:ln w="19812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連接線"/>
          <p:cNvSpPr/>
          <p:nvPr/>
        </p:nvSpPr>
        <p:spPr>
          <a:xfrm>
            <a:off x="5212080" y="3429000"/>
            <a:ext cx="720090" cy="1657350"/>
          </a:xfrm>
          <a:custGeom>
            <a:avLst/>
            <a:gdLst/>
            <a:ahLst/>
            <a:cxnLst/>
            <a:rect l="l" t="t" r="r" b="b"/>
            <a:pathLst>
              <a:path w="720090" h="1657350">
                <a:moveTo>
                  <a:pt x="0" y="1657350"/>
                </a:moveTo>
                <a:lnTo>
                  <a:pt x="360045" y="1657350"/>
                </a:lnTo>
                <a:lnTo>
                  <a:pt x="360045" y="0"/>
                </a:lnTo>
                <a:lnTo>
                  <a:pt x="720090" y="0"/>
                </a:lnTo>
              </a:path>
            </a:pathLst>
          </a:custGeom>
          <a:ln w="19812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線條"/>
          <p:cNvSpPr/>
          <p:nvPr/>
        </p:nvSpPr>
        <p:spPr>
          <a:xfrm>
            <a:off x="5212080" y="5086350"/>
            <a:ext cx="720090" cy="0"/>
          </a:xfrm>
          <a:prstGeom prst="line">
            <a:avLst/>
          </a:prstGeom>
          <a:noFill/>
          <a:ln w="19812">
            <a:solidFill>
              <a:srgbClr val="595959"/>
            </a:solidFill>
            <a:prstDash val="sysDot"/>
            <a:tailEnd type="triangle" w="lg" len="lg"/>
          </a:ln>
        </p:spPr>
      </p:sp>
      <p:sp>
        <p:nvSpPr>
          <p:cNvPr id="28" name="連接線"/>
          <p:cNvSpPr/>
          <p:nvPr/>
        </p:nvSpPr>
        <p:spPr>
          <a:xfrm>
            <a:off x="5212080" y="5086350"/>
            <a:ext cx="720090" cy="1657350"/>
          </a:xfrm>
          <a:custGeom>
            <a:avLst/>
            <a:gdLst/>
            <a:ahLst/>
            <a:cxnLst/>
            <a:rect l="l" t="t" r="r" b="b"/>
            <a:pathLst>
              <a:path w="720090" h="1657350">
                <a:moveTo>
                  <a:pt x="0" y="0"/>
                </a:moveTo>
                <a:lnTo>
                  <a:pt x="360045" y="0"/>
                </a:lnTo>
                <a:lnTo>
                  <a:pt x="360045" y="1657350"/>
                </a:lnTo>
                <a:lnTo>
                  <a:pt x="720090" y="1657350"/>
                </a:lnTo>
              </a:path>
            </a:pathLst>
          </a:custGeom>
          <a:ln w="19812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卡片"/>
          <p:cNvSpPr/>
          <p:nvPr/>
        </p:nvSpPr>
        <p:spPr>
          <a:xfrm>
            <a:off x="6000750" y="3017520"/>
            <a:ext cx="2286000" cy="822960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/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000750" y="3017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執行實踐</a:t>
            </a:r>
            <a:endParaRPr lang="en-US" sz="2000" dirty="0"/>
          </a:p>
        </p:txBody>
      </p:sp>
      <p:sp>
        <p:nvSpPr>
          <p:cNvPr id="31" name="標籤"/>
          <p:cNvSpPr/>
          <p:nvPr/>
        </p:nvSpPr>
        <p:spPr>
          <a:xfrm>
            <a:off x="7500620" y="2857500"/>
            <a:ext cx="614680" cy="32004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前期</a:t>
            </a:r>
            <a:endParaRPr lang="en-US" sz="1250" dirty="0"/>
          </a:p>
        </p:txBody>
      </p:sp>
      <p:sp>
        <p:nvSpPr>
          <p:cNvPr id="32" name="標籤"/>
          <p:cNvSpPr/>
          <p:nvPr/>
        </p:nvSpPr>
        <p:spPr>
          <a:xfrm>
            <a:off x="6172200" y="3680460"/>
            <a:ext cx="773430" cy="32004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打基礎</a:t>
            </a:r>
            <a:endParaRPr lang="en-US" sz="1250" dirty="0"/>
          </a:p>
        </p:txBody>
      </p:sp>
      <p:sp>
        <p:nvSpPr>
          <p:cNvPr id="33" name="卡片"/>
          <p:cNvSpPr/>
          <p:nvPr/>
        </p:nvSpPr>
        <p:spPr>
          <a:xfrm>
            <a:off x="6000750" y="4674870"/>
            <a:ext cx="2286000" cy="822960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/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000750" y="467487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溝通協作</a:t>
            </a:r>
            <a:endParaRPr lang="en-US" sz="2000" dirty="0"/>
          </a:p>
        </p:txBody>
      </p:sp>
      <p:sp>
        <p:nvSpPr>
          <p:cNvPr id="35" name="標籤"/>
          <p:cNvSpPr/>
          <p:nvPr/>
        </p:nvSpPr>
        <p:spPr>
          <a:xfrm>
            <a:off x="7500620" y="4514850"/>
            <a:ext cx="614680" cy="32004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中期</a:t>
            </a:r>
            <a:endParaRPr lang="en-US" sz="1250" dirty="0"/>
          </a:p>
        </p:txBody>
      </p:sp>
      <p:sp>
        <p:nvSpPr>
          <p:cNvPr id="36" name="標籤"/>
          <p:cNvSpPr/>
          <p:nvPr/>
        </p:nvSpPr>
        <p:spPr>
          <a:xfrm>
            <a:off x="6172200" y="5337810"/>
            <a:ext cx="773430" cy="32004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擴影響</a:t>
            </a:r>
            <a:endParaRPr lang="en-US" sz="1250" dirty="0"/>
          </a:p>
        </p:txBody>
      </p:sp>
      <p:sp>
        <p:nvSpPr>
          <p:cNvPr id="37" name="卡片"/>
          <p:cNvSpPr/>
          <p:nvPr/>
        </p:nvSpPr>
        <p:spPr>
          <a:xfrm>
            <a:off x="6000750" y="6332220"/>
            <a:ext cx="2286000" cy="822960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/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000750" y="63322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整合創新</a:t>
            </a:r>
            <a:endParaRPr lang="en-US" sz="2000" dirty="0"/>
          </a:p>
        </p:txBody>
      </p:sp>
      <p:sp>
        <p:nvSpPr>
          <p:cNvPr id="39" name="標籤"/>
          <p:cNvSpPr/>
          <p:nvPr/>
        </p:nvSpPr>
        <p:spPr>
          <a:xfrm>
            <a:off x="7500620" y="6172200"/>
            <a:ext cx="614680" cy="320040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後期</a:t>
            </a:r>
            <a:endParaRPr lang="en-US" sz="1250" dirty="0"/>
          </a:p>
        </p:txBody>
      </p:sp>
      <p:sp>
        <p:nvSpPr>
          <p:cNvPr id="40" name="標籤"/>
          <p:cNvSpPr/>
          <p:nvPr/>
        </p:nvSpPr>
        <p:spPr>
          <a:xfrm>
            <a:off x="6172200" y="6995160"/>
            <a:ext cx="773430" cy="32004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建槓桿</a:t>
            </a:r>
            <a:endParaRPr lang="en-US" sz="1250" dirty="0"/>
          </a:p>
        </p:txBody>
      </p:sp>
      <p:sp>
        <p:nvSpPr>
          <p:cNvPr id="41" name="寬欄條"/>
          <p:cNvSpPr/>
          <p:nvPr/>
        </p:nvSpPr>
        <p:spPr>
          <a:xfrm>
            <a:off x="8858250" y="2571750"/>
            <a:ext cx="685800" cy="4857750"/>
          </a:xfrm>
          <a:prstGeom prst="roundRect">
            <a:avLst>
              <a:gd name="adj" fmla="val 16667"/>
            </a:avLst>
          </a:prstGeom>
          <a:solidFill>
            <a:srgbClr val="A6A6A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寬欄條"/>
          <p:cNvSpPr/>
          <p:nvPr/>
        </p:nvSpPr>
        <p:spPr>
          <a:xfrm>
            <a:off x="9772650" y="2571750"/>
            <a:ext cx="685800" cy="4857750"/>
          </a:xfrm>
          <a:prstGeom prst="roundRect">
            <a:avLst>
              <a:gd name="adj" fmla="val 16667"/>
            </a:avLst>
          </a:prstGeom>
          <a:solidFill>
            <a:srgbClr val="A6A6A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8458200" y="2194560"/>
            <a:ext cx="2400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吸收　／　產出</a:t>
            </a:r>
            <a:endParaRPr lang="en-US" sz="1400" dirty="0"/>
          </a:p>
        </p:txBody>
      </p:sp>
      <p:sp>
        <p:nvSpPr>
          <p:cNvPr id="44" name="編號"/>
          <p:cNvSpPr/>
          <p:nvPr/>
        </p:nvSpPr>
        <p:spPr>
          <a:xfrm>
            <a:off x="8858250" y="3242462"/>
            <a:ext cx="685800" cy="373075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400" dirty="0"/>
          </a:p>
        </p:txBody>
      </p:sp>
      <p:sp>
        <p:nvSpPr>
          <p:cNvPr id="45" name="編號"/>
          <p:cNvSpPr/>
          <p:nvPr/>
        </p:nvSpPr>
        <p:spPr>
          <a:xfrm>
            <a:off x="9772650" y="3242462"/>
            <a:ext cx="685800" cy="373075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400" dirty="0"/>
          </a:p>
        </p:txBody>
      </p:sp>
      <p:sp>
        <p:nvSpPr>
          <p:cNvPr id="46" name="線條"/>
          <p:cNvSpPr/>
          <p:nvPr/>
        </p:nvSpPr>
        <p:spPr>
          <a:xfrm>
            <a:off x="8378190" y="3429000"/>
            <a:ext cx="48006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47" name="編號"/>
          <p:cNvSpPr/>
          <p:nvPr/>
        </p:nvSpPr>
        <p:spPr>
          <a:xfrm>
            <a:off x="8858250" y="4899812"/>
            <a:ext cx="685800" cy="373075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400" dirty="0"/>
          </a:p>
        </p:txBody>
      </p:sp>
      <p:sp>
        <p:nvSpPr>
          <p:cNvPr id="48" name="編號"/>
          <p:cNvSpPr/>
          <p:nvPr/>
        </p:nvSpPr>
        <p:spPr>
          <a:xfrm>
            <a:off x="9772650" y="4899812"/>
            <a:ext cx="685800" cy="373075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400" dirty="0"/>
          </a:p>
        </p:txBody>
      </p:sp>
      <p:sp>
        <p:nvSpPr>
          <p:cNvPr id="49" name="線條"/>
          <p:cNvSpPr/>
          <p:nvPr/>
        </p:nvSpPr>
        <p:spPr>
          <a:xfrm>
            <a:off x="8378190" y="5086350"/>
            <a:ext cx="48006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50" name="編號"/>
          <p:cNvSpPr/>
          <p:nvPr/>
        </p:nvSpPr>
        <p:spPr>
          <a:xfrm>
            <a:off x="8858250" y="6557162"/>
            <a:ext cx="685800" cy="373075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400" dirty="0"/>
          </a:p>
        </p:txBody>
      </p:sp>
      <p:sp>
        <p:nvSpPr>
          <p:cNvPr id="51" name="編號"/>
          <p:cNvSpPr/>
          <p:nvPr/>
        </p:nvSpPr>
        <p:spPr>
          <a:xfrm>
            <a:off x="9772650" y="6557162"/>
            <a:ext cx="685800" cy="373075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400" dirty="0"/>
          </a:p>
        </p:txBody>
      </p:sp>
      <p:sp>
        <p:nvSpPr>
          <p:cNvPr id="52" name="線條"/>
          <p:cNvSpPr/>
          <p:nvPr/>
        </p:nvSpPr>
        <p:spPr>
          <a:xfrm>
            <a:off x="8378190" y="6743700"/>
            <a:ext cx="48006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53" name="線條"/>
          <p:cNvSpPr/>
          <p:nvPr/>
        </p:nvSpPr>
        <p:spPr>
          <a:xfrm>
            <a:off x="10458450" y="3429000"/>
            <a:ext cx="285750" cy="0"/>
          </a:xfrm>
          <a:prstGeom prst="line">
            <a:avLst/>
          </a:prstGeom>
          <a:noFill/>
          <a:ln w="19812">
            <a:solidFill>
              <a:srgbClr val="595959"/>
            </a:solidFill>
            <a:prstDash val="sysDot"/>
          </a:ln>
        </p:spPr>
      </p:sp>
      <p:sp>
        <p:nvSpPr>
          <p:cNvPr id="54" name="連接線"/>
          <p:cNvSpPr/>
          <p:nvPr/>
        </p:nvSpPr>
        <p:spPr>
          <a:xfrm>
            <a:off x="10744200" y="306324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365760"/>
                </a:moveTo>
                <a:lnTo>
                  <a:pt x="0" y="0"/>
                </a:lnTo>
                <a:lnTo>
                  <a:pt x="308610" y="0"/>
                </a:lnTo>
              </a:path>
            </a:pathLst>
          </a:custGeom>
          <a:ln w="19812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11144250" y="2891790"/>
            <a:ext cx="2628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流程操作、工具使用</a:t>
            </a:r>
            <a:endParaRPr lang="en-US" sz="1400" dirty="0"/>
          </a:p>
        </p:txBody>
      </p:sp>
      <p:sp>
        <p:nvSpPr>
          <p:cNvPr id="56" name="連接線"/>
          <p:cNvSpPr/>
          <p:nvPr/>
        </p:nvSpPr>
        <p:spPr>
          <a:xfrm>
            <a:off x="10744200" y="342900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0"/>
                </a:moveTo>
                <a:lnTo>
                  <a:pt x="0" y="365760"/>
                </a:lnTo>
                <a:lnTo>
                  <a:pt x="308610" y="365760"/>
                </a:lnTo>
              </a:path>
            </a:pathLst>
          </a:custGeom>
          <a:ln w="19812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11144250" y="3623310"/>
            <a:ext cx="2628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標準作業與規範</a:t>
            </a:r>
            <a:endParaRPr lang="en-US" sz="1400" dirty="0"/>
          </a:p>
        </p:txBody>
      </p:sp>
      <p:sp>
        <p:nvSpPr>
          <p:cNvPr id="58" name="線條"/>
          <p:cNvSpPr/>
          <p:nvPr/>
        </p:nvSpPr>
        <p:spPr>
          <a:xfrm>
            <a:off x="10458450" y="5086350"/>
            <a:ext cx="285750" cy="0"/>
          </a:xfrm>
          <a:prstGeom prst="line">
            <a:avLst/>
          </a:prstGeom>
          <a:noFill/>
          <a:ln w="19812">
            <a:solidFill>
              <a:srgbClr val="595959"/>
            </a:solidFill>
            <a:prstDash val="sysDot"/>
          </a:ln>
        </p:spPr>
      </p:sp>
      <p:sp>
        <p:nvSpPr>
          <p:cNvPr id="59" name="連接線"/>
          <p:cNvSpPr/>
          <p:nvPr/>
        </p:nvSpPr>
        <p:spPr>
          <a:xfrm>
            <a:off x="10744200" y="472059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365760"/>
                </a:moveTo>
                <a:lnTo>
                  <a:pt x="0" y="0"/>
                </a:lnTo>
                <a:lnTo>
                  <a:pt x="308610" y="0"/>
                </a:lnTo>
              </a:path>
            </a:pathLst>
          </a:custGeom>
          <a:ln w="19812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11144250" y="4549140"/>
            <a:ext cx="2628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表達、傾聽、協調</a:t>
            </a:r>
            <a:endParaRPr lang="en-US" sz="1400" dirty="0"/>
          </a:p>
        </p:txBody>
      </p:sp>
      <p:sp>
        <p:nvSpPr>
          <p:cNvPr id="61" name="連接線"/>
          <p:cNvSpPr/>
          <p:nvPr/>
        </p:nvSpPr>
        <p:spPr>
          <a:xfrm>
            <a:off x="10744200" y="508635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0"/>
                </a:moveTo>
                <a:lnTo>
                  <a:pt x="0" y="365760"/>
                </a:lnTo>
                <a:lnTo>
                  <a:pt x="308610" y="365760"/>
                </a:lnTo>
              </a:path>
            </a:pathLst>
          </a:custGeom>
          <a:ln w="19812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11144250" y="5280660"/>
            <a:ext cx="2628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提案、談判、領導</a:t>
            </a:r>
            <a:endParaRPr lang="en-US" sz="1400" dirty="0"/>
          </a:p>
        </p:txBody>
      </p:sp>
      <p:sp>
        <p:nvSpPr>
          <p:cNvPr id="63" name="線條"/>
          <p:cNvSpPr/>
          <p:nvPr/>
        </p:nvSpPr>
        <p:spPr>
          <a:xfrm>
            <a:off x="10458450" y="6743700"/>
            <a:ext cx="285750" cy="0"/>
          </a:xfrm>
          <a:prstGeom prst="line">
            <a:avLst/>
          </a:prstGeom>
          <a:noFill/>
          <a:ln w="19812">
            <a:solidFill>
              <a:srgbClr val="595959"/>
            </a:solidFill>
            <a:prstDash val="sysDot"/>
          </a:ln>
        </p:spPr>
      </p:sp>
      <p:sp>
        <p:nvSpPr>
          <p:cNvPr id="64" name="連接線"/>
          <p:cNvSpPr/>
          <p:nvPr/>
        </p:nvSpPr>
        <p:spPr>
          <a:xfrm>
            <a:off x="10744200" y="637794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365760"/>
                </a:moveTo>
                <a:lnTo>
                  <a:pt x="0" y="0"/>
                </a:lnTo>
                <a:lnTo>
                  <a:pt x="308610" y="0"/>
                </a:lnTo>
              </a:path>
            </a:pathLst>
          </a:custGeom>
          <a:ln w="19812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11144250" y="6206490"/>
            <a:ext cx="2628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結構思考、問題解決</a:t>
            </a:r>
            <a:endParaRPr lang="en-US" sz="1400" dirty="0"/>
          </a:p>
        </p:txBody>
      </p:sp>
      <p:sp>
        <p:nvSpPr>
          <p:cNvPr id="66" name="連接線"/>
          <p:cNvSpPr/>
          <p:nvPr/>
        </p:nvSpPr>
        <p:spPr>
          <a:xfrm>
            <a:off x="10744200" y="674370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0"/>
                </a:moveTo>
                <a:lnTo>
                  <a:pt x="0" y="365760"/>
                </a:lnTo>
                <a:lnTo>
                  <a:pt x="308610" y="365760"/>
                </a:lnTo>
              </a:path>
            </a:pathLst>
          </a:custGeom>
          <a:ln w="19812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11144250" y="6938010"/>
            <a:ext cx="2628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資源整合、創新</a:t>
            </a:r>
            <a:endParaRPr lang="en-US" sz="1400" dirty="0"/>
          </a:p>
        </p:txBody>
      </p:sp>
      <p:sp>
        <p:nvSpPr>
          <p:cNvPr id="68" name="漸隱直條"/>
          <p:cNvSpPr/>
          <p:nvPr/>
        </p:nvSpPr>
        <p:spPr>
          <a:xfrm>
            <a:off x="14167485" y="2810637"/>
            <a:ext cx="217170" cy="4391406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漸隱直條"/>
          <p:cNvSpPr/>
          <p:nvPr/>
        </p:nvSpPr>
        <p:spPr>
          <a:xfrm>
            <a:off x="14167485" y="3175635"/>
            <a:ext cx="217170" cy="3661410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漸隱直條"/>
          <p:cNvSpPr/>
          <p:nvPr/>
        </p:nvSpPr>
        <p:spPr>
          <a:xfrm>
            <a:off x="14167485" y="3540633"/>
            <a:ext cx="217170" cy="2931414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漸隱直條"/>
          <p:cNvSpPr/>
          <p:nvPr/>
        </p:nvSpPr>
        <p:spPr>
          <a:xfrm>
            <a:off x="14167485" y="3905631"/>
            <a:ext cx="217170" cy="2201418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漸隱直條"/>
          <p:cNvSpPr/>
          <p:nvPr/>
        </p:nvSpPr>
        <p:spPr>
          <a:xfrm>
            <a:off x="14167485" y="4270629"/>
            <a:ext cx="217170" cy="1471422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漸隱直條"/>
          <p:cNvSpPr/>
          <p:nvPr/>
        </p:nvSpPr>
        <p:spPr>
          <a:xfrm>
            <a:off x="14167485" y="4635627"/>
            <a:ext cx="217170" cy="741426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14058900" y="2571750"/>
            <a:ext cx="434340" cy="238887"/>
          </a:xfrm>
          <a:custGeom>
            <a:avLst/>
            <a:gdLst/>
            <a:ahLst/>
            <a:cxnLst/>
            <a:rect l="l" t="t" r="r" b="b"/>
            <a:pathLst>
              <a:path w="434340" h="238887">
                <a:moveTo>
                  <a:pt x="0" y="238887"/>
                </a:moveTo>
                <a:lnTo>
                  <a:pt x="217170" y="0"/>
                </a:lnTo>
                <a:lnTo>
                  <a:pt x="434340" y="238887"/>
                </a:lnTo>
                <a:close/>
              </a:path>
            </a:pathLst>
          </a:cu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14058900" y="7190613"/>
            <a:ext cx="434340" cy="238887"/>
          </a:xfrm>
          <a:custGeom>
            <a:avLst/>
            <a:gdLst/>
            <a:ahLst/>
            <a:cxnLst/>
            <a:rect l="l" t="t" r="r" b="b"/>
            <a:pathLst>
              <a:path w="434340" h="238887">
                <a:moveTo>
                  <a:pt x="0" y="0"/>
                </a:moveTo>
                <a:lnTo>
                  <a:pt x="434340" y="0"/>
                </a:lnTo>
                <a:lnTo>
                  <a:pt x="217170" y="238887"/>
                </a:lnTo>
                <a:close/>
              </a:path>
            </a:pathLst>
          </a:custGeom>
          <a:solidFill>
            <a:srgbClr val="A6A6A6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12973050" y="2194560"/>
            <a:ext cx="1600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情境限定</a:t>
            </a:r>
            <a:endParaRPr lang="en-US" sz="1250" dirty="0"/>
          </a:p>
        </p:txBody>
      </p:sp>
      <p:sp>
        <p:nvSpPr>
          <p:cNvPr id="77" name="Text 75"/>
          <p:cNvSpPr/>
          <p:nvPr/>
        </p:nvSpPr>
        <p:spPr>
          <a:xfrm>
            <a:off x="12973050" y="7486650"/>
            <a:ext cx="1600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跨域通用</a:t>
            </a:r>
            <a:endParaRPr lang="en-US" sz="1250" dirty="0"/>
          </a:p>
        </p:txBody>
      </p:sp>
      <p:sp>
        <p:nvSpPr>
          <p:cNvPr id="78" name="Text 76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79" name="Text 77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13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精緻圖解元件庫 · 框架鑑</dc:title>
  <dc:subject>PptxGenJS Presentation</dc:subject>
  <dc:creator>PPT Style Studio</dc:creator>
  <cp:lastModifiedBy>PPT Style Studio</cp:lastModifiedBy>
  <cp:revision>1</cp:revision>
  <dcterms:created xsi:type="dcterms:W3CDTF">2026-10-09T02:33:48Z</dcterms:created>
  <dcterms:modified xsi:type="dcterms:W3CDTF">2026-10-09T02:33:48Z</dcterms:modified>
</cp:coreProperties>
</file>