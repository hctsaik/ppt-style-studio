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5239619" cy="8572500"/>
  <p:notesSz cx="8572500" cy="1523961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5720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元件總表 Element Catalog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8492808" y="1066800"/>
            <a:ext cx="182880" cy="18288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2573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一頁看完本風格的所有元件變化：挑好樣式，直接複製圖形使用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571500" cy="68580"/>
          </a:xfrm>
          <a:prstGeom prst="rect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類別"/>
          <p:cNvSpPr/>
          <p:nvPr/>
        </p:nvSpPr>
        <p:spPr>
          <a:xfrm>
            <a:off x="685800" y="2177415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流程方塊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750" dirty="0"/>
          </a:p>
        </p:txBody>
      </p:sp>
      <p:sp>
        <p:nvSpPr>
          <p:cNvPr id="7" name="流程方塊"/>
          <p:cNvSpPr/>
          <p:nvPr/>
        </p:nvSpPr>
        <p:spPr>
          <a:xfrm>
            <a:off x="2497700" y="2091690"/>
            <a:ext cx="1371600" cy="48006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8" name="圖說"/>
          <p:cNvSpPr/>
          <p:nvPr/>
        </p:nvSpPr>
        <p:spPr>
          <a:xfrm>
            <a:off x="2343150" y="26117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無陰影・外框</a:t>
            </a:r>
            <a:endParaRPr lang="en-US" sz="1050" dirty="0"/>
          </a:p>
        </p:txBody>
      </p:sp>
      <p:sp>
        <p:nvSpPr>
          <p:cNvPr id="9" name="流程方塊"/>
          <p:cNvSpPr/>
          <p:nvPr/>
        </p:nvSpPr>
        <p:spPr>
          <a:xfrm>
            <a:off x="4246980" y="2091690"/>
            <a:ext cx="1371600" cy="48006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8001">
            <a:solidFill>
              <a:srgbClr val="D9D9D9"/>
            </a:solidFill>
            <a:prstDash val="solid"/>
          </a:ln>
          <a:effectLst>
            <a:outerShdw blurRad="106045" dist="30353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0" name="圖說"/>
          <p:cNvSpPr/>
          <p:nvPr/>
        </p:nvSpPr>
        <p:spPr>
          <a:xfrm>
            <a:off x="4092430" y="26117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1050" dirty="0"/>
          </a:p>
        </p:txBody>
      </p:sp>
      <p:sp>
        <p:nvSpPr>
          <p:cNvPr id="11" name="流程方塊"/>
          <p:cNvSpPr/>
          <p:nvPr/>
        </p:nvSpPr>
        <p:spPr>
          <a:xfrm>
            <a:off x="5996260" y="2091690"/>
            <a:ext cx="1371600" cy="480060"/>
          </a:xfrm>
          <a:prstGeom prst="roundRect">
            <a:avLst>
              <a:gd name="adj" fmla="val 11905"/>
            </a:avLst>
          </a:prstGeom>
          <a:solidFill>
            <a:srgbClr val="EDEDED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2" name="圖說"/>
          <p:cNvSpPr/>
          <p:nvPr/>
        </p:nvSpPr>
        <p:spPr>
          <a:xfrm>
            <a:off x="5841710" y="26117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1050" dirty="0"/>
          </a:p>
        </p:txBody>
      </p:sp>
      <p:sp>
        <p:nvSpPr>
          <p:cNvPr id="13" name="流程方塊"/>
          <p:cNvSpPr/>
          <p:nvPr/>
        </p:nvSpPr>
        <p:spPr>
          <a:xfrm>
            <a:off x="7745540" y="2091690"/>
            <a:ext cx="1371600" cy="480060"/>
          </a:xfrm>
          <a:prstGeom prst="roundRect">
            <a:avLst>
              <a:gd name="adj" fmla="val 11905"/>
            </a:avLst>
          </a:prstGeom>
          <a:solidFill>
            <a:srgbClr val="F2F2F2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4" name="圖說"/>
          <p:cNvSpPr/>
          <p:nvPr/>
        </p:nvSpPr>
        <p:spPr>
          <a:xfrm>
            <a:off x="7590990" y="26117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1050" dirty="0"/>
          </a:p>
        </p:txBody>
      </p:sp>
      <p:sp>
        <p:nvSpPr>
          <p:cNvPr id="15" name="流程方塊"/>
          <p:cNvSpPr/>
          <p:nvPr/>
        </p:nvSpPr>
        <p:spPr>
          <a:xfrm>
            <a:off x="9494819" y="2091690"/>
            <a:ext cx="1371600" cy="48006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27813">
            <a:solidFill>
              <a:srgbClr val="3A3A3A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6" name="圖說"/>
          <p:cNvSpPr/>
          <p:nvPr/>
        </p:nvSpPr>
        <p:spPr>
          <a:xfrm>
            <a:off x="9340269" y="26117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主色粗外框</a:t>
            </a:r>
            <a:endParaRPr lang="en-US" sz="1050" dirty="0"/>
          </a:p>
        </p:txBody>
      </p:sp>
      <p:sp>
        <p:nvSpPr>
          <p:cNvPr id="17" name="流程方塊"/>
          <p:cNvSpPr/>
          <p:nvPr/>
        </p:nvSpPr>
        <p:spPr>
          <a:xfrm>
            <a:off x="11244099" y="2091690"/>
            <a:ext cx="1371600" cy="480060"/>
          </a:xfrm>
          <a:prstGeom prst="roundRect">
            <a:avLst>
              <a:gd name="adj" fmla="val 11905"/>
            </a:avLst>
          </a:prstGeom>
          <a:solidFill>
            <a:srgbClr val="3A3A3A"/>
          </a:solidFill>
          <a:ln/>
          <a:effectLst>
            <a:outerShdw blurRad="66675" dist="23876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關鍵步驟</a:t>
            </a:r>
            <a:endParaRPr lang="en-US" sz="1450" dirty="0"/>
          </a:p>
        </p:txBody>
      </p:sp>
      <p:sp>
        <p:nvSpPr>
          <p:cNvPr id="18" name="圖說"/>
          <p:cNvSpPr/>
          <p:nvPr/>
        </p:nvSpPr>
        <p:spPr>
          <a:xfrm>
            <a:off x="11089549" y="26117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1050" dirty="0"/>
          </a:p>
        </p:txBody>
      </p:sp>
      <p:sp>
        <p:nvSpPr>
          <p:cNvPr id="19" name="流程方塊"/>
          <p:cNvSpPr/>
          <p:nvPr/>
        </p:nvSpPr>
        <p:spPr>
          <a:xfrm>
            <a:off x="12993379" y="2091690"/>
            <a:ext cx="1371600" cy="48006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待定步驟</a:t>
            </a:r>
            <a:endParaRPr lang="en-US" sz="1450" dirty="0"/>
          </a:p>
        </p:txBody>
      </p:sp>
      <p:sp>
        <p:nvSpPr>
          <p:cNvPr id="20" name="圖說"/>
          <p:cNvSpPr/>
          <p:nvPr/>
        </p:nvSpPr>
        <p:spPr>
          <a:xfrm>
            <a:off x="12838829" y="26117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虛線・待定</a:t>
            </a:r>
            <a:endParaRPr lang="en-US" sz="1050" dirty="0"/>
          </a:p>
        </p:txBody>
      </p:sp>
      <p:sp>
        <p:nvSpPr>
          <p:cNvPr id="21" name="線條"/>
          <p:cNvSpPr/>
          <p:nvPr/>
        </p:nvSpPr>
        <p:spPr>
          <a:xfrm>
            <a:off x="685800" y="282892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22" name="類別"/>
          <p:cNvSpPr/>
          <p:nvPr/>
        </p:nvSpPr>
        <p:spPr>
          <a:xfrm>
            <a:off x="685800" y="3034665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判斷菱形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750" dirty="0"/>
          </a:p>
        </p:txBody>
      </p:sp>
      <p:sp>
        <p:nvSpPr>
          <p:cNvPr id="23" name="判斷菱形"/>
          <p:cNvSpPr/>
          <p:nvPr/>
        </p:nvSpPr>
        <p:spPr>
          <a:xfrm>
            <a:off x="2583425" y="2891790"/>
            <a:ext cx="1200150" cy="5943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4" name="圖說"/>
          <p:cNvSpPr/>
          <p:nvPr/>
        </p:nvSpPr>
        <p:spPr>
          <a:xfrm>
            <a:off x="2343150" y="35261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1050" dirty="0"/>
          </a:p>
        </p:txBody>
      </p:sp>
      <p:sp>
        <p:nvSpPr>
          <p:cNvPr id="25" name="判斷菱形"/>
          <p:cNvSpPr/>
          <p:nvPr/>
        </p:nvSpPr>
        <p:spPr>
          <a:xfrm>
            <a:off x="4332705" y="2891790"/>
            <a:ext cx="1200150" cy="594360"/>
          </a:xfrm>
          <a:prstGeom prst="diamond">
            <a:avLst/>
          </a:prstGeom>
          <a:solidFill>
            <a:srgbClr val="FFFFFF"/>
          </a:solidFill>
          <a:ln w="8001">
            <a:solidFill>
              <a:srgbClr val="D9D9D9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6" name="圖說"/>
          <p:cNvSpPr/>
          <p:nvPr/>
        </p:nvSpPr>
        <p:spPr>
          <a:xfrm>
            <a:off x="4092430" y="35261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1050" dirty="0"/>
          </a:p>
        </p:txBody>
      </p:sp>
      <p:sp>
        <p:nvSpPr>
          <p:cNvPr id="27" name="判斷菱形"/>
          <p:cNvSpPr/>
          <p:nvPr/>
        </p:nvSpPr>
        <p:spPr>
          <a:xfrm>
            <a:off x="6081985" y="2891790"/>
            <a:ext cx="1200150" cy="594360"/>
          </a:xfrm>
          <a:prstGeom prst="diamond">
            <a:avLst/>
          </a:prstGeom>
          <a:solidFill>
            <a:srgbClr val="EDED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8" name="圖說"/>
          <p:cNvSpPr/>
          <p:nvPr/>
        </p:nvSpPr>
        <p:spPr>
          <a:xfrm>
            <a:off x="5841710" y="35261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1050" dirty="0"/>
          </a:p>
        </p:txBody>
      </p:sp>
      <p:sp>
        <p:nvSpPr>
          <p:cNvPr id="29" name="判斷菱形"/>
          <p:cNvSpPr/>
          <p:nvPr/>
        </p:nvSpPr>
        <p:spPr>
          <a:xfrm>
            <a:off x="7831265" y="2891790"/>
            <a:ext cx="1200150" cy="594360"/>
          </a:xfrm>
          <a:prstGeom prst="diamond">
            <a:avLst/>
          </a:prstGeom>
          <a:solidFill>
            <a:srgbClr val="FFFFFF"/>
          </a:solidFill>
          <a:ln w="23876">
            <a:solidFill>
              <a:srgbClr val="3A3A3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30" name="圖說"/>
          <p:cNvSpPr/>
          <p:nvPr/>
        </p:nvSpPr>
        <p:spPr>
          <a:xfrm>
            <a:off x="7590990" y="35261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主色外框</a:t>
            </a:r>
            <a:endParaRPr lang="en-US" sz="1050" dirty="0"/>
          </a:p>
        </p:txBody>
      </p:sp>
      <p:sp>
        <p:nvSpPr>
          <p:cNvPr id="31" name="判斷菱形"/>
          <p:cNvSpPr/>
          <p:nvPr/>
        </p:nvSpPr>
        <p:spPr>
          <a:xfrm>
            <a:off x="9580544" y="2891790"/>
            <a:ext cx="1200150" cy="594360"/>
          </a:xfrm>
          <a:prstGeom prst="diamond">
            <a:avLst/>
          </a:prstGeom>
          <a:solidFill>
            <a:srgbClr val="3A3A3A"/>
          </a:solidFill>
          <a:ln/>
          <a:effectLst>
            <a:outerShdw blurRad="66675" dist="23876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32" name="圖說"/>
          <p:cNvSpPr/>
          <p:nvPr/>
        </p:nvSpPr>
        <p:spPr>
          <a:xfrm>
            <a:off x="9340269" y="35261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1050" dirty="0"/>
          </a:p>
        </p:txBody>
      </p:sp>
      <p:sp>
        <p:nvSpPr>
          <p:cNvPr id="33" name="判斷菱形"/>
          <p:cNvSpPr/>
          <p:nvPr/>
        </p:nvSpPr>
        <p:spPr>
          <a:xfrm>
            <a:off x="11329824" y="2891790"/>
            <a:ext cx="1200150" cy="5943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34" name="圖說"/>
          <p:cNvSpPr/>
          <p:nvPr/>
        </p:nvSpPr>
        <p:spPr>
          <a:xfrm>
            <a:off x="11089549" y="35261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虛線・待確認</a:t>
            </a:r>
            <a:endParaRPr lang="en-US" sz="1050" dirty="0"/>
          </a:p>
        </p:txBody>
      </p:sp>
      <p:grpSp>
        <p:nvGrpSpPr>
          <p:cNvPr id="5000" name="判斷＋分岔箭頭"/>
          <p:cNvGrpSpPr/>
          <p:nvPr/>
        </p:nvGrpSpPr>
        <p:grpSpPr>
          <a:xfrm>
            <a:off x="12913369" y="2891790"/>
            <a:ext cx="1394460" cy="594360"/>
            <a:chOff x="12913369" y="2891790"/>
            <a:chExt cx="1394460" cy="594360"/>
          </a:xfrm>
        </p:grpSpPr>
        <p:sp>
          <p:nvSpPr>
            <p:cNvPr id="35" name="判斷菱形"/>
            <p:cNvSpPr/>
            <p:nvPr/>
          </p:nvSpPr>
          <p:spPr>
            <a:xfrm>
              <a:off x="12913369" y="2891790"/>
              <a:ext cx="708660" cy="594360"/>
            </a:xfrm>
            <a:prstGeom prst="diamond">
              <a:avLst/>
            </a:prstGeom>
            <a:solidFill>
              <a:srgbClr val="FFFFFF"/>
            </a:solidFill>
            <a:ln w="19812">
              <a:solidFill>
                <a:srgbClr val="3A3A3A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6" name="線條"/>
            <p:cNvSpPr/>
            <p:nvPr/>
          </p:nvSpPr>
          <p:spPr>
            <a:xfrm>
              <a:off x="13622029" y="3188970"/>
              <a:ext cx="685800" cy="0"/>
            </a:xfrm>
            <a:prstGeom prst="line">
              <a:avLst/>
            </a:prstGeom>
            <a:noFill/>
            <a:ln w="31750">
              <a:solidFill>
                <a:srgbClr val="3A3A3A"/>
              </a:solidFill>
              <a:prstDash val="solid"/>
              <a:tailEnd type="triangle"/>
            </a:ln>
          </p:spPr>
        </p:sp>
        <p:sp>
          <p:nvSpPr>
            <p:cNvPr id="37" name="標註"/>
            <p:cNvSpPr/>
            <p:nvPr/>
          </p:nvSpPr>
          <p:spPr>
            <a:xfrm>
              <a:off x="13644889" y="2960370"/>
              <a:ext cx="3429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1000" dirty="0"/>
            </a:p>
          </p:txBody>
        </p:sp>
      </p:grpSp>
      <p:sp>
        <p:nvSpPr>
          <p:cNvPr id="38" name="圖說"/>
          <p:cNvSpPr/>
          <p:nvPr/>
        </p:nvSpPr>
        <p:spPr>
          <a:xfrm>
            <a:off x="12838829" y="35261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判斷＋分岔箭頭</a:t>
            </a:r>
            <a:endParaRPr lang="en-US" sz="1050" dirty="0"/>
          </a:p>
        </p:txBody>
      </p:sp>
      <p:sp>
        <p:nvSpPr>
          <p:cNvPr id="39" name="線條"/>
          <p:cNvSpPr/>
          <p:nvPr/>
        </p:nvSpPr>
        <p:spPr>
          <a:xfrm>
            <a:off x="685800" y="374332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40" name="類別"/>
          <p:cNvSpPr/>
          <p:nvPr/>
        </p:nvSpPr>
        <p:spPr>
          <a:xfrm>
            <a:off x="685800" y="3869055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Start / End</a:t>
            </a:r>
            <a:endParaRPr lang="en-US" sz="1750" dirty="0"/>
          </a:p>
        </p:txBody>
      </p:sp>
      <p:sp>
        <p:nvSpPr>
          <p:cNvPr id="41" name="開始／結束"/>
          <p:cNvSpPr/>
          <p:nvPr/>
        </p:nvSpPr>
        <p:spPr>
          <a:xfrm>
            <a:off x="2497700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812">
            <a:solidFill>
              <a:srgbClr val="3A3A3A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2" name="圖說"/>
          <p:cNvSpPr/>
          <p:nvPr/>
        </p:nvSpPr>
        <p:spPr>
          <a:xfrm>
            <a:off x="2343150" y="42805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1050" dirty="0"/>
          </a:p>
        </p:txBody>
      </p:sp>
      <p:sp>
        <p:nvSpPr>
          <p:cNvPr id="43" name="開始／結束"/>
          <p:cNvSpPr/>
          <p:nvPr/>
        </p:nvSpPr>
        <p:spPr>
          <a:xfrm>
            <a:off x="4246980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4" name="圖說"/>
          <p:cNvSpPr/>
          <p:nvPr/>
        </p:nvSpPr>
        <p:spPr>
          <a:xfrm>
            <a:off x="4092430" y="42805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1050" dirty="0"/>
          </a:p>
        </p:txBody>
      </p:sp>
      <p:sp>
        <p:nvSpPr>
          <p:cNvPr id="45" name="開始／結束"/>
          <p:cNvSpPr/>
          <p:nvPr/>
        </p:nvSpPr>
        <p:spPr>
          <a:xfrm>
            <a:off x="5996260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6" name="圖說"/>
          <p:cNvSpPr/>
          <p:nvPr/>
        </p:nvSpPr>
        <p:spPr>
          <a:xfrm>
            <a:off x="5841710" y="42805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1050" dirty="0"/>
          </a:p>
        </p:txBody>
      </p:sp>
      <p:sp>
        <p:nvSpPr>
          <p:cNvPr id="47" name="開始／結束"/>
          <p:cNvSpPr/>
          <p:nvPr/>
        </p:nvSpPr>
        <p:spPr>
          <a:xfrm>
            <a:off x="7745540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001">
            <a:solidFill>
              <a:srgbClr val="D9D9D9"/>
            </a:solidFill>
            <a:prstDash val="solid"/>
          </a:ln>
          <a:effectLst>
            <a:outerShdw blurRad="96012" dist="27432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8" name="圖說"/>
          <p:cNvSpPr/>
          <p:nvPr/>
        </p:nvSpPr>
        <p:spPr>
          <a:xfrm>
            <a:off x="7590990" y="42805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1050" dirty="0"/>
          </a:p>
        </p:txBody>
      </p:sp>
      <p:sp>
        <p:nvSpPr>
          <p:cNvPr id="49" name="開始／結束"/>
          <p:cNvSpPr/>
          <p:nvPr/>
        </p:nvSpPr>
        <p:spPr>
          <a:xfrm>
            <a:off x="9494819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/>
          <a:effectLst>
            <a:outerShdw blurRad="66675" dist="23876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450" dirty="0"/>
          </a:p>
        </p:txBody>
      </p:sp>
      <p:sp>
        <p:nvSpPr>
          <p:cNvPr id="50" name="圖說"/>
          <p:cNvSpPr/>
          <p:nvPr/>
        </p:nvSpPr>
        <p:spPr>
          <a:xfrm>
            <a:off x="9340269" y="42805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1050" dirty="0"/>
          </a:p>
        </p:txBody>
      </p:sp>
      <p:sp>
        <p:nvSpPr>
          <p:cNvPr id="51" name="開始／結束"/>
          <p:cNvSpPr/>
          <p:nvPr/>
        </p:nvSpPr>
        <p:spPr>
          <a:xfrm>
            <a:off x="11244099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F07F2D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450" dirty="0"/>
          </a:p>
        </p:txBody>
      </p:sp>
      <p:sp>
        <p:nvSpPr>
          <p:cNvPr id="52" name="圖說"/>
          <p:cNvSpPr/>
          <p:nvPr/>
        </p:nvSpPr>
        <p:spPr>
          <a:xfrm>
            <a:off x="11089549" y="42805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強調色</a:t>
            </a:r>
            <a:endParaRPr lang="en-US" sz="1050" dirty="0"/>
          </a:p>
        </p:txBody>
      </p:sp>
      <p:sp>
        <p:nvSpPr>
          <p:cNvPr id="53" name="線條"/>
          <p:cNvSpPr/>
          <p:nvPr/>
        </p:nvSpPr>
        <p:spPr>
          <a:xfrm>
            <a:off x="685800" y="449770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54" name="類別"/>
          <p:cNvSpPr/>
          <p:nvPr/>
        </p:nvSpPr>
        <p:spPr>
          <a:xfrm>
            <a:off x="685800" y="4634865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箭頭與連接線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Arrows</a:t>
            </a:r>
            <a:endParaRPr lang="en-US" sz="1750" dirty="0"/>
          </a:p>
        </p:txBody>
      </p:sp>
      <p:sp>
        <p:nvSpPr>
          <p:cNvPr id="55" name="線條"/>
          <p:cNvSpPr/>
          <p:nvPr/>
        </p:nvSpPr>
        <p:spPr>
          <a:xfrm>
            <a:off x="2520560" y="4789170"/>
            <a:ext cx="1325880" cy="0"/>
          </a:xfrm>
          <a:prstGeom prst="line">
            <a:avLst/>
          </a:prstGeom>
          <a:noFill/>
          <a:ln w="3175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56" name="圖說"/>
          <p:cNvSpPr/>
          <p:nvPr/>
        </p:nvSpPr>
        <p:spPr>
          <a:xfrm>
            <a:off x="2343150" y="505777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細直線箭頭</a:t>
            </a:r>
            <a:endParaRPr lang="en-US" sz="1050" dirty="0"/>
          </a:p>
        </p:txBody>
      </p:sp>
      <p:sp>
        <p:nvSpPr>
          <p:cNvPr id="57" name="線條"/>
          <p:cNvSpPr/>
          <p:nvPr/>
        </p:nvSpPr>
        <p:spPr>
          <a:xfrm>
            <a:off x="4269840" y="4789170"/>
            <a:ext cx="1325880" cy="0"/>
          </a:xfrm>
          <a:prstGeom prst="line">
            <a:avLst/>
          </a:prstGeom>
          <a:noFill/>
          <a:ln w="5715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58" name="圖說"/>
          <p:cNvSpPr/>
          <p:nvPr/>
        </p:nvSpPr>
        <p:spPr>
          <a:xfrm>
            <a:off x="4092430" y="505777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</a:t>
            </a:r>
            <a:endParaRPr lang="en-US" sz="1050" dirty="0"/>
          </a:p>
        </p:txBody>
      </p:sp>
      <p:sp>
        <p:nvSpPr>
          <p:cNvPr id="59" name="連接線"/>
          <p:cNvSpPr/>
          <p:nvPr/>
        </p:nvSpPr>
        <p:spPr>
          <a:xfrm>
            <a:off x="6019120" y="4617720"/>
            <a:ext cx="1325880" cy="342900"/>
          </a:xfrm>
          <a:custGeom>
            <a:avLst/>
            <a:gdLst/>
            <a:ahLst/>
            <a:cxnLst/>
            <a:rect l="l" t="t" r="r" b="b"/>
            <a:pathLst>
              <a:path w="1325880" h="342900">
                <a:moveTo>
                  <a:pt x="0" y="0"/>
                </a:moveTo>
                <a:lnTo>
                  <a:pt x="662940" y="0"/>
                </a:lnTo>
                <a:lnTo>
                  <a:pt x="662940" y="342900"/>
                </a:lnTo>
                <a:lnTo>
                  <a:pt x="1325880" y="342900"/>
                </a:lnTo>
              </a:path>
            </a:pathLst>
          </a:custGeom>
          <a:ln w="3175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圖說"/>
          <p:cNvSpPr/>
          <p:nvPr/>
        </p:nvSpPr>
        <p:spPr>
          <a:xfrm>
            <a:off x="5841710" y="505777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折線連接</a:t>
            </a:r>
            <a:endParaRPr lang="en-US" sz="1050" dirty="0"/>
          </a:p>
        </p:txBody>
      </p:sp>
      <p:sp>
        <p:nvSpPr>
          <p:cNvPr id="61" name="線條"/>
          <p:cNvSpPr/>
          <p:nvPr/>
        </p:nvSpPr>
        <p:spPr>
          <a:xfrm>
            <a:off x="7768400" y="4789170"/>
            <a:ext cx="1325880" cy="0"/>
          </a:xfrm>
          <a:prstGeom prst="line">
            <a:avLst/>
          </a:prstGeom>
          <a:noFill/>
          <a:ln w="31750">
            <a:solidFill>
              <a:srgbClr val="707070"/>
            </a:solidFill>
            <a:prstDash val="sysDash"/>
            <a:tailEnd type="arrow"/>
          </a:ln>
        </p:spPr>
      </p:sp>
      <p:sp>
        <p:nvSpPr>
          <p:cNvPr id="62" name="圖說"/>
          <p:cNvSpPr/>
          <p:nvPr/>
        </p:nvSpPr>
        <p:spPr>
          <a:xfrm>
            <a:off x="7590990" y="505777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虛線（次要／回饋）</a:t>
            </a:r>
            <a:endParaRPr lang="en-US" sz="1050" dirty="0"/>
          </a:p>
        </p:txBody>
      </p:sp>
      <p:sp>
        <p:nvSpPr>
          <p:cNvPr id="63" name="線條"/>
          <p:cNvSpPr/>
          <p:nvPr/>
        </p:nvSpPr>
        <p:spPr>
          <a:xfrm>
            <a:off x="9517679" y="4789170"/>
            <a:ext cx="1325880" cy="0"/>
          </a:xfrm>
          <a:prstGeom prst="line">
            <a:avLst/>
          </a:prstGeom>
          <a:noFill/>
          <a:ln w="31750">
            <a:solidFill>
              <a:srgbClr val="3A3A3A"/>
            </a:solidFill>
            <a:prstDash val="solid"/>
            <a:headEnd type="triangle"/>
            <a:tailEnd type="triangle"/>
          </a:ln>
        </p:spPr>
      </p:sp>
      <p:sp>
        <p:nvSpPr>
          <p:cNvPr id="64" name="圖說"/>
          <p:cNvSpPr/>
          <p:nvPr/>
        </p:nvSpPr>
        <p:spPr>
          <a:xfrm>
            <a:off x="9340269" y="505777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雙向箭頭</a:t>
            </a:r>
            <a:endParaRPr lang="en-US" sz="1050" dirty="0"/>
          </a:p>
        </p:txBody>
      </p:sp>
      <p:grpSp>
        <p:nvGrpSpPr>
          <p:cNvPr id="5001" name="▶ 三角／V 形分隔"/>
          <p:cNvGrpSpPr/>
          <p:nvPr/>
        </p:nvGrpSpPr>
        <p:grpSpPr>
          <a:xfrm>
            <a:off x="11518419" y="4629150"/>
            <a:ext cx="800100" cy="320040"/>
            <a:chOff x="11518419" y="4629150"/>
            <a:chExt cx="800100" cy="320040"/>
          </a:xfrm>
        </p:grpSpPr>
        <p:sp>
          <p:nvSpPr>
            <p:cNvPr id="65" name="三角分隔"/>
            <p:cNvSpPr/>
            <p:nvPr/>
          </p:nvSpPr>
          <p:spPr>
            <a:xfrm>
              <a:off x="11518419" y="4663440"/>
              <a:ext cx="194310" cy="251460"/>
            </a:xfrm>
            <a:custGeom>
              <a:avLst/>
              <a:gdLst/>
              <a:ahLst/>
              <a:cxnLst/>
              <a:rect l="l" t="t" r="r" b="b"/>
              <a:pathLst>
                <a:path w="194310" h="251460">
                  <a:moveTo>
                    <a:pt x="0" y="0"/>
                  </a:moveTo>
                  <a:lnTo>
                    <a:pt x="194310" y="125730"/>
                  </a:lnTo>
                  <a:lnTo>
                    <a:pt x="0" y="251460"/>
                  </a:lnTo>
                  <a:close/>
                </a:path>
              </a:pathLst>
            </a:custGeom>
            <a:solidFill>
              <a:srgbClr val="595959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6" name="V 形分隔"/>
            <p:cNvSpPr/>
            <p:nvPr/>
          </p:nvSpPr>
          <p:spPr>
            <a:xfrm>
              <a:off x="12135639" y="4629150"/>
              <a:ext cx="182880" cy="320040"/>
            </a:xfrm>
            <a:prstGeom prst="chevron">
              <a:avLst>
                <a:gd name="adj" fmla="val 62500"/>
              </a:avLst>
            </a:prstGeom>
            <a:solidFill>
              <a:srgbClr val="3A3A3A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7" name="圖說"/>
          <p:cNvSpPr/>
          <p:nvPr/>
        </p:nvSpPr>
        <p:spPr>
          <a:xfrm>
            <a:off x="11089549" y="505777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三角／V 形分隔</a:t>
            </a:r>
            <a:endParaRPr lang="en-US" sz="1050" dirty="0"/>
          </a:p>
        </p:txBody>
      </p:sp>
      <p:sp>
        <p:nvSpPr>
          <p:cNvPr id="68" name="區塊箭頭"/>
          <p:cNvSpPr/>
          <p:nvPr/>
        </p:nvSpPr>
        <p:spPr>
          <a:xfrm>
            <a:off x="13050529" y="4560570"/>
            <a:ext cx="1257300" cy="457200"/>
          </a:xfrm>
          <a:custGeom>
            <a:avLst/>
            <a:gdLst/>
            <a:ahLst/>
            <a:cxnLst/>
            <a:rect l="l" t="t" r="r" b="b"/>
            <a:pathLst>
              <a:path w="1257300" h="457200">
                <a:moveTo>
                  <a:pt x="0" y="137160"/>
                </a:moveTo>
                <a:lnTo>
                  <a:pt x="982980" y="137160"/>
                </a:lnTo>
                <a:lnTo>
                  <a:pt x="982980" y="0"/>
                </a:lnTo>
                <a:lnTo>
                  <a:pt x="1257300" y="228600"/>
                </a:lnTo>
                <a:lnTo>
                  <a:pt x="982980" y="457200"/>
                </a:lnTo>
                <a:lnTo>
                  <a:pt x="982980" y="320040"/>
                </a:lnTo>
                <a:lnTo>
                  <a:pt x="0" y="320040"/>
                </a:lnTo>
                <a:close/>
              </a:path>
            </a:pathLst>
          </a:cu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圖說"/>
          <p:cNvSpPr/>
          <p:nvPr/>
        </p:nvSpPr>
        <p:spPr>
          <a:xfrm>
            <a:off x="12838829" y="505777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區塊箭頭</a:t>
            </a:r>
            <a:endParaRPr lang="en-US" sz="1050" dirty="0"/>
          </a:p>
        </p:txBody>
      </p:sp>
      <p:sp>
        <p:nvSpPr>
          <p:cNvPr id="70" name="線條"/>
          <p:cNvSpPr/>
          <p:nvPr/>
        </p:nvSpPr>
        <p:spPr>
          <a:xfrm>
            <a:off x="685800" y="527494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71" name="類別"/>
          <p:cNvSpPr/>
          <p:nvPr/>
        </p:nvSpPr>
        <p:spPr>
          <a:xfrm>
            <a:off x="685800" y="5434965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例外與警示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Exception</a:t>
            </a:r>
            <a:endParaRPr lang="en-US" sz="1750" dirty="0"/>
          </a:p>
        </p:txBody>
      </p:sp>
      <p:sp>
        <p:nvSpPr>
          <p:cNvPr id="72" name="警示方塊"/>
          <p:cNvSpPr/>
          <p:nvPr/>
        </p:nvSpPr>
        <p:spPr>
          <a:xfrm>
            <a:off x="2497700" y="5337810"/>
            <a:ext cx="1371600" cy="50292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23876">
            <a:solidFill>
              <a:srgbClr val="F07F2D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B45F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例外狀況</a:t>
            </a:r>
            <a:endParaRPr lang="en-US" sz="1450" dirty="0"/>
          </a:p>
        </p:txBody>
      </p:sp>
      <p:sp>
        <p:nvSpPr>
          <p:cNvPr id="73" name="圖說"/>
          <p:cNvSpPr/>
          <p:nvPr/>
        </p:nvSpPr>
        <p:spPr>
          <a:xfrm>
            <a:off x="2343150" y="58807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警示外框</a:t>
            </a:r>
            <a:endParaRPr lang="en-US" sz="1050" dirty="0"/>
          </a:p>
        </p:txBody>
      </p:sp>
      <p:sp>
        <p:nvSpPr>
          <p:cNvPr id="74" name="警示方塊"/>
          <p:cNvSpPr/>
          <p:nvPr/>
        </p:nvSpPr>
        <p:spPr>
          <a:xfrm>
            <a:off x="4246980" y="5337810"/>
            <a:ext cx="1371600" cy="502920"/>
          </a:xfrm>
          <a:prstGeom prst="roundRect">
            <a:avLst>
              <a:gd name="adj" fmla="val 11364"/>
            </a:avLst>
          </a:prstGeom>
          <a:solidFill>
            <a:srgbClr val="FDEDE2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B45F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1450" dirty="0"/>
          </a:p>
        </p:txBody>
      </p:sp>
      <p:sp>
        <p:nvSpPr>
          <p:cNvPr id="75" name="圖說"/>
          <p:cNvSpPr/>
          <p:nvPr/>
        </p:nvSpPr>
        <p:spPr>
          <a:xfrm>
            <a:off x="4092430" y="58807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警示淺底</a:t>
            </a:r>
            <a:endParaRPr lang="en-US" sz="1050" dirty="0"/>
          </a:p>
        </p:txBody>
      </p:sp>
      <p:sp>
        <p:nvSpPr>
          <p:cNvPr id="76" name="警示方塊"/>
          <p:cNvSpPr/>
          <p:nvPr/>
        </p:nvSpPr>
        <p:spPr>
          <a:xfrm>
            <a:off x="5996260" y="5337810"/>
            <a:ext cx="1371600" cy="502920"/>
          </a:xfrm>
          <a:prstGeom prst="roundRect">
            <a:avLst>
              <a:gd name="adj" fmla="val 11364"/>
            </a:avLst>
          </a:prstGeom>
          <a:solidFill>
            <a:srgbClr val="F07F2D"/>
          </a:solidFill>
          <a:ln/>
          <a:effectLst>
            <a:outerShdw blurRad="66675" dist="23876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中止</a:t>
            </a:r>
            <a:endParaRPr lang="en-US" sz="1450" dirty="0"/>
          </a:p>
        </p:txBody>
      </p:sp>
      <p:sp>
        <p:nvSpPr>
          <p:cNvPr id="77" name="圖說"/>
          <p:cNvSpPr/>
          <p:nvPr/>
        </p:nvSpPr>
        <p:spPr>
          <a:xfrm>
            <a:off x="5841710" y="58807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深底警示</a:t>
            </a:r>
            <a:endParaRPr lang="en-US" sz="1050" dirty="0"/>
          </a:p>
        </p:txBody>
      </p:sp>
      <p:grpSp>
        <p:nvGrpSpPr>
          <p:cNvPr id="5002" name="警告三角"/>
          <p:cNvGrpSpPr/>
          <p:nvPr/>
        </p:nvGrpSpPr>
        <p:grpSpPr>
          <a:xfrm>
            <a:off x="8133812" y="5332781"/>
            <a:ext cx="595055" cy="512978"/>
            <a:chOff x="8133812" y="5332781"/>
            <a:chExt cx="595055" cy="512978"/>
          </a:xfrm>
        </p:grpSpPr>
        <p:sp>
          <p:nvSpPr>
            <p:cNvPr id="78" name="警告三角"/>
            <p:cNvSpPr/>
            <p:nvPr/>
          </p:nvSpPr>
          <p:spPr>
            <a:xfrm>
              <a:off x="8133812" y="5332781"/>
              <a:ext cx="595055" cy="512978"/>
            </a:xfrm>
            <a:custGeom>
              <a:avLst/>
              <a:gdLst/>
              <a:ahLst/>
              <a:cxnLst/>
              <a:rect l="l" t="t" r="r" b="b"/>
              <a:pathLst>
                <a:path w="595055" h="512978">
                  <a:moveTo>
                    <a:pt x="0" y="512978"/>
                  </a:moveTo>
                  <a:lnTo>
                    <a:pt x="297527" y="0"/>
                  </a:lnTo>
                  <a:lnTo>
                    <a:pt x="595055" y="512978"/>
                  </a:lnTo>
                  <a:close/>
                </a:path>
              </a:pathLst>
            </a:custGeom>
            <a:solidFill>
              <a:srgbClr val="F07F2D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9" name="驚嘆號"/>
            <p:cNvSpPr/>
            <p:nvPr/>
          </p:nvSpPr>
          <p:spPr>
            <a:xfrm>
              <a:off x="8133812" y="5486674"/>
              <a:ext cx="595055" cy="3488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1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!</a:t>
              </a:r>
              <a:endParaRPr lang="en-US" sz="2150" dirty="0"/>
            </a:p>
          </p:txBody>
        </p:sp>
      </p:grpSp>
      <p:sp>
        <p:nvSpPr>
          <p:cNvPr id="80" name="圖說"/>
          <p:cNvSpPr/>
          <p:nvPr/>
        </p:nvSpPr>
        <p:spPr>
          <a:xfrm>
            <a:off x="7590990" y="58807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警告三角</a:t>
            </a:r>
            <a:endParaRPr lang="en-US" sz="1050" dirty="0"/>
          </a:p>
        </p:txBody>
      </p:sp>
      <p:sp>
        <p:nvSpPr>
          <p:cNvPr id="81" name="錯誤標記"/>
          <p:cNvSpPr/>
          <p:nvPr/>
        </p:nvSpPr>
        <p:spPr>
          <a:xfrm>
            <a:off x="9974422" y="5383073"/>
            <a:ext cx="412394" cy="412394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000" dirty="0"/>
          </a:p>
        </p:txBody>
      </p:sp>
      <p:sp>
        <p:nvSpPr>
          <p:cNvPr id="82" name="圖說"/>
          <p:cNvSpPr/>
          <p:nvPr/>
        </p:nvSpPr>
        <p:spPr>
          <a:xfrm>
            <a:off x="9340269" y="58807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錯誤標記</a:t>
            </a:r>
            <a:endParaRPr lang="en-US" sz="1050" dirty="0"/>
          </a:p>
        </p:txBody>
      </p:sp>
      <p:grpSp>
        <p:nvGrpSpPr>
          <p:cNvPr id="5003" name="紅點提示"/>
          <p:cNvGrpSpPr/>
          <p:nvPr/>
        </p:nvGrpSpPr>
        <p:grpSpPr>
          <a:xfrm>
            <a:off x="11244099" y="5263515"/>
            <a:ext cx="1445895" cy="577215"/>
            <a:chOff x="11244099" y="5263515"/>
            <a:chExt cx="1445895" cy="577215"/>
          </a:xfrm>
        </p:grpSpPr>
        <p:sp>
          <p:nvSpPr>
            <p:cNvPr id="83" name="流程方塊"/>
            <p:cNvSpPr/>
            <p:nvPr/>
          </p:nvSpPr>
          <p:spPr>
            <a:xfrm>
              <a:off x="11244099" y="5337810"/>
              <a:ext cx="1371600" cy="502920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5875">
              <a:solidFill>
                <a:srgbClr val="BFBFBF"/>
              </a:solidFill>
              <a:prstDash val="solid"/>
            </a:ln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4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待處理</a:t>
              </a:r>
              <a:endParaRPr lang="en-US" sz="1450" dirty="0"/>
            </a:p>
          </p:txBody>
        </p:sp>
        <p:sp>
          <p:nvSpPr>
            <p:cNvPr id="84" name="提示紅點"/>
            <p:cNvSpPr/>
            <p:nvPr/>
          </p:nvSpPr>
          <p:spPr>
            <a:xfrm>
              <a:off x="12495684" y="5263515"/>
              <a:ext cx="194310" cy="194310"/>
            </a:xfrm>
            <a:prstGeom prst="ellipse">
              <a:avLst/>
            </a:prstGeom>
            <a:solidFill>
              <a:srgbClr val="F07F2D"/>
            </a:solidFill>
            <a:ln w="19812">
              <a:solidFill>
                <a:srgbClr val="FFFFF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85" name="圖說"/>
          <p:cNvSpPr/>
          <p:nvPr/>
        </p:nvSpPr>
        <p:spPr>
          <a:xfrm>
            <a:off x="11089549" y="58807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紅點提示</a:t>
            </a:r>
            <a:endParaRPr lang="en-US" sz="1050" dirty="0"/>
          </a:p>
        </p:txBody>
      </p:sp>
      <p:sp>
        <p:nvSpPr>
          <p:cNvPr id="86" name="連接線"/>
          <p:cNvSpPr/>
          <p:nvPr/>
        </p:nvSpPr>
        <p:spPr>
          <a:xfrm>
            <a:off x="13016239" y="5406390"/>
            <a:ext cx="1325880" cy="365760"/>
          </a:xfrm>
          <a:custGeom>
            <a:avLst/>
            <a:gdLst/>
            <a:ahLst/>
            <a:cxnLst/>
            <a:rect l="l" t="t" r="r" b="b"/>
            <a:pathLst>
              <a:path w="1325880" h="365760">
                <a:moveTo>
                  <a:pt x="0" y="0"/>
                </a:moveTo>
                <a:lnTo>
                  <a:pt x="548640" y="0"/>
                </a:lnTo>
                <a:lnTo>
                  <a:pt x="548640" y="365760"/>
                </a:lnTo>
                <a:lnTo>
                  <a:pt x="1325880" y="365760"/>
                </a:lnTo>
              </a:path>
            </a:pathLst>
          </a:custGeom>
          <a:ln w="19812">
            <a:solidFill>
              <a:srgbClr val="F07F2D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圖說"/>
          <p:cNvSpPr/>
          <p:nvPr/>
        </p:nvSpPr>
        <p:spPr>
          <a:xfrm>
            <a:off x="12838829" y="58807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例外路徑（虛線）</a:t>
            </a:r>
            <a:endParaRPr lang="en-US" sz="1050" dirty="0"/>
          </a:p>
        </p:txBody>
      </p:sp>
      <p:sp>
        <p:nvSpPr>
          <p:cNvPr id="88" name="線條"/>
          <p:cNvSpPr/>
          <p:nvPr/>
        </p:nvSpPr>
        <p:spPr>
          <a:xfrm>
            <a:off x="685800" y="609790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89" name="類別"/>
          <p:cNvSpPr/>
          <p:nvPr/>
        </p:nvSpPr>
        <p:spPr>
          <a:xfrm>
            <a:off x="685800" y="6360795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圓形・編號・標籤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Circle / Badge / Tag</a:t>
            </a:r>
            <a:endParaRPr lang="en-US" sz="1750" dirty="0"/>
          </a:p>
        </p:txBody>
      </p:sp>
      <p:sp>
        <p:nvSpPr>
          <p:cNvPr id="90" name="大圓"/>
          <p:cNvSpPr/>
          <p:nvPr/>
        </p:nvSpPr>
        <p:spPr>
          <a:xfrm>
            <a:off x="2829170" y="6160770"/>
            <a:ext cx="708660" cy="708660"/>
          </a:xfrm>
          <a:prstGeom prst="ellipse">
            <a:avLst/>
          </a:prstGeom>
          <a:solidFill>
            <a:srgbClr val="FFFFFF"/>
          </a:solidFill>
          <a:ln w="43688">
            <a:solidFill>
              <a:srgbClr val="3A3A3A"/>
            </a:solidFill>
            <a:prstDash val="solid"/>
          </a:ln>
          <a:effectLst>
            <a:outerShdw blurRad="106680" dist="19050" dir="5400000" sx="100840" sy="10084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圖說"/>
          <p:cNvSpPr/>
          <p:nvPr/>
        </p:nvSpPr>
        <p:spPr>
          <a:xfrm>
            <a:off x="2343150" y="69094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光暈大圓</a:t>
            </a:r>
            <a:endParaRPr lang="en-US" sz="1050" dirty="0"/>
          </a:p>
        </p:txBody>
      </p:sp>
      <p:grpSp>
        <p:nvGrpSpPr>
          <p:cNvPr id="5004" name="光暈＋外圈細環"/>
          <p:cNvGrpSpPr/>
          <p:nvPr/>
        </p:nvGrpSpPr>
        <p:grpSpPr>
          <a:xfrm>
            <a:off x="4509870" y="6092190"/>
            <a:ext cx="845820" cy="845820"/>
            <a:chOff x="4509870" y="6092190"/>
            <a:chExt cx="845820" cy="845820"/>
          </a:xfrm>
        </p:grpSpPr>
        <p:sp>
          <p:nvSpPr>
            <p:cNvPr id="92" name="外圈細環"/>
            <p:cNvSpPr/>
            <p:nvPr/>
          </p:nvSpPr>
          <p:spPr>
            <a:xfrm>
              <a:off x="4509870" y="6092190"/>
              <a:ext cx="845820" cy="845820"/>
            </a:xfrm>
            <a:prstGeom prst="ellipse">
              <a:avLst/>
            </a:prstGeom>
            <a:ln w="11938">
              <a:solidFill>
                <a:srgbClr val="E6E6E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大圓"/>
            <p:cNvSpPr/>
            <p:nvPr/>
          </p:nvSpPr>
          <p:spPr>
            <a:xfrm>
              <a:off x="4578450" y="6160770"/>
              <a:ext cx="708660" cy="708660"/>
            </a:xfrm>
            <a:prstGeom prst="ellipse">
              <a:avLst/>
            </a:prstGeom>
            <a:solidFill>
              <a:srgbClr val="FFFFFF"/>
            </a:solidFill>
            <a:ln w="43688">
              <a:solidFill>
                <a:srgbClr val="3A3A3A"/>
              </a:solidFill>
              <a:prstDash val="solid"/>
            </a:ln>
            <a:effectLst>
              <a:outerShdw blurRad="106680" dist="19050" dir="5400000" sx="100840" sy="10084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4" name="圖說"/>
          <p:cNvSpPr/>
          <p:nvPr/>
        </p:nvSpPr>
        <p:spPr>
          <a:xfrm>
            <a:off x="4092430" y="69094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光暈＋外圈細環</a:t>
            </a:r>
            <a:endParaRPr lang="en-US" sz="1050" dirty="0"/>
          </a:p>
        </p:txBody>
      </p:sp>
      <p:sp>
        <p:nvSpPr>
          <p:cNvPr id="95" name="外框圓"/>
          <p:cNvSpPr/>
          <p:nvPr/>
        </p:nvSpPr>
        <p:spPr>
          <a:xfrm>
            <a:off x="6327730" y="6160770"/>
            <a:ext cx="708660" cy="7086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圖說"/>
          <p:cNvSpPr/>
          <p:nvPr/>
        </p:nvSpPr>
        <p:spPr>
          <a:xfrm>
            <a:off x="5841710" y="69094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無陰影外框圓</a:t>
            </a:r>
            <a:endParaRPr lang="en-US" sz="1050" dirty="0"/>
          </a:p>
        </p:txBody>
      </p:sp>
      <p:grpSp>
        <p:nvGrpSpPr>
          <p:cNvPr id="5005" name="編號徽章"/>
          <p:cNvGrpSpPr/>
          <p:nvPr/>
        </p:nvGrpSpPr>
        <p:grpSpPr>
          <a:xfrm>
            <a:off x="7756970" y="6320790"/>
            <a:ext cx="1348740" cy="388620"/>
            <a:chOff x="7756970" y="6320790"/>
            <a:chExt cx="1348740" cy="388620"/>
          </a:xfrm>
        </p:grpSpPr>
        <p:sp>
          <p:nvSpPr>
            <p:cNvPr id="97" name="編號"/>
            <p:cNvSpPr/>
            <p:nvPr/>
          </p:nvSpPr>
          <p:spPr>
            <a:xfrm>
              <a:off x="7756970" y="6320790"/>
              <a:ext cx="388620" cy="388620"/>
            </a:xfrm>
            <a:prstGeom prst="ellipse">
              <a:avLst/>
            </a:prstGeom>
            <a:solidFill>
              <a:srgbClr val="3A3A3A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1250" dirty="0"/>
            </a:p>
          </p:txBody>
        </p:sp>
        <p:sp>
          <p:nvSpPr>
            <p:cNvPr id="98" name="編號"/>
            <p:cNvSpPr/>
            <p:nvPr/>
          </p:nvSpPr>
          <p:spPr>
            <a:xfrm>
              <a:off x="8237030" y="6320790"/>
              <a:ext cx="388620" cy="388620"/>
            </a:xfrm>
            <a:prstGeom prst="ellipse">
              <a:avLst/>
            </a:prstGeom>
            <a:solidFill>
              <a:srgbClr val="3A3A3A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1250" dirty="0"/>
            </a:p>
          </p:txBody>
        </p:sp>
        <p:sp>
          <p:nvSpPr>
            <p:cNvPr id="99" name="編號"/>
            <p:cNvSpPr/>
            <p:nvPr/>
          </p:nvSpPr>
          <p:spPr>
            <a:xfrm>
              <a:off x="8717090" y="6320790"/>
              <a:ext cx="388620" cy="388620"/>
            </a:xfrm>
            <a:prstGeom prst="ellipse">
              <a:avLst/>
            </a:prstGeom>
            <a:solidFill>
              <a:srgbClr val="F07F2D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1250" dirty="0"/>
            </a:p>
          </p:txBody>
        </p:sp>
      </p:grpSp>
      <p:sp>
        <p:nvSpPr>
          <p:cNvPr id="100" name="圖說"/>
          <p:cNvSpPr/>
          <p:nvPr/>
        </p:nvSpPr>
        <p:spPr>
          <a:xfrm>
            <a:off x="7590990" y="69094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編號徽章</a:t>
            </a:r>
            <a:endParaRPr lang="en-US" sz="1050" dirty="0"/>
          </a:p>
        </p:txBody>
      </p:sp>
      <p:grpSp>
        <p:nvGrpSpPr>
          <p:cNvPr id="5006" name="深色標籤"/>
          <p:cNvGrpSpPr/>
          <p:nvPr/>
        </p:nvGrpSpPr>
        <p:grpSpPr>
          <a:xfrm>
            <a:off x="9546781" y="6332220"/>
            <a:ext cx="1267676" cy="365760"/>
            <a:chOff x="9546781" y="6332220"/>
            <a:chExt cx="1267676" cy="365760"/>
          </a:xfrm>
        </p:grpSpPr>
        <p:sp>
          <p:nvSpPr>
            <p:cNvPr id="101" name="標籤"/>
            <p:cNvSpPr/>
            <p:nvPr/>
          </p:nvSpPr>
          <p:spPr>
            <a:xfrm>
              <a:off x="9546781" y="6332220"/>
              <a:ext cx="1267676" cy="365760"/>
            </a:xfrm>
            <a:prstGeom prst="roundRect">
              <a:avLst>
                <a:gd name="adj" fmla="val 9375"/>
              </a:avLst>
            </a:prstGeom>
            <a:solidFill>
              <a:srgbClr val="3A3A3A"/>
            </a:solidFill>
            <a:ln/>
          </p:spPr>
          <p:txBody>
            <a:bodyPr wrap="square" lIns="320929" tIns="0" rIns="92202" bIns="0" rtlCol="0" anchor="ctr"/>
            <a:lstStyle/>
            <a:p>
              <a:pPr algn="l" indent="0" marL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主要標籤</a:t>
              </a:r>
              <a:endParaRPr lang="en-US" sz="1400" dirty="0"/>
            </a:p>
          </p:txBody>
        </p:sp>
        <p:sp>
          <p:nvSpPr>
            <p:cNvPr id="102" name="Text 100"/>
            <p:cNvSpPr/>
            <p:nvPr/>
          </p:nvSpPr>
          <p:spPr>
            <a:xfrm>
              <a:off x="9700401" y="6471444"/>
              <a:ext cx="87313" cy="87313"/>
            </a:xfrm>
            <a:prstGeom prst="ellipse">
              <a:avLst/>
            </a:prstGeom>
            <a:solidFill>
              <a:srgbClr val="F07F2D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03" name="圖說"/>
          <p:cNvSpPr/>
          <p:nvPr/>
        </p:nvSpPr>
        <p:spPr>
          <a:xfrm>
            <a:off x="9340269" y="69094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深色標籤</a:t>
            </a:r>
            <a:endParaRPr lang="en-US" sz="1050" dirty="0"/>
          </a:p>
        </p:txBody>
      </p:sp>
      <p:grpSp>
        <p:nvGrpSpPr>
          <p:cNvPr id="5007" name="淺色／灰階標籤"/>
          <p:cNvGrpSpPr/>
          <p:nvPr/>
        </p:nvGrpSpPr>
        <p:grpSpPr>
          <a:xfrm>
            <a:off x="10975812" y="6343650"/>
            <a:ext cx="1908175" cy="342900"/>
            <a:chOff x="10975812" y="6343650"/>
            <a:chExt cx="1908175" cy="342900"/>
          </a:xfrm>
        </p:grpSpPr>
        <p:sp>
          <p:nvSpPr>
            <p:cNvPr id="104" name="標籤"/>
            <p:cNvSpPr/>
            <p:nvPr/>
          </p:nvSpPr>
          <p:spPr>
            <a:xfrm>
              <a:off x="10975812" y="6343650"/>
              <a:ext cx="908368" cy="342900"/>
            </a:xfrm>
            <a:prstGeom prst="roundRect">
              <a:avLst>
                <a:gd name="adj" fmla="val 10000"/>
              </a:avLst>
            </a:prstGeom>
            <a:solidFill>
              <a:srgbClr val="F07F2D"/>
            </a:solidFill>
            <a:ln/>
          </p:spPr>
          <p:txBody>
            <a:bodyPr wrap="square" lIns="315976" tIns="0" rIns="89154" bIns="0" rtlCol="0" anchor="ctr"/>
            <a:lstStyle/>
            <a:p>
              <a:pPr algn="l" indent="0" marL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輔助</a:t>
              </a:r>
              <a:endParaRPr lang="en-US" sz="1400" dirty="0"/>
            </a:p>
          </p:txBody>
        </p:sp>
        <p:sp>
          <p:nvSpPr>
            <p:cNvPr id="105" name="Text 103"/>
            <p:cNvSpPr/>
            <p:nvPr/>
          </p:nvSpPr>
          <p:spPr>
            <a:xfrm>
              <a:off x="11124402" y="6471444"/>
              <a:ext cx="87313" cy="87313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6" name="標籤"/>
            <p:cNvSpPr/>
            <p:nvPr/>
          </p:nvSpPr>
          <p:spPr>
            <a:xfrm>
              <a:off x="11975619" y="6343650"/>
              <a:ext cx="908368" cy="342900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/>
          </p:spPr>
          <p:txBody>
            <a:bodyPr wrap="square" lIns="315976" tIns="0" rIns="89154" bIns="0" rtlCol="0" anchor="ctr"/>
            <a:lstStyle/>
            <a:p>
              <a:pPr algn="l" indent="0" marL="0">
                <a:buNone/>
              </a:pPr>
              <a:r>
                <a:rPr lang="en-US" sz="14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灰階</a:t>
              </a:r>
              <a:endParaRPr lang="en-US" sz="1400" dirty="0"/>
            </a:p>
          </p:txBody>
        </p:sp>
        <p:sp>
          <p:nvSpPr>
            <p:cNvPr id="107" name="Text 105"/>
            <p:cNvSpPr/>
            <p:nvPr/>
          </p:nvSpPr>
          <p:spPr>
            <a:xfrm>
              <a:off x="12124209" y="6471444"/>
              <a:ext cx="87313" cy="87313"/>
            </a:xfrm>
            <a:prstGeom prst="ellipse">
              <a:avLst/>
            </a:prstGeom>
            <a:solidFill>
              <a:srgbClr val="F07F2D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08" name="圖說"/>
          <p:cNvSpPr/>
          <p:nvPr/>
        </p:nvSpPr>
        <p:spPr>
          <a:xfrm>
            <a:off x="11089549" y="69094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淺色／灰階標籤</a:t>
            </a:r>
            <a:endParaRPr lang="en-US" sz="1050" dirty="0"/>
          </a:p>
        </p:txBody>
      </p:sp>
      <p:grpSp>
        <p:nvGrpSpPr>
          <p:cNvPr id="5008" name="小圓點"/>
          <p:cNvGrpSpPr/>
          <p:nvPr/>
        </p:nvGrpSpPr>
        <p:grpSpPr>
          <a:xfrm>
            <a:off x="13250554" y="6429375"/>
            <a:ext cx="857250" cy="171450"/>
            <a:chOff x="13250554" y="6429375"/>
            <a:chExt cx="857250" cy="171450"/>
          </a:xfrm>
        </p:grpSpPr>
        <p:sp>
          <p:nvSpPr>
            <p:cNvPr id="109" name="圓點"/>
            <p:cNvSpPr/>
            <p:nvPr/>
          </p:nvSpPr>
          <p:spPr>
            <a:xfrm>
              <a:off x="13250554" y="6429375"/>
              <a:ext cx="171450" cy="171450"/>
            </a:xfrm>
            <a:prstGeom prst="ellipse">
              <a:avLst/>
            </a:prstGeom>
            <a:solidFill>
              <a:srgbClr val="3A3A3A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0" name="圓點"/>
            <p:cNvSpPr/>
            <p:nvPr/>
          </p:nvSpPr>
          <p:spPr>
            <a:xfrm>
              <a:off x="13593454" y="6429375"/>
              <a:ext cx="171450" cy="171450"/>
            </a:xfrm>
            <a:prstGeom prst="ellipse">
              <a:avLst/>
            </a:prstGeom>
            <a:solidFill>
              <a:srgbClr val="F07F2D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1" name="圓點"/>
            <p:cNvSpPr/>
            <p:nvPr/>
          </p:nvSpPr>
          <p:spPr>
            <a:xfrm>
              <a:off x="13936354" y="6429375"/>
              <a:ext cx="171450" cy="171450"/>
            </a:xfrm>
            <a:prstGeom prst="ellipse">
              <a:avLst/>
            </a:prstGeom>
            <a:solidFill>
              <a:srgbClr val="BFBFBF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12" name="圖說"/>
          <p:cNvSpPr/>
          <p:nvPr/>
        </p:nvSpPr>
        <p:spPr>
          <a:xfrm>
            <a:off x="12838829" y="69094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小圓點</a:t>
            </a:r>
            <a:endParaRPr lang="en-US" sz="1050" dirty="0"/>
          </a:p>
        </p:txBody>
      </p:sp>
      <p:sp>
        <p:nvSpPr>
          <p:cNvPr id="113" name="線條"/>
          <p:cNvSpPr/>
          <p:nvPr/>
        </p:nvSpPr>
        <p:spPr>
          <a:xfrm>
            <a:off x="685800" y="712660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114" name="類別"/>
          <p:cNvSpPr/>
          <p:nvPr/>
        </p:nvSpPr>
        <p:spPr>
          <a:xfrm>
            <a:off x="685800" y="7298055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容器與群組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Container</a:t>
            </a:r>
            <a:endParaRPr lang="en-US" sz="1750" dirty="0"/>
          </a:p>
        </p:txBody>
      </p:sp>
      <p:grpSp>
        <p:nvGrpSpPr>
          <p:cNvPr id="5009" name="虛線群組框"/>
          <p:cNvGrpSpPr/>
          <p:nvPr/>
        </p:nvGrpSpPr>
        <p:grpSpPr>
          <a:xfrm>
            <a:off x="2497700" y="7155180"/>
            <a:ext cx="1371600" cy="560070"/>
            <a:chOff x="2497700" y="7155180"/>
            <a:chExt cx="1371600" cy="560070"/>
          </a:xfrm>
        </p:grpSpPr>
        <p:sp>
          <p:nvSpPr>
            <p:cNvPr id="115" name="群組框"/>
            <p:cNvSpPr/>
            <p:nvPr/>
          </p:nvSpPr>
          <p:spPr>
            <a:xfrm>
              <a:off x="2497700" y="7258050"/>
              <a:ext cx="1371600" cy="457200"/>
            </a:xfrm>
            <a:prstGeom prst="roundRect">
              <a:avLst>
                <a:gd name="adj" fmla="val 12500"/>
              </a:avLst>
            </a:prstGeom>
            <a:ln w="11938">
              <a:solidFill>
                <a:srgbClr val="8C8C8C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6" name="群組名稱"/>
            <p:cNvSpPr/>
            <p:nvPr/>
          </p:nvSpPr>
          <p:spPr>
            <a:xfrm>
              <a:off x="2612000" y="7155180"/>
              <a:ext cx="708660" cy="20574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群組 A</a:t>
              </a:r>
              <a:endParaRPr lang="en-US" sz="1000" dirty="0"/>
            </a:p>
          </p:txBody>
        </p:sp>
      </p:grpSp>
      <p:sp>
        <p:nvSpPr>
          <p:cNvPr id="117" name="圖說"/>
          <p:cNvSpPr/>
          <p:nvPr/>
        </p:nvSpPr>
        <p:spPr>
          <a:xfrm>
            <a:off x="2343150" y="77552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虛線群組框</a:t>
            </a:r>
            <a:endParaRPr lang="en-US" sz="1050" dirty="0"/>
          </a:p>
        </p:txBody>
      </p:sp>
      <p:sp>
        <p:nvSpPr>
          <p:cNvPr id="118" name="淺灰面板"/>
          <p:cNvSpPr/>
          <p:nvPr/>
        </p:nvSpPr>
        <p:spPr>
          <a:xfrm>
            <a:off x="4246980" y="7189470"/>
            <a:ext cx="1371600" cy="52578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9" name="圖說"/>
          <p:cNvSpPr/>
          <p:nvPr/>
        </p:nvSpPr>
        <p:spPr>
          <a:xfrm>
            <a:off x="4092430" y="77552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淺灰面板</a:t>
            </a:r>
            <a:endParaRPr lang="en-US" sz="1050" dirty="0"/>
          </a:p>
        </p:txBody>
      </p:sp>
      <p:sp>
        <p:nvSpPr>
          <p:cNvPr id="120" name="卡片"/>
          <p:cNvSpPr/>
          <p:nvPr/>
        </p:nvSpPr>
        <p:spPr>
          <a:xfrm>
            <a:off x="5996260" y="7189470"/>
            <a:ext cx="1371600" cy="52578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1" name="圖說"/>
          <p:cNvSpPr/>
          <p:nvPr/>
        </p:nvSpPr>
        <p:spPr>
          <a:xfrm>
            <a:off x="5841710" y="77552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本風格卡片</a:t>
            </a:r>
            <a:endParaRPr lang="en-US" sz="1050" dirty="0"/>
          </a:p>
        </p:txBody>
      </p:sp>
      <p:sp>
        <p:nvSpPr>
          <p:cNvPr id="122" name="卡片"/>
          <p:cNvSpPr/>
          <p:nvPr/>
        </p:nvSpPr>
        <p:spPr>
          <a:xfrm>
            <a:off x="7745540" y="7189470"/>
            <a:ext cx="1371600" cy="52578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3" name="圖說"/>
          <p:cNvSpPr/>
          <p:nvPr/>
        </p:nvSpPr>
        <p:spPr>
          <a:xfrm>
            <a:off x="7590990" y="77552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卡片＋陰影</a:t>
            </a:r>
            <a:endParaRPr lang="en-US" sz="1050" dirty="0"/>
          </a:p>
        </p:txBody>
      </p:sp>
      <p:grpSp>
        <p:nvGrpSpPr>
          <p:cNvPr id="5010" name="表頭色帶卡"/>
          <p:cNvGrpSpPr/>
          <p:nvPr/>
        </p:nvGrpSpPr>
        <p:grpSpPr>
          <a:xfrm>
            <a:off x="9494819" y="7189470"/>
            <a:ext cx="1371600" cy="525780"/>
            <a:chOff x="9494819" y="7189470"/>
            <a:chExt cx="1371600" cy="525780"/>
          </a:xfrm>
        </p:grpSpPr>
        <p:sp>
          <p:nvSpPr>
            <p:cNvPr id="124" name="卡片"/>
            <p:cNvSpPr/>
            <p:nvPr/>
          </p:nvSpPr>
          <p:spPr>
            <a:xfrm>
              <a:off x="9494819" y="7189470"/>
              <a:ext cx="1371600" cy="52578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5" name="表頭"/>
            <p:cNvSpPr/>
            <p:nvPr/>
          </p:nvSpPr>
          <p:spPr>
            <a:xfrm>
              <a:off x="9494819" y="7189470"/>
              <a:ext cx="1371600" cy="182880"/>
            </a:xfrm>
            <a:custGeom>
              <a:avLst/>
              <a:gdLst/>
              <a:ahLst/>
              <a:cxnLst/>
              <a:rect l="l" t="t" r="r" b="b"/>
              <a:pathLst>
                <a:path w="1371600" h="182880">
                  <a:moveTo>
                    <a:pt x="0" y="182880"/>
                  </a:moveTo>
                  <a:lnTo>
                    <a:pt x="0" y="57150"/>
                  </a:lnTo>
                  <a:arcTo hR="57150" wR="57150" stAng="10800000" swAng="5400000"/>
                  <a:lnTo>
                    <a:pt x="1314450" y="0"/>
                  </a:lnTo>
                  <a:arcTo hR="57150" wR="57150" stAng="16200000" swAng="5400000"/>
                  <a:lnTo>
                    <a:pt x="1371600" y="182880"/>
                  </a:lnTo>
                  <a:close/>
                </a:path>
              </a:pathLst>
            </a:custGeom>
            <a:solidFill>
              <a:srgbClr val="3A3A3A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6" name="圖說"/>
          <p:cNvSpPr/>
          <p:nvPr/>
        </p:nvSpPr>
        <p:spPr>
          <a:xfrm>
            <a:off x="9340269" y="77552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表頭色帶卡</a:t>
            </a:r>
            <a:endParaRPr lang="en-US" sz="1050" dirty="0"/>
          </a:p>
        </p:txBody>
      </p:sp>
      <p:grpSp>
        <p:nvGrpSpPr>
          <p:cNvPr id="5011" name="頂邊／側邊色條"/>
          <p:cNvGrpSpPr/>
          <p:nvPr/>
        </p:nvGrpSpPr>
        <p:grpSpPr>
          <a:xfrm>
            <a:off x="11244099" y="7189470"/>
            <a:ext cx="1371600" cy="525780"/>
            <a:chOff x="11244099" y="7189470"/>
            <a:chExt cx="1371600" cy="525780"/>
          </a:xfrm>
        </p:grpSpPr>
        <p:sp>
          <p:nvSpPr>
            <p:cNvPr id="127" name="卡片"/>
            <p:cNvSpPr/>
            <p:nvPr/>
          </p:nvSpPr>
          <p:spPr>
            <a:xfrm>
              <a:off x="11244099" y="7189470"/>
              <a:ext cx="1371600" cy="52578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8" name="側邊色條"/>
            <p:cNvSpPr/>
            <p:nvPr/>
          </p:nvSpPr>
          <p:spPr>
            <a:xfrm>
              <a:off x="11244099" y="7189470"/>
              <a:ext cx="68580" cy="525780"/>
            </a:xfrm>
            <a:prstGeom prst="rect">
              <a:avLst/>
            </a:prstGeom>
            <a:solidFill>
              <a:srgbClr val="F07F2D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9" name="圖說"/>
          <p:cNvSpPr/>
          <p:nvPr/>
        </p:nvSpPr>
        <p:spPr>
          <a:xfrm>
            <a:off x="11089549" y="77552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頂邊／側邊色條</a:t>
            </a:r>
            <a:endParaRPr lang="en-US" sz="1050" dirty="0"/>
          </a:p>
        </p:txBody>
      </p:sp>
      <p:grpSp>
        <p:nvGrpSpPr>
          <p:cNvPr id="5012" name="半透明寬欄條"/>
          <p:cNvGrpSpPr/>
          <p:nvPr/>
        </p:nvGrpSpPr>
        <p:grpSpPr>
          <a:xfrm>
            <a:off x="13221979" y="7189470"/>
            <a:ext cx="914400" cy="525780"/>
            <a:chOff x="13221979" y="7189470"/>
            <a:chExt cx="914400" cy="525780"/>
          </a:xfrm>
        </p:grpSpPr>
        <p:sp>
          <p:nvSpPr>
            <p:cNvPr id="130" name="寬欄條"/>
            <p:cNvSpPr/>
            <p:nvPr/>
          </p:nvSpPr>
          <p:spPr>
            <a:xfrm>
              <a:off x="13221979" y="7189470"/>
              <a:ext cx="388620" cy="525780"/>
            </a:xfrm>
            <a:prstGeom prst="roundRect">
              <a:avLst>
                <a:gd name="adj" fmla="val 14706"/>
              </a:avLst>
            </a:prstGeom>
            <a:solidFill>
              <a:srgbClr val="A6A6A6">
                <a:alpha val="38000"/>
              </a:srgbClr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1" name="寬欄條"/>
            <p:cNvSpPr/>
            <p:nvPr/>
          </p:nvSpPr>
          <p:spPr>
            <a:xfrm>
              <a:off x="13747759" y="7189470"/>
              <a:ext cx="388620" cy="525780"/>
            </a:xfrm>
            <a:prstGeom prst="roundRect">
              <a:avLst>
                <a:gd name="adj" fmla="val 14706"/>
              </a:avLst>
            </a:prstGeom>
            <a:solidFill>
              <a:srgbClr val="A6A6A6">
                <a:alpha val="38000"/>
              </a:srgbClr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32" name="圖說"/>
          <p:cNvSpPr/>
          <p:nvPr/>
        </p:nvSpPr>
        <p:spPr>
          <a:xfrm>
            <a:off x="12838829" y="77552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半透明寬欄條</a:t>
            </a:r>
            <a:endParaRPr lang="en-US" sz="1050" dirty="0"/>
          </a:p>
        </p:txBody>
      </p:sp>
      <p:sp>
        <p:nvSpPr>
          <p:cNvPr id="133" name="線條"/>
          <p:cNvSpPr/>
          <p:nvPr/>
        </p:nvSpPr>
        <p:spPr>
          <a:xfrm>
            <a:off x="2171700" y="2125980"/>
            <a:ext cx="0" cy="5783580"/>
          </a:xfrm>
          <a:prstGeom prst="line">
            <a:avLst/>
          </a:prstGeom>
          <a:noFill/>
          <a:ln w="8001">
            <a:solidFill>
              <a:srgbClr val="E4E4E4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135" name="Text 133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/ 13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5720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 Common Patterns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8969375" y="1066800"/>
            <a:ext cx="182880" cy="18288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2573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已排好、已連線的流程小組合：整組複製即可使用（純流程圖語意）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571500" cy="68580"/>
          </a:xfrm>
          <a:prstGeom prst="rect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26885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組合名稱"/>
          <p:cNvSpPr/>
          <p:nvPr/>
        </p:nvSpPr>
        <p:spPr>
          <a:xfrm>
            <a:off x="937260" y="2171700"/>
            <a:ext cx="3026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三步驟流程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Linear Process</a:t>
            </a:r>
            <a:endParaRPr lang="en-US" sz="1750" dirty="0"/>
          </a:p>
        </p:txBody>
      </p:sp>
      <p:sp>
        <p:nvSpPr>
          <p:cNvPr id="8" name="線條"/>
          <p:cNvSpPr/>
          <p:nvPr/>
        </p:nvSpPr>
        <p:spPr>
          <a:xfrm>
            <a:off x="685800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0" name="三步驟流程"/>
          <p:cNvGrpSpPr/>
          <p:nvPr/>
        </p:nvGrpSpPr>
        <p:grpSpPr>
          <a:xfrm>
            <a:off x="685800" y="2846070"/>
            <a:ext cx="3278410" cy="971550"/>
            <a:chOff x="685800" y="2846070"/>
            <a:chExt cx="3278410" cy="971550"/>
          </a:xfrm>
        </p:grpSpPr>
        <p:sp>
          <p:nvSpPr>
            <p:cNvPr id="9" name="處理"/>
            <p:cNvSpPr/>
            <p:nvPr/>
          </p:nvSpPr>
          <p:spPr>
            <a:xfrm>
              <a:off x="685800" y="3337560"/>
              <a:ext cx="845820" cy="480060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31750">
              <a:solidFill>
                <a:srgbClr val="3A3A3A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步驟一</a:t>
              </a:r>
              <a:endParaRPr lang="en-US" sz="1300" dirty="0"/>
            </a:p>
          </p:txBody>
        </p:sp>
        <p:sp>
          <p:nvSpPr>
            <p:cNvPr id="10" name="編號"/>
            <p:cNvSpPr/>
            <p:nvPr/>
          </p:nvSpPr>
          <p:spPr>
            <a:xfrm>
              <a:off x="960120" y="2846070"/>
              <a:ext cx="297180" cy="297180"/>
            </a:xfrm>
            <a:prstGeom prst="ellipse">
              <a:avLst/>
            </a:prstGeom>
            <a:solidFill>
              <a:srgbClr val="3A3A3A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1150" dirty="0"/>
            </a:p>
          </p:txBody>
        </p:sp>
        <p:sp>
          <p:nvSpPr>
            <p:cNvPr id="11" name="處理"/>
            <p:cNvSpPr/>
            <p:nvPr/>
          </p:nvSpPr>
          <p:spPr>
            <a:xfrm>
              <a:off x="1902095" y="3337560"/>
              <a:ext cx="845820" cy="480060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31750">
              <a:solidFill>
                <a:srgbClr val="3A3A3A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步驟二</a:t>
              </a:r>
              <a:endParaRPr lang="en-US" sz="1300" dirty="0"/>
            </a:p>
          </p:txBody>
        </p:sp>
        <p:sp>
          <p:nvSpPr>
            <p:cNvPr id="12" name="編號"/>
            <p:cNvSpPr/>
            <p:nvPr/>
          </p:nvSpPr>
          <p:spPr>
            <a:xfrm>
              <a:off x="2176415" y="2846070"/>
              <a:ext cx="297180" cy="297180"/>
            </a:xfrm>
            <a:prstGeom prst="ellipse">
              <a:avLst/>
            </a:prstGeom>
            <a:solidFill>
              <a:srgbClr val="3A3A3A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1150" dirty="0"/>
            </a:p>
          </p:txBody>
        </p:sp>
        <p:sp>
          <p:nvSpPr>
            <p:cNvPr id="13" name="處理"/>
            <p:cNvSpPr/>
            <p:nvPr/>
          </p:nvSpPr>
          <p:spPr>
            <a:xfrm>
              <a:off x="3118390" y="3337560"/>
              <a:ext cx="845820" cy="480060"/>
            </a:xfrm>
            <a:prstGeom prst="roundRect">
              <a:avLst>
                <a:gd name="adj" fmla="val 11905"/>
              </a:avLst>
            </a:prstGeom>
            <a:solidFill>
              <a:srgbClr val="3A3A3A"/>
            </a:solidFill>
            <a:ln/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步驟三</a:t>
              </a:r>
              <a:endParaRPr lang="en-US" sz="1300" dirty="0"/>
            </a:p>
          </p:txBody>
        </p:sp>
        <p:sp>
          <p:nvSpPr>
            <p:cNvPr id="14" name="編號"/>
            <p:cNvSpPr/>
            <p:nvPr/>
          </p:nvSpPr>
          <p:spPr>
            <a:xfrm>
              <a:off x="3392710" y="2846070"/>
              <a:ext cx="297180" cy="297180"/>
            </a:xfrm>
            <a:prstGeom prst="ellipse">
              <a:avLst/>
            </a:prstGeom>
            <a:solidFill>
              <a:srgbClr val="3A3A3A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1150" dirty="0"/>
            </a:p>
          </p:txBody>
        </p:sp>
        <p:cxnSp>
          <p:nvCxnSpPr>
            <p:cNvPr id="15" name="連接線"/>
            <p:cNvCxnSpPr>
              <a:stCxn id="9" idx="3"/>
              <a:endCxn id="11" idx="1"/>
            </p:cNvCxnSpPr>
            <p:nvPr/>
          </p:nvCxnSpPr>
          <p:spPr>
            <a:xfrm>
              <a:off x="1531620" y="3577590"/>
              <a:ext cx="370475" cy="0"/>
            </a:xfrm>
            <a:prstGeom prst="straightConnector1">
              <a:avLst/>
            </a:prstGeom>
            <a:ln w="3175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16" name="連接線"/>
            <p:cNvCxnSpPr>
              <a:stCxn id="11" idx="3"/>
              <a:endCxn id="13" idx="1"/>
            </p:cNvCxnSpPr>
            <p:nvPr/>
          </p:nvCxnSpPr>
          <p:spPr>
            <a:xfrm>
              <a:off x="2747915" y="3577590"/>
              <a:ext cx="370475" cy="0"/>
            </a:xfrm>
            <a:prstGeom prst="straightConnector1">
              <a:avLst/>
            </a:prstGeom>
            <a:ln w="31750">
              <a:solidFill>
                <a:srgbClr val="3A3A3A"/>
              </a:solidFill>
              <a:prstDash val="solid"/>
              <a:tailEnd type="triangle"/>
            </a:ln>
          </p:spPr>
        </p:cxnSp>
      </p:grpSp>
      <p:sp>
        <p:nvSpPr>
          <p:cNvPr id="17" name="Text 15"/>
          <p:cNvSpPr/>
          <p:nvPr/>
        </p:nvSpPr>
        <p:spPr>
          <a:xfrm>
            <a:off x="4215670" y="226885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組合名稱"/>
          <p:cNvSpPr/>
          <p:nvPr/>
        </p:nvSpPr>
        <p:spPr>
          <a:xfrm>
            <a:off x="4467130" y="2171700"/>
            <a:ext cx="3026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判斷分岔（是／否）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Decision Branch</a:t>
            </a:r>
            <a:endParaRPr lang="en-US" sz="1750" dirty="0"/>
          </a:p>
        </p:txBody>
      </p:sp>
      <p:sp>
        <p:nvSpPr>
          <p:cNvPr id="19" name="線條"/>
          <p:cNvSpPr/>
          <p:nvPr/>
        </p:nvSpPr>
        <p:spPr>
          <a:xfrm>
            <a:off x="4215670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1" name="判斷分岔（是／否）"/>
          <p:cNvGrpSpPr/>
          <p:nvPr/>
        </p:nvGrpSpPr>
        <p:grpSpPr>
          <a:xfrm>
            <a:off x="4215670" y="2777490"/>
            <a:ext cx="3278410" cy="1771650"/>
            <a:chOff x="4215670" y="2777490"/>
            <a:chExt cx="3278410" cy="1771650"/>
          </a:xfrm>
        </p:grpSpPr>
        <p:sp>
          <p:nvSpPr>
            <p:cNvPr id="20" name="處理"/>
            <p:cNvSpPr/>
            <p:nvPr/>
          </p:nvSpPr>
          <p:spPr>
            <a:xfrm>
              <a:off x="4215670" y="2903220"/>
              <a:ext cx="822960" cy="480060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31750">
              <a:solidFill>
                <a:srgbClr val="3A3A3A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檢查</a:t>
              </a:r>
              <a:endParaRPr lang="en-US" sz="1300" dirty="0"/>
            </a:p>
          </p:txBody>
        </p:sp>
        <p:sp>
          <p:nvSpPr>
            <p:cNvPr id="21" name="判斷"/>
            <p:cNvSpPr/>
            <p:nvPr/>
          </p:nvSpPr>
          <p:spPr>
            <a:xfrm>
              <a:off x="5335810" y="2777490"/>
              <a:ext cx="960120" cy="731520"/>
            </a:xfrm>
            <a:prstGeom prst="diamond">
              <a:avLst/>
            </a:prstGeom>
            <a:solidFill>
              <a:srgbClr val="F2F2F2"/>
            </a:solidFill>
            <a:ln w="31750">
              <a:solidFill>
                <a:srgbClr val="3A3A3A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通過？</a:t>
              </a:r>
              <a:endParaRPr lang="en-US" sz="1200" dirty="0"/>
            </a:p>
          </p:txBody>
        </p:sp>
        <p:cxnSp>
          <p:nvCxnSpPr>
            <p:cNvPr id="22" name="連接線"/>
            <p:cNvCxnSpPr>
              <a:stCxn id="20" idx="3"/>
              <a:endCxn id="21" idx="1"/>
            </p:cNvCxnSpPr>
            <p:nvPr/>
          </p:nvCxnSpPr>
          <p:spPr>
            <a:xfrm>
              <a:off x="5038630" y="3143250"/>
              <a:ext cx="297180" cy="0"/>
            </a:xfrm>
            <a:prstGeom prst="straightConnector1">
              <a:avLst/>
            </a:prstGeom>
            <a:ln w="31750">
              <a:solidFill>
                <a:srgbClr val="3A3A3A"/>
              </a:solidFill>
              <a:prstDash val="solid"/>
              <a:tailEnd type="triangle"/>
            </a:ln>
          </p:spPr>
        </p:cxnSp>
        <p:sp>
          <p:nvSpPr>
            <p:cNvPr id="23" name="處理"/>
            <p:cNvSpPr/>
            <p:nvPr/>
          </p:nvSpPr>
          <p:spPr>
            <a:xfrm>
              <a:off x="6648260" y="2903220"/>
              <a:ext cx="845820" cy="480060"/>
            </a:xfrm>
            <a:prstGeom prst="roundRect">
              <a:avLst>
                <a:gd name="adj" fmla="val 11905"/>
              </a:avLst>
            </a:prstGeom>
            <a:solidFill>
              <a:srgbClr val="3A3A3A"/>
            </a:solidFill>
            <a:ln/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</a:t>
              </a:r>
              <a:endParaRPr lang="en-US" sz="1300" dirty="0"/>
            </a:p>
          </p:txBody>
        </p:sp>
        <p:cxnSp>
          <p:nvCxnSpPr>
            <p:cNvPr id="24" name="連接線"/>
            <p:cNvCxnSpPr>
              <a:stCxn id="21" idx="3"/>
              <a:endCxn id="23" idx="1"/>
            </p:cNvCxnSpPr>
            <p:nvPr/>
          </p:nvCxnSpPr>
          <p:spPr>
            <a:xfrm>
              <a:off x="6295930" y="3143250"/>
              <a:ext cx="352330" cy="0"/>
            </a:xfrm>
            <a:prstGeom prst="straightConnector1">
              <a:avLst/>
            </a:prstGeom>
            <a:ln w="31750">
              <a:solidFill>
                <a:srgbClr val="3A3A3A"/>
              </a:solidFill>
              <a:prstDash val="solid"/>
              <a:tailEnd type="triangle"/>
            </a:ln>
          </p:spPr>
        </p:cxnSp>
        <p:sp>
          <p:nvSpPr>
            <p:cNvPr id="25" name="標註"/>
            <p:cNvSpPr/>
            <p:nvPr/>
          </p:nvSpPr>
          <p:spPr>
            <a:xfrm>
              <a:off x="6295930" y="286893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1050" dirty="0"/>
            </a:p>
          </p:txBody>
        </p:sp>
        <p:sp>
          <p:nvSpPr>
            <p:cNvPr id="26" name="處理"/>
            <p:cNvSpPr/>
            <p:nvPr/>
          </p:nvSpPr>
          <p:spPr>
            <a:xfrm>
              <a:off x="5392960" y="4069080"/>
              <a:ext cx="845820" cy="480060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31750">
              <a:solidFill>
                <a:srgbClr val="3A3A3A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修正</a:t>
              </a:r>
              <a:endParaRPr lang="en-US" sz="1300" dirty="0"/>
            </a:p>
          </p:txBody>
        </p:sp>
        <p:cxnSp>
          <p:nvCxnSpPr>
            <p:cNvPr id="27" name="連接線"/>
            <p:cNvCxnSpPr>
              <a:stCxn id="21" idx="2"/>
              <a:endCxn id="26" idx="0"/>
            </p:cNvCxnSpPr>
            <p:nvPr/>
          </p:nvCxnSpPr>
          <p:spPr>
            <a:xfrm>
              <a:off x="5815870" y="3509010"/>
              <a:ext cx="0" cy="560070"/>
            </a:xfrm>
            <a:prstGeom prst="straightConnector1">
              <a:avLst/>
            </a:prstGeom>
            <a:ln w="31750">
              <a:solidFill>
                <a:srgbClr val="3A3A3A"/>
              </a:solidFill>
              <a:prstDash val="solid"/>
              <a:tailEnd type="triangle"/>
            </a:ln>
          </p:spPr>
        </p:cxnSp>
        <p:sp>
          <p:nvSpPr>
            <p:cNvPr id="28" name="標註"/>
            <p:cNvSpPr/>
            <p:nvPr/>
          </p:nvSpPr>
          <p:spPr>
            <a:xfrm>
              <a:off x="5838730" y="3554730"/>
              <a:ext cx="3429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否</a:t>
              </a:r>
              <a:endParaRPr lang="en-US" sz="1050" dirty="0"/>
            </a:p>
          </p:txBody>
        </p:sp>
      </p:grpSp>
      <p:sp>
        <p:nvSpPr>
          <p:cNvPr id="29" name="Text 27"/>
          <p:cNvSpPr/>
          <p:nvPr/>
        </p:nvSpPr>
        <p:spPr>
          <a:xfrm>
            <a:off x="7745540" y="226885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組合名稱"/>
          <p:cNvSpPr/>
          <p:nvPr/>
        </p:nvSpPr>
        <p:spPr>
          <a:xfrm>
            <a:off x="7997000" y="2171700"/>
            <a:ext cx="3026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例外退回路徑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Exception Return</a:t>
            </a:r>
            <a:endParaRPr lang="en-US" sz="1750" dirty="0"/>
          </a:p>
        </p:txBody>
      </p:sp>
      <p:sp>
        <p:nvSpPr>
          <p:cNvPr id="31" name="線條"/>
          <p:cNvSpPr/>
          <p:nvPr/>
        </p:nvSpPr>
        <p:spPr>
          <a:xfrm>
            <a:off x="7745540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2" name="例外退回路徑"/>
          <p:cNvGrpSpPr/>
          <p:nvPr/>
        </p:nvGrpSpPr>
        <p:grpSpPr>
          <a:xfrm>
            <a:off x="7745540" y="3040380"/>
            <a:ext cx="3278410" cy="1234440"/>
            <a:chOff x="7745540" y="3040380"/>
            <a:chExt cx="3278410" cy="1234440"/>
          </a:xfrm>
        </p:grpSpPr>
        <p:sp>
          <p:nvSpPr>
            <p:cNvPr id="32" name="處理"/>
            <p:cNvSpPr/>
            <p:nvPr/>
          </p:nvSpPr>
          <p:spPr>
            <a:xfrm>
              <a:off x="7745540" y="3040380"/>
              <a:ext cx="845820" cy="480060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31750">
              <a:solidFill>
                <a:srgbClr val="3A3A3A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受理</a:t>
              </a:r>
              <a:endParaRPr lang="en-US" sz="1300" dirty="0"/>
            </a:p>
          </p:txBody>
        </p:sp>
        <p:sp>
          <p:nvSpPr>
            <p:cNvPr id="33" name="處理"/>
            <p:cNvSpPr/>
            <p:nvPr/>
          </p:nvSpPr>
          <p:spPr>
            <a:xfrm>
              <a:off x="8961834" y="3040380"/>
              <a:ext cx="845820" cy="480060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31750">
              <a:solidFill>
                <a:srgbClr val="3A3A3A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審查</a:t>
              </a:r>
              <a:endParaRPr lang="en-US" sz="1300" dirty="0"/>
            </a:p>
          </p:txBody>
        </p:sp>
        <p:sp>
          <p:nvSpPr>
            <p:cNvPr id="34" name="處理"/>
            <p:cNvSpPr/>
            <p:nvPr/>
          </p:nvSpPr>
          <p:spPr>
            <a:xfrm>
              <a:off x="10178129" y="3040380"/>
              <a:ext cx="845820" cy="480060"/>
            </a:xfrm>
            <a:prstGeom prst="roundRect">
              <a:avLst>
                <a:gd name="adj" fmla="val 11905"/>
              </a:avLst>
            </a:prstGeom>
            <a:solidFill>
              <a:srgbClr val="3A3A3A"/>
            </a:solidFill>
            <a:ln/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完成</a:t>
              </a:r>
              <a:endParaRPr lang="en-US" sz="1300" dirty="0"/>
            </a:p>
          </p:txBody>
        </p:sp>
        <p:cxnSp>
          <p:nvCxnSpPr>
            <p:cNvPr id="35" name="連接線"/>
            <p:cNvCxnSpPr>
              <a:stCxn id="32" idx="3"/>
              <a:endCxn id="33" idx="1"/>
            </p:cNvCxnSpPr>
            <p:nvPr/>
          </p:nvCxnSpPr>
          <p:spPr>
            <a:xfrm>
              <a:off x="8591360" y="3280410"/>
              <a:ext cx="370475" cy="0"/>
            </a:xfrm>
            <a:prstGeom prst="straightConnector1">
              <a:avLst/>
            </a:prstGeom>
            <a:ln w="3175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36" name="連接線"/>
            <p:cNvCxnSpPr>
              <a:stCxn id="33" idx="3"/>
              <a:endCxn id="34" idx="1"/>
            </p:cNvCxnSpPr>
            <p:nvPr/>
          </p:nvCxnSpPr>
          <p:spPr>
            <a:xfrm>
              <a:off x="9807654" y="3280410"/>
              <a:ext cx="370475" cy="0"/>
            </a:xfrm>
            <a:prstGeom prst="straightConnector1">
              <a:avLst/>
            </a:prstGeom>
            <a:ln w="3175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37" name="連接線"/>
            <p:cNvCxnSpPr>
              <a:stCxn id="33" idx="2"/>
              <a:endCxn id="32" idx="2"/>
            </p:cNvCxnSpPr>
            <p:nvPr/>
          </p:nvCxnSpPr>
          <p:spPr>
            <a:xfrm rot="5400000">
              <a:off x="8773854" y="2915036"/>
              <a:ext cx="5486" cy="1216295"/>
            </a:xfrm>
            <a:prstGeom prst="bentConnector3">
              <a:avLst>
                <a:gd name="adj1" fmla="val 8750000"/>
              </a:avLst>
            </a:prstGeom>
            <a:ln w="31750">
              <a:solidFill>
                <a:srgbClr val="F07F2D"/>
              </a:solidFill>
              <a:prstDash val="sysDash"/>
              <a:tailEnd type="triangle"/>
            </a:ln>
          </p:spPr>
        </p:cxnSp>
        <p:sp>
          <p:nvSpPr>
            <p:cNvPr id="38" name="標註"/>
            <p:cNvSpPr/>
            <p:nvPr/>
          </p:nvSpPr>
          <p:spPr>
            <a:xfrm>
              <a:off x="8168450" y="4046220"/>
              <a:ext cx="121629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B45F2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例外：退回補件</a:t>
              </a:r>
              <a:endParaRPr lang="en-US" sz="1050" dirty="0"/>
            </a:p>
          </p:txBody>
        </p:sp>
      </p:grpSp>
      <p:sp>
        <p:nvSpPr>
          <p:cNvPr id="39" name="Text 37"/>
          <p:cNvSpPr/>
          <p:nvPr/>
        </p:nvSpPr>
        <p:spPr>
          <a:xfrm>
            <a:off x="11275409" y="226885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組合名稱"/>
          <p:cNvSpPr/>
          <p:nvPr/>
        </p:nvSpPr>
        <p:spPr>
          <a:xfrm>
            <a:off x="11526869" y="2171700"/>
            <a:ext cx="3026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審核迴圈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Approval Loop</a:t>
            </a:r>
            <a:endParaRPr lang="en-US" sz="1750" dirty="0"/>
          </a:p>
        </p:txBody>
      </p:sp>
      <p:sp>
        <p:nvSpPr>
          <p:cNvPr id="41" name="線條"/>
          <p:cNvSpPr/>
          <p:nvPr/>
        </p:nvSpPr>
        <p:spPr>
          <a:xfrm>
            <a:off x="11275409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3" name="審核迴圈"/>
          <p:cNvGrpSpPr/>
          <p:nvPr/>
        </p:nvGrpSpPr>
        <p:grpSpPr>
          <a:xfrm>
            <a:off x="11275409" y="2651760"/>
            <a:ext cx="3278410" cy="1451610"/>
            <a:chOff x="11275409" y="2651760"/>
            <a:chExt cx="3278410" cy="1451610"/>
          </a:xfrm>
        </p:grpSpPr>
        <p:sp>
          <p:nvSpPr>
            <p:cNvPr id="42" name="處理"/>
            <p:cNvSpPr/>
            <p:nvPr/>
          </p:nvSpPr>
          <p:spPr>
            <a:xfrm>
              <a:off x="11275409" y="3520440"/>
              <a:ext cx="914400" cy="480060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31750">
              <a:solidFill>
                <a:srgbClr val="3A3A3A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提出申請</a:t>
              </a:r>
              <a:endParaRPr lang="en-US" sz="1300" dirty="0"/>
            </a:p>
          </p:txBody>
        </p:sp>
        <p:sp>
          <p:nvSpPr>
            <p:cNvPr id="43" name="判斷"/>
            <p:cNvSpPr/>
            <p:nvPr/>
          </p:nvSpPr>
          <p:spPr>
            <a:xfrm>
              <a:off x="12418409" y="3417570"/>
              <a:ext cx="845820" cy="685800"/>
            </a:xfrm>
            <a:prstGeom prst="diamond">
              <a:avLst/>
            </a:prstGeom>
            <a:solidFill>
              <a:srgbClr val="F2F2F2"/>
            </a:solidFill>
            <a:ln w="31750">
              <a:solidFill>
                <a:srgbClr val="3A3A3A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1200" dirty="0"/>
            </a:p>
          </p:txBody>
        </p:sp>
        <p:cxnSp>
          <p:nvCxnSpPr>
            <p:cNvPr id="44" name="連接線"/>
            <p:cNvCxnSpPr>
              <a:stCxn id="42" idx="3"/>
              <a:endCxn id="43" idx="1"/>
            </p:cNvCxnSpPr>
            <p:nvPr/>
          </p:nvCxnSpPr>
          <p:spPr>
            <a:xfrm>
              <a:off x="12189809" y="3760470"/>
              <a:ext cx="228600" cy="0"/>
            </a:xfrm>
            <a:prstGeom prst="straightConnector1">
              <a:avLst/>
            </a:prstGeom>
            <a:ln w="31750">
              <a:solidFill>
                <a:srgbClr val="3A3A3A"/>
              </a:solidFill>
              <a:prstDash val="solid"/>
              <a:tailEnd type="triangle"/>
            </a:ln>
          </p:spPr>
        </p:cxnSp>
        <p:sp>
          <p:nvSpPr>
            <p:cNvPr id="45" name="處理"/>
            <p:cNvSpPr/>
            <p:nvPr/>
          </p:nvSpPr>
          <p:spPr>
            <a:xfrm>
              <a:off x="13845159" y="3520440"/>
              <a:ext cx="708660" cy="480060"/>
            </a:xfrm>
            <a:prstGeom prst="roundRect">
              <a:avLst>
                <a:gd name="adj" fmla="val 11905"/>
              </a:avLst>
            </a:prstGeom>
            <a:solidFill>
              <a:srgbClr val="3A3A3A"/>
            </a:solidFill>
            <a:ln/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核准</a:t>
              </a:r>
              <a:endParaRPr lang="en-US" sz="1300" dirty="0"/>
            </a:p>
          </p:txBody>
        </p:sp>
        <p:cxnSp>
          <p:nvCxnSpPr>
            <p:cNvPr id="46" name="連接線"/>
            <p:cNvCxnSpPr>
              <a:stCxn id="43" idx="3"/>
              <a:endCxn id="45" idx="1"/>
            </p:cNvCxnSpPr>
            <p:nvPr/>
          </p:nvCxnSpPr>
          <p:spPr>
            <a:xfrm>
              <a:off x="13264229" y="3760470"/>
              <a:ext cx="580930" cy="0"/>
            </a:xfrm>
            <a:prstGeom prst="straightConnector1">
              <a:avLst/>
            </a:prstGeom>
            <a:ln w="31750">
              <a:solidFill>
                <a:srgbClr val="3A3A3A"/>
              </a:solidFill>
              <a:prstDash val="solid"/>
              <a:tailEnd type="triangle"/>
            </a:ln>
          </p:spPr>
        </p:cxnSp>
        <p:sp>
          <p:nvSpPr>
            <p:cNvPr id="47" name="標註"/>
            <p:cNvSpPr/>
            <p:nvPr/>
          </p:nvSpPr>
          <p:spPr>
            <a:xfrm>
              <a:off x="13264229" y="3486150"/>
              <a:ext cx="58093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</a:t>
              </a:r>
              <a:endParaRPr lang="en-US" sz="1050" dirty="0"/>
            </a:p>
          </p:txBody>
        </p:sp>
        <p:cxnSp>
          <p:nvCxnSpPr>
            <p:cNvPr id="48" name="連接線"/>
            <p:cNvCxnSpPr>
              <a:stCxn id="43" idx="0"/>
              <a:endCxn id="42" idx="0"/>
            </p:cNvCxnSpPr>
            <p:nvPr/>
          </p:nvCxnSpPr>
          <p:spPr>
            <a:xfrm rot="5400000">
              <a:off x="12235529" y="2914650"/>
              <a:ext cx="102870" cy="1108710"/>
            </a:xfrm>
            <a:prstGeom prst="bentConnector3">
              <a:avLst>
                <a:gd name="adj1" fmla="val -500000"/>
              </a:avLst>
            </a:prstGeom>
            <a:ln w="31750">
              <a:solidFill>
                <a:srgbClr val="3A3A3A"/>
              </a:solidFill>
              <a:prstDash val="solid"/>
              <a:tailEnd type="triangle"/>
            </a:ln>
          </p:spPr>
        </p:cxnSp>
        <p:sp>
          <p:nvSpPr>
            <p:cNvPr id="49" name="標註"/>
            <p:cNvSpPr/>
            <p:nvPr/>
          </p:nvSpPr>
          <p:spPr>
            <a:xfrm>
              <a:off x="11755469" y="2651760"/>
              <a:ext cx="10858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退回修改後重送</a:t>
              </a:r>
              <a:endParaRPr lang="en-US" sz="1050" dirty="0"/>
            </a:p>
          </p:txBody>
        </p:sp>
      </p:grpSp>
      <p:sp>
        <p:nvSpPr>
          <p:cNvPr id="50" name="Text 48"/>
          <p:cNvSpPr/>
          <p:nvPr/>
        </p:nvSpPr>
        <p:spPr>
          <a:xfrm>
            <a:off x="685800" y="514921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組合名稱"/>
          <p:cNvSpPr/>
          <p:nvPr/>
        </p:nvSpPr>
        <p:spPr>
          <a:xfrm>
            <a:off x="937260" y="5052060"/>
            <a:ext cx="3026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泳道（雙道）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Swimlane</a:t>
            </a:r>
            <a:endParaRPr lang="en-US" sz="1750" dirty="0"/>
          </a:p>
        </p:txBody>
      </p:sp>
      <p:sp>
        <p:nvSpPr>
          <p:cNvPr id="52" name="線條"/>
          <p:cNvSpPr/>
          <p:nvPr/>
        </p:nvSpPr>
        <p:spPr>
          <a:xfrm>
            <a:off x="685800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4" name="泳道（雙道）"/>
          <p:cNvGrpSpPr/>
          <p:nvPr/>
        </p:nvGrpSpPr>
        <p:grpSpPr>
          <a:xfrm>
            <a:off x="685800" y="5554980"/>
            <a:ext cx="3278410" cy="1897380"/>
            <a:chOff x="685800" y="5554980"/>
            <a:chExt cx="3278410" cy="1897380"/>
          </a:xfrm>
        </p:grpSpPr>
        <p:sp>
          <p:nvSpPr>
            <p:cNvPr id="53" name="泳道"/>
            <p:cNvSpPr/>
            <p:nvPr/>
          </p:nvSpPr>
          <p:spPr>
            <a:xfrm>
              <a:off x="685800" y="5554980"/>
              <a:ext cx="3278410" cy="91440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4" name="泳道標題"/>
            <p:cNvSpPr/>
            <p:nvPr/>
          </p:nvSpPr>
          <p:spPr>
            <a:xfrm>
              <a:off x="685800" y="5554980"/>
              <a:ext cx="525780" cy="914400"/>
            </a:xfrm>
            <a:prstGeom prst="rect">
              <a:avLst/>
            </a:prstGeom>
            <a:solidFill>
              <a:srgbClr val="F2F2F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申</a:t>
              </a:r>
              <a:endParaRPr lang="en-US" sz="10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請</a:t>
              </a:r>
              <a:endParaRPr lang="en-US" sz="10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人</a:t>
              </a:r>
              <a:endParaRPr lang="en-US" sz="1050" dirty="0"/>
            </a:p>
          </p:txBody>
        </p:sp>
        <p:sp>
          <p:nvSpPr>
            <p:cNvPr id="55" name="泳道"/>
            <p:cNvSpPr/>
            <p:nvPr/>
          </p:nvSpPr>
          <p:spPr>
            <a:xfrm>
              <a:off x="685800" y="6537960"/>
              <a:ext cx="3278410" cy="91440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6" name="泳道標題"/>
            <p:cNvSpPr/>
            <p:nvPr/>
          </p:nvSpPr>
          <p:spPr>
            <a:xfrm>
              <a:off x="685800" y="6537960"/>
              <a:ext cx="525780" cy="914400"/>
            </a:xfrm>
            <a:prstGeom prst="rect">
              <a:avLst/>
            </a:prstGeom>
            <a:solidFill>
              <a:srgbClr val="F2F2F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</a:t>
              </a:r>
              <a:endParaRPr lang="en-US" sz="10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1050" dirty="0"/>
            </a:p>
          </p:txBody>
        </p:sp>
        <p:sp>
          <p:nvSpPr>
            <p:cNvPr id="57" name="處理"/>
            <p:cNvSpPr/>
            <p:nvPr/>
          </p:nvSpPr>
          <p:spPr>
            <a:xfrm>
              <a:off x="1371600" y="5772150"/>
              <a:ext cx="800100" cy="480060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31750">
              <a:solidFill>
                <a:srgbClr val="3A3A3A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填寫</a:t>
              </a:r>
              <a:endParaRPr lang="en-US" sz="1300" dirty="0"/>
            </a:p>
          </p:txBody>
        </p:sp>
        <p:sp>
          <p:nvSpPr>
            <p:cNvPr id="58" name="處理"/>
            <p:cNvSpPr/>
            <p:nvPr/>
          </p:nvSpPr>
          <p:spPr>
            <a:xfrm>
              <a:off x="2514600" y="6755130"/>
              <a:ext cx="800100" cy="480060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31750">
              <a:solidFill>
                <a:srgbClr val="3A3A3A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1300" dirty="0"/>
            </a:p>
          </p:txBody>
        </p:sp>
        <p:sp>
          <p:nvSpPr>
            <p:cNvPr id="59" name="處理"/>
            <p:cNvSpPr/>
            <p:nvPr/>
          </p:nvSpPr>
          <p:spPr>
            <a:xfrm>
              <a:off x="3072670" y="5772150"/>
              <a:ext cx="800100" cy="480060"/>
            </a:xfrm>
            <a:prstGeom prst="roundRect">
              <a:avLst>
                <a:gd name="adj" fmla="val 11905"/>
              </a:avLst>
            </a:prstGeom>
            <a:solidFill>
              <a:srgbClr val="3A3A3A"/>
            </a:solidFill>
            <a:ln/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歸檔</a:t>
              </a:r>
              <a:endParaRPr lang="en-US" sz="1300" dirty="0"/>
            </a:p>
          </p:txBody>
        </p:sp>
        <p:cxnSp>
          <p:nvCxnSpPr>
            <p:cNvPr id="60" name="連接線"/>
            <p:cNvCxnSpPr>
              <a:stCxn id="57" idx="3"/>
              <a:endCxn id="58" idx="0"/>
            </p:cNvCxnSpPr>
            <p:nvPr/>
          </p:nvCxnSpPr>
          <p:spPr>
            <a:xfrm>
              <a:off x="2171700" y="6012180"/>
              <a:ext cx="742950" cy="742950"/>
            </a:xfrm>
            <a:prstGeom prst="bentConnector2">
              <a:avLst/>
            </a:prstGeom>
            <a:ln w="3175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61" name="連接線"/>
            <p:cNvCxnSpPr>
              <a:stCxn id="58" idx="3"/>
              <a:endCxn id="59" idx="2"/>
            </p:cNvCxnSpPr>
            <p:nvPr/>
          </p:nvCxnSpPr>
          <p:spPr>
            <a:xfrm flipV="1">
              <a:off x="3314700" y="6252210"/>
              <a:ext cx="158020" cy="742950"/>
            </a:xfrm>
            <a:prstGeom prst="bentConnector2">
              <a:avLst/>
            </a:prstGeom>
            <a:ln w="31750">
              <a:solidFill>
                <a:srgbClr val="3A3A3A"/>
              </a:solidFill>
              <a:prstDash val="solid"/>
              <a:tailEnd type="triangle"/>
            </a:ln>
          </p:spPr>
        </p:cxnSp>
      </p:grpSp>
      <p:sp>
        <p:nvSpPr>
          <p:cNvPr id="62" name="Text 60"/>
          <p:cNvSpPr/>
          <p:nvPr/>
        </p:nvSpPr>
        <p:spPr>
          <a:xfrm>
            <a:off x="4215670" y="514921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組合名稱"/>
          <p:cNvSpPr/>
          <p:nvPr/>
        </p:nvSpPr>
        <p:spPr>
          <a:xfrm>
            <a:off x="4467130" y="5052060"/>
            <a:ext cx="3026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平行分流／合流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Parallel Split / Merge</a:t>
            </a:r>
            <a:endParaRPr lang="en-US" sz="1750" dirty="0"/>
          </a:p>
        </p:txBody>
      </p:sp>
      <p:sp>
        <p:nvSpPr>
          <p:cNvPr id="64" name="線條"/>
          <p:cNvSpPr/>
          <p:nvPr/>
        </p:nvSpPr>
        <p:spPr>
          <a:xfrm>
            <a:off x="4215670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5" name="平行分流／合流"/>
          <p:cNvGrpSpPr/>
          <p:nvPr/>
        </p:nvGrpSpPr>
        <p:grpSpPr>
          <a:xfrm>
            <a:off x="4215670" y="5623560"/>
            <a:ext cx="3278410" cy="1691640"/>
            <a:chOff x="4215670" y="5623560"/>
            <a:chExt cx="3278410" cy="1691640"/>
          </a:xfrm>
        </p:grpSpPr>
        <p:sp>
          <p:nvSpPr>
            <p:cNvPr id="65" name="處理"/>
            <p:cNvSpPr/>
            <p:nvPr/>
          </p:nvSpPr>
          <p:spPr>
            <a:xfrm>
              <a:off x="4215670" y="6229350"/>
              <a:ext cx="640080" cy="480060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31750">
              <a:solidFill>
                <a:srgbClr val="3A3A3A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開始</a:t>
              </a:r>
              <a:endParaRPr lang="en-US" sz="1300" dirty="0"/>
            </a:p>
          </p:txBody>
        </p:sp>
        <p:sp>
          <p:nvSpPr>
            <p:cNvPr id="66" name="分流"/>
            <p:cNvSpPr/>
            <p:nvPr/>
          </p:nvSpPr>
          <p:spPr>
            <a:xfrm>
              <a:off x="5084350" y="5623560"/>
              <a:ext cx="80010" cy="1691640"/>
            </a:xfrm>
            <a:prstGeom prst="rect">
              <a:avLst/>
            </a:prstGeom>
            <a:solidFill>
              <a:srgbClr val="3A3A3A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7" name="處理"/>
            <p:cNvSpPr/>
            <p:nvPr/>
          </p:nvSpPr>
          <p:spPr>
            <a:xfrm>
              <a:off x="5404390" y="5703570"/>
              <a:ext cx="845820" cy="480060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31750">
              <a:solidFill>
                <a:srgbClr val="3A3A3A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A</a:t>
              </a:r>
              <a:endParaRPr lang="en-US" sz="1300" dirty="0"/>
            </a:p>
          </p:txBody>
        </p:sp>
        <p:sp>
          <p:nvSpPr>
            <p:cNvPr id="68" name="處理"/>
            <p:cNvSpPr/>
            <p:nvPr/>
          </p:nvSpPr>
          <p:spPr>
            <a:xfrm>
              <a:off x="5404390" y="6755130"/>
              <a:ext cx="845820" cy="480060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31750">
              <a:solidFill>
                <a:srgbClr val="3A3A3A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B</a:t>
              </a:r>
              <a:endParaRPr lang="en-US" sz="1300" dirty="0"/>
            </a:p>
          </p:txBody>
        </p:sp>
        <p:sp>
          <p:nvSpPr>
            <p:cNvPr id="69" name="合流"/>
            <p:cNvSpPr/>
            <p:nvPr/>
          </p:nvSpPr>
          <p:spPr>
            <a:xfrm>
              <a:off x="6282500" y="5623560"/>
              <a:ext cx="80010" cy="1691640"/>
            </a:xfrm>
            <a:prstGeom prst="rect">
              <a:avLst/>
            </a:prstGeom>
            <a:solidFill>
              <a:srgbClr val="3A3A3A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處理"/>
            <p:cNvSpPr/>
            <p:nvPr/>
          </p:nvSpPr>
          <p:spPr>
            <a:xfrm>
              <a:off x="6785420" y="6229350"/>
              <a:ext cx="708660" cy="480060"/>
            </a:xfrm>
            <a:prstGeom prst="roundRect">
              <a:avLst>
                <a:gd name="adj" fmla="val 11905"/>
              </a:avLst>
            </a:prstGeom>
            <a:solidFill>
              <a:srgbClr val="3A3A3A"/>
            </a:solidFill>
            <a:ln/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</a:t>
              </a:r>
              <a:endParaRPr lang="en-US" sz="1300" dirty="0"/>
            </a:p>
          </p:txBody>
        </p:sp>
        <p:cxnSp>
          <p:nvCxnSpPr>
            <p:cNvPr id="71" name="連接線"/>
            <p:cNvCxnSpPr>
              <a:stCxn id="65" idx="3"/>
              <a:endCxn id="66" idx="1"/>
            </p:cNvCxnSpPr>
            <p:nvPr/>
          </p:nvCxnSpPr>
          <p:spPr>
            <a:xfrm>
              <a:off x="4855750" y="6469380"/>
              <a:ext cx="228600" cy="0"/>
            </a:xfrm>
            <a:prstGeom prst="straightConnector1">
              <a:avLst/>
            </a:prstGeom>
            <a:ln w="3175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72" name="連接線"/>
            <p:cNvCxnSpPr>
              <a:endCxn id="67" idx="1"/>
            </p:cNvCxnSpPr>
            <p:nvPr/>
          </p:nvCxnSpPr>
          <p:spPr>
            <a:xfrm>
              <a:off x="5164360" y="5943600"/>
              <a:ext cx="240030" cy="0"/>
            </a:xfrm>
            <a:prstGeom prst="straightConnector1">
              <a:avLst/>
            </a:prstGeom>
            <a:ln w="3175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73" name="連接線"/>
            <p:cNvCxnSpPr>
              <a:endCxn id="68" idx="1"/>
            </p:cNvCxnSpPr>
            <p:nvPr/>
          </p:nvCxnSpPr>
          <p:spPr>
            <a:xfrm>
              <a:off x="5164360" y="6995160"/>
              <a:ext cx="240030" cy="0"/>
            </a:xfrm>
            <a:prstGeom prst="straightConnector1">
              <a:avLst/>
            </a:prstGeom>
            <a:ln w="3175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74" name="連接線"/>
            <p:cNvCxnSpPr>
              <a:stCxn id="67" idx="3"/>
            </p:cNvCxnSpPr>
            <p:nvPr/>
          </p:nvCxnSpPr>
          <p:spPr>
            <a:xfrm>
              <a:off x="6250210" y="5943600"/>
              <a:ext cx="32290" cy="0"/>
            </a:xfrm>
            <a:prstGeom prst="straightConnector1">
              <a:avLst/>
            </a:prstGeom>
            <a:ln w="3175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75" name="連接線"/>
            <p:cNvCxnSpPr>
              <a:stCxn id="68" idx="3"/>
            </p:cNvCxnSpPr>
            <p:nvPr/>
          </p:nvCxnSpPr>
          <p:spPr>
            <a:xfrm>
              <a:off x="6250210" y="6995160"/>
              <a:ext cx="32290" cy="0"/>
            </a:xfrm>
            <a:prstGeom prst="straightConnector1">
              <a:avLst/>
            </a:prstGeom>
            <a:ln w="3175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76" name="連接線"/>
            <p:cNvCxnSpPr>
              <a:stCxn id="69" idx="3"/>
              <a:endCxn id="70" idx="1"/>
            </p:cNvCxnSpPr>
            <p:nvPr/>
          </p:nvCxnSpPr>
          <p:spPr>
            <a:xfrm>
              <a:off x="6362510" y="6469380"/>
              <a:ext cx="422910" cy="0"/>
            </a:xfrm>
            <a:prstGeom prst="straightConnector1">
              <a:avLst/>
            </a:prstGeom>
            <a:ln w="31750">
              <a:solidFill>
                <a:srgbClr val="3A3A3A"/>
              </a:solidFill>
              <a:prstDash val="solid"/>
              <a:tailEnd type="triangle"/>
            </a:ln>
          </p:spPr>
        </p:cxnSp>
      </p:grpSp>
      <p:sp>
        <p:nvSpPr>
          <p:cNvPr id="77" name="Text 75"/>
          <p:cNvSpPr/>
          <p:nvPr/>
        </p:nvSpPr>
        <p:spPr>
          <a:xfrm>
            <a:off x="7745540" y="514921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組合名稱"/>
          <p:cNvSpPr/>
          <p:nvPr/>
        </p:nvSpPr>
        <p:spPr>
          <a:xfrm>
            <a:off x="7997000" y="5052060"/>
            <a:ext cx="3026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輸入→處理→輸出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Input / Process / Output</a:t>
            </a:r>
            <a:endParaRPr lang="en-US" sz="1750" dirty="0"/>
          </a:p>
        </p:txBody>
      </p:sp>
      <p:sp>
        <p:nvSpPr>
          <p:cNvPr id="79" name="線條"/>
          <p:cNvSpPr/>
          <p:nvPr/>
        </p:nvSpPr>
        <p:spPr>
          <a:xfrm>
            <a:off x="7745540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6" name="輸入→處理→輸出"/>
          <p:cNvGrpSpPr/>
          <p:nvPr/>
        </p:nvGrpSpPr>
        <p:grpSpPr>
          <a:xfrm>
            <a:off x="7688390" y="6023610"/>
            <a:ext cx="3392710" cy="971550"/>
            <a:chOff x="7688390" y="6023610"/>
            <a:chExt cx="3392710" cy="971550"/>
          </a:xfrm>
        </p:grpSpPr>
        <p:sp>
          <p:nvSpPr>
            <p:cNvPr id="80" name="輸入輸出"/>
            <p:cNvSpPr/>
            <p:nvPr/>
          </p:nvSpPr>
          <p:spPr>
            <a:xfrm>
              <a:off x="7745540" y="6080760"/>
              <a:ext cx="937260" cy="480060"/>
            </a:xfrm>
            <a:prstGeom prst="parallelogram">
              <a:avLst>
                <a:gd name="adj" fmla="val 42000"/>
              </a:avLst>
            </a:prstGeom>
            <a:solidFill>
              <a:srgbClr val="F2F2F2"/>
            </a:solidFill>
            <a:ln w="31750">
              <a:solidFill>
                <a:srgbClr val="3A3A3A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</a:t>
              </a:r>
              <a:endParaRPr lang="en-US" sz="1300" dirty="0"/>
            </a:p>
          </p:txBody>
        </p:sp>
        <p:sp>
          <p:nvSpPr>
            <p:cNvPr id="81" name="標註"/>
            <p:cNvSpPr/>
            <p:nvPr/>
          </p:nvSpPr>
          <p:spPr>
            <a:xfrm>
              <a:off x="7688390" y="6766560"/>
              <a:ext cx="10515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資料來源</a:t>
              </a:r>
              <a:endParaRPr lang="en-US" sz="1050" dirty="0"/>
            </a:p>
          </p:txBody>
        </p:sp>
        <p:sp>
          <p:nvSpPr>
            <p:cNvPr id="82" name="處理"/>
            <p:cNvSpPr/>
            <p:nvPr/>
          </p:nvSpPr>
          <p:spPr>
            <a:xfrm>
              <a:off x="8984694" y="6080760"/>
              <a:ext cx="800100" cy="480060"/>
            </a:xfrm>
            <a:prstGeom prst="roundRect">
              <a:avLst>
                <a:gd name="adj" fmla="val 11905"/>
              </a:avLst>
            </a:prstGeom>
            <a:solidFill>
              <a:srgbClr val="3A3A3A"/>
            </a:solidFill>
            <a:ln/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處理</a:t>
              </a:r>
              <a:endParaRPr lang="en-US" sz="1300" dirty="0"/>
            </a:p>
          </p:txBody>
        </p:sp>
        <p:sp>
          <p:nvSpPr>
            <p:cNvPr id="83" name="標註"/>
            <p:cNvSpPr/>
            <p:nvPr/>
          </p:nvSpPr>
          <p:spPr>
            <a:xfrm>
              <a:off x="8927544" y="6766560"/>
              <a:ext cx="914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整理運算</a:t>
              </a:r>
              <a:endParaRPr lang="en-US" sz="1050" dirty="0"/>
            </a:p>
          </p:txBody>
        </p:sp>
        <p:sp>
          <p:nvSpPr>
            <p:cNvPr id="84" name="文件"/>
            <p:cNvSpPr/>
            <p:nvPr/>
          </p:nvSpPr>
          <p:spPr>
            <a:xfrm>
              <a:off x="10086689" y="6023610"/>
              <a:ext cx="937260" cy="594360"/>
            </a:xfrm>
            <a:prstGeom prst="flowChartDocument">
              <a:avLst/>
            </a:prstGeom>
            <a:solidFill>
              <a:srgbClr val="F2F2F2"/>
            </a:solidFill>
            <a:ln w="31750">
              <a:solidFill>
                <a:srgbClr val="3A3A3A"/>
              </a:solidFill>
              <a:prstDash val="solid"/>
            </a:ln>
          </p:spPr>
          <p:txBody>
            <a:bodyPr wrap="square" lIns="47625" tIns="0" rIns="47625" bIns="0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報表</a:t>
              </a:r>
              <a:endParaRPr lang="en-US" sz="1300" dirty="0"/>
            </a:p>
          </p:txBody>
        </p:sp>
        <p:sp>
          <p:nvSpPr>
            <p:cNvPr id="85" name="標註"/>
            <p:cNvSpPr/>
            <p:nvPr/>
          </p:nvSpPr>
          <p:spPr>
            <a:xfrm>
              <a:off x="10029539" y="6766560"/>
              <a:ext cx="10515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產出結果</a:t>
              </a:r>
              <a:endParaRPr lang="en-US" sz="1050" dirty="0"/>
            </a:p>
          </p:txBody>
        </p:sp>
        <p:cxnSp>
          <p:nvCxnSpPr>
            <p:cNvPr id="86" name="連接線"/>
            <p:cNvCxnSpPr>
              <a:stCxn id="80" idx="2"/>
              <a:endCxn id="82" idx="1"/>
            </p:cNvCxnSpPr>
            <p:nvPr/>
          </p:nvCxnSpPr>
          <p:spPr>
            <a:xfrm>
              <a:off x="8581987" y="6320790"/>
              <a:ext cx="402707" cy="0"/>
            </a:xfrm>
            <a:prstGeom prst="straightConnector1">
              <a:avLst/>
            </a:prstGeom>
            <a:ln w="3175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87" name="連接線"/>
            <p:cNvCxnSpPr>
              <a:stCxn id="82" idx="3"/>
              <a:endCxn id="84" idx="1"/>
            </p:cNvCxnSpPr>
            <p:nvPr/>
          </p:nvCxnSpPr>
          <p:spPr>
            <a:xfrm>
              <a:off x="9784794" y="6320790"/>
              <a:ext cx="301895" cy="0"/>
            </a:xfrm>
            <a:prstGeom prst="straightConnector1">
              <a:avLst/>
            </a:prstGeom>
            <a:ln w="31750">
              <a:solidFill>
                <a:srgbClr val="3A3A3A"/>
              </a:solidFill>
              <a:prstDash val="solid"/>
              <a:tailEnd type="triangle"/>
            </a:ln>
          </p:spPr>
        </p:cxnSp>
      </p:grpSp>
      <p:sp>
        <p:nvSpPr>
          <p:cNvPr id="88" name="Text 86"/>
          <p:cNvSpPr/>
          <p:nvPr/>
        </p:nvSpPr>
        <p:spPr>
          <a:xfrm>
            <a:off x="11275409" y="514921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組合名稱"/>
          <p:cNvSpPr/>
          <p:nvPr/>
        </p:nvSpPr>
        <p:spPr>
          <a:xfrm>
            <a:off x="11526869" y="5052060"/>
            <a:ext cx="3026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前後對照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</a:t>
            </a:r>
            <a:endParaRPr lang="en-US" sz="1750" dirty="0"/>
          </a:p>
        </p:txBody>
      </p:sp>
      <p:sp>
        <p:nvSpPr>
          <p:cNvPr id="90" name="線條"/>
          <p:cNvSpPr/>
          <p:nvPr/>
        </p:nvSpPr>
        <p:spPr>
          <a:xfrm>
            <a:off x="11275409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7" name="前後對照"/>
          <p:cNvGrpSpPr/>
          <p:nvPr/>
        </p:nvGrpSpPr>
        <p:grpSpPr>
          <a:xfrm>
            <a:off x="11275409" y="5737860"/>
            <a:ext cx="3278410" cy="1485900"/>
            <a:chOff x="11275409" y="5737860"/>
            <a:chExt cx="3278410" cy="1485900"/>
          </a:xfrm>
        </p:grpSpPr>
        <p:sp>
          <p:nvSpPr>
            <p:cNvPr id="91" name="卡片"/>
            <p:cNvSpPr/>
            <p:nvPr/>
          </p:nvSpPr>
          <p:spPr>
            <a:xfrm>
              <a:off x="11275409" y="5737860"/>
              <a:ext cx="1348740" cy="1485900"/>
            </a:xfrm>
            <a:prstGeom prst="roundRect">
              <a:avLst>
                <a:gd name="adj" fmla="val 4237"/>
              </a:avLst>
            </a:prstGeom>
            <a:solidFill>
              <a:srgbClr val="F2F2F2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卡片標題"/>
            <p:cNvSpPr/>
            <p:nvPr/>
          </p:nvSpPr>
          <p:spPr>
            <a:xfrm>
              <a:off x="11435429" y="5875020"/>
              <a:ext cx="10287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4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現況 </a:t>
              </a:r>
              <a:r>
                <a:rPr lang="en-US" sz="10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Before</a:t>
              </a:r>
              <a:endParaRPr lang="en-US" sz="1400" dirty="0"/>
            </a:p>
          </p:txBody>
        </p:sp>
        <p:sp>
          <p:nvSpPr>
            <p:cNvPr id="93" name="卡片內文"/>
            <p:cNvSpPr/>
            <p:nvPr/>
          </p:nvSpPr>
          <p:spPr>
            <a:xfrm>
              <a:off x="11435429" y="6286500"/>
              <a:ext cx="1028700" cy="800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流程分散</a:t>
              </a:r>
              <a:endParaRPr lang="en-US" sz="120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交接常出錯</a:t>
              </a:r>
              <a:endParaRPr lang="en-US" sz="1200" dirty="0"/>
            </a:p>
          </p:txBody>
        </p:sp>
        <p:sp>
          <p:nvSpPr>
            <p:cNvPr id="94" name="分隔"/>
            <p:cNvSpPr/>
            <p:nvPr/>
          </p:nvSpPr>
          <p:spPr>
            <a:xfrm>
              <a:off x="12800314" y="6309360"/>
              <a:ext cx="228600" cy="342900"/>
            </a:xfrm>
            <a:prstGeom prst="chevron">
              <a:avLst>
                <a:gd name="adj" fmla="val 60000"/>
              </a:avLst>
            </a:prstGeom>
            <a:solidFill>
              <a:srgbClr val="F07F2D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5" name="強調卡片"/>
            <p:cNvSpPr/>
            <p:nvPr/>
          </p:nvSpPr>
          <p:spPr>
            <a:xfrm>
              <a:off x="13205079" y="5737860"/>
              <a:ext cx="1348740" cy="1485900"/>
            </a:xfrm>
            <a:prstGeom prst="roundRect">
              <a:avLst>
                <a:gd name="adj" fmla="val 4237"/>
              </a:avLst>
            </a:prstGeom>
            <a:solidFill>
              <a:srgbClr val="FFFFFF"/>
            </a:solidFill>
            <a:ln w="27813">
              <a:solidFill>
                <a:srgbClr val="3A3A3A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6" name="卡片標題"/>
            <p:cNvSpPr/>
            <p:nvPr/>
          </p:nvSpPr>
          <p:spPr>
            <a:xfrm>
              <a:off x="13365099" y="5875020"/>
              <a:ext cx="10287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4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改善後 </a:t>
              </a:r>
              <a:r>
                <a:rPr lang="en-US" sz="10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After</a:t>
              </a:r>
              <a:endParaRPr lang="en-US" sz="1400" dirty="0"/>
            </a:p>
          </p:txBody>
        </p:sp>
        <p:sp>
          <p:nvSpPr>
            <p:cNvPr id="97" name="卡片內文"/>
            <p:cNvSpPr/>
            <p:nvPr/>
          </p:nvSpPr>
          <p:spPr>
            <a:xfrm>
              <a:off x="13365099" y="6286500"/>
              <a:ext cx="1028700" cy="800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單一窗口</a:t>
              </a:r>
              <a:endParaRPr lang="en-US" sz="120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進度一目了然</a:t>
              </a:r>
              <a:endParaRPr lang="en-US" sz="1200" dirty="0"/>
            </a:p>
          </p:txBody>
        </p:sp>
      </p:grpSp>
      <p:sp>
        <p:nvSpPr>
          <p:cNvPr id="98" name="Text 96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99" name="Text 97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13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5720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常見組合（二）Common Patterns II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11659870" y="1066800"/>
            <a:ext cx="182880" cy="18288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2573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分工表、前後對照、問題對策、方案比較、KPI 數字卡與 PDCA：整組複製即可使用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571500" cy="68580"/>
          </a:xfrm>
          <a:prstGeom prst="rect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26885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組合名稱"/>
          <p:cNvSpPr/>
          <p:nvPr/>
        </p:nvSpPr>
        <p:spPr>
          <a:xfrm>
            <a:off x="937260" y="2171700"/>
            <a:ext cx="41121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責任分工 RACI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RACI Matrix</a:t>
            </a:r>
            <a:endParaRPr lang="en-US" sz="1750" dirty="0"/>
          </a:p>
        </p:txBody>
      </p:sp>
      <p:sp>
        <p:nvSpPr>
          <p:cNvPr id="8" name="線條"/>
          <p:cNvSpPr/>
          <p:nvPr/>
        </p:nvSpPr>
        <p:spPr>
          <a:xfrm>
            <a:off x="685800" y="25603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28900"/>
          <a:ext cx="4363593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59428"/>
                <a:gridCol w="759428"/>
                <a:gridCol w="759428"/>
                <a:gridCol w="759428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工作項目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工程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需求定義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方案設計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開發測試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上線推廣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RACI 標記"/>
          <p:cNvSpPr/>
          <p:nvPr/>
        </p:nvSpPr>
        <p:spPr>
          <a:xfrm>
            <a:off x="2197084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07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11" name="RACI 標記"/>
          <p:cNvSpPr/>
          <p:nvPr/>
        </p:nvSpPr>
        <p:spPr>
          <a:xfrm>
            <a:off x="2956512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12" name="RACI 標記"/>
          <p:cNvSpPr/>
          <p:nvPr/>
        </p:nvSpPr>
        <p:spPr>
          <a:xfrm>
            <a:off x="3715941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13" name="RACI 標記"/>
          <p:cNvSpPr/>
          <p:nvPr/>
        </p:nvSpPr>
        <p:spPr>
          <a:xfrm>
            <a:off x="4475369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14" name="RACI 標記"/>
          <p:cNvSpPr/>
          <p:nvPr/>
        </p:nvSpPr>
        <p:spPr>
          <a:xfrm>
            <a:off x="2197084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07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15" name="RACI 標記"/>
          <p:cNvSpPr/>
          <p:nvPr/>
        </p:nvSpPr>
        <p:spPr>
          <a:xfrm>
            <a:off x="2956512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16" name="RACI 標記"/>
          <p:cNvSpPr/>
          <p:nvPr/>
        </p:nvSpPr>
        <p:spPr>
          <a:xfrm>
            <a:off x="3715941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17" name="RACI 標記"/>
          <p:cNvSpPr/>
          <p:nvPr/>
        </p:nvSpPr>
        <p:spPr>
          <a:xfrm>
            <a:off x="4475369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1000" dirty="0"/>
          </a:p>
        </p:txBody>
      </p:sp>
      <p:sp>
        <p:nvSpPr>
          <p:cNvPr id="18" name="RACI 標記"/>
          <p:cNvSpPr/>
          <p:nvPr/>
        </p:nvSpPr>
        <p:spPr>
          <a:xfrm>
            <a:off x="2197084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07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19" name="RACI 標記"/>
          <p:cNvSpPr/>
          <p:nvPr/>
        </p:nvSpPr>
        <p:spPr>
          <a:xfrm>
            <a:off x="2956512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20" name="RACI 標記"/>
          <p:cNvSpPr/>
          <p:nvPr/>
        </p:nvSpPr>
        <p:spPr>
          <a:xfrm>
            <a:off x="3715941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21" name="RACI 標記"/>
          <p:cNvSpPr/>
          <p:nvPr/>
        </p:nvSpPr>
        <p:spPr>
          <a:xfrm>
            <a:off x="4475369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1000" dirty="0"/>
          </a:p>
        </p:txBody>
      </p:sp>
      <p:sp>
        <p:nvSpPr>
          <p:cNvPr id="22" name="RACI 標記"/>
          <p:cNvSpPr/>
          <p:nvPr/>
        </p:nvSpPr>
        <p:spPr>
          <a:xfrm>
            <a:off x="2197084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07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23" name="RACI 標記"/>
          <p:cNvSpPr/>
          <p:nvPr/>
        </p:nvSpPr>
        <p:spPr>
          <a:xfrm>
            <a:off x="2956512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1000" dirty="0"/>
          </a:p>
        </p:txBody>
      </p:sp>
      <p:sp>
        <p:nvSpPr>
          <p:cNvPr id="24" name="RACI 標記"/>
          <p:cNvSpPr/>
          <p:nvPr/>
        </p:nvSpPr>
        <p:spPr>
          <a:xfrm>
            <a:off x="3715941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25" name="RACI 標記"/>
          <p:cNvSpPr/>
          <p:nvPr/>
        </p:nvSpPr>
        <p:spPr>
          <a:xfrm>
            <a:off x="4475369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26" name="圖例"/>
          <p:cNvSpPr/>
          <p:nvPr/>
        </p:nvSpPr>
        <p:spPr>
          <a:xfrm>
            <a:off x="68580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27" name="圖例"/>
          <p:cNvSpPr/>
          <p:nvPr/>
        </p:nvSpPr>
        <p:spPr>
          <a:xfrm>
            <a:off x="982980" y="46405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000" dirty="0"/>
          </a:p>
        </p:txBody>
      </p:sp>
      <p:sp>
        <p:nvSpPr>
          <p:cNvPr id="28" name="圖例"/>
          <p:cNvSpPr/>
          <p:nvPr/>
        </p:nvSpPr>
        <p:spPr>
          <a:xfrm>
            <a:off x="166878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F07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00" dirty="0"/>
          </a:p>
        </p:txBody>
      </p:sp>
      <p:sp>
        <p:nvSpPr>
          <p:cNvPr id="29" name="圖例"/>
          <p:cNvSpPr/>
          <p:nvPr/>
        </p:nvSpPr>
        <p:spPr>
          <a:xfrm>
            <a:off x="1965960" y="46405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當責</a:t>
            </a:r>
            <a:endParaRPr lang="en-US" sz="1000" dirty="0"/>
          </a:p>
        </p:txBody>
      </p:sp>
      <p:sp>
        <p:nvSpPr>
          <p:cNvPr id="30" name="圖例"/>
          <p:cNvSpPr/>
          <p:nvPr/>
        </p:nvSpPr>
        <p:spPr>
          <a:xfrm>
            <a:off x="265176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31" name="圖例"/>
          <p:cNvSpPr/>
          <p:nvPr/>
        </p:nvSpPr>
        <p:spPr>
          <a:xfrm>
            <a:off x="2948940" y="46405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</a:t>
            </a:r>
            <a:endParaRPr lang="en-US" sz="1000" dirty="0"/>
          </a:p>
        </p:txBody>
      </p:sp>
      <p:sp>
        <p:nvSpPr>
          <p:cNvPr id="32" name="圖例"/>
          <p:cNvSpPr/>
          <p:nvPr/>
        </p:nvSpPr>
        <p:spPr>
          <a:xfrm>
            <a:off x="363474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001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800" dirty="0"/>
          </a:p>
        </p:txBody>
      </p:sp>
      <p:sp>
        <p:nvSpPr>
          <p:cNvPr id="33" name="圖例"/>
          <p:cNvSpPr/>
          <p:nvPr/>
        </p:nvSpPr>
        <p:spPr>
          <a:xfrm>
            <a:off x="3931920" y="46405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知會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438013" y="226885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組合名稱"/>
          <p:cNvSpPr/>
          <p:nvPr/>
        </p:nvSpPr>
        <p:spPr>
          <a:xfrm>
            <a:off x="5689473" y="2171700"/>
            <a:ext cx="41121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改善前後對照表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 Table</a:t>
            </a:r>
            <a:endParaRPr lang="en-US" sz="1750" dirty="0"/>
          </a:p>
        </p:txBody>
      </p:sp>
      <p:sp>
        <p:nvSpPr>
          <p:cNvPr id="36" name="線條"/>
          <p:cNvSpPr/>
          <p:nvPr/>
        </p:nvSpPr>
        <p:spPr>
          <a:xfrm>
            <a:off x="5438013" y="25603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38013" y="2628900"/>
          <a:ext cx="4363593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610297"/>
                <a:gridCol w="1610297"/>
              </a:tblGrid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改善前 Before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改善後 After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交期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天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天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不良率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3.2%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1.1%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人力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人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人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客訴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件／月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件／月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Text 34"/>
          <p:cNvSpPr/>
          <p:nvPr/>
        </p:nvSpPr>
        <p:spPr>
          <a:xfrm>
            <a:off x="5438013" y="4732020"/>
            <a:ext cx="43635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改善後一欄以主色粗體標示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10190226" y="226885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組合名稱"/>
          <p:cNvSpPr/>
          <p:nvPr/>
        </p:nvSpPr>
        <p:spPr>
          <a:xfrm>
            <a:off x="10441686" y="2171700"/>
            <a:ext cx="41121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 → 原因 → 對策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Problem / Cause / Countermeasure</a:t>
            </a:r>
            <a:endParaRPr lang="en-US" sz="1750" dirty="0"/>
          </a:p>
        </p:txBody>
      </p:sp>
      <p:sp>
        <p:nvSpPr>
          <p:cNvPr id="41" name="線條"/>
          <p:cNvSpPr/>
          <p:nvPr/>
        </p:nvSpPr>
        <p:spPr>
          <a:xfrm>
            <a:off x="10190226" y="25603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2" name="問題 → 原因 → 對策"/>
          <p:cNvGrpSpPr/>
          <p:nvPr/>
        </p:nvGrpSpPr>
        <p:grpSpPr>
          <a:xfrm>
            <a:off x="10190226" y="2880360"/>
            <a:ext cx="4363593" cy="1325880"/>
            <a:chOff x="10190226" y="2880360"/>
            <a:chExt cx="4363593" cy="1325880"/>
          </a:xfrm>
        </p:grpSpPr>
        <p:sp>
          <p:nvSpPr>
            <p:cNvPr id="42" name="問題"/>
            <p:cNvSpPr/>
            <p:nvPr/>
          </p:nvSpPr>
          <p:spPr>
            <a:xfrm>
              <a:off x="10190226" y="2880360"/>
              <a:ext cx="1165860" cy="1325880"/>
            </a:xfrm>
            <a:prstGeom prst="roundRect">
              <a:avLst>
                <a:gd name="adj" fmla="val 4902"/>
              </a:avLst>
            </a:prstGeom>
            <a:solidFill>
              <a:srgbClr val="FFFFFF"/>
            </a:solidFill>
            <a:ln w="23876">
              <a:solidFill>
                <a:srgbClr val="F07F2D"/>
              </a:solidFill>
              <a:prstDash val="solid"/>
            </a:ln>
          </p:spPr>
          <p:txBody>
            <a:bodyPr wrap="square" lIns="111125" tIns="127000" rIns="79375" bIns="635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450" b="1" dirty="0">
                  <a:solidFill>
                    <a:srgbClr val="B45F2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問題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Problem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交期常延誤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客戶抱怨增加</a:t>
              </a:r>
              <a:endParaRPr lang="en-US" sz="1050" dirty="0"/>
            </a:p>
          </p:txBody>
        </p:sp>
        <p:sp>
          <p:nvSpPr>
            <p:cNvPr id="43" name="原因"/>
            <p:cNvSpPr/>
            <p:nvPr/>
          </p:nvSpPr>
          <p:spPr>
            <a:xfrm>
              <a:off x="11789093" y="2880360"/>
              <a:ext cx="1165860" cy="1325880"/>
            </a:xfrm>
            <a:prstGeom prst="roundRect">
              <a:avLst>
                <a:gd name="adj" fmla="val 4902"/>
              </a:avLst>
            </a:prstGeom>
            <a:solidFill>
              <a:srgbClr val="F2F2F2"/>
            </a:solidFill>
            <a:ln/>
          </p:spPr>
          <p:txBody>
            <a:bodyPr wrap="square" lIns="111125" tIns="127000" rIns="79375" bIns="635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4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原因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Cause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需求變更頻繁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排程未同步</a:t>
              </a:r>
              <a:endParaRPr lang="en-US" sz="1050" dirty="0"/>
            </a:p>
          </p:txBody>
        </p:sp>
        <p:sp>
          <p:nvSpPr>
            <p:cNvPr id="44" name="對策"/>
            <p:cNvSpPr/>
            <p:nvPr/>
          </p:nvSpPr>
          <p:spPr>
            <a:xfrm>
              <a:off x="13387959" y="2880360"/>
              <a:ext cx="1165860" cy="1325880"/>
            </a:xfrm>
            <a:prstGeom prst="roundRect">
              <a:avLst>
                <a:gd name="adj" fmla="val 4902"/>
              </a:avLst>
            </a:prstGeom>
            <a:solidFill>
              <a:srgbClr val="3A3A3A"/>
            </a:solidFill>
            <a:ln/>
          </p:spPr>
          <p:txBody>
            <a:bodyPr wrap="square" lIns="111125" tIns="127000" rIns="79375" bIns="635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4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對策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dirty="0">
                  <a:solidFill>
                    <a:srgbClr val="C4C4C4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Countermeasure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需求凍結點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每週排程會議</a:t>
              </a:r>
              <a:endParaRPr lang="en-US" sz="1050" dirty="0"/>
            </a:p>
          </p:txBody>
        </p:sp>
        <p:cxnSp>
          <p:nvCxnSpPr>
            <p:cNvPr id="45" name="連接線"/>
            <p:cNvCxnSpPr>
              <a:stCxn id="42" idx="3"/>
              <a:endCxn id="43" idx="1"/>
            </p:cNvCxnSpPr>
            <p:nvPr/>
          </p:nvCxnSpPr>
          <p:spPr>
            <a:xfrm>
              <a:off x="11356086" y="3543300"/>
              <a:ext cx="433007" cy="0"/>
            </a:xfrm>
            <a:prstGeom prst="straightConnector1">
              <a:avLst/>
            </a:prstGeom>
            <a:ln w="3175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46" name="連接線"/>
            <p:cNvCxnSpPr>
              <a:stCxn id="43" idx="3"/>
              <a:endCxn id="44" idx="1"/>
            </p:cNvCxnSpPr>
            <p:nvPr/>
          </p:nvCxnSpPr>
          <p:spPr>
            <a:xfrm>
              <a:off x="12954953" y="3543300"/>
              <a:ext cx="433006" cy="0"/>
            </a:xfrm>
            <a:prstGeom prst="straightConnector1">
              <a:avLst/>
            </a:prstGeom>
            <a:ln w="31750">
              <a:solidFill>
                <a:srgbClr val="3A3A3A"/>
              </a:solidFill>
              <a:prstDash val="solid"/>
              <a:tailEnd type="triangle"/>
            </a:ln>
          </p:spPr>
        </p:cxnSp>
      </p:grpSp>
      <p:sp>
        <p:nvSpPr>
          <p:cNvPr id="47" name="Text 43"/>
          <p:cNvSpPr/>
          <p:nvPr/>
        </p:nvSpPr>
        <p:spPr>
          <a:xfrm>
            <a:off x="685800" y="512635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組合名稱"/>
          <p:cNvSpPr/>
          <p:nvPr/>
        </p:nvSpPr>
        <p:spPr>
          <a:xfrm>
            <a:off x="937260" y="5029200"/>
            <a:ext cx="41121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三方案比較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3-Column Comparison</a:t>
            </a:r>
            <a:endParaRPr lang="en-US" sz="1750" dirty="0"/>
          </a:p>
        </p:txBody>
      </p:sp>
      <p:sp>
        <p:nvSpPr>
          <p:cNvPr id="49" name="線條"/>
          <p:cNvSpPr/>
          <p:nvPr/>
        </p:nvSpPr>
        <p:spPr>
          <a:xfrm>
            <a:off x="685800" y="54178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3" name="三方案比較"/>
          <p:cNvGrpSpPr/>
          <p:nvPr/>
        </p:nvGrpSpPr>
        <p:grpSpPr>
          <a:xfrm>
            <a:off x="685800" y="5554980"/>
            <a:ext cx="4363593" cy="2217420"/>
            <a:chOff x="685800" y="5554980"/>
            <a:chExt cx="4363593" cy="2217420"/>
          </a:xfrm>
        </p:grpSpPr>
        <p:sp>
          <p:nvSpPr>
            <p:cNvPr id="50" name="方案"/>
            <p:cNvSpPr/>
            <p:nvPr/>
          </p:nvSpPr>
          <p:spPr>
            <a:xfrm>
              <a:off x="685800" y="5554980"/>
              <a:ext cx="1363091" cy="2057400"/>
            </a:xfrm>
            <a:prstGeom prst="roundRect">
              <a:avLst>
                <a:gd name="adj" fmla="val 4193"/>
              </a:avLst>
            </a:prstGeom>
            <a:solidFill>
              <a:srgbClr val="FFFFFF"/>
            </a:solidFill>
            <a:ln w="1587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1" name="表頭底"/>
            <p:cNvSpPr/>
            <p:nvPr/>
          </p:nvSpPr>
          <p:spPr>
            <a:xfrm>
              <a:off x="686943" y="5556123"/>
              <a:ext cx="1360805" cy="457200"/>
            </a:xfrm>
            <a:prstGeom prst="rect">
              <a:avLst/>
            </a:prstGeom>
            <a:solidFill>
              <a:srgbClr val="F2F2F2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2" name="方案名稱"/>
            <p:cNvSpPr/>
            <p:nvPr/>
          </p:nvSpPr>
          <p:spPr>
            <a:xfrm>
              <a:off x="685800" y="5554980"/>
              <a:ext cx="136309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A</a:t>
              </a:r>
              <a:endParaRPr lang="en-US" sz="17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A</a:t>
              </a:r>
              <a:endParaRPr lang="en-US" sz="1750" dirty="0"/>
            </a:p>
          </p:txBody>
        </p:sp>
        <p:sp>
          <p:nvSpPr>
            <p:cNvPr id="53" name="項目"/>
            <p:cNvSpPr/>
            <p:nvPr/>
          </p:nvSpPr>
          <p:spPr>
            <a:xfrm>
              <a:off x="822960" y="6172200"/>
              <a:ext cx="1088771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950" dirty="0"/>
            </a:p>
          </p:txBody>
        </p:sp>
        <p:sp>
          <p:nvSpPr>
            <p:cNvPr id="54" name="內容"/>
            <p:cNvSpPr/>
            <p:nvPr/>
          </p:nvSpPr>
          <p:spPr>
            <a:xfrm>
              <a:off x="822960" y="6343650"/>
              <a:ext cx="108877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低</a:t>
              </a:r>
              <a:endParaRPr lang="en-US" sz="1200" dirty="0"/>
            </a:p>
          </p:txBody>
        </p:sp>
        <p:sp>
          <p:nvSpPr>
            <p:cNvPr id="55" name="項目"/>
            <p:cNvSpPr/>
            <p:nvPr/>
          </p:nvSpPr>
          <p:spPr>
            <a:xfrm>
              <a:off x="822960" y="6583680"/>
              <a:ext cx="1088771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950" dirty="0"/>
            </a:p>
          </p:txBody>
        </p:sp>
        <p:sp>
          <p:nvSpPr>
            <p:cNvPr id="56" name="內容"/>
            <p:cNvSpPr/>
            <p:nvPr/>
          </p:nvSpPr>
          <p:spPr>
            <a:xfrm>
              <a:off x="822960" y="6755130"/>
              <a:ext cx="108877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 週</a:t>
              </a:r>
              <a:endParaRPr lang="en-US" sz="1200" dirty="0"/>
            </a:p>
          </p:txBody>
        </p:sp>
        <p:sp>
          <p:nvSpPr>
            <p:cNvPr id="57" name="項目"/>
            <p:cNvSpPr/>
            <p:nvPr/>
          </p:nvSpPr>
          <p:spPr>
            <a:xfrm>
              <a:off x="822960" y="6995160"/>
              <a:ext cx="1088771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950" dirty="0"/>
            </a:p>
          </p:txBody>
        </p:sp>
        <p:sp>
          <p:nvSpPr>
            <p:cNvPr id="58" name="內容"/>
            <p:cNvSpPr/>
            <p:nvPr/>
          </p:nvSpPr>
          <p:spPr>
            <a:xfrm>
              <a:off x="822960" y="7166610"/>
              <a:ext cx="108877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有限</a:t>
              </a:r>
              <a:endParaRPr lang="en-US" sz="1200" dirty="0"/>
            </a:p>
          </p:txBody>
        </p:sp>
        <p:sp>
          <p:nvSpPr>
            <p:cNvPr id="59" name="推薦方案"/>
            <p:cNvSpPr/>
            <p:nvPr/>
          </p:nvSpPr>
          <p:spPr>
            <a:xfrm>
              <a:off x="2186051" y="5554980"/>
              <a:ext cx="1363091" cy="2057400"/>
            </a:xfrm>
            <a:prstGeom prst="roundRect">
              <a:avLst>
                <a:gd name="adj" fmla="val 4193"/>
              </a:avLst>
            </a:prstGeom>
            <a:solidFill>
              <a:srgbClr val="FFFFFF"/>
            </a:solidFill>
            <a:ln w="27813">
              <a:solidFill>
                <a:srgbClr val="3A3A3A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0" name="表頭"/>
            <p:cNvSpPr/>
            <p:nvPr/>
          </p:nvSpPr>
          <p:spPr>
            <a:xfrm>
              <a:off x="2186051" y="5554980"/>
              <a:ext cx="1363091" cy="457200"/>
            </a:xfrm>
            <a:custGeom>
              <a:avLst/>
              <a:gdLst/>
              <a:ahLst/>
              <a:cxnLst/>
              <a:rect l="l" t="t" r="r" b="b"/>
              <a:pathLst>
                <a:path w="1363091" h="457200">
                  <a:moveTo>
                    <a:pt x="0" y="457200"/>
                  </a:moveTo>
                  <a:lnTo>
                    <a:pt x="0" y="57150"/>
                  </a:lnTo>
                  <a:arcTo hR="57150" wR="57150" stAng="10800000" swAng="5400000"/>
                  <a:lnTo>
                    <a:pt x="1305941" y="0"/>
                  </a:lnTo>
                  <a:arcTo hR="57150" wR="57150" stAng="16200000" swAng="5400000"/>
                  <a:lnTo>
                    <a:pt x="1363091" y="457200"/>
                  </a:lnTo>
                  <a:close/>
                </a:path>
              </a:pathLst>
            </a:custGeom>
            <a:solidFill>
              <a:srgbClr val="3A3A3A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1" name="方案名稱"/>
            <p:cNvSpPr/>
            <p:nvPr/>
          </p:nvSpPr>
          <p:spPr>
            <a:xfrm>
              <a:off x="2186051" y="5554980"/>
              <a:ext cx="136309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B</a:t>
              </a:r>
              <a:endParaRPr lang="en-US" sz="17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C4C4C4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B</a:t>
              </a:r>
              <a:endParaRPr lang="en-US" sz="1750" dirty="0"/>
            </a:p>
          </p:txBody>
        </p:sp>
        <p:sp>
          <p:nvSpPr>
            <p:cNvPr id="62" name="項目"/>
            <p:cNvSpPr/>
            <p:nvPr/>
          </p:nvSpPr>
          <p:spPr>
            <a:xfrm>
              <a:off x="2323211" y="6172200"/>
              <a:ext cx="1088771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950" dirty="0"/>
            </a:p>
          </p:txBody>
        </p:sp>
        <p:sp>
          <p:nvSpPr>
            <p:cNvPr id="63" name="內容"/>
            <p:cNvSpPr/>
            <p:nvPr/>
          </p:nvSpPr>
          <p:spPr>
            <a:xfrm>
              <a:off x="2323211" y="6343650"/>
              <a:ext cx="108877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中</a:t>
              </a:r>
              <a:endParaRPr lang="en-US" sz="1200" dirty="0"/>
            </a:p>
          </p:txBody>
        </p:sp>
        <p:sp>
          <p:nvSpPr>
            <p:cNvPr id="64" name="項目"/>
            <p:cNvSpPr/>
            <p:nvPr/>
          </p:nvSpPr>
          <p:spPr>
            <a:xfrm>
              <a:off x="2323211" y="6583680"/>
              <a:ext cx="1088771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950" dirty="0"/>
            </a:p>
          </p:txBody>
        </p:sp>
        <p:sp>
          <p:nvSpPr>
            <p:cNvPr id="65" name="內容"/>
            <p:cNvSpPr/>
            <p:nvPr/>
          </p:nvSpPr>
          <p:spPr>
            <a:xfrm>
              <a:off x="2323211" y="6755130"/>
              <a:ext cx="108877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4 週</a:t>
              </a:r>
              <a:endParaRPr lang="en-US" sz="1200" dirty="0"/>
            </a:p>
          </p:txBody>
        </p:sp>
        <p:sp>
          <p:nvSpPr>
            <p:cNvPr id="66" name="項目"/>
            <p:cNvSpPr/>
            <p:nvPr/>
          </p:nvSpPr>
          <p:spPr>
            <a:xfrm>
              <a:off x="2323211" y="6995160"/>
              <a:ext cx="1088771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950" dirty="0"/>
            </a:p>
          </p:txBody>
        </p:sp>
        <p:sp>
          <p:nvSpPr>
            <p:cNvPr id="67" name="內容"/>
            <p:cNvSpPr/>
            <p:nvPr/>
          </p:nvSpPr>
          <p:spPr>
            <a:xfrm>
              <a:off x="2323211" y="7166610"/>
              <a:ext cx="108877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佳</a:t>
              </a:r>
              <a:endParaRPr lang="en-US" sz="1200" dirty="0"/>
            </a:p>
          </p:txBody>
        </p:sp>
        <p:sp>
          <p:nvSpPr>
            <p:cNvPr id="68" name="標籤"/>
            <p:cNvSpPr/>
            <p:nvPr/>
          </p:nvSpPr>
          <p:spPr>
            <a:xfrm>
              <a:off x="2496757" y="7520940"/>
              <a:ext cx="741680" cy="251460"/>
            </a:xfrm>
            <a:prstGeom prst="roundRect">
              <a:avLst>
                <a:gd name="adj" fmla="val 13636"/>
              </a:avLst>
            </a:prstGeom>
            <a:solidFill>
              <a:srgbClr val="F07F2D"/>
            </a:solidFill>
            <a:ln/>
          </p:spPr>
          <p:txBody>
            <a:bodyPr wrap="square" lIns="292100" tIns="0" rIns="89154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推薦</a:t>
              </a:r>
              <a:endParaRPr lang="en-US" sz="1000" dirty="0"/>
            </a:p>
          </p:txBody>
        </p:sp>
        <p:sp>
          <p:nvSpPr>
            <p:cNvPr id="69" name="Text 65"/>
            <p:cNvSpPr/>
            <p:nvPr/>
          </p:nvSpPr>
          <p:spPr>
            <a:xfrm>
              <a:off x="2645347" y="7614920"/>
              <a:ext cx="63500" cy="6350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方案"/>
            <p:cNvSpPr/>
            <p:nvPr/>
          </p:nvSpPr>
          <p:spPr>
            <a:xfrm>
              <a:off x="3686302" y="5554980"/>
              <a:ext cx="1363091" cy="2057400"/>
            </a:xfrm>
            <a:prstGeom prst="roundRect">
              <a:avLst>
                <a:gd name="adj" fmla="val 4193"/>
              </a:avLst>
            </a:prstGeom>
            <a:solidFill>
              <a:srgbClr val="FFFFFF"/>
            </a:solidFill>
            <a:ln w="1587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1" name="表頭底"/>
            <p:cNvSpPr/>
            <p:nvPr/>
          </p:nvSpPr>
          <p:spPr>
            <a:xfrm>
              <a:off x="3687445" y="5556123"/>
              <a:ext cx="1360805" cy="457200"/>
            </a:xfrm>
            <a:prstGeom prst="rect">
              <a:avLst/>
            </a:prstGeom>
            <a:solidFill>
              <a:srgbClr val="F2F2F2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2" name="方案名稱"/>
            <p:cNvSpPr/>
            <p:nvPr/>
          </p:nvSpPr>
          <p:spPr>
            <a:xfrm>
              <a:off x="3686302" y="5554980"/>
              <a:ext cx="136309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C</a:t>
              </a:r>
              <a:endParaRPr lang="en-US" sz="17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C</a:t>
              </a:r>
              <a:endParaRPr lang="en-US" sz="1750" dirty="0"/>
            </a:p>
          </p:txBody>
        </p:sp>
        <p:sp>
          <p:nvSpPr>
            <p:cNvPr id="73" name="項目"/>
            <p:cNvSpPr/>
            <p:nvPr/>
          </p:nvSpPr>
          <p:spPr>
            <a:xfrm>
              <a:off x="3823462" y="6172200"/>
              <a:ext cx="1088771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950" dirty="0"/>
            </a:p>
          </p:txBody>
        </p:sp>
        <p:sp>
          <p:nvSpPr>
            <p:cNvPr id="74" name="內容"/>
            <p:cNvSpPr/>
            <p:nvPr/>
          </p:nvSpPr>
          <p:spPr>
            <a:xfrm>
              <a:off x="3823462" y="6343650"/>
              <a:ext cx="108877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高</a:t>
              </a:r>
              <a:endParaRPr lang="en-US" sz="1200" dirty="0"/>
            </a:p>
          </p:txBody>
        </p:sp>
        <p:sp>
          <p:nvSpPr>
            <p:cNvPr id="75" name="項目"/>
            <p:cNvSpPr/>
            <p:nvPr/>
          </p:nvSpPr>
          <p:spPr>
            <a:xfrm>
              <a:off x="3823462" y="6583680"/>
              <a:ext cx="1088771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950" dirty="0"/>
            </a:p>
          </p:txBody>
        </p:sp>
        <p:sp>
          <p:nvSpPr>
            <p:cNvPr id="76" name="內容"/>
            <p:cNvSpPr/>
            <p:nvPr/>
          </p:nvSpPr>
          <p:spPr>
            <a:xfrm>
              <a:off x="3823462" y="6755130"/>
              <a:ext cx="108877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8 週</a:t>
              </a:r>
              <a:endParaRPr lang="en-US" sz="1200" dirty="0"/>
            </a:p>
          </p:txBody>
        </p:sp>
        <p:sp>
          <p:nvSpPr>
            <p:cNvPr id="77" name="項目"/>
            <p:cNvSpPr/>
            <p:nvPr/>
          </p:nvSpPr>
          <p:spPr>
            <a:xfrm>
              <a:off x="3823462" y="6995160"/>
              <a:ext cx="1088771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950" dirty="0"/>
            </a:p>
          </p:txBody>
        </p:sp>
        <p:sp>
          <p:nvSpPr>
            <p:cNvPr id="78" name="內容"/>
            <p:cNvSpPr/>
            <p:nvPr/>
          </p:nvSpPr>
          <p:spPr>
            <a:xfrm>
              <a:off x="3823462" y="7166610"/>
              <a:ext cx="108877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最佳</a:t>
              </a:r>
              <a:endParaRPr lang="en-US" sz="1200" dirty="0"/>
            </a:p>
          </p:txBody>
        </p:sp>
      </p:grpSp>
      <p:sp>
        <p:nvSpPr>
          <p:cNvPr id="79" name="Text 75"/>
          <p:cNvSpPr/>
          <p:nvPr/>
        </p:nvSpPr>
        <p:spPr>
          <a:xfrm>
            <a:off x="5438013" y="512635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組合名稱"/>
          <p:cNvSpPr/>
          <p:nvPr/>
        </p:nvSpPr>
        <p:spPr>
          <a:xfrm>
            <a:off x="5689473" y="5029200"/>
            <a:ext cx="41121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數字卡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KPI Cards</a:t>
            </a:r>
            <a:endParaRPr lang="en-US" sz="1750" dirty="0"/>
          </a:p>
        </p:txBody>
      </p:sp>
      <p:sp>
        <p:nvSpPr>
          <p:cNvPr id="81" name="線條"/>
          <p:cNvSpPr/>
          <p:nvPr/>
        </p:nvSpPr>
        <p:spPr>
          <a:xfrm>
            <a:off x="5438013" y="54178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4" name="KPI 數字卡"/>
          <p:cNvGrpSpPr/>
          <p:nvPr/>
        </p:nvGrpSpPr>
        <p:grpSpPr>
          <a:xfrm>
            <a:off x="5438013" y="5737860"/>
            <a:ext cx="4363593" cy="1554480"/>
            <a:chOff x="5438013" y="5737860"/>
            <a:chExt cx="4363593" cy="1554480"/>
          </a:xfrm>
        </p:grpSpPr>
        <p:sp>
          <p:nvSpPr>
            <p:cNvPr id="82" name="卡片"/>
            <p:cNvSpPr/>
            <p:nvPr/>
          </p:nvSpPr>
          <p:spPr>
            <a:xfrm>
              <a:off x="5438013" y="5737860"/>
              <a:ext cx="1347851" cy="1554480"/>
            </a:xfrm>
            <a:prstGeom prst="roundRect">
              <a:avLst>
                <a:gd name="adj" fmla="val 4240"/>
              </a:avLst>
            </a:prstGeom>
            <a:solidFill>
              <a:srgbClr val="F2F2F2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3" name="色條"/>
            <p:cNvSpPr/>
            <p:nvPr/>
          </p:nvSpPr>
          <p:spPr>
            <a:xfrm>
              <a:off x="5598033" y="5920740"/>
              <a:ext cx="274320" cy="45720"/>
            </a:xfrm>
            <a:prstGeom prst="rect">
              <a:avLst/>
            </a:prstGeom>
            <a:solidFill>
              <a:srgbClr val="3A3A3A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4" name="指標名稱"/>
            <p:cNvSpPr/>
            <p:nvPr/>
          </p:nvSpPr>
          <p:spPr>
            <a:xfrm>
              <a:off x="5598033" y="6035040"/>
              <a:ext cx="1119251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準時交貨率</a:t>
              </a:r>
              <a:endParaRPr lang="en-US" sz="1050" dirty="0"/>
            </a:p>
          </p:txBody>
        </p:sp>
        <p:sp>
          <p:nvSpPr>
            <p:cNvPr id="85" name="數值"/>
            <p:cNvSpPr/>
            <p:nvPr/>
          </p:nvSpPr>
          <p:spPr>
            <a:xfrm>
              <a:off x="5575173" y="6309360"/>
              <a:ext cx="1142111" cy="5257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750" dirty="0"/>
            </a:p>
          </p:txBody>
        </p:sp>
        <p:sp>
          <p:nvSpPr>
            <p:cNvPr id="86" name="變化"/>
            <p:cNvSpPr/>
            <p:nvPr/>
          </p:nvSpPr>
          <p:spPr>
            <a:xfrm>
              <a:off x="5598033" y="6880860"/>
              <a:ext cx="111925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▲ 2.1 pt</a:t>
              </a: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750" dirty="0"/>
            </a:p>
          </p:txBody>
        </p:sp>
        <p:sp>
          <p:nvSpPr>
            <p:cNvPr id="87" name="卡片"/>
            <p:cNvSpPr/>
            <p:nvPr/>
          </p:nvSpPr>
          <p:spPr>
            <a:xfrm>
              <a:off x="6945884" y="5737860"/>
              <a:ext cx="1347851" cy="1554480"/>
            </a:xfrm>
            <a:prstGeom prst="roundRect">
              <a:avLst>
                <a:gd name="adj" fmla="val 4240"/>
              </a:avLst>
            </a:prstGeom>
            <a:solidFill>
              <a:srgbClr val="F2F2F2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8" name="色條"/>
            <p:cNvSpPr/>
            <p:nvPr/>
          </p:nvSpPr>
          <p:spPr>
            <a:xfrm>
              <a:off x="7105904" y="5920740"/>
              <a:ext cx="274320" cy="45720"/>
            </a:xfrm>
            <a:prstGeom prst="rect">
              <a:avLst/>
            </a:prstGeom>
            <a:solidFill>
              <a:srgbClr val="BFBFBF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9" name="指標名稱"/>
            <p:cNvSpPr/>
            <p:nvPr/>
          </p:nvSpPr>
          <p:spPr>
            <a:xfrm>
              <a:off x="7105904" y="6035040"/>
              <a:ext cx="1119251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平均交期</a:t>
              </a:r>
              <a:endParaRPr lang="en-US" sz="1050" dirty="0"/>
            </a:p>
          </p:txBody>
        </p:sp>
        <p:sp>
          <p:nvSpPr>
            <p:cNvPr id="90" name="數值"/>
            <p:cNvSpPr/>
            <p:nvPr/>
          </p:nvSpPr>
          <p:spPr>
            <a:xfrm>
              <a:off x="7083044" y="6309360"/>
              <a:ext cx="1142111" cy="5257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6.2</a:t>
              </a: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天</a:t>
              </a:r>
              <a:endParaRPr lang="en-US" sz="1750" dirty="0"/>
            </a:p>
          </p:txBody>
        </p:sp>
        <p:sp>
          <p:nvSpPr>
            <p:cNvPr id="91" name="變化"/>
            <p:cNvSpPr/>
            <p:nvPr/>
          </p:nvSpPr>
          <p:spPr>
            <a:xfrm>
              <a:off x="7105904" y="6880860"/>
              <a:ext cx="111925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1.8 天</a:t>
              </a: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750" dirty="0"/>
            </a:p>
          </p:txBody>
        </p:sp>
        <p:sp>
          <p:nvSpPr>
            <p:cNvPr id="92" name="卡片"/>
            <p:cNvSpPr/>
            <p:nvPr/>
          </p:nvSpPr>
          <p:spPr>
            <a:xfrm>
              <a:off x="8453755" y="5737860"/>
              <a:ext cx="1347851" cy="1554480"/>
            </a:xfrm>
            <a:prstGeom prst="roundRect">
              <a:avLst>
                <a:gd name="adj" fmla="val 4240"/>
              </a:avLst>
            </a:prstGeom>
            <a:solidFill>
              <a:srgbClr val="F2F2F2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色條"/>
            <p:cNvSpPr/>
            <p:nvPr/>
          </p:nvSpPr>
          <p:spPr>
            <a:xfrm>
              <a:off x="8613775" y="5920740"/>
              <a:ext cx="274320" cy="45720"/>
            </a:xfrm>
            <a:prstGeom prst="rect">
              <a:avLst/>
            </a:prstGeom>
            <a:solidFill>
              <a:srgbClr val="BFBFBF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4" name="指標名稱"/>
            <p:cNvSpPr/>
            <p:nvPr/>
          </p:nvSpPr>
          <p:spPr>
            <a:xfrm>
              <a:off x="8613775" y="6035040"/>
              <a:ext cx="1119251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客訴件數</a:t>
              </a:r>
              <a:endParaRPr lang="en-US" sz="1050" dirty="0"/>
            </a:p>
          </p:txBody>
        </p:sp>
        <p:sp>
          <p:nvSpPr>
            <p:cNvPr id="95" name="數值"/>
            <p:cNvSpPr/>
            <p:nvPr/>
          </p:nvSpPr>
          <p:spPr>
            <a:xfrm>
              <a:off x="8590915" y="6309360"/>
              <a:ext cx="1142111" cy="5257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件／月</a:t>
              </a:r>
              <a:endParaRPr lang="en-US" sz="1750" dirty="0"/>
            </a:p>
          </p:txBody>
        </p:sp>
        <p:sp>
          <p:nvSpPr>
            <p:cNvPr id="96" name="變化"/>
            <p:cNvSpPr/>
            <p:nvPr/>
          </p:nvSpPr>
          <p:spPr>
            <a:xfrm>
              <a:off x="8613775" y="6880860"/>
              <a:ext cx="111925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75%</a:t>
              </a: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750" dirty="0"/>
            </a:p>
          </p:txBody>
        </p:sp>
      </p:grpSp>
      <p:sp>
        <p:nvSpPr>
          <p:cNvPr id="97" name="Text 93"/>
          <p:cNvSpPr/>
          <p:nvPr/>
        </p:nvSpPr>
        <p:spPr>
          <a:xfrm>
            <a:off x="10190226" y="512635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組合名稱"/>
          <p:cNvSpPr/>
          <p:nvPr/>
        </p:nvSpPr>
        <p:spPr>
          <a:xfrm>
            <a:off x="10441686" y="5029200"/>
            <a:ext cx="41121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PDCA 循環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PDCA Cycle</a:t>
            </a:r>
            <a:endParaRPr lang="en-US" sz="1750" dirty="0"/>
          </a:p>
        </p:txBody>
      </p:sp>
      <p:sp>
        <p:nvSpPr>
          <p:cNvPr id="99" name="線條"/>
          <p:cNvSpPr/>
          <p:nvPr/>
        </p:nvSpPr>
        <p:spPr>
          <a:xfrm>
            <a:off x="10190226" y="54178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5" name="PDCA 循環"/>
          <p:cNvGrpSpPr/>
          <p:nvPr/>
        </p:nvGrpSpPr>
        <p:grpSpPr>
          <a:xfrm>
            <a:off x="10190226" y="5554980"/>
            <a:ext cx="4363593" cy="2057400"/>
            <a:chOff x="10190226" y="5554980"/>
            <a:chExt cx="4363593" cy="2057400"/>
          </a:xfrm>
        </p:grpSpPr>
        <p:sp>
          <p:nvSpPr>
            <p:cNvPr id="100" name="PDCA Plan"/>
            <p:cNvSpPr/>
            <p:nvPr/>
          </p:nvSpPr>
          <p:spPr>
            <a:xfrm>
              <a:off x="10190226" y="5554980"/>
              <a:ext cx="1645920" cy="777240"/>
            </a:xfrm>
            <a:prstGeom prst="roundRect">
              <a:avLst>
                <a:gd name="adj" fmla="val 7353"/>
              </a:avLst>
            </a:prstGeom>
            <a:solidFill>
              <a:srgbClr val="F2F2F2"/>
            </a:solidFill>
            <a:ln w="31750">
              <a:solidFill>
                <a:srgbClr val="3A3A3A"/>
              </a:solidFill>
              <a:prstDash val="solid"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計畫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Plan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設定目標與做法</a:t>
              </a:r>
              <a:endParaRPr lang="en-US" sz="1050" dirty="0"/>
            </a:p>
          </p:txBody>
        </p:sp>
        <p:sp>
          <p:nvSpPr>
            <p:cNvPr id="101" name="PDCA Do"/>
            <p:cNvSpPr/>
            <p:nvPr/>
          </p:nvSpPr>
          <p:spPr>
            <a:xfrm>
              <a:off x="12907899" y="5554980"/>
              <a:ext cx="1645920" cy="777240"/>
            </a:xfrm>
            <a:prstGeom prst="roundRect">
              <a:avLst>
                <a:gd name="adj" fmla="val 7353"/>
              </a:avLst>
            </a:prstGeom>
            <a:solidFill>
              <a:srgbClr val="F2F2F2"/>
            </a:solidFill>
            <a:ln w="31750">
              <a:solidFill>
                <a:srgbClr val="3A3A3A"/>
              </a:solidFill>
              <a:prstDash val="solid"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執行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Do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依計畫小步執行</a:t>
              </a:r>
              <a:endParaRPr lang="en-US" sz="1050" dirty="0"/>
            </a:p>
          </p:txBody>
        </p:sp>
        <p:sp>
          <p:nvSpPr>
            <p:cNvPr id="102" name="PDCA Check"/>
            <p:cNvSpPr/>
            <p:nvPr/>
          </p:nvSpPr>
          <p:spPr>
            <a:xfrm>
              <a:off x="12907899" y="6835140"/>
              <a:ext cx="1645920" cy="777240"/>
            </a:xfrm>
            <a:prstGeom prst="roundRect">
              <a:avLst>
                <a:gd name="adj" fmla="val 7353"/>
              </a:avLst>
            </a:prstGeom>
            <a:solidFill>
              <a:srgbClr val="F2F2F2"/>
            </a:solidFill>
            <a:ln w="31750">
              <a:solidFill>
                <a:srgbClr val="3A3A3A"/>
              </a:solidFill>
              <a:prstDash val="solid"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查核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Check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量測結果與差異</a:t>
              </a:r>
              <a:endParaRPr lang="en-US" sz="1050" dirty="0"/>
            </a:p>
          </p:txBody>
        </p:sp>
        <p:sp>
          <p:nvSpPr>
            <p:cNvPr id="103" name="PDCA Act"/>
            <p:cNvSpPr/>
            <p:nvPr/>
          </p:nvSpPr>
          <p:spPr>
            <a:xfrm>
              <a:off x="10190226" y="6835140"/>
              <a:ext cx="1645920" cy="777240"/>
            </a:xfrm>
            <a:prstGeom prst="roundRect">
              <a:avLst>
                <a:gd name="adj" fmla="val 7353"/>
              </a:avLst>
            </a:prstGeom>
            <a:solidFill>
              <a:srgbClr val="F2F2F2"/>
            </a:solidFill>
            <a:ln w="31750">
              <a:solidFill>
                <a:srgbClr val="3A3A3A"/>
              </a:solidFill>
              <a:prstDash val="solid"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行動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Act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標準化並修正</a:t>
              </a:r>
              <a:endParaRPr lang="en-US" sz="1050" dirty="0"/>
            </a:p>
          </p:txBody>
        </p:sp>
        <p:cxnSp>
          <p:nvCxnSpPr>
            <p:cNvPr id="104" name="連接線"/>
            <p:cNvCxnSpPr>
              <a:stCxn id="100" idx="3"/>
              <a:endCxn id="101" idx="1"/>
            </p:cNvCxnSpPr>
            <p:nvPr/>
          </p:nvCxnSpPr>
          <p:spPr>
            <a:xfrm>
              <a:off x="11836146" y="5943600"/>
              <a:ext cx="1071753" cy="0"/>
            </a:xfrm>
            <a:prstGeom prst="straightConnector1">
              <a:avLst/>
            </a:prstGeom>
            <a:ln w="3175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105" name="連接線"/>
            <p:cNvCxnSpPr>
              <a:stCxn id="101" idx="2"/>
              <a:endCxn id="102" idx="0"/>
            </p:cNvCxnSpPr>
            <p:nvPr/>
          </p:nvCxnSpPr>
          <p:spPr>
            <a:xfrm>
              <a:off x="13730859" y="6332220"/>
              <a:ext cx="0" cy="502920"/>
            </a:xfrm>
            <a:prstGeom prst="straightConnector1">
              <a:avLst/>
            </a:prstGeom>
            <a:ln w="3175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106" name="連接線"/>
            <p:cNvCxnSpPr>
              <a:stCxn id="102" idx="1"/>
              <a:endCxn id="103" idx="3"/>
            </p:cNvCxnSpPr>
            <p:nvPr/>
          </p:nvCxnSpPr>
          <p:spPr>
            <a:xfrm flipH="1">
              <a:off x="11836146" y="7223760"/>
              <a:ext cx="1071753" cy="0"/>
            </a:xfrm>
            <a:prstGeom prst="straightConnector1">
              <a:avLst/>
            </a:prstGeom>
            <a:ln w="3175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107" name="連接線"/>
            <p:cNvCxnSpPr>
              <a:stCxn id="103" idx="0"/>
              <a:endCxn id="100" idx="2"/>
            </p:cNvCxnSpPr>
            <p:nvPr/>
          </p:nvCxnSpPr>
          <p:spPr>
            <a:xfrm flipV="1">
              <a:off x="11013186" y="6332220"/>
              <a:ext cx="0" cy="502920"/>
            </a:xfrm>
            <a:prstGeom prst="straightConnector1">
              <a:avLst/>
            </a:prstGeom>
            <a:ln w="31750">
              <a:solidFill>
                <a:srgbClr val="3A3A3A"/>
              </a:solidFill>
              <a:prstDash val="solid"/>
              <a:tailEnd type="triangle"/>
            </a:ln>
          </p:spPr>
        </p:cxnSp>
        <p:sp>
          <p:nvSpPr>
            <p:cNvPr id="108" name="中心標籤"/>
            <p:cNvSpPr/>
            <p:nvPr/>
          </p:nvSpPr>
          <p:spPr>
            <a:xfrm>
              <a:off x="11800523" y="6435090"/>
              <a:ext cx="1143000" cy="2971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PDCA</a:t>
              </a:r>
              <a:r>
                <a:rPr lang="en-US" sz="9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持續改善</a:t>
              </a:r>
              <a:endParaRPr lang="en-US" sz="1000" dirty="0"/>
            </a:p>
          </p:txBody>
        </p:sp>
      </p:grpSp>
      <p:sp>
        <p:nvSpPr>
          <p:cNvPr id="109" name="Text 105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110" name="Text 106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13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5720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風格規範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3190240" y="1066800"/>
            <a:ext cx="182880" cy="18288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2573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色彩、字級與元件語言一覽：炭灰實心表頭卡、2pt 粗線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571500" cy="68580"/>
          </a:xfrm>
          <a:prstGeom prst="rect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34886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37260" y="222885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 Palette</a:t>
            </a:r>
            <a:endParaRPr lang="en-US" sz="1650" dirty="0"/>
          </a:p>
        </p:txBody>
      </p:sp>
      <p:sp>
        <p:nvSpPr>
          <p:cNvPr id="8" name="線條"/>
          <p:cNvSpPr/>
          <p:nvPr/>
        </p:nvSpPr>
        <p:spPr>
          <a:xfrm>
            <a:off x="685800" y="2708910"/>
            <a:ext cx="62865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14650"/>
            <a:ext cx="617220" cy="617220"/>
          </a:xfrm>
          <a:prstGeom prst="roundRect">
            <a:avLst>
              <a:gd name="adj" fmla="val 9259"/>
            </a:avLst>
          </a:pr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863340"/>
            <a:ext cx="891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#3A3A3A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74470" y="2914650"/>
            <a:ext cx="617220" cy="617220"/>
          </a:xfrm>
          <a:prstGeom prst="roundRect">
            <a:avLst>
              <a:gd name="adj" fmla="val 9259"/>
            </a:avLst>
          </a:prstGeom>
          <a:solidFill>
            <a:srgbClr val="2B2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83030" y="361188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337310" y="3863340"/>
            <a:ext cx="891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#2B2B2B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63140" y="2914650"/>
            <a:ext cx="617220" cy="617220"/>
          </a:xfrm>
          <a:prstGeom prst="roundRect">
            <a:avLst>
              <a:gd name="adj" fmla="val 9259"/>
            </a:avLst>
          </a:prstGeom>
          <a:solidFill>
            <a:srgbClr val="EDEDED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171700" y="361188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125980" y="3863340"/>
            <a:ext cx="891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#EDEDED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051810" y="2914650"/>
            <a:ext cx="617220" cy="617220"/>
          </a:xfrm>
          <a:prstGeom prst="roundRect">
            <a:avLst>
              <a:gd name="adj" fmla="val 9259"/>
            </a:avLst>
          </a:prstGeom>
          <a:solidFill>
            <a:srgbClr val="F07F2D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960370" y="361188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輔助色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914650" y="3863340"/>
            <a:ext cx="891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#F07F2D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40480" y="2914650"/>
            <a:ext cx="617220" cy="617220"/>
          </a:xfrm>
          <a:prstGeom prst="roundRect">
            <a:avLst>
              <a:gd name="adj" fmla="val 9259"/>
            </a:avLst>
          </a:pr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749040" y="361188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703320" y="3863340"/>
            <a:ext cx="891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#3A3A3A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29150" y="2914650"/>
            <a:ext cx="617220" cy="617220"/>
          </a:xfrm>
          <a:prstGeom prst="roundRect">
            <a:avLst>
              <a:gd name="adj" fmla="val 9259"/>
            </a:avLst>
          </a:prstGeom>
          <a:solidFill>
            <a:srgbClr val="8C8C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37710" y="361188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491990" y="3863340"/>
            <a:ext cx="891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#8C8C8C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17820" y="2914650"/>
            <a:ext cx="617220" cy="617220"/>
          </a:xfrm>
          <a:prstGeom prst="roundRect">
            <a:avLst>
              <a:gd name="adj" fmla="val 9259"/>
            </a:avLst>
          </a:prstGeom>
          <a:solidFill>
            <a:srgbClr val="BFBF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326380" y="361188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框線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280660" y="3863340"/>
            <a:ext cx="891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#BFBFBF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06490" y="2914650"/>
            <a:ext cx="617220" cy="617220"/>
          </a:xfrm>
          <a:prstGeom prst="roundRect">
            <a:avLst>
              <a:gd name="adj" fmla="val 9259"/>
            </a:avLst>
          </a:prstGeom>
          <a:solidFill>
            <a:srgbClr val="F2F2F2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115050" y="361188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069330" y="3863340"/>
            <a:ext cx="891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#F2F2F2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5800" y="455485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37260" y="44348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 Typography</a:t>
            </a:r>
            <a:endParaRPr lang="en-US" sz="1650" dirty="0"/>
          </a:p>
        </p:txBody>
      </p:sp>
      <p:sp>
        <p:nvSpPr>
          <p:cNvPr id="35" name="線條"/>
          <p:cNvSpPr/>
          <p:nvPr/>
        </p:nvSpPr>
        <p:spPr>
          <a:xfrm>
            <a:off x="685800" y="4914900"/>
            <a:ext cx="62865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914900"/>
            <a:ext cx="62865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大標題文字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38pt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685800" y="5737860"/>
            <a:ext cx="6286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副標題・細字主色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685800" y="6240780"/>
            <a:ext cx="62865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標籤與卡片標題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685800" y="6720840"/>
            <a:ext cx="628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內文說明文字，灰色、行距寬鬆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12pt</a:t>
            </a:r>
            <a:endParaRPr lang="en-US" sz="1750" dirty="0"/>
          </a:p>
        </p:txBody>
      </p:sp>
      <p:sp>
        <p:nvSpPr>
          <p:cNvPr id="40" name="Text 38"/>
          <p:cNvSpPr/>
          <p:nvPr/>
        </p:nvSpPr>
        <p:spPr>
          <a:xfrm>
            <a:off x="685800" y="7155180"/>
            <a:ext cx="6286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註解文字以灰色呈現，10.5pt，放在版面下緣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715250" y="234886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966710" y="2228850"/>
            <a:ext cx="65871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元件語言 Shape Language</a:t>
            </a:r>
            <a:endParaRPr lang="en-US" sz="1650" dirty="0"/>
          </a:p>
        </p:txBody>
      </p:sp>
      <p:sp>
        <p:nvSpPr>
          <p:cNvPr id="43" name="線條"/>
          <p:cNvSpPr/>
          <p:nvPr/>
        </p:nvSpPr>
        <p:spPr>
          <a:xfrm>
            <a:off x="7715250" y="2708910"/>
            <a:ext cx="683856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15250" y="2914650"/>
            <a:ext cx="102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2515850" y="2914650"/>
            <a:ext cx="20379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實心表頭色帶</a:t>
            </a:r>
            <a:endParaRPr lang="en-US" sz="1250" dirty="0"/>
          </a:p>
        </p:txBody>
      </p:sp>
      <p:sp>
        <p:nvSpPr>
          <p:cNvPr id="46" name="卡片"/>
          <p:cNvSpPr/>
          <p:nvPr/>
        </p:nvSpPr>
        <p:spPr>
          <a:xfrm>
            <a:off x="8858250" y="2960370"/>
            <a:ext cx="1657350" cy="594360"/>
          </a:xfrm>
          <a:prstGeom prst="roundRect">
            <a:avLst>
              <a:gd name="adj" fmla="val 9615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858250" y="2960370"/>
            <a:ext cx="1657350" cy="205740"/>
          </a:xfrm>
          <a:custGeom>
            <a:avLst/>
            <a:gdLst/>
            <a:ahLst/>
            <a:cxnLst/>
            <a:rect l="l" t="t" r="r" b="b"/>
            <a:pathLst>
              <a:path w="1657350" h="205740">
                <a:moveTo>
                  <a:pt x="0" y="205740"/>
                </a:moveTo>
                <a:lnTo>
                  <a:pt x="0" y="57150"/>
                </a:lnTo>
                <a:arcTo hR="57150" wR="57150" stAng="10800000" swAng="5400000"/>
                <a:lnTo>
                  <a:pt x="1600200" y="0"/>
                </a:lnTo>
                <a:arcTo hR="57150" wR="57150" stAng="16200000" swAng="5400000"/>
                <a:lnTo>
                  <a:pt x="1657350" y="205740"/>
                </a:lnTo>
                <a:close/>
              </a:path>
            </a:pathLst>
          </a:cu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卡片"/>
          <p:cNvSpPr/>
          <p:nvPr/>
        </p:nvSpPr>
        <p:spPr>
          <a:xfrm>
            <a:off x="10744200" y="2960370"/>
            <a:ext cx="1485900" cy="594360"/>
          </a:xfrm>
          <a:prstGeom prst="roundRect">
            <a:avLst>
              <a:gd name="adj" fmla="val 9615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0744200" y="2960370"/>
            <a:ext cx="1485900" cy="205740"/>
          </a:xfrm>
          <a:custGeom>
            <a:avLst/>
            <a:gdLst/>
            <a:ahLst/>
            <a:cxnLst/>
            <a:rect l="l" t="t" r="r" b="b"/>
            <a:pathLst>
              <a:path w="1485900" h="205740">
                <a:moveTo>
                  <a:pt x="0" y="205740"/>
                </a:moveTo>
                <a:lnTo>
                  <a:pt x="0" y="57150"/>
                </a:lnTo>
                <a:arcTo hR="57150" wR="57150" stAng="10800000" swAng="5400000"/>
                <a:lnTo>
                  <a:pt x="1428750" y="0"/>
                </a:lnTo>
                <a:arcTo hR="57150" wR="57150" stAng="16200000" swAng="5400000"/>
                <a:lnTo>
                  <a:pt x="1485900" y="205740"/>
                </a:lnTo>
                <a:close/>
              </a:path>
            </a:pathLst>
          </a:cu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線條"/>
          <p:cNvSpPr/>
          <p:nvPr/>
        </p:nvSpPr>
        <p:spPr>
          <a:xfrm>
            <a:off x="7715250" y="366903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15250" y="3726180"/>
            <a:ext cx="102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12515850" y="3726180"/>
            <a:ext cx="20379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圓點方籤</a:t>
            </a:r>
            <a:endParaRPr lang="en-US" sz="1250" dirty="0"/>
          </a:p>
        </p:txBody>
      </p:sp>
      <p:sp>
        <p:nvSpPr>
          <p:cNvPr id="53" name="標籤"/>
          <p:cNvSpPr/>
          <p:nvPr/>
        </p:nvSpPr>
        <p:spPr>
          <a:xfrm>
            <a:off x="8858250" y="3886200"/>
            <a:ext cx="973988" cy="365760"/>
          </a:xfrm>
          <a:prstGeom prst="roundRect">
            <a:avLst>
              <a:gd name="adj" fmla="val 9375"/>
            </a:avLst>
          </a:prstGeom>
          <a:solidFill>
            <a:srgbClr val="3A3A3A"/>
          </a:solidFill>
          <a:ln/>
        </p:spPr>
        <p:txBody>
          <a:bodyPr wrap="square" lIns="328930" tIns="0" rIns="92202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9011869" y="4021455"/>
            <a:ext cx="95250" cy="952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標籤"/>
          <p:cNvSpPr/>
          <p:nvPr/>
        </p:nvSpPr>
        <p:spPr>
          <a:xfrm>
            <a:off x="9969398" y="3886200"/>
            <a:ext cx="973988" cy="365760"/>
          </a:xfrm>
          <a:prstGeom prst="roundRect">
            <a:avLst>
              <a:gd name="adj" fmla="val 9375"/>
            </a:avLst>
          </a:prstGeom>
          <a:solidFill>
            <a:srgbClr val="F07F2D"/>
          </a:solidFill>
          <a:ln/>
        </p:spPr>
        <p:txBody>
          <a:bodyPr wrap="square" lIns="328930" tIns="0" rIns="92202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0123018" y="4021455"/>
            <a:ext cx="95250" cy="9525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標籤"/>
          <p:cNvSpPr/>
          <p:nvPr/>
        </p:nvSpPr>
        <p:spPr>
          <a:xfrm>
            <a:off x="11080547" y="3886200"/>
            <a:ext cx="973988" cy="365760"/>
          </a:xfrm>
          <a:prstGeom prst="roundRect">
            <a:avLst>
              <a:gd name="adj" fmla="val 9375"/>
            </a:avLst>
          </a:prstGeom>
          <a:solidFill>
            <a:srgbClr val="F2F2F2"/>
          </a:solidFill>
          <a:ln/>
        </p:spPr>
        <p:txBody>
          <a:bodyPr wrap="square" lIns="328930" tIns="0" rIns="92202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11234166" y="4021455"/>
            <a:ext cx="95250" cy="952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線條"/>
          <p:cNvSpPr/>
          <p:nvPr/>
        </p:nvSpPr>
        <p:spPr>
          <a:xfrm>
            <a:off x="7715250" y="448056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15250" y="4537710"/>
            <a:ext cx="102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sz="1650" dirty="0"/>
          </a:p>
        </p:txBody>
      </p:sp>
      <p:sp>
        <p:nvSpPr>
          <p:cNvPr id="61" name="Text 59"/>
          <p:cNvSpPr/>
          <p:nvPr/>
        </p:nvSpPr>
        <p:spPr>
          <a:xfrm>
            <a:off x="12515850" y="4537710"/>
            <a:ext cx="20379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實心圓＋橘點</a:t>
            </a:r>
            <a:endParaRPr lang="en-US" sz="1250" dirty="0"/>
          </a:p>
        </p:txBody>
      </p:sp>
      <p:sp>
        <p:nvSpPr>
          <p:cNvPr id="62" name="編號"/>
          <p:cNvSpPr/>
          <p:nvPr/>
        </p:nvSpPr>
        <p:spPr>
          <a:xfrm>
            <a:off x="8903970" y="4652010"/>
            <a:ext cx="457200" cy="45720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9228582" y="4647438"/>
            <a:ext cx="137160" cy="137160"/>
          </a:xfrm>
          <a:prstGeom prst="ellipse">
            <a:avLst/>
          </a:prstGeom>
          <a:solidFill>
            <a:srgbClr val="F07F2D"/>
          </a:solidFill>
          <a:ln w="15875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編號"/>
          <p:cNvSpPr/>
          <p:nvPr/>
        </p:nvSpPr>
        <p:spPr>
          <a:xfrm>
            <a:off x="9612630" y="4652010"/>
            <a:ext cx="457200" cy="45720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9937242" y="4647438"/>
            <a:ext cx="137160" cy="137160"/>
          </a:xfrm>
          <a:prstGeom prst="ellipse">
            <a:avLst/>
          </a:prstGeom>
          <a:solidFill>
            <a:srgbClr val="F07F2D"/>
          </a:solidFill>
          <a:ln w="15875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編號"/>
          <p:cNvSpPr/>
          <p:nvPr/>
        </p:nvSpPr>
        <p:spPr>
          <a:xfrm>
            <a:off x="10321290" y="4652010"/>
            <a:ext cx="457200" cy="45720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10645902" y="4647438"/>
            <a:ext cx="137160" cy="137160"/>
          </a:xfrm>
          <a:prstGeom prst="ellipse">
            <a:avLst/>
          </a:prstGeom>
          <a:solidFill>
            <a:srgbClr val="F07F2D"/>
          </a:solidFill>
          <a:ln w="15875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11087100" y="4537710"/>
            <a:ext cx="1257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② ③</a:t>
            </a:r>
            <a:endParaRPr lang="en-US" sz="1750" dirty="0"/>
          </a:p>
        </p:txBody>
      </p:sp>
      <p:sp>
        <p:nvSpPr>
          <p:cNvPr id="69" name="線條"/>
          <p:cNvSpPr/>
          <p:nvPr/>
        </p:nvSpPr>
        <p:spPr>
          <a:xfrm>
            <a:off x="7715250" y="529209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715250" y="5349240"/>
            <a:ext cx="102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分隔</a:t>
            </a:r>
            <a:endParaRPr lang="en-US" sz="1650" dirty="0"/>
          </a:p>
        </p:txBody>
      </p:sp>
      <p:sp>
        <p:nvSpPr>
          <p:cNvPr id="71" name="Text 69"/>
          <p:cNvSpPr/>
          <p:nvPr/>
        </p:nvSpPr>
        <p:spPr>
          <a:xfrm>
            <a:off x="12515850" y="5349240"/>
            <a:ext cx="20379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 V 形</a:t>
            </a:r>
            <a:endParaRPr lang="en-US" sz="1250" dirty="0"/>
          </a:p>
        </p:txBody>
      </p:sp>
      <p:sp>
        <p:nvSpPr>
          <p:cNvPr id="72" name="Text 70"/>
          <p:cNvSpPr/>
          <p:nvPr/>
        </p:nvSpPr>
        <p:spPr>
          <a:xfrm>
            <a:off x="8858250" y="5349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500" dirty="0"/>
          </a:p>
        </p:txBody>
      </p:sp>
      <p:sp>
        <p:nvSpPr>
          <p:cNvPr id="73" name="分隔"/>
          <p:cNvSpPr/>
          <p:nvPr/>
        </p:nvSpPr>
        <p:spPr>
          <a:xfrm>
            <a:off x="9772650" y="5520690"/>
            <a:ext cx="228600" cy="342900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10229850" y="5349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500" dirty="0"/>
          </a:p>
        </p:txBody>
      </p:sp>
      <p:sp>
        <p:nvSpPr>
          <p:cNvPr id="75" name="分隔"/>
          <p:cNvSpPr/>
          <p:nvPr/>
        </p:nvSpPr>
        <p:spPr>
          <a:xfrm>
            <a:off x="11144250" y="5520690"/>
            <a:ext cx="228600" cy="342900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11601450" y="5349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500" dirty="0"/>
          </a:p>
        </p:txBody>
      </p:sp>
      <p:sp>
        <p:nvSpPr>
          <p:cNvPr id="77" name="線條"/>
          <p:cNvSpPr/>
          <p:nvPr/>
        </p:nvSpPr>
        <p:spPr>
          <a:xfrm>
            <a:off x="7715250" y="610362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715250" y="6160770"/>
            <a:ext cx="102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</a:t>
            </a:r>
            <a:endParaRPr lang="en-US" sz="1650" dirty="0"/>
          </a:p>
        </p:txBody>
      </p:sp>
      <p:sp>
        <p:nvSpPr>
          <p:cNvPr id="79" name="Text 77"/>
          <p:cNvSpPr/>
          <p:nvPr/>
        </p:nvSpPr>
        <p:spPr>
          <a:xfrm>
            <a:off x="12515850" y="6160770"/>
            <a:ext cx="20379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2pt 實線＋三角箭頭</a:t>
            </a:r>
            <a:endParaRPr lang="en-US" sz="1250" dirty="0"/>
          </a:p>
        </p:txBody>
      </p:sp>
      <p:sp>
        <p:nvSpPr>
          <p:cNvPr id="80" name="線條"/>
          <p:cNvSpPr/>
          <p:nvPr/>
        </p:nvSpPr>
        <p:spPr>
          <a:xfrm>
            <a:off x="8858250" y="6503670"/>
            <a:ext cx="1485900" cy="0"/>
          </a:xfrm>
          <a:prstGeom prst="line">
            <a:avLst/>
          </a:prstGeom>
          <a:noFill/>
          <a:ln w="3175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1" name="連接線"/>
          <p:cNvSpPr/>
          <p:nvPr/>
        </p:nvSpPr>
        <p:spPr>
          <a:xfrm>
            <a:off x="10687050" y="6252210"/>
            <a:ext cx="1543050" cy="502920"/>
          </a:xfrm>
          <a:custGeom>
            <a:avLst/>
            <a:gdLst/>
            <a:ahLst/>
            <a:cxnLst/>
            <a:rect l="l" t="t" r="r" b="b"/>
            <a:pathLst>
              <a:path w="1543050" h="502920">
                <a:moveTo>
                  <a:pt x="0" y="0"/>
                </a:moveTo>
                <a:lnTo>
                  <a:pt x="685800" y="0"/>
                </a:lnTo>
                <a:lnTo>
                  <a:pt x="685800" y="502920"/>
                </a:lnTo>
                <a:lnTo>
                  <a:pt x="1543050" y="502920"/>
                </a:lnTo>
              </a:path>
            </a:pathLst>
          </a:custGeom>
          <a:ln w="3175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線條"/>
          <p:cNvSpPr/>
          <p:nvPr/>
        </p:nvSpPr>
        <p:spPr>
          <a:xfrm>
            <a:off x="7715250" y="691515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715250" y="6972300"/>
            <a:ext cx="102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</a:t>
            </a:r>
            <a:endParaRPr lang="en-US" sz="1650" dirty="0"/>
          </a:p>
        </p:txBody>
      </p:sp>
      <p:sp>
        <p:nvSpPr>
          <p:cNvPr id="84" name="Text 82"/>
          <p:cNvSpPr/>
          <p:nvPr/>
        </p:nvSpPr>
        <p:spPr>
          <a:xfrm>
            <a:off x="12515850" y="6972300"/>
            <a:ext cx="20379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 V 形</a:t>
            </a:r>
            <a:endParaRPr lang="en-US" sz="1250" dirty="0"/>
          </a:p>
        </p:txBody>
      </p:sp>
      <p:sp>
        <p:nvSpPr>
          <p:cNvPr id="85" name="流程鏈"/>
          <p:cNvSpPr/>
          <p:nvPr/>
        </p:nvSpPr>
        <p:spPr>
          <a:xfrm>
            <a:off x="8858250" y="7063740"/>
            <a:ext cx="1217981" cy="502920"/>
          </a:xfrm>
          <a:prstGeom prst="homePlate">
            <a:avLst>
              <a:gd name="adj" fmla="val 36000"/>
            </a:avLst>
          </a:prstGeom>
          <a:solidFill>
            <a:srgbClr val="3A3A3A"/>
          </a:solidFill>
          <a:ln/>
        </p:spPr>
        <p:txBody>
          <a:bodyPr wrap="square" lIns="952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400" dirty="0"/>
          </a:p>
        </p:txBody>
      </p:sp>
      <p:sp>
        <p:nvSpPr>
          <p:cNvPr id="86" name="流程鏈"/>
          <p:cNvSpPr/>
          <p:nvPr/>
        </p:nvSpPr>
        <p:spPr>
          <a:xfrm>
            <a:off x="9963760" y="7063740"/>
            <a:ext cx="1217981" cy="502920"/>
          </a:xfrm>
          <a:prstGeom prst="chevron">
            <a:avLst>
              <a:gd name="adj" fmla="val 36000"/>
            </a:avLst>
          </a:prstGeom>
          <a:solidFill>
            <a:srgbClr val="616161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400" dirty="0"/>
          </a:p>
        </p:txBody>
      </p:sp>
      <p:sp>
        <p:nvSpPr>
          <p:cNvPr id="87" name="流程鏈"/>
          <p:cNvSpPr/>
          <p:nvPr/>
        </p:nvSpPr>
        <p:spPr>
          <a:xfrm>
            <a:off x="11069269" y="7063740"/>
            <a:ext cx="1217981" cy="502920"/>
          </a:xfrm>
          <a:prstGeom prst="chevron">
            <a:avLst>
              <a:gd name="adj" fmla="val 36000"/>
            </a:avLst>
          </a:prstGeom>
          <a:solidFill>
            <a:srgbClr val="F07F2D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1400" dirty="0"/>
          </a:p>
        </p:txBody>
      </p:sp>
      <p:sp>
        <p:nvSpPr>
          <p:cNvPr id="88" name="Text 86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89" name="Text 87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13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5720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1983740" y="1066800"/>
            <a:ext cx="182880" cy="18288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2573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標題＋內文、角落標籤、表頭強調三種基本卡片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571500" cy="68580"/>
          </a:xfrm>
          <a:prstGeom prst="rect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卡片"/>
          <p:cNvSpPr/>
          <p:nvPr/>
        </p:nvSpPr>
        <p:spPr>
          <a:xfrm>
            <a:off x="685800" y="2343150"/>
            <a:ext cx="4263390" cy="2686050"/>
          </a:xfrm>
          <a:prstGeom prst="roundRect">
            <a:avLst>
              <a:gd name="adj" fmla="val 2128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表頭"/>
          <p:cNvSpPr/>
          <p:nvPr/>
        </p:nvSpPr>
        <p:spPr>
          <a:xfrm>
            <a:off x="685800" y="2343150"/>
            <a:ext cx="4263390" cy="662940"/>
          </a:xfrm>
          <a:custGeom>
            <a:avLst/>
            <a:gdLst/>
            <a:ahLst/>
            <a:cxnLst/>
            <a:rect l="l" t="t" r="r" b="b"/>
            <a:pathLst>
              <a:path w="4263390" h="662940">
                <a:moveTo>
                  <a:pt x="0" y="662940"/>
                </a:moveTo>
                <a:lnTo>
                  <a:pt x="0" y="57150"/>
                </a:lnTo>
                <a:arcTo hR="57150" wR="57150" stAng="10800000" swAng="5400000"/>
                <a:lnTo>
                  <a:pt x="4206240" y="0"/>
                </a:lnTo>
                <a:arcTo hR="57150" wR="57150" stAng="16200000" swAng="5400000"/>
                <a:lnTo>
                  <a:pt x="4263390" y="662940"/>
                </a:lnTo>
                <a:close/>
              </a:path>
            </a:pathLst>
          </a:cu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82980" y="2343150"/>
            <a:ext cx="366903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82980" y="3234690"/>
            <a:ext cx="3669030" cy="1565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先用一句話說清楚重點，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再以兩到三行補充說明。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內文維持灰色、行距寬鬆，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留白讓卡片更好讀。</a:t>
            </a:r>
            <a:endParaRPr lang="en-US" sz="1500" dirty="0"/>
          </a:p>
        </p:txBody>
      </p:sp>
      <p:sp>
        <p:nvSpPr>
          <p:cNvPr id="10" name="卡片"/>
          <p:cNvSpPr/>
          <p:nvPr/>
        </p:nvSpPr>
        <p:spPr>
          <a:xfrm>
            <a:off x="5488115" y="2343150"/>
            <a:ext cx="4263390" cy="2686050"/>
          </a:xfrm>
          <a:prstGeom prst="roundRect">
            <a:avLst>
              <a:gd name="adj" fmla="val 2128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表頭"/>
          <p:cNvSpPr/>
          <p:nvPr/>
        </p:nvSpPr>
        <p:spPr>
          <a:xfrm>
            <a:off x="5488115" y="2343150"/>
            <a:ext cx="4263390" cy="662940"/>
          </a:xfrm>
          <a:custGeom>
            <a:avLst/>
            <a:gdLst/>
            <a:ahLst/>
            <a:cxnLst/>
            <a:rect l="l" t="t" r="r" b="b"/>
            <a:pathLst>
              <a:path w="4263390" h="662940">
                <a:moveTo>
                  <a:pt x="0" y="662940"/>
                </a:moveTo>
                <a:lnTo>
                  <a:pt x="0" y="57150"/>
                </a:lnTo>
                <a:arcTo hR="57150" wR="57150" stAng="10800000" swAng="5400000"/>
                <a:lnTo>
                  <a:pt x="4206240" y="0"/>
                </a:lnTo>
                <a:arcTo hR="57150" wR="57150" stAng="16200000" swAng="5400000"/>
                <a:lnTo>
                  <a:pt x="4263390" y="662940"/>
                </a:lnTo>
                <a:close/>
              </a:path>
            </a:pathLst>
          </a:cu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85295" y="2343150"/>
            <a:ext cx="366903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角落標籤卡片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785295" y="3234690"/>
            <a:ext cx="3669030" cy="1565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右上角的小標籤標示階段、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分類或狀態，跨在邊框上，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不佔用內文空間。</a:t>
            </a:r>
            <a:endParaRPr lang="en-US" sz="1500" dirty="0"/>
          </a:p>
        </p:txBody>
      </p:sp>
      <p:sp>
        <p:nvSpPr>
          <p:cNvPr id="14" name="標籤"/>
          <p:cNvSpPr/>
          <p:nvPr/>
        </p:nvSpPr>
        <p:spPr>
          <a:xfrm>
            <a:off x="8329740" y="2183130"/>
            <a:ext cx="1170305" cy="320040"/>
          </a:xfrm>
          <a:prstGeom prst="roundRect">
            <a:avLst>
              <a:gd name="adj" fmla="val 10714"/>
            </a:avLst>
          </a:prstGeom>
          <a:solidFill>
            <a:srgbClr val="F07F2D"/>
          </a:solidFill>
          <a:ln/>
        </p:spPr>
        <p:txBody>
          <a:bodyPr wrap="square" lIns="307975" tIns="0" rIns="89154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78330" y="2303462"/>
            <a:ext cx="79375" cy="79375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標籤"/>
          <p:cNvSpPr/>
          <p:nvPr/>
        </p:nvSpPr>
        <p:spPr>
          <a:xfrm>
            <a:off x="5739575" y="4869180"/>
            <a:ext cx="1170305" cy="320040"/>
          </a:xfrm>
          <a:prstGeom prst="roundRect">
            <a:avLst>
              <a:gd name="adj" fmla="val 10714"/>
            </a:avLst>
          </a:prstGeom>
          <a:solidFill>
            <a:srgbClr val="F2F2F2"/>
          </a:solidFill>
          <a:ln/>
        </p:spPr>
        <p:txBody>
          <a:bodyPr wrap="square" lIns="307975" tIns="0" rIns="89154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價值說明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888165" y="4989513"/>
            <a:ext cx="79375" cy="79375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卡片"/>
          <p:cNvSpPr/>
          <p:nvPr/>
        </p:nvSpPr>
        <p:spPr>
          <a:xfrm>
            <a:off x="10290429" y="2343150"/>
            <a:ext cx="4263390" cy="2686050"/>
          </a:xfrm>
          <a:prstGeom prst="roundRect">
            <a:avLst>
              <a:gd name="adj" fmla="val 2128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表頭"/>
          <p:cNvSpPr/>
          <p:nvPr/>
        </p:nvSpPr>
        <p:spPr>
          <a:xfrm>
            <a:off x="10290429" y="2343150"/>
            <a:ext cx="4263390" cy="662940"/>
          </a:xfrm>
          <a:custGeom>
            <a:avLst/>
            <a:gdLst/>
            <a:ahLst/>
            <a:cxnLst/>
            <a:rect l="l" t="t" r="r" b="b"/>
            <a:pathLst>
              <a:path w="4263390" h="662940">
                <a:moveTo>
                  <a:pt x="0" y="662940"/>
                </a:moveTo>
                <a:lnTo>
                  <a:pt x="0" y="57150"/>
                </a:lnTo>
                <a:arcTo hR="57150" wR="57150" stAng="10800000" swAng="5400000"/>
                <a:lnTo>
                  <a:pt x="4206240" y="0"/>
                </a:lnTo>
                <a:arcTo hR="57150" wR="57150" stAng="16200000" swAng="5400000"/>
                <a:lnTo>
                  <a:pt x="4263390" y="662940"/>
                </a:lnTo>
                <a:close/>
              </a:path>
            </a:pathLst>
          </a:cu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587609" y="2343150"/>
            <a:ext cx="366903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表頭強調卡片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587609" y="3234690"/>
            <a:ext cx="3669030" cy="1565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以主色表頭強調，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用來標出最重要的一張卡。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同一頁建議只放一張。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" y="5234940"/>
            <a:ext cx="42633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A｜基本卡片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8115" y="5234940"/>
            <a:ext cx="42633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B｜角標卡片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290429" y="5234940"/>
            <a:ext cx="42633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C｜強調卡片（含陰影）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583501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37260" y="5715000"/>
            <a:ext cx="7749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標籤＋說明列</a:t>
            </a:r>
            <a:endParaRPr lang="en-US" sz="1650" dirty="0"/>
          </a:p>
        </p:txBody>
      </p:sp>
      <p:sp>
        <p:nvSpPr>
          <p:cNvPr id="27" name="線條"/>
          <p:cNvSpPr/>
          <p:nvPr/>
        </p:nvSpPr>
        <p:spPr>
          <a:xfrm>
            <a:off x="685800" y="6195060"/>
            <a:ext cx="80010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8" name="標籤"/>
          <p:cNvSpPr/>
          <p:nvPr/>
        </p:nvSpPr>
        <p:spPr>
          <a:xfrm>
            <a:off x="685800" y="6377940"/>
            <a:ext cx="937260" cy="365760"/>
          </a:xfrm>
          <a:prstGeom prst="roundRect">
            <a:avLst>
              <a:gd name="adj" fmla="val 9375"/>
            </a:avLst>
          </a:prstGeom>
          <a:solidFill>
            <a:srgbClr val="3A3A3A"/>
          </a:solidFill>
          <a:ln/>
        </p:spPr>
        <p:txBody>
          <a:bodyPr wrap="square" lIns="328930" tIns="0" rIns="92202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簡潔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9419" y="6513195"/>
            <a:ext cx="95250" cy="952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828800" y="6377940"/>
            <a:ext cx="662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一頁只講一個重點，讀者不費力</a:t>
            </a:r>
            <a:endParaRPr lang="en-US" sz="1650" dirty="0"/>
          </a:p>
        </p:txBody>
      </p:sp>
      <p:sp>
        <p:nvSpPr>
          <p:cNvPr id="31" name="標籤"/>
          <p:cNvSpPr/>
          <p:nvPr/>
        </p:nvSpPr>
        <p:spPr>
          <a:xfrm>
            <a:off x="685800" y="6858000"/>
            <a:ext cx="937260" cy="365760"/>
          </a:xfrm>
          <a:prstGeom prst="roundRect">
            <a:avLst>
              <a:gd name="adj" fmla="val 9375"/>
            </a:avLst>
          </a:prstGeom>
          <a:solidFill>
            <a:srgbClr val="F07F2D"/>
          </a:solidFill>
          <a:ln/>
        </p:spPr>
        <p:txBody>
          <a:bodyPr wrap="square" lIns="328930" tIns="0" rIns="92202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9419" y="6993255"/>
            <a:ext cx="95250" cy="9525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828800" y="6858000"/>
            <a:ext cx="662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用例子與數字說話，避免空泛</a:t>
            </a:r>
            <a:endParaRPr lang="en-US" sz="1650" dirty="0"/>
          </a:p>
        </p:txBody>
      </p:sp>
      <p:sp>
        <p:nvSpPr>
          <p:cNvPr id="34" name="標籤"/>
          <p:cNvSpPr/>
          <p:nvPr/>
        </p:nvSpPr>
        <p:spPr>
          <a:xfrm>
            <a:off x="685800" y="7338060"/>
            <a:ext cx="937260" cy="365760"/>
          </a:xfrm>
          <a:prstGeom prst="roundRect">
            <a:avLst>
              <a:gd name="adj" fmla="val 9375"/>
            </a:avLst>
          </a:prstGeom>
          <a:solidFill>
            <a:srgbClr val="3A3A3A"/>
          </a:solidFill>
          <a:ln/>
        </p:spPr>
        <p:txBody>
          <a:bodyPr wrap="square" lIns="328930" tIns="0" rIns="92202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39419" y="7473315"/>
            <a:ext cx="95250" cy="9525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828800" y="7338060"/>
            <a:ext cx="662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提出觀點與洞見，留下記憶點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9144000" y="583501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395460" y="5715000"/>
            <a:ext cx="51583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 Note</a:t>
            </a:r>
            <a:endParaRPr lang="en-US" sz="1650" dirty="0"/>
          </a:p>
        </p:txBody>
      </p:sp>
      <p:sp>
        <p:nvSpPr>
          <p:cNvPr id="39" name="線條"/>
          <p:cNvSpPr/>
          <p:nvPr/>
        </p:nvSpPr>
        <p:spPr>
          <a:xfrm>
            <a:off x="9144000" y="6195060"/>
            <a:ext cx="54098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0" y="6400800"/>
            <a:ext cx="54098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註解用灰色小字，補充前提或資料來源。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144000" y="6858000"/>
            <a:ext cx="54098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每張卡片內文以 3–4 行為上限。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13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5720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標籤與編號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3793490" y="1066800"/>
            <a:ext cx="182880" cy="18288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2573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單一標籤、堆疊清單、編號徽章與圈號清單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571500" cy="68580"/>
          </a:xfrm>
          <a:prstGeom prst="rect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34886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37260" y="2228850"/>
            <a:ext cx="13616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 Tags</a:t>
            </a:r>
            <a:endParaRPr lang="en-US" sz="1650" dirty="0"/>
          </a:p>
        </p:txBody>
      </p:sp>
      <p:sp>
        <p:nvSpPr>
          <p:cNvPr id="8" name="線條"/>
          <p:cNvSpPr/>
          <p:nvPr/>
        </p:nvSpPr>
        <p:spPr>
          <a:xfrm>
            <a:off x="685800" y="270891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9" name="標籤"/>
          <p:cNvSpPr/>
          <p:nvPr/>
        </p:nvSpPr>
        <p:spPr>
          <a:xfrm>
            <a:off x="685800" y="2914650"/>
            <a:ext cx="1499908" cy="434340"/>
          </a:xfrm>
          <a:prstGeom prst="roundRect">
            <a:avLst>
              <a:gd name="adj" fmla="val 7895"/>
            </a:avLst>
          </a:prstGeom>
          <a:solidFill>
            <a:srgbClr val="3A3A3A"/>
          </a:solidFill>
          <a:ln/>
        </p:spPr>
        <p:txBody>
          <a:bodyPr wrap="square" lIns="365633" tIns="0" rIns="109474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68223" y="3080226"/>
            <a:ext cx="103188" cy="103188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標籤"/>
          <p:cNvSpPr/>
          <p:nvPr/>
        </p:nvSpPr>
        <p:spPr>
          <a:xfrm>
            <a:off x="2528608" y="2914650"/>
            <a:ext cx="1499908" cy="434340"/>
          </a:xfrm>
          <a:prstGeom prst="roundRect">
            <a:avLst>
              <a:gd name="adj" fmla="val 7895"/>
            </a:avLst>
          </a:prstGeom>
          <a:solidFill>
            <a:srgbClr val="F07F2D"/>
          </a:solidFill>
          <a:ln/>
        </p:spPr>
        <p:txBody>
          <a:bodyPr wrap="square" lIns="365633" tIns="0" rIns="109474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輔助標籤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711031" y="3080226"/>
            <a:ext cx="103188" cy="103188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標籤"/>
          <p:cNvSpPr/>
          <p:nvPr/>
        </p:nvSpPr>
        <p:spPr>
          <a:xfrm>
            <a:off x="4371416" y="2914650"/>
            <a:ext cx="1499908" cy="434340"/>
          </a:xfrm>
          <a:prstGeom prst="roundRect">
            <a:avLst>
              <a:gd name="adj" fmla="val 7895"/>
            </a:avLst>
          </a:prstGeom>
          <a:solidFill>
            <a:srgbClr val="F2F2F2"/>
          </a:solidFill>
          <a:ln/>
        </p:spPr>
        <p:txBody>
          <a:bodyPr wrap="square" lIns="365633" tIns="0" rIns="109474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灰階標籤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553839" y="3080226"/>
            <a:ext cx="103188" cy="103188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標籤"/>
          <p:cNvSpPr/>
          <p:nvPr/>
        </p:nvSpPr>
        <p:spPr>
          <a:xfrm>
            <a:off x="6214224" y="2914650"/>
            <a:ext cx="1499908" cy="43434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  <p:txBody>
          <a:bodyPr wrap="square" lIns="365633" tIns="0" rIns="109474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外框標籤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396647" y="3080226"/>
            <a:ext cx="103188" cy="103188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399932" y="2914650"/>
            <a:ext cx="10287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小尺寸</a:t>
            </a:r>
            <a:endParaRPr lang="en-US" sz="1400" dirty="0"/>
          </a:p>
        </p:txBody>
      </p:sp>
      <p:sp>
        <p:nvSpPr>
          <p:cNvPr id="18" name="標籤"/>
          <p:cNvSpPr/>
          <p:nvPr/>
        </p:nvSpPr>
        <p:spPr>
          <a:xfrm>
            <a:off x="9314332" y="2960370"/>
            <a:ext cx="852805" cy="342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  <p:txBody>
          <a:bodyPr wrap="square" lIns="307975" tIns="0" rIns="89154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462922" y="3092132"/>
            <a:ext cx="79375" cy="79375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標籤"/>
          <p:cNvSpPr/>
          <p:nvPr/>
        </p:nvSpPr>
        <p:spPr>
          <a:xfrm>
            <a:off x="10338587" y="2960370"/>
            <a:ext cx="852805" cy="3429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  <p:txBody>
          <a:bodyPr wrap="square" lIns="307975" tIns="0" rIns="89154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487177" y="3092132"/>
            <a:ext cx="79375" cy="79375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標籤"/>
          <p:cNvSpPr/>
          <p:nvPr/>
        </p:nvSpPr>
        <p:spPr>
          <a:xfrm>
            <a:off x="11362842" y="2960370"/>
            <a:ext cx="852805" cy="3429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  <p:txBody>
          <a:bodyPr wrap="square" lIns="307975" tIns="0" rIns="89154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11432" y="3092132"/>
            <a:ext cx="79375" cy="79375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85800" y="394906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37260" y="3829050"/>
            <a:ext cx="40805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堆疊清單 Stacked</a:t>
            </a:r>
            <a:endParaRPr lang="en-US" sz="1650" dirty="0"/>
          </a:p>
        </p:txBody>
      </p:sp>
      <p:sp>
        <p:nvSpPr>
          <p:cNvPr id="26" name="線條"/>
          <p:cNvSpPr/>
          <p:nvPr/>
        </p:nvSpPr>
        <p:spPr>
          <a:xfrm>
            <a:off x="685800" y="4309110"/>
            <a:ext cx="433197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7" name="標籤"/>
          <p:cNvSpPr/>
          <p:nvPr/>
        </p:nvSpPr>
        <p:spPr>
          <a:xfrm>
            <a:off x="685800" y="4583430"/>
            <a:ext cx="3314700" cy="480060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/>
        </p:spPr>
        <p:txBody>
          <a:bodyPr wrap="square" lIns="384810" tIns="0" rIns="121031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釐清溝通目的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887425" y="4771866"/>
            <a:ext cx="103188" cy="103188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標籤"/>
          <p:cNvSpPr/>
          <p:nvPr/>
        </p:nvSpPr>
        <p:spPr>
          <a:xfrm>
            <a:off x="685800" y="5292090"/>
            <a:ext cx="3314700" cy="480060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/>
        </p:spPr>
        <p:txBody>
          <a:bodyPr wrap="square" lIns="384810" tIns="0" rIns="121031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對齊彼此期待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887425" y="5480526"/>
            <a:ext cx="103188" cy="103188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標籤"/>
          <p:cNvSpPr/>
          <p:nvPr/>
        </p:nvSpPr>
        <p:spPr>
          <a:xfrm>
            <a:off x="685800" y="6000750"/>
            <a:ext cx="3314700" cy="480060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/>
        </p:spPr>
        <p:txBody>
          <a:bodyPr wrap="square" lIns="384810" tIns="0" rIns="121031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降低理解門檻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887425" y="6189186"/>
            <a:ext cx="103188" cy="103188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標籤"/>
          <p:cNvSpPr/>
          <p:nvPr/>
        </p:nvSpPr>
        <p:spPr>
          <a:xfrm>
            <a:off x="685800" y="6709410"/>
            <a:ext cx="3314700" cy="480060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/>
        </p:spPr>
        <p:txBody>
          <a:bodyPr wrap="square" lIns="384810" tIns="0" rIns="121031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887425" y="6897846"/>
            <a:ext cx="103188" cy="103188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453825" y="394906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705284" y="3829050"/>
            <a:ext cx="40805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 Badges</a:t>
            </a:r>
            <a:endParaRPr lang="en-US" sz="1650" dirty="0"/>
          </a:p>
        </p:txBody>
      </p:sp>
      <p:sp>
        <p:nvSpPr>
          <p:cNvPr id="37" name="線條"/>
          <p:cNvSpPr/>
          <p:nvPr/>
        </p:nvSpPr>
        <p:spPr>
          <a:xfrm>
            <a:off x="5453825" y="4309110"/>
            <a:ext cx="433197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8" name="編號"/>
          <p:cNvSpPr/>
          <p:nvPr/>
        </p:nvSpPr>
        <p:spPr>
          <a:xfrm>
            <a:off x="5499544" y="4594860"/>
            <a:ext cx="480060" cy="48006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5840387" y="4590059"/>
            <a:ext cx="144018" cy="144018"/>
          </a:xfrm>
          <a:prstGeom prst="ellipse">
            <a:avLst/>
          </a:prstGeom>
          <a:solidFill>
            <a:srgbClr val="F07F2D"/>
          </a:solidFill>
          <a:ln w="15875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編號"/>
          <p:cNvSpPr/>
          <p:nvPr/>
        </p:nvSpPr>
        <p:spPr>
          <a:xfrm>
            <a:off x="6208205" y="4594860"/>
            <a:ext cx="480060" cy="48006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6549047" y="4590059"/>
            <a:ext cx="144018" cy="144018"/>
          </a:xfrm>
          <a:prstGeom prst="ellipse">
            <a:avLst/>
          </a:prstGeom>
          <a:solidFill>
            <a:srgbClr val="F07F2D"/>
          </a:solidFill>
          <a:ln w="15875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編號"/>
          <p:cNvSpPr/>
          <p:nvPr/>
        </p:nvSpPr>
        <p:spPr>
          <a:xfrm>
            <a:off x="6916865" y="4594860"/>
            <a:ext cx="480060" cy="48006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7257707" y="4590059"/>
            <a:ext cx="144018" cy="144018"/>
          </a:xfrm>
          <a:prstGeom prst="ellipse">
            <a:avLst/>
          </a:prstGeom>
          <a:solidFill>
            <a:srgbClr val="F07F2D"/>
          </a:solidFill>
          <a:ln w="15875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編號"/>
          <p:cNvSpPr/>
          <p:nvPr/>
        </p:nvSpPr>
        <p:spPr>
          <a:xfrm>
            <a:off x="7625524" y="4594860"/>
            <a:ext cx="480060" cy="48006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7966367" y="4590059"/>
            <a:ext cx="144018" cy="144018"/>
          </a:xfrm>
          <a:prstGeom prst="ellipse">
            <a:avLst/>
          </a:prstGeom>
          <a:solidFill>
            <a:srgbClr val="F07F2D"/>
          </a:solidFill>
          <a:ln w="15875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編號"/>
          <p:cNvSpPr/>
          <p:nvPr/>
        </p:nvSpPr>
        <p:spPr>
          <a:xfrm>
            <a:off x="5533835" y="5646420"/>
            <a:ext cx="411480" cy="41148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162485" y="5657850"/>
            <a:ext cx="1371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7454075" y="5657850"/>
            <a:ext cx="2331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先釐清要解決什麼</a:t>
            </a:r>
            <a:endParaRPr lang="en-US" sz="1400" dirty="0"/>
          </a:p>
        </p:txBody>
      </p:sp>
      <p:sp>
        <p:nvSpPr>
          <p:cNvPr id="49" name="編號"/>
          <p:cNvSpPr/>
          <p:nvPr/>
        </p:nvSpPr>
        <p:spPr>
          <a:xfrm>
            <a:off x="5533835" y="6355080"/>
            <a:ext cx="411480" cy="41148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162485" y="6366510"/>
            <a:ext cx="1371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盤點現況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7454075" y="6366510"/>
            <a:ext cx="2331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蒐集事實與數據</a:t>
            </a:r>
            <a:endParaRPr lang="en-US" sz="1400" dirty="0"/>
          </a:p>
        </p:txBody>
      </p:sp>
      <p:sp>
        <p:nvSpPr>
          <p:cNvPr id="52" name="編號"/>
          <p:cNvSpPr/>
          <p:nvPr/>
        </p:nvSpPr>
        <p:spPr>
          <a:xfrm>
            <a:off x="5533835" y="7063740"/>
            <a:ext cx="411480" cy="41148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162485" y="7075170"/>
            <a:ext cx="1371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7454075" y="7075170"/>
            <a:ext cx="2331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聚焦影響最大處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10221849" y="394906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0473309" y="3829050"/>
            <a:ext cx="40805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圈號清單 ①②③</a:t>
            </a:r>
            <a:endParaRPr lang="en-US" sz="1650" dirty="0"/>
          </a:p>
        </p:txBody>
      </p:sp>
      <p:sp>
        <p:nvSpPr>
          <p:cNvPr id="57" name="線條"/>
          <p:cNvSpPr/>
          <p:nvPr/>
        </p:nvSpPr>
        <p:spPr>
          <a:xfrm>
            <a:off x="10221849" y="4309110"/>
            <a:ext cx="433197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221849" y="4572000"/>
            <a:ext cx="2057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釐清目的</a:t>
            </a:r>
            <a:endParaRPr lang="en-US" sz="1750" dirty="0"/>
          </a:p>
        </p:txBody>
      </p:sp>
      <p:sp>
        <p:nvSpPr>
          <p:cNvPr id="59" name="Text 57"/>
          <p:cNvSpPr/>
          <p:nvPr/>
        </p:nvSpPr>
        <p:spPr>
          <a:xfrm>
            <a:off x="10221849" y="5052060"/>
            <a:ext cx="2057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拆解結構</a:t>
            </a:r>
            <a:endParaRPr lang="en-US" sz="1750" dirty="0"/>
          </a:p>
        </p:txBody>
      </p:sp>
      <p:sp>
        <p:nvSpPr>
          <p:cNvPr id="60" name="Text 58"/>
          <p:cNvSpPr/>
          <p:nvPr/>
        </p:nvSpPr>
        <p:spPr>
          <a:xfrm>
            <a:off x="10221849" y="5532120"/>
            <a:ext cx="2057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重新組合</a:t>
            </a:r>
            <a:endParaRPr lang="en-US" sz="1750" dirty="0"/>
          </a:p>
        </p:txBody>
      </p:sp>
      <p:sp>
        <p:nvSpPr>
          <p:cNvPr id="61" name="Text 59"/>
          <p:cNvSpPr/>
          <p:nvPr/>
        </p:nvSpPr>
        <p:spPr>
          <a:xfrm>
            <a:off x="10221849" y="6012180"/>
            <a:ext cx="2057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檢查一致</a:t>
            </a:r>
            <a:endParaRPr lang="en-US" sz="1750" dirty="0"/>
          </a:p>
        </p:txBody>
      </p:sp>
      <p:sp>
        <p:nvSpPr>
          <p:cNvPr id="62" name="Text 60"/>
          <p:cNvSpPr/>
          <p:nvPr/>
        </p:nvSpPr>
        <p:spPr>
          <a:xfrm>
            <a:off x="12507849" y="4572000"/>
            <a:ext cx="204597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過濾數據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12507849" y="5052060"/>
            <a:ext cx="204597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確認關係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12507849" y="5532120"/>
            <a:ext cx="204597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產出圖表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10221849" y="6629400"/>
            <a:ext cx="4331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清單 3–5 項最易記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13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5720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圓形與流程鏈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4396740" y="1066800"/>
            <a:ext cx="182880" cy="18288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2573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大外框圓＋疊放小圓，以及三段式流程鏈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571500" cy="68580"/>
          </a:xfrm>
          <a:prstGeom prst="rect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34886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37260" y="2228850"/>
            <a:ext cx="6149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大圓＋疊圓 Circles</a:t>
            </a:r>
            <a:endParaRPr lang="en-US" sz="1650" dirty="0"/>
          </a:p>
        </p:txBody>
      </p:sp>
      <p:sp>
        <p:nvSpPr>
          <p:cNvPr id="8" name="線條"/>
          <p:cNvSpPr/>
          <p:nvPr/>
        </p:nvSpPr>
        <p:spPr>
          <a:xfrm>
            <a:off x="685800" y="2708910"/>
            <a:ext cx="64008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9" name="大圓"/>
          <p:cNvSpPr/>
          <p:nvPr/>
        </p:nvSpPr>
        <p:spPr>
          <a:xfrm>
            <a:off x="2308860" y="2937510"/>
            <a:ext cx="3154680" cy="3154680"/>
          </a:xfrm>
          <a:prstGeom prst="ellipse">
            <a:avLst/>
          </a:prstGeom>
          <a:solidFill>
            <a:srgbClr val="FFFFFF"/>
          </a:solidFill>
          <a:ln w="43688">
            <a:solidFill>
              <a:srgbClr val="3A3A3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08860" y="3347618"/>
            <a:ext cx="3154680" cy="977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5150" dirty="0"/>
          </a:p>
        </p:txBody>
      </p:sp>
      <p:sp>
        <p:nvSpPr>
          <p:cNvPr id="11" name="Text 9"/>
          <p:cNvSpPr/>
          <p:nvPr/>
        </p:nvSpPr>
        <p:spPr>
          <a:xfrm>
            <a:off x="2624328" y="4357116"/>
            <a:ext cx="2523744" cy="88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如何做到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900" dirty="0"/>
          </a:p>
        </p:txBody>
      </p:sp>
      <p:sp>
        <p:nvSpPr>
          <p:cNvPr id="12" name="小圓"/>
          <p:cNvSpPr/>
          <p:nvPr/>
        </p:nvSpPr>
        <p:spPr>
          <a:xfrm>
            <a:off x="2146420" y="4984057"/>
            <a:ext cx="960120" cy="96012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2000" dirty="0"/>
          </a:p>
        </p:txBody>
      </p:sp>
      <p:sp>
        <p:nvSpPr>
          <p:cNvPr id="13" name="小圓"/>
          <p:cNvSpPr/>
          <p:nvPr/>
        </p:nvSpPr>
        <p:spPr>
          <a:xfrm>
            <a:off x="3406140" y="5612130"/>
            <a:ext cx="960120" cy="96012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2000" dirty="0"/>
          </a:p>
        </p:txBody>
      </p:sp>
      <p:sp>
        <p:nvSpPr>
          <p:cNvPr id="14" name="小圓"/>
          <p:cNvSpPr/>
          <p:nvPr/>
        </p:nvSpPr>
        <p:spPr>
          <a:xfrm>
            <a:off x="4665860" y="4984057"/>
            <a:ext cx="960120" cy="96012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886700" y="234886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138160" y="2228850"/>
            <a:ext cx="64156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 Chain</a:t>
            </a:r>
            <a:endParaRPr lang="en-US" sz="1650" dirty="0"/>
          </a:p>
        </p:txBody>
      </p:sp>
      <p:sp>
        <p:nvSpPr>
          <p:cNvPr id="17" name="線條"/>
          <p:cNvSpPr/>
          <p:nvPr/>
        </p:nvSpPr>
        <p:spPr>
          <a:xfrm>
            <a:off x="7886700" y="2708910"/>
            <a:ext cx="66671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18" name="流程鏈"/>
          <p:cNvSpPr/>
          <p:nvPr/>
        </p:nvSpPr>
        <p:spPr>
          <a:xfrm>
            <a:off x="7886700" y="2994660"/>
            <a:ext cx="2374163" cy="822960"/>
          </a:xfrm>
          <a:prstGeom prst="homePlate">
            <a:avLst>
              <a:gd name="adj" fmla="val 36000"/>
            </a:avLst>
          </a:prstGeom>
          <a:solidFill>
            <a:srgbClr val="3A3A3A"/>
          </a:solidFill>
          <a:ln/>
        </p:spPr>
        <p:txBody>
          <a:bodyPr wrap="square" lIns="95250" tIns="0" rIns="3175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主題思考</a:t>
            </a:r>
            <a:endParaRPr lang="en-US" sz="2000" dirty="0"/>
          </a:p>
        </p:txBody>
      </p:sp>
      <p:sp>
        <p:nvSpPr>
          <p:cNvPr id="19" name="流程鏈"/>
          <p:cNvSpPr/>
          <p:nvPr/>
        </p:nvSpPr>
        <p:spPr>
          <a:xfrm>
            <a:off x="10033178" y="2994660"/>
            <a:ext cx="2374163" cy="822960"/>
          </a:xfrm>
          <a:prstGeom prst="chevron">
            <a:avLst>
              <a:gd name="adj" fmla="val 36000"/>
            </a:avLst>
          </a:prstGeom>
          <a:solidFill>
            <a:srgbClr val="616161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主題定位</a:t>
            </a:r>
            <a:endParaRPr lang="en-US" sz="2000" dirty="0"/>
          </a:p>
        </p:txBody>
      </p:sp>
      <p:sp>
        <p:nvSpPr>
          <p:cNvPr id="20" name="流程鏈"/>
          <p:cNvSpPr/>
          <p:nvPr/>
        </p:nvSpPr>
        <p:spPr>
          <a:xfrm>
            <a:off x="12179656" y="2994660"/>
            <a:ext cx="2374163" cy="822960"/>
          </a:xfrm>
          <a:prstGeom prst="chevron">
            <a:avLst>
              <a:gd name="adj" fmla="val 36000"/>
            </a:avLst>
          </a:prstGeom>
          <a:solidFill>
            <a:srgbClr val="F07F2D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內容產出</a:t>
            </a:r>
            <a:endParaRPr lang="en-US" sz="2000" dirty="0"/>
          </a:p>
        </p:txBody>
      </p:sp>
      <p:sp>
        <p:nvSpPr>
          <p:cNvPr id="21" name="流程鏈"/>
          <p:cNvSpPr/>
          <p:nvPr/>
        </p:nvSpPr>
        <p:spPr>
          <a:xfrm>
            <a:off x="7886700" y="4400550"/>
            <a:ext cx="1462903" cy="640080"/>
          </a:xfrm>
          <a:prstGeom prst="homePlate">
            <a:avLst>
              <a:gd name="adj" fmla="val 36000"/>
            </a:avLst>
          </a:prstGeom>
          <a:solidFill>
            <a:srgbClr val="3A3A3A"/>
          </a:solidFill>
          <a:ln/>
        </p:spPr>
        <p:txBody>
          <a:bodyPr wrap="square" lIns="952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750" dirty="0"/>
          </a:p>
        </p:txBody>
      </p:sp>
      <p:sp>
        <p:nvSpPr>
          <p:cNvPr id="22" name="流程鏈"/>
          <p:cNvSpPr/>
          <p:nvPr/>
        </p:nvSpPr>
        <p:spPr>
          <a:xfrm>
            <a:off x="9187754" y="4400550"/>
            <a:ext cx="1462903" cy="640080"/>
          </a:xfrm>
          <a:prstGeom prst="chevron">
            <a:avLst>
              <a:gd name="adj" fmla="val 36000"/>
            </a:avLst>
          </a:prstGeom>
          <a:solidFill>
            <a:srgbClr val="616161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750" dirty="0"/>
          </a:p>
        </p:txBody>
      </p:sp>
      <p:sp>
        <p:nvSpPr>
          <p:cNvPr id="23" name="流程鏈"/>
          <p:cNvSpPr/>
          <p:nvPr/>
        </p:nvSpPr>
        <p:spPr>
          <a:xfrm>
            <a:off x="10488808" y="4400550"/>
            <a:ext cx="1462903" cy="640080"/>
          </a:xfrm>
          <a:prstGeom prst="chevron">
            <a:avLst>
              <a:gd name="adj" fmla="val 36000"/>
            </a:avLst>
          </a:prstGeom>
          <a:solidFill>
            <a:srgbClr val="3A3A3A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750" dirty="0"/>
          </a:p>
        </p:txBody>
      </p:sp>
      <p:sp>
        <p:nvSpPr>
          <p:cNvPr id="24" name="流程鏈"/>
          <p:cNvSpPr/>
          <p:nvPr/>
        </p:nvSpPr>
        <p:spPr>
          <a:xfrm>
            <a:off x="11789862" y="4400550"/>
            <a:ext cx="1462903" cy="640080"/>
          </a:xfrm>
          <a:prstGeom prst="chevron">
            <a:avLst>
              <a:gd name="adj" fmla="val 36000"/>
            </a:avLst>
          </a:prstGeom>
          <a:solidFill>
            <a:srgbClr val="616161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750" dirty="0"/>
          </a:p>
        </p:txBody>
      </p:sp>
      <p:sp>
        <p:nvSpPr>
          <p:cNvPr id="25" name="流程鏈"/>
          <p:cNvSpPr/>
          <p:nvPr/>
        </p:nvSpPr>
        <p:spPr>
          <a:xfrm>
            <a:off x="13090916" y="4400550"/>
            <a:ext cx="1462903" cy="640080"/>
          </a:xfrm>
          <a:prstGeom prst="chevron">
            <a:avLst>
              <a:gd name="adj" fmla="val 36000"/>
            </a:avLst>
          </a:prstGeom>
          <a:solidFill>
            <a:srgbClr val="F07F2D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750" dirty="0"/>
          </a:p>
        </p:txBody>
      </p:sp>
      <p:sp>
        <p:nvSpPr>
          <p:cNvPr id="26" name="流程鏈"/>
          <p:cNvSpPr/>
          <p:nvPr/>
        </p:nvSpPr>
        <p:spPr>
          <a:xfrm>
            <a:off x="7886700" y="5657850"/>
            <a:ext cx="1788166" cy="640080"/>
          </a:xfrm>
          <a:prstGeom prst="homePlate">
            <a:avLst>
              <a:gd name="adj" fmla="val 36000"/>
            </a:avLst>
          </a:prstGeom>
          <a:solidFill>
            <a:srgbClr val="3A3A3A"/>
          </a:solidFill>
          <a:ln/>
        </p:spPr>
        <p:txBody>
          <a:bodyPr wrap="square" lIns="952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750" dirty="0"/>
          </a:p>
        </p:txBody>
      </p:sp>
      <p:sp>
        <p:nvSpPr>
          <p:cNvPr id="27" name="流程鏈"/>
          <p:cNvSpPr/>
          <p:nvPr/>
        </p:nvSpPr>
        <p:spPr>
          <a:xfrm>
            <a:off x="9513018" y="5657850"/>
            <a:ext cx="1788166" cy="640080"/>
          </a:xfrm>
          <a:prstGeom prst="chevron">
            <a:avLst>
              <a:gd name="adj" fmla="val 36000"/>
            </a:avLst>
          </a:prstGeom>
          <a:solidFill>
            <a:srgbClr val="616161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750" dirty="0"/>
          </a:p>
        </p:txBody>
      </p:sp>
      <p:sp>
        <p:nvSpPr>
          <p:cNvPr id="28" name="流程鏈"/>
          <p:cNvSpPr/>
          <p:nvPr/>
        </p:nvSpPr>
        <p:spPr>
          <a:xfrm>
            <a:off x="11139335" y="5657850"/>
            <a:ext cx="1788166" cy="640080"/>
          </a:xfrm>
          <a:prstGeom prst="chevron">
            <a:avLst>
              <a:gd name="adj" fmla="val 36000"/>
            </a:avLst>
          </a:prstGeom>
          <a:solidFill>
            <a:srgbClr val="3A3A3A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750" dirty="0"/>
          </a:p>
        </p:txBody>
      </p:sp>
      <p:sp>
        <p:nvSpPr>
          <p:cNvPr id="29" name="流程鏈"/>
          <p:cNvSpPr/>
          <p:nvPr/>
        </p:nvSpPr>
        <p:spPr>
          <a:xfrm>
            <a:off x="12765653" y="5657850"/>
            <a:ext cx="1788166" cy="640080"/>
          </a:xfrm>
          <a:prstGeom prst="chevron">
            <a:avLst>
              <a:gd name="adj" fmla="val 36000"/>
            </a:avLst>
          </a:prstGeom>
          <a:solidFill>
            <a:srgbClr val="F07F2D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檢討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7886700" y="6423660"/>
            <a:ext cx="1788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界定範圍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513018" y="6423660"/>
            <a:ext cx="1788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產出方案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139335" y="6423660"/>
            <a:ext cx="1788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落實計畫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765653" y="6423660"/>
            <a:ext cx="1788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回顧改善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886700" y="7200900"/>
            <a:ext cx="66671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流程鏈以 3–5 個步驟為佳，重點步驟可用強調色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13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5720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連接線與箭頭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4396740" y="1066800"/>
            <a:ext cx="182880" cy="18288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2573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細直線、折線、點狀線、曲線、▶ 小三角與區塊箭號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571500" cy="68580"/>
          </a:xfrm>
          <a:prstGeom prst="rect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34886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37260" y="2228850"/>
            <a:ext cx="29412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 Straight</a:t>
            </a:r>
            <a:endParaRPr lang="en-US" sz="1650" dirty="0"/>
          </a:p>
        </p:txBody>
      </p:sp>
      <p:sp>
        <p:nvSpPr>
          <p:cNvPr id="8" name="線條"/>
          <p:cNvSpPr/>
          <p:nvPr/>
        </p:nvSpPr>
        <p:spPr>
          <a:xfrm>
            <a:off x="685800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9" name="處理"/>
          <p:cNvSpPr/>
          <p:nvPr/>
        </p:nvSpPr>
        <p:spPr>
          <a:xfrm>
            <a:off x="685800" y="3509010"/>
            <a:ext cx="1028700" cy="52578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10" name="處理"/>
          <p:cNvSpPr/>
          <p:nvPr/>
        </p:nvSpPr>
        <p:spPr>
          <a:xfrm>
            <a:off x="2849785" y="3509010"/>
            <a:ext cx="1028700" cy="52578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cxnSp>
        <p:nvCxnSpPr>
          <p:cNvPr id="11" name="連接線"/>
          <p:cNvCxnSpPr>
            <a:stCxn id="9" idx="3"/>
            <a:endCxn id="10" idx="1"/>
          </p:cNvCxnSpPr>
          <p:nvPr/>
        </p:nvCxnSpPr>
        <p:spPr>
          <a:xfrm>
            <a:off x="1714500" y="3771900"/>
            <a:ext cx="1135285" cy="0"/>
          </a:xfrm>
          <a:prstGeom prst="straightConnector1">
            <a:avLst/>
          </a:prstGeom>
          <a:ln w="31750">
            <a:solidFill>
              <a:srgbClr val="3A3A3A"/>
            </a:solidFill>
            <a:prstDash val="solid"/>
            <a:tailEnd type="triangle"/>
          </a:ln>
        </p:spPr>
      </p:cxnSp>
      <p:sp>
        <p:nvSpPr>
          <p:cNvPr id="12" name="Text 10"/>
          <p:cNvSpPr/>
          <p:nvPr/>
        </p:nvSpPr>
        <p:spPr>
          <a:xfrm>
            <a:off x="4244245" y="234886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495705" y="2228850"/>
            <a:ext cx="29412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 Elbow</a:t>
            </a:r>
            <a:endParaRPr lang="en-US" sz="1650" dirty="0"/>
          </a:p>
        </p:txBody>
      </p:sp>
      <p:sp>
        <p:nvSpPr>
          <p:cNvPr id="14" name="線條"/>
          <p:cNvSpPr/>
          <p:nvPr/>
        </p:nvSpPr>
        <p:spPr>
          <a:xfrm>
            <a:off x="4244245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15" name="處理"/>
          <p:cNvSpPr/>
          <p:nvPr/>
        </p:nvSpPr>
        <p:spPr>
          <a:xfrm>
            <a:off x="4244245" y="3086100"/>
            <a:ext cx="1028700" cy="52578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16" name="處理"/>
          <p:cNvSpPr/>
          <p:nvPr/>
        </p:nvSpPr>
        <p:spPr>
          <a:xfrm>
            <a:off x="6408230" y="4229100"/>
            <a:ext cx="1028700" cy="52578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cxnSp>
        <p:nvCxnSpPr>
          <p:cNvPr id="17" name="連接線"/>
          <p:cNvCxnSpPr>
            <a:stCxn id="15" idx="3"/>
            <a:endCxn id="16" idx="1"/>
          </p:cNvCxnSpPr>
          <p:nvPr/>
        </p:nvCxnSpPr>
        <p:spPr>
          <a:xfrm>
            <a:off x="5272945" y="3348990"/>
            <a:ext cx="1135285" cy="1143000"/>
          </a:xfrm>
          <a:prstGeom prst="bentConnector3">
            <a:avLst>
              <a:gd name="adj1" fmla="val 50000"/>
            </a:avLst>
          </a:prstGeom>
          <a:ln w="31750">
            <a:solidFill>
              <a:srgbClr val="3A3A3A"/>
            </a:solidFill>
            <a:prstDash val="solid"/>
            <a:tailEnd type="triangle"/>
          </a:ln>
        </p:spPr>
      </p:cxnSp>
      <p:sp>
        <p:nvSpPr>
          <p:cNvPr id="18" name="Text 16"/>
          <p:cNvSpPr/>
          <p:nvPr/>
        </p:nvSpPr>
        <p:spPr>
          <a:xfrm>
            <a:off x="7802690" y="234886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054150" y="2228850"/>
            <a:ext cx="29412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點狀線 Dotted</a:t>
            </a:r>
            <a:endParaRPr lang="en-US" sz="1650" dirty="0"/>
          </a:p>
        </p:txBody>
      </p:sp>
      <p:sp>
        <p:nvSpPr>
          <p:cNvPr id="20" name="線條"/>
          <p:cNvSpPr/>
          <p:nvPr/>
        </p:nvSpPr>
        <p:spPr>
          <a:xfrm>
            <a:off x="7802690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1" name="處理"/>
          <p:cNvSpPr/>
          <p:nvPr/>
        </p:nvSpPr>
        <p:spPr>
          <a:xfrm>
            <a:off x="7802690" y="3509010"/>
            <a:ext cx="1028700" cy="52578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22" name="處理"/>
          <p:cNvSpPr/>
          <p:nvPr/>
        </p:nvSpPr>
        <p:spPr>
          <a:xfrm>
            <a:off x="9966674" y="3509010"/>
            <a:ext cx="1028700" cy="52578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cxnSp>
        <p:nvCxnSpPr>
          <p:cNvPr id="23" name="連接線"/>
          <p:cNvCxnSpPr>
            <a:stCxn id="21" idx="3"/>
            <a:endCxn id="22" idx="1"/>
          </p:cNvCxnSpPr>
          <p:nvPr/>
        </p:nvCxnSpPr>
        <p:spPr>
          <a:xfrm>
            <a:off x="8831389" y="3771900"/>
            <a:ext cx="1135285" cy="0"/>
          </a:xfrm>
          <a:prstGeom prst="straightConnector1">
            <a:avLst/>
          </a:prstGeom>
          <a:ln w="31750">
            <a:solidFill>
              <a:srgbClr val="3A3A3A"/>
            </a:solidFill>
            <a:prstDash val="sysDot"/>
            <a:tailEnd type="triangle"/>
          </a:ln>
        </p:spPr>
      </p:cxnSp>
      <p:sp>
        <p:nvSpPr>
          <p:cNvPr id="24" name="Text 22"/>
          <p:cNvSpPr/>
          <p:nvPr/>
        </p:nvSpPr>
        <p:spPr>
          <a:xfrm>
            <a:off x="11361134" y="234886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612594" y="2228850"/>
            <a:ext cx="29412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 Curved</a:t>
            </a:r>
            <a:endParaRPr lang="en-US" sz="1650" dirty="0"/>
          </a:p>
        </p:txBody>
      </p:sp>
      <p:sp>
        <p:nvSpPr>
          <p:cNvPr id="26" name="線條"/>
          <p:cNvSpPr/>
          <p:nvPr/>
        </p:nvSpPr>
        <p:spPr>
          <a:xfrm>
            <a:off x="11361134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7" name="處理"/>
          <p:cNvSpPr/>
          <p:nvPr/>
        </p:nvSpPr>
        <p:spPr>
          <a:xfrm>
            <a:off x="11361134" y="4057650"/>
            <a:ext cx="1028700" cy="52578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28" name="處理"/>
          <p:cNvSpPr/>
          <p:nvPr/>
        </p:nvSpPr>
        <p:spPr>
          <a:xfrm>
            <a:off x="13525119" y="4057650"/>
            <a:ext cx="1028700" cy="52578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sp>
        <p:nvSpPr>
          <p:cNvPr id="29" name="曲線箭頭"/>
          <p:cNvSpPr/>
          <p:nvPr/>
        </p:nvSpPr>
        <p:spPr>
          <a:xfrm>
            <a:off x="11875484" y="3028950"/>
            <a:ext cx="2163985" cy="960120"/>
          </a:xfrm>
          <a:custGeom>
            <a:avLst/>
            <a:gdLst/>
            <a:ahLst/>
            <a:cxnLst/>
            <a:rect l="l" t="t" r="r" b="b"/>
            <a:pathLst>
              <a:path w="2163985" h="960120">
                <a:moveTo>
                  <a:pt x="0" y="960120"/>
                </a:moveTo>
                <a:cubicBezTo>
                  <a:pt x="0" y="0"/>
                  <a:pt x="2163985" y="0"/>
                  <a:pt x="2163985" y="960120"/>
                </a:cubicBezTo>
              </a:path>
            </a:pathLst>
          </a:custGeom>
          <a:ln w="31750">
            <a:solidFill>
              <a:srgbClr val="3A3A3A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85800" y="503491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37260" y="4914900"/>
            <a:ext cx="29412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小三角分隔</a:t>
            </a:r>
            <a:endParaRPr lang="en-US" sz="1650" dirty="0"/>
          </a:p>
        </p:txBody>
      </p:sp>
      <p:sp>
        <p:nvSpPr>
          <p:cNvPr id="32" name="線條"/>
          <p:cNvSpPr/>
          <p:nvPr/>
        </p:nvSpPr>
        <p:spPr>
          <a:xfrm>
            <a:off x="685800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6229350"/>
            <a:ext cx="708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650" dirty="0"/>
          </a:p>
        </p:txBody>
      </p:sp>
      <p:sp>
        <p:nvSpPr>
          <p:cNvPr id="34" name="分隔"/>
          <p:cNvSpPr/>
          <p:nvPr/>
        </p:nvSpPr>
        <p:spPr>
          <a:xfrm>
            <a:off x="1546836" y="6286500"/>
            <a:ext cx="228600" cy="342900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927812" y="6229350"/>
            <a:ext cx="708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650" dirty="0"/>
          </a:p>
        </p:txBody>
      </p:sp>
      <p:sp>
        <p:nvSpPr>
          <p:cNvPr id="36" name="分隔"/>
          <p:cNvSpPr/>
          <p:nvPr/>
        </p:nvSpPr>
        <p:spPr>
          <a:xfrm>
            <a:off x="2788849" y="6286500"/>
            <a:ext cx="228600" cy="342900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169825" y="6229350"/>
            <a:ext cx="708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4244245" y="503491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495705" y="4914900"/>
            <a:ext cx="29412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點狀箭號</a:t>
            </a:r>
            <a:endParaRPr lang="en-US" sz="1650" dirty="0"/>
          </a:p>
        </p:txBody>
      </p:sp>
      <p:sp>
        <p:nvSpPr>
          <p:cNvPr id="40" name="線條"/>
          <p:cNvSpPr/>
          <p:nvPr/>
        </p:nvSpPr>
        <p:spPr>
          <a:xfrm>
            <a:off x="4244245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1" name="處理"/>
          <p:cNvSpPr/>
          <p:nvPr/>
        </p:nvSpPr>
        <p:spPr>
          <a:xfrm>
            <a:off x="4244245" y="6195060"/>
            <a:ext cx="1028700" cy="52578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42" name="處理"/>
          <p:cNvSpPr/>
          <p:nvPr/>
        </p:nvSpPr>
        <p:spPr>
          <a:xfrm>
            <a:off x="6408230" y="6195060"/>
            <a:ext cx="1028700" cy="52578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sp>
        <p:nvSpPr>
          <p:cNvPr id="43" name="三角形"/>
          <p:cNvSpPr/>
          <p:nvPr/>
        </p:nvSpPr>
        <p:spPr>
          <a:xfrm>
            <a:off x="5579983" y="636879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三角形"/>
          <p:cNvSpPr/>
          <p:nvPr/>
        </p:nvSpPr>
        <p:spPr>
          <a:xfrm>
            <a:off x="5772007" y="636879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三角形"/>
          <p:cNvSpPr/>
          <p:nvPr/>
        </p:nvSpPr>
        <p:spPr>
          <a:xfrm>
            <a:off x="5964031" y="636879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802690" y="503491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054150" y="4914900"/>
            <a:ext cx="29412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區塊箭號 Chevron</a:t>
            </a:r>
            <a:endParaRPr lang="en-US" sz="1650" dirty="0"/>
          </a:p>
        </p:txBody>
      </p:sp>
      <p:sp>
        <p:nvSpPr>
          <p:cNvPr id="48" name="線條"/>
          <p:cNvSpPr/>
          <p:nvPr/>
        </p:nvSpPr>
        <p:spPr>
          <a:xfrm>
            <a:off x="7802690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9" name="區塊箭號"/>
          <p:cNvSpPr/>
          <p:nvPr/>
        </p:nvSpPr>
        <p:spPr>
          <a:xfrm>
            <a:off x="7802690" y="6149340"/>
            <a:ext cx="1201388" cy="617220"/>
          </a:xfrm>
          <a:prstGeom prst="homePlate">
            <a:avLst>
              <a:gd name="adj" fmla="val 33333"/>
            </a:avLst>
          </a:prstGeom>
          <a:solidFill>
            <a:srgbClr val="3A3A3A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650" dirty="0"/>
          </a:p>
        </p:txBody>
      </p:sp>
      <p:sp>
        <p:nvSpPr>
          <p:cNvPr id="50" name="區塊箭號"/>
          <p:cNvSpPr/>
          <p:nvPr/>
        </p:nvSpPr>
        <p:spPr>
          <a:xfrm>
            <a:off x="8844058" y="6149340"/>
            <a:ext cx="1201388" cy="617220"/>
          </a:xfrm>
          <a:prstGeom prst="chevron">
            <a:avLst>
              <a:gd name="adj" fmla="val 33333"/>
            </a:avLst>
          </a:prstGeom>
          <a:solidFill>
            <a:srgbClr val="6B6B6B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650" dirty="0"/>
          </a:p>
        </p:txBody>
      </p:sp>
      <p:sp>
        <p:nvSpPr>
          <p:cNvPr id="51" name="區塊箭號"/>
          <p:cNvSpPr/>
          <p:nvPr/>
        </p:nvSpPr>
        <p:spPr>
          <a:xfrm>
            <a:off x="9885426" y="6149340"/>
            <a:ext cx="1201388" cy="617220"/>
          </a:xfrm>
          <a:prstGeom prst="chevron">
            <a:avLst>
              <a:gd name="adj" fmla="val 33333"/>
            </a:avLst>
          </a:prstGeom>
          <a:solidFill>
            <a:srgbClr val="F07F2D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11361134" y="503491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1612594" y="4914900"/>
            <a:ext cx="29412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 Branch</a:t>
            </a:r>
            <a:endParaRPr lang="en-US" sz="1650" dirty="0"/>
          </a:p>
        </p:txBody>
      </p:sp>
      <p:sp>
        <p:nvSpPr>
          <p:cNvPr id="54" name="線條"/>
          <p:cNvSpPr/>
          <p:nvPr/>
        </p:nvSpPr>
        <p:spPr>
          <a:xfrm>
            <a:off x="11361134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55" name="處理"/>
          <p:cNvSpPr/>
          <p:nvPr/>
        </p:nvSpPr>
        <p:spPr>
          <a:xfrm>
            <a:off x="11361134" y="6195060"/>
            <a:ext cx="1028700" cy="52578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56" name="處理"/>
          <p:cNvSpPr/>
          <p:nvPr/>
        </p:nvSpPr>
        <p:spPr>
          <a:xfrm>
            <a:off x="13525119" y="5715000"/>
            <a:ext cx="1028700" cy="52578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</a:t>
            </a:r>
            <a:endParaRPr lang="en-US" sz="1650" dirty="0"/>
          </a:p>
        </p:txBody>
      </p:sp>
      <p:sp>
        <p:nvSpPr>
          <p:cNvPr id="57" name="處理"/>
          <p:cNvSpPr/>
          <p:nvPr/>
        </p:nvSpPr>
        <p:spPr>
          <a:xfrm>
            <a:off x="13525119" y="6675120"/>
            <a:ext cx="1028700" cy="52578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</a:t>
            </a:r>
            <a:endParaRPr lang="en-US" sz="1650" dirty="0"/>
          </a:p>
        </p:txBody>
      </p:sp>
      <p:cxnSp>
        <p:nvCxnSpPr>
          <p:cNvPr id="58" name="連接線"/>
          <p:cNvCxnSpPr>
            <a:stCxn id="55" idx="3"/>
            <a:endCxn id="56" idx="1"/>
          </p:cNvCxnSpPr>
          <p:nvPr/>
        </p:nvCxnSpPr>
        <p:spPr>
          <a:xfrm flipV="1">
            <a:off x="12389834" y="5977890"/>
            <a:ext cx="1135285" cy="480060"/>
          </a:xfrm>
          <a:prstGeom prst="bentConnector3">
            <a:avLst>
              <a:gd name="adj1" fmla="val 50000"/>
            </a:avLst>
          </a:prstGeom>
          <a:ln w="31750">
            <a:solidFill>
              <a:srgbClr val="3A3A3A"/>
            </a:solidFill>
            <a:prstDash val="solid"/>
            <a:tailEnd type="triangle"/>
          </a:ln>
        </p:spPr>
      </p:cxnSp>
      <p:cxnSp>
        <p:nvCxnSpPr>
          <p:cNvPr id="59" name="連接線"/>
          <p:cNvCxnSpPr>
            <a:stCxn id="55" idx="3"/>
            <a:endCxn id="57" idx="1"/>
          </p:cNvCxnSpPr>
          <p:nvPr/>
        </p:nvCxnSpPr>
        <p:spPr>
          <a:xfrm>
            <a:off x="12389834" y="6457950"/>
            <a:ext cx="1135285" cy="480060"/>
          </a:xfrm>
          <a:prstGeom prst="bentConnector3">
            <a:avLst>
              <a:gd name="adj1" fmla="val 50000"/>
            </a:avLst>
          </a:prstGeom>
          <a:ln w="31750">
            <a:solidFill>
              <a:srgbClr val="3A3A3A"/>
            </a:solidFill>
            <a:prstDash val="solid"/>
            <a:tailEnd type="triangle"/>
          </a:ln>
        </p:spPr>
      </p:cxnSp>
      <p:sp>
        <p:nvSpPr>
          <p:cNvPr id="60" name="Text 58"/>
          <p:cNvSpPr/>
          <p:nvPr/>
        </p:nvSpPr>
        <p:spPr>
          <a:xfrm>
            <a:off x="685800" y="7429500"/>
            <a:ext cx="138680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直線、折線、點狀線、分支在 pptx 中是「黏著連接線」：移動圖形，線會跟著走（曲線為一般線條）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/ 13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5720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流程圖符號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3793490" y="1066800"/>
            <a:ext cx="182880" cy="18288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2573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開始／結束、處理、判斷、輸入輸出、文件、資料庫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571500" cy="68580"/>
          </a:xfrm>
          <a:prstGeom prst="rect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開始／結束"/>
          <p:cNvSpPr/>
          <p:nvPr/>
        </p:nvSpPr>
        <p:spPr>
          <a:xfrm>
            <a:off x="984218" y="2788920"/>
            <a:ext cx="1714500" cy="708660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/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85800" y="3909060"/>
            <a:ext cx="23113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Terminator</a:t>
            </a:r>
            <a:endParaRPr lang="en-US" sz="1750" dirty="0"/>
          </a:p>
        </p:txBody>
      </p:sp>
      <p:sp>
        <p:nvSpPr>
          <p:cNvPr id="8" name="處理"/>
          <p:cNvSpPr/>
          <p:nvPr/>
        </p:nvSpPr>
        <p:spPr>
          <a:xfrm>
            <a:off x="3238405" y="2731770"/>
            <a:ext cx="1828800" cy="822960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2997137" y="3909060"/>
            <a:ext cx="23113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750" dirty="0"/>
          </a:p>
        </p:txBody>
      </p:sp>
      <p:sp>
        <p:nvSpPr>
          <p:cNvPr id="10" name="判斷"/>
          <p:cNvSpPr/>
          <p:nvPr/>
        </p:nvSpPr>
        <p:spPr>
          <a:xfrm>
            <a:off x="5606891" y="2571750"/>
            <a:ext cx="1714500" cy="1143000"/>
          </a:xfrm>
          <a:prstGeom prst="diamond">
            <a:avLst/>
          </a:prstGeom>
          <a:solidFill>
            <a:srgbClr val="FFFFFF"/>
          </a:solidFill>
          <a:ln w="31750">
            <a:solidFill>
              <a:srgbClr val="F07F2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308473" y="3909060"/>
            <a:ext cx="23113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750" dirty="0"/>
          </a:p>
        </p:txBody>
      </p:sp>
      <p:sp>
        <p:nvSpPr>
          <p:cNvPr id="12" name="輸入輸出"/>
          <p:cNvSpPr/>
          <p:nvPr/>
        </p:nvSpPr>
        <p:spPr>
          <a:xfrm>
            <a:off x="7803928" y="2731770"/>
            <a:ext cx="1943100" cy="822960"/>
          </a:xfrm>
          <a:prstGeom prst="parallelogram">
            <a:avLst>
              <a:gd name="adj" fmla="val 42000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19809" y="3909060"/>
            <a:ext cx="23113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輸入／輸出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 / Output</a:t>
            </a:r>
            <a:endParaRPr lang="en-US" sz="1750" dirty="0"/>
          </a:p>
        </p:txBody>
      </p:sp>
      <p:sp>
        <p:nvSpPr>
          <p:cNvPr id="14" name="文件"/>
          <p:cNvSpPr/>
          <p:nvPr/>
        </p:nvSpPr>
        <p:spPr>
          <a:xfrm>
            <a:off x="10229564" y="2657475"/>
            <a:ext cx="1714500" cy="971550"/>
          </a:xfrm>
          <a:prstGeom prst="flowChartDocument">
            <a:avLst/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0" rIns="47625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931146" y="3909060"/>
            <a:ext cx="23113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Document</a:t>
            </a:r>
            <a:endParaRPr lang="en-US" sz="1750" dirty="0"/>
          </a:p>
        </p:txBody>
      </p:sp>
      <p:sp>
        <p:nvSpPr>
          <p:cNvPr id="16" name="資料庫"/>
          <p:cNvSpPr/>
          <p:nvPr/>
        </p:nvSpPr>
        <p:spPr>
          <a:xfrm>
            <a:off x="12769501" y="2571750"/>
            <a:ext cx="1257300" cy="1143000"/>
          </a:xfrm>
          <a:prstGeom prst="can">
            <a:avLst>
              <a:gd name="adj" fmla="val 13000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2242483" y="3909060"/>
            <a:ext cx="23113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Database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685800" y="482917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37260" y="4709160"/>
            <a:ext cx="13616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基本流程範例</a:t>
            </a:r>
            <a:endParaRPr lang="en-US" sz="1650" dirty="0"/>
          </a:p>
        </p:txBody>
      </p:sp>
      <p:sp>
        <p:nvSpPr>
          <p:cNvPr id="20" name="線條"/>
          <p:cNvSpPr/>
          <p:nvPr/>
        </p:nvSpPr>
        <p:spPr>
          <a:xfrm>
            <a:off x="685800" y="518922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1" name="開始／結束"/>
          <p:cNvSpPr/>
          <p:nvPr/>
        </p:nvSpPr>
        <p:spPr>
          <a:xfrm>
            <a:off x="685800" y="5543550"/>
            <a:ext cx="1428750" cy="685800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/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750" dirty="0"/>
          </a:p>
        </p:txBody>
      </p:sp>
      <p:sp>
        <p:nvSpPr>
          <p:cNvPr id="22" name="輸入輸出"/>
          <p:cNvSpPr/>
          <p:nvPr/>
        </p:nvSpPr>
        <p:spPr>
          <a:xfrm>
            <a:off x="2785034" y="5497830"/>
            <a:ext cx="2057400" cy="777240"/>
          </a:xfrm>
          <a:prstGeom prst="parallelogram">
            <a:avLst>
              <a:gd name="adj" fmla="val 42000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輸入需求</a:t>
            </a:r>
            <a:endParaRPr lang="en-US" sz="1750" dirty="0"/>
          </a:p>
        </p:txBody>
      </p:sp>
      <p:sp>
        <p:nvSpPr>
          <p:cNvPr id="23" name="判斷"/>
          <p:cNvSpPr/>
          <p:nvPr/>
        </p:nvSpPr>
        <p:spPr>
          <a:xfrm>
            <a:off x="5512918" y="5314950"/>
            <a:ext cx="1943100" cy="1143000"/>
          </a:xfrm>
          <a:prstGeom prst="diamond">
            <a:avLst/>
          </a:prstGeom>
          <a:solidFill>
            <a:srgbClr val="FFFFFF"/>
          </a:solidFill>
          <a:ln w="31750">
            <a:solidFill>
              <a:srgbClr val="F07F2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是否可行？</a:t>
            </a:r>
            <a:endParaRPr lang="en-US" sz="1650" dirty="0"/>
          </a:p>
        </p:txBody>
      </p:sp>
      <p:sp>
        <p:nvSpPr>
          <p:cNvPr id="24" name="處理"/>
          <p:cNvSpPr/>
          <p:nvPr/>
        </p:nvSpPr>
        <p:spPr>
          <a:xfrm>
            <a:off x="8126501" y="5497830"/>
            <a:ext cx="1828800" cy="777240"/>
          </a:xfrm>
          <a:prstGeom prst="roundRect">
            <a:avLst>
              <a:gd name="adj" fmla="val 7353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執行處理</a:t>
            </a:r>
            <a:endParaRPr lang="en-US" sz="1750" dirty="0"/>
          </a:p>
        </p:txBody>
      </p:sp>
      <p:sp>
        <p:nvSpPr>
          <p:cNvPr id="25" name="文件"/>
          <p:cNvSpPr/>
          <p:nvPr/>
        </p:nvSpPr>
        <p:spPr>
          <a:xfrm>
            <a:off x="10625785" y="5429250"/>
            <a:ext cx="1828800" cy="914400"/>
          </a:xfrm>
          <a:prstGeom prst="flowChartDocument">
            <a:avLst/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0" rIns="47625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產出報告</a:t>
            </a:r>
            <a:endParaRPr lang="en-US" sz="1750" dirty="0"/>
          </a:p>
        </p:txBody>
      </p:sp>
      <p:sp>
        <p:nvSpPr>
          <p:cNvPr id="26" name="開始／結束"/>
          <p:cNvSpPr/>
          <p:nvPr/>
        </p:nvSpPr>
        <p:spPr>
          <a:xfrm>
            <a:off x="13125069" y="5543550"/>
            <a:ext cx="1428750" cy="685800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/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750" dirty="0"/>
          </a:p>
        </p:txBody>
      </p:sp>
      <p:cxnSp>
        <p:nvCxnSpPr>
          <p:cNvPr id="27" name="連接線"/>
          <p:cNvCxnSpPr>
            <a:stCxn id="21" idx="3"/>
            <a:endCxn id="22" idx="5"/>
          </p:cNvCxnSpPr>
          <p:nvPr/>
        </p:nvCxnSpPr>
        <p:spPr>
          <a:xfrm>
            <a:off x="2114550" y="5886450"/>
            <a:ext cx="833704" cy="0"/>
          </a:xfrm>
          <a:prstGeom prst="straightConnector1">
            <a:avLst/>
          </a:prstGeom>
          <a:ln w="31750">
            <a:solidFill>
              <a:srgbClr val="3A3A3A"/>
            </a:solidFill>
            <a:prstDash val="solid"/>
            <a:tailEnd type="triangle"/>
          </a:ln>
        </p:spPr>
      </p:cxnSp>
      <p:cxnSp>
        <p:nvCxnSpPr>
          <p:cNvPr id="28" name="連接線"/>
          <p:cNvCxnSpPr>
            <a:stCxn id="22" idx="2"/>
            <a:endCxn id="23" idx="1"/>
          </p:cNvCxnSpPr>
          <p:nvPr/>
        </p:nvCxnSpPr>
        <p:spPr>
          <a:xfrm>
            <a:off x="4679213" y="5886450"/>
            <a:ext cx="833704" cy="0"/>
          </a:xfrm>
          <a:prstGeom prst="straightConnector1">
            <a:avLst/>
          </a:prstGeom>
          <a:ln w="31750">
            <a:solidFill>
              <a:srgbClr val="3A3A3A"/>
            </a:solidFill>
            <a:prstDash val="solid"/>
            <a:tailEnd type="triangle"/>
          </a:ln>
        </p:spPr>
      </p:cxnSp>
      <p:cxnSp>
        <p:nvCxnSpPr>
          <p:cNvPr id="29" name="連接線"/>
          <p:cNvCxnSpPr>
            <a:stCxn id="23" idx="3"/>
            <a:endCxn id="24" idx="1"/>
          </p:cNvCxnSpPr>
          <p:nvPr/>
        </p:nvCxnSpPr>
        <p:spPr>
          <a:xfrm>
            <a:off x="7456018" y="5886450"/>
            <a:ext cx="670484" cy="0"/>
          </a:xfrm>
          <a:prstGeom prst="straightConnector1">
            <a:avLst/>
          </a:prstGeom>
          <a:ln w="31750">
            <a:solidFill>
              <a:srgbClr val="3A3A3A"/>
            </a:solidFill>
            <a:prstDash val="solid"/>
            <a:tailEnd type="triangle"/>
          </a:ln>
        </p:spPr>
      </p:cxnSp>
      <p:cxnSp>
        <p:nvCxnSpPr>
          <p:cNvPr id="30" name="連接線"/>
          <p:cNvCxnSpPr>
            <a:stCxn id="24" idx="3"/>
            <a:endCxn id="25" idx="1"/>
          </p:cNvCxnSpPr>
          <p:nvPr/>
        </p:nvCxnSpPr>
        <p:spPr>
          <a:xfrm>
            <a:off x="9955301" y="5886450"/>
            <a:ext cx="670484" cy="0"/>
          </a:xfrm>
          <a:prstGeom prst="straightConnector1">
            <a:avLst/>
          </a:prstGeom>
          <a:ln w="31750">
            <a:solidFill>
              <a:srgbClr val="3A3A3A"/>
            </a:solidFill>
            <a:prstDash val="solid"/>
            <a:tailEnd type="triangle"/>
          </a:ln>
        </p:spPr>
      </p:cxnSp>
      <p:cxnSp>
        <p:nvCxnSpPr>
          <p:cNvPr id="31" name="連接線"/>
          <p:cNvCxnSpPr>
            <a:stCxn id="25" idx="3"/>
            <a:endCxn id="26" idx="1"/>
          </p:cNvCxnSpPr>
          <p:nvPr/>
        </p:nvCxnSpPr>
        <p:spPr>
          <a:xfrm>
            <a:off x="12454585" y="5886450"/>
            <a:ext cx="670484" cy="0"/>
          </a:xfrm>
          <a:prstGeom prst="straightConnector1">
            <a:avLst/>
          </a:prstGeom>
          <a:ln w="31750">
            <a:solidFill>
              <a:srgbClr val="3A3A3A"/>
            </a:solidFill>
            <a:prstDash val="solid"/>
            <a:tailEnd type="triangle"/>
          </a:ln>
        </p:spPr>
      </p:cxnSp>
      <p:sp>
        <p:nvSpPr>
          <p:cNvPr id="32" name="Text 30"/>
          <p:cNvSpPr/>
          <p:nvPr/>
        </p:nvSpPr>
        <p:spPr>
          <a:xfrm>
            <a:off x="7478878" y="5406390"/>
            <a:ext cx="6704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1400" dirty="0"/>
          </a:p>
        </p:txBody>
      </p:sp>
      <p:sp>
        <p:nvSpPr>
          <p:cNvPr id="33" name="資料庫"/>
          <p:cNvSpPr/>
          <p:nvPr/>
        </p:nvSpPr>
        <p:spPr>
          <a:xfrm>
            <a:off x="8469401" y="6766560"/>
            <a:ext cx="1143000" cy="937260"/>
          </a:xfrm>
          <a:prstGeom prst="can">
            <a:avLst>
              <a:gd name="adj" fmla="val 13000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500" dirty="0"/>
          </a:p>
        </p:txBody>
      </p:sp>
      <p:cxnSp>
        <p:nvCxnSpPr>
          <p:cNvPr id="34" name="連接線"/>
          <p:cNvCxnSpPr>
            <a:stCxn id="24" idx="2"/>
            <a:endCxn id="33" idx="0"/>
          </p:cNvCxnSpPr>
          <p:nvPr/>
        </p:nvCxnSpPr>
        <p:spPr>
          <a:xfrm>
            <a:off x="9040901" y="6275070"/>
            <a:ext cx="0" cy="491490"/>
          </a:xfrm>
          <a:prstGeom prst="straightConnector1">
            <a:avLst/>
          </a:prstGeom>
          <a:ln w="31750">
            <a:solidFill>
              <a:srgbClr val="3A3A3A"/>
            </a:solidFill>
            <a:prstDash val="sysDash"/>
            <a:headEnd type="triangle"/>
            <a:tailEnd type="triangle"/>
          </a:ln>
        </p:spPr>
      </p:cxnSp>
      <p:cxnSp>
        <p:nvCxnSpPr>
          <p:cNvPr id="35" name="連接線"/>
          <p:cNvCxnSpPr>
            <a:stCxn id="23" idx="2"/>
            <a:endCxn id="22" idx="4"/>
          </p:cNvCxnSpPr>
          <p:nvPr/>
        </p:nvCxnSpPr>
        <p:spPr>
          <a:xfrm rot="5400000" flipH="1">
            <a:off x="5057661" y="5031143"/>
            <a:ext cx="182880" cy="2670734"/>
          </a:xfrm>
          <a:prstGeom prst="bentConnector3">
            <a:avLst>
              <a:gd name="adj1" fmla="val -468750"/>
            </a:avLst>
          </a:prstGeom>
          <a:ln w="31750">
            <a:solidFill>
              <a:srgbClr val="3A3A3A"/>
            </a:solidFill>
            <a:prstDash val="solid"/>
            <a:tailEnd type="triangle"/>
          </a:ln>
        </p:spPr>
      </p:cxnSp>
      <p:sp>
        <p:nvSpPr>
          <p:cNvPr id="36" name="Text 34"/>
          <p:cNvSpPr/>
          <p:nvPr/>
        </p:nvSpPr>
        <p:spPr>
          <a:xfrm>
            <a:off x="6598768" y="6595110"/>
            <a:ext cx="57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/ 13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5720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結構元件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3190240" y="1066800"/>
            <a:ext cx="182880" cy="18288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2573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樹狀分支、十字矩陣與半透明寬欄條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571500" cy="68580"/>
          </a:xfrm>
          <a:prstGeom prst="rect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34886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37260" y="2228850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 Tree</a:t>
            </a:r>
            <a:endParaRPr lang="en-US" sz="1650" dirty="0"/>
          </a:p>
        </p:txBody>
      </p:sp>
      <p:sp>
        <p:nvSpPr>
          <p:cNvPr id="8" name="線條"/>
          <p:cNvSpPr/>
          <p:nvPr/>
        </p:nvSpPr>
        <p:spPr>
          <a:xfrm>
            <a:off x="685800" y="2708910"/>
            <a:ext cx="65151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9" name="處理"/>
          <p:cNvSpPr/>
          <p:nvPr/>
        </p:nvSpPr>
        <p:spPr>
          <a:xfrm>
            <a:off x="685800" y="4743450"/>
            <a:ext cx="937260" cy="5715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endParaRPr lang="en-US" sz="1650" dirty="0"/>
          </a:p>
        </p:txBody>
      </p:sp>
      <p:sp>
        <p:nvSpPr>
          <p:cNvPr id="10" name="處理"/>
          <p:cNvSpPr/>
          <p:nvPr/>
        </p:nvSpPr>
        <p:spPr>
          <a:xfrm>
            <a:off x="2343150" y="3829050"/>
            <a:ext cx="1051560" cy="5715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分支一</a:t>
            </a:r>
            <a:endParaRPr lang="en-US" sz="1500" dirty="0"/>
          </a:p>
        </p:txBody>
      </p:sp>
      <p:sp>
        <p:nvSpPr>
          <p:cNvPr id="11" name="處理"/>
          <p:cNvSpPr/>
          <p:nvPr/>
        </p:nvSpPr>
        <p:spPr>
          <a:xfrm>
            <a:off x="2343150" y="5657850"/>
            <a:ext cx="1051560" cy="5715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分支二</a:t>
            </a:r>
            <a:endParaRPr lang="en-US" sz="1500" dirty="0"/>
          </a:p>
        </p:txBody>
      </p:sp>
      <p:sp>
        <p:nvSpPr>
          <p:cNvPr id="12" name="處理"/>
          <p:cNvSpPr/>
          <p:nvPr/>
        </p:nvSpPr>
        <p:spPr>
          <a:xfrm>
            <a:off x="4114800" y="4743450"/>
            <a:ext cx="937260" cy="571500"/>
          </a:xfrm>
          <a:prstGeom prst="roundRect">
            <a:avLst>
              <a:gd name="adj" fmla="val 10000"/>
            </a:avLst>
          </a:prstGeom>
          <a:solidFill>
            <a:srgbClr val="3A3A3A"/>
          </a:solidFill>
          <a:ln/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650" dirty="0"/>
          </a:p>
        </p:txBody>
      </p:sp>
      <p:sp>
        <p:nvSpPr>
          <p:cNvPr id="13" name="處理"/>
          <p:cNvSpPr/>
          <p:nvPr/>
        </p:nvSpPr>
        <p:spPr>
          <a:xfrm>
            <a:off x="5772150" y="3257550"/>
            <a:ext cx="1428750" cy="5715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A</a:t>
            </a:r>
            <a:endParaRPr lang="en-US" sz="1500" dirty="0"/>
          </a:p>
        </p:txBody>
      </p:sp>
      <p:sp>
        <p:nvSpPr>
          <p:cNvPr id="14" name="處理"/>
          <p:cNvSpPr/>
          <p:nvPr/>
        </p:nvSpPr>
        <p:spPr>
          <a:xfrm>
            <a:off x="5772150" y="4743450"/>
            <a:ext cx="1428750" cy="5715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B</a:t>
            </a:r>
            <a:endParaRPr lang="en-US" sz="1500" dirty="0"/>
          </a:p>
        </p:txBody>
      </p:sp>
      <p:sp>
        <p:nvSpPr>
          <p:cNvPr id="15" name="處理"/>
          <p:cNvSpPr/>
          <p:nvPr/>
        </p:nvSpPr>
        <p:spPr>
          <a:xfrm>
            <a:off x="5772150" y="6229350"/>
            <a:ext cx="1428750" cy="5715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C</a:t>
            </a:r>
            <a:endParaRPr lang="en-US" sz="1500" dirty="0"/>
          </a:p>
        </p:txBody>
      </p:sp>
      <p:sp>
        <p:nvSpPr>
          <p:cNvPr id="16" name="連接線"/>
          <p:cNvSpPr/>
          <p:nvPr/>
        </p:nvSpPr>
        <p:spPr>
          <a:xfrm>
            <a:off x="1691640" y="41148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914400"/>
                </a:moveTo>
                <a:lnTo>
                  <a:pt x="291465" y="914400"/>
                </a:lnTo>
                <a:lnTo>
                  <a:pt x="291465" y="0"/>
                </a:lnTo>
                <a:lnTo>
                  <a:pt x="582930" y="0"/>
                </a:lnTo>
              </a:path>
            </a:pathLst>
          </a:custGeom>
          <a:ln w="3175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連接線"/>
          <p:cNvSpPr/>
          <p:nvPr/>
        </p:nvSpPr>
        <p:spPr>
          <a:xfrm>
            <a:off x="1691640" y="50292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0"/>
                </a:moveTo>
                <a:lnTo>
                  <a:pt x="291465" y="0"/>
                </a:lnTo>
                <a:lnTo>
                  <a:pt x="291465" y="914400"/>
                </a:lnTo>
                <a:lnTo>
                  <a:pt x="582930" y="914400"/>
                </a:lnTo>
              </a:path>
            </a:pathLst>
          </a:custGeom>
          <a:ln w="3175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連接線"/>
          <p:cNvSpPr/>
          <p:nvPr/>
        </p:nvSpPr>
        <p:spPr>
          <a:xfrm>
            <a:off x="3463290" y="41148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0"/>
                </a:moveTo>
                <a:lnTo>
                  <a:pt x="291465" y="0"/>
                </a:lnTo>
                <a:lnTo>
                  <a:pt x="291465" y="914400"/>
                </a:lnTo>
                <a:lnTo>
                  <a:pt x="582930" y="914400"/>
                </a:lnTo>
              </a:path>
            </a:pathLst>
          </a:custGeom>
          <a:ln w="3175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連接線"/>
          <p:cNvSpPr/>
          <p:nvPr/>
        </p:nvSpPr>
        <p:spPr>
          <a:xfrm>
            <a:off x="3463290" y="50292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914400"/>
                </a:moveTo>
                <a:lnTo>
                  <a:pt x="291465" y="914400"/>
                </a:lnTo>
                <a:lnTo>
                  <a:pt x="291465" y="0"/>
                </a:lnTo>
                <a:lnTo>
                  <a:pt x="582930" y="0"/>
                </a:lnTo>
              </a:path>
            </a:pathLst>
          </a:custGeom>
          <a:ln w="3175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連接線"/>
          <p:cNvSpPr/>
          <p:nvPr/>
        </p:nvSpPr>
        <p:spPr>
          <a:xfrm>
            <a:off x="5120640" y="3543300"/>
            <a:ext cx="582930" cy="1485900"/>
          </a:xfrm>
          <a:custGeom>
            <a:avLst/>
            <a:gdLst/>
            <a:ahLst/>
            <a:cxnLst/>
            <a:rect l="l" t="t" r="r" b="b"/>
            <a:pathLst>
              <a:path w="582930" h="1485900">
                <a:moveTo>
                  <a:pt x="0" y="1485900"/>
                </a:moveTo>
                <a:lnTo>
                  <a:pt x="291465" y="1485900"/>
                </a:lnTo>
                <a:lnTo>
                  <a:pt x="291465" y="0"/>
                </a:lnTo>
                <a:lnTo>
                  <a:pt x="582930" y="0"/>
                </a:lnTo>
              </a:path>
            </a:pathLst>
          </a:custGeom>
          <a:ln w="3175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線條"/>
          <p:cNvSpPr/>
          <p:nvPr/>
        </p:nvSpPr>
        <p:spPr>
          <a:xfrm>
            <a:off x="5120640" y="5029200"/>
            <a:ext cx="582930" cy="0"/>
          </a:xfrm>
          <a:prstGeom prst="line">
            <a:avLst/>
          </a:prstGeom>
          <a:noFill/>
          <a:ln w="3175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22" name="連接線"/>
          <p:cNvSpPr/>
          <p:nvPr/>
        </p:nvSpPr>
        <p:spPr>
          <a:xfrm>
            <a:off x="5120640" y="5029200"/>
            <a:ext cx="582930" cy="1485900"/>
          </a:xfrm>
          <a:custGeom>
            <a:avLst/>
            <a:gdLst/>
            <a:ahLst/>
            <a:cxnLst/>
            <a:rect l="l" t="t" r="r" b="b"/>
            <a:pathLst>
              <a:path w="582930" h="1485900">
                <a:moveTo>
                  <a:pt x="0" y="0"/>
                </a:moveTo>
                <a:lnTo>
                  <a:pt x="291465" y="0"/>
                </a:lnTo>
                <a:lnTo>
                  <a:pt x="291465" y="1485900"/>
                </a:lnTo>
                <a:lnTo>
                  <a:pt x="582930" y="1485900"/>
                </a:lnTo>
              </a:path>
            </a:pathLst>
          </a:custGeom>
          <a:ln w="3175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715250" y="234886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966710" y="2228850"/>
            <a:ext cx="31203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十字矩陣 2×2</a:t>
            </a:r>
            <a:endParaRPr lang="en-US" sz="1650" dirty="0"/>
          </a:p>
        </p:txBody>
      </p:sp>
      <p:sp>
        <p:nvSpPr>
          <p:cNvPr id="25" name="線條"/>
          <p:cNvSpPr/>
          <p:nvPr/>
        </p:nvSpPr>
        <p:spPr>
          <a:xfrm>
            <a:off x="7715250" y="2708910"/>
            <a:ext cx="337185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6" name="線條"/>
          <p:cNvSpPr/>
          <p:nvPr/>
        </p:nvSpPr>
        <p:spPr>
          <a:xfrm>
            <a:off x="8195310" y="5029200"/>
            <a:ext cx="241173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7" name="線條"/>
          <p:cNvSpPr/>
          <p:nvPr/>
        </p:nvSpPr>
        <p:spPr>
          <a:xfrm>
            <a:off x="9401175" y="3371850"/>
            <a:ext cx="0" cy="331470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8" name="中心圓"/>
          <p:cNvSpPr/>
          <p:nvPr/>
        </p:nvSpPr>
        <p:spPr>
          <a:xfrm>
            <a:off x="8875395" y="4503420"/>
            <a:ext cx="1051560" cy="1051560"/>
          </a:xfrm>
          <a:prstGeom prst="ellipse">
            <a:avLst/>
          </a:prstGeom>
          <a:solidFill>
            <a:srgbClr val="3A3A3A"/>
          </a:solidFill>
          <a:ln w="317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15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1500" dirty="0"/>
          </a:p>
        </p:txBody>
      </p:sp>
      <p:sp>
        <p:nvSpPr>
          <p:cNvPr id="29" name="標籤"/>
          <p:cNvSpPr/>
          <p:nvPr/>
        </p:nvSpPr>
        <p:spPr>
          <a:xfrm>
            <a:off x="8055451" y="4034790"/>
            <a:ext cx="908368" cy="3429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  <p:txBody>
          <a:bodyPr wrap="square" lIns="315976" tIns="0" rIns="89154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吸引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04041" y="4162584"/>
            <a:ext cx="87313" cy="87313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標籤"/>
          <p:cNvSpPr/>
          <p:nvPr/>
        </p:nvSpPr>
        <p:spPr>
          <a:xfrm>
            <a:off x="9838531" y="4034790"/>
            <a:ext cx="908368" cy="342900"/>
          </a:xfrm>
          <a:prstGeom prst="roundRect">
            <a:avLst>
              <a:gd name="adj" fmla="val 10000"/>
            </a:avLst>
          </a:prstGeom>
          <a:solidFill>
            <a:srgbClr val="3A3A3A"/>
          </a:solidFill>
          <a:ln/>
        </p:spPr>
        <p:txBody>
          <a:bodyPr wrap="square" lIns="315976" tIns="0" rIns="89154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987121" y="4162584"/>
            <a:ext cx="87313" cy="87313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標籤"/>
          <p:cNvSpPr/>
          <p:nvPr/>
        </p:nvSpPr>
        <p:spPr>
          <a:xfrm>
            <a:off x="8055451" y="5680710"/>
            <a:ext cx="908368" cy="3429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  <p:txBody>
          <a:bodyPr wrap="square" lIns="315976" tIns="0" rIns="89154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好記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04041" y="5808504"/>
            <a:ext cx="87313" cy="87313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標籤"/>
          <p:cNvSpPr/>
          <p:nvPr/>
        </p:nvSpPr>
        <p:spPr>
          <a:xfrm>
            <a:off x="9838531" y="5680710"/>
            <a:ext cx="908368" cy="3429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  <p:txBody>
          <a:bodyPr wrap="square" lIns="315976" tIns="0" rIns="89154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987121" y="5808504"/>
            <a:ext cx="87313" cy="87313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715375" y="2971800"/>
            <a:ext cx="1371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715375" y="6743700"/>
            <a:ext cx="1371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658100" y="4857750"/>
            <a:ext cx="514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感性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629900" y="4857750"/>
            <a:ext cx="514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544300" y="2348865"/>
            <a:ext cx="125730" cy="12573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1795760" y="2228850"/>
            <a:ext cx="27580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寬欄透明條 Columns</a:t>
            </a:r>
            <a:endParaRPr lang="en-US" sz="1650" dirty="0"/>
          </a:p>
        </p:txBody>
      </p:sp>
      <p:sp>
        <p:nvSpPr>
          <p:cNvPr id="43" name="線條"/>
          <p:cNvSpPr/>
          <p:nvPr/>
        </p:nvSpPr>
        <p:spPr>
          <a:xfrm>
            <a:off x="11544300" y="2708910"/>
            <a:ext cx="30095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458700" y="2857500"/>
            <a:ext cx="11658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3430250" y="2857500"/>
            <a:ext cx="11658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400" dirty="0"/>
          </a:p>
        </p:txBody>
      </p:sp>
      <p:sp>
        <p:nvSpPr>
          <p:cNvPr id="46" name="寬欄條"/>
          <p:cNvSpPr/>
          <p:nvPr/>
        </p:nvSpPr>
        <p:spPr>
          <a:xfrm>
            <a:off x="12687300" y="3257550"/>
            <a:ext cx="708660" cy="3886200"/>
          </a:xfrm>
          <a:prstGeom prst="roundRect">
            <a:avLst>
              <a:gd name="adj" fmla="val 8065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寬欄條"/>
          <p:cNvSpPr/>
          <p:nvPr/>
        </p:nvSpPr>
        <p:spPr>
          <a:xfrm>
            <a:off x="13658850" y="3257550"/>
            <a:ext cx="708660" cy="3886200"/>
          </a:xfrm>
          <a:prstGeom prst="roundRect">
            <a:avLst>
              <a:gd name="adj" fmla="val 8065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1544300" y="3806190"/>
            <a:ext cx="10287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1400" dirty="0"/>
          </a:p>
        </p:txBody>
      </p:sp>
      <p:sp>
        <p:nvSpPr>
          <p:cNvPr id="49" name="編號"/>
          <p:cNvSpPr/>
          <p:nvPr/>
        </p:nvSpPr>
        <p:spPr>
          <a:xfrm>
            <a:off x="12778740" y="3737610"/>
            <a:ext cx="525780" cy="52578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650" dirty="0"/>
          </a:p>
        </p:txBody>
      </p:sp>
      <p:sp>
        <p:nvSpPr>
          <p:cNvPr id="50" name="編號"/>
          <p:cNvSpPr/>
          <p:nvPr/>
        </p:nvSpPr>
        <p:spPr>
          <a:xfrm>
            <a:off x="13750290" y="3737610"/>
            <a:ext cx="525780" cy="52578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1544300" y="5006340"/>
            <a:ext cx="10287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1400" dirty="0"/>
          </a:p>
        </p:txBody>
      </p:sp>
      <p:sp>
        <p:nvSpPr>
          <p:cNvPr id="52" name="編號"/>
          <p:cNvSpPr/>
          <p:nvPr/>
        </p:nvSpPr>
        <p:spPr>
          <a:xfrm>
            <a:off x="12778740" y="4937760"/>
            <a:ext cx="525780" cy="52578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650" dirty="0"/>
          </a:p>
        </p:txBody>
      </p:sp>
      <p:sp>
        <p:nvSpPr>
          <p:cNvPr id="53" name="編號"/>
          <p:cNvSpPr/>
          <p:nvPr/>
        </p:nvSpPr>
        <p:spPr>
          <a:xfrm>
            <a:off x="13750290" y="4937760"/>
            <a:ext cx="525780" cy="52578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11544300" y="6206490"/>
            <a:ext cx="10287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1400" dirty="0"/>
          </a:p>
        </p:txBody>
      </p:sp>
      <p:sp>
        <p:nvSpPr>
          <p:cNvPr id="55" name="編號"/>
          <p:cNvSpPr/>
          <p:nvPr/>
        </p:nvSpPr>
        <p:spPr>
          <a:xfrm>
            <a:off x="12778740" y="6137910"/>
            <a:ext cx="525780" cy="52578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650" dirty="0"/>
          </a:p>
        </p:txBody>
      </p:sp>
      <p:sp>
        <p:nvSpPr>
          <p:cNvPr id="56" name="編號"/>
          <p:cNvSpPr/>
          <p:nvPr/>
        </p:nvSpPr>
        <p:spPr>
          <a:xfrm>
            <a:off x="13750290" y="6137910"/>
            <a:ext cx="525780" cy="52578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650" dirty="0"/>
          </a:p>
        </p:txBody>
      </p:sp>
      <p:sp>
        <p:nvSpPr>
          <p:cNvPr id="57" name="Text 55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13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5720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高效溝通：讓想法被看見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7412990" y="1066800"/>
            <a:ext cx="182880" cy="18288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2573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關鍵在於把資訊整理成對方能理解的結構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571500" cy="68580"/>
          </a:xfrm>
          <a:prstGeom prst="rect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大圓"/>
          <p:cNvSpPr/>
          <p:nvPr/>
        </p:nvSpPr>
        <p:spPr>
          <a:xfrm>
            <a:off x="1511237" y="2286000"/>
            <a:ext cx="2971800" cy="2971800"/>
          </a:xfrm>
          <a:prstGeom prst="ellipse">
            <a:avLst/>
          </a:prstGeom>
          <a:solidFill>
            <a:srgbClr val="FFFFFF"/>
          </a:solidFill>
          <a:ln w="43688">
            <a:solidFill>
              <a:srgbClr val="3A3A3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511237" y="2672334"/>
            <a:ext cx="2971800" cy="921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1808417" y="3623310"/>
            <a:ext cx="23774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為何要重視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溝通品質</a:t>
            </a:r>
            <a:endParaRPr lang="en-US" sz="1900" dirty="0"/>
          </a:p>
        </p:txBody>
      </p:sp>
      <p:sp>
        <p:nvSpPr>
          <p:cNvPr id="9" name="大圓"/>
          <p:cNvSpPr/>
          <p:nvPr/>
        </p:nvSpPr>
        <p:spPr>
          <a:xfrm>
            <a:off x="6133910" y="2286000"/>
            <a:ext cx="2971800" cy="2971800"/>
          </a:xfrm>
          <a:prstGeom prst="ellipse">
            <a:avLst/>
          </a:prstGeom>
          <a:solidFill>
            <a:srgbClr val="FFFFFF"/>
          </a:solidFill>
          <a:ln w="43688">
            <a:solidFill>
              <a:srgbClr val="3A3A3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33910" y="2672334"/>
            <a:ext cx="2971800" cy="921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4900" dirty="0"/>
          </a:p>
        </p:txBody>
      </p:sp>
      <p:sp>
        <p:nvSpPr>
          <p:cNvPr id="11" name="Text 9"/>
          <p:cNvSpPr/>
          <p:nvPr/>
        </p:nvSpPr>
        <p:spPr>
          <a:xfrm>
            <a:off x="6431090" y="3623310"/>
            <a:ext cx="23774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溝通的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900" dirty="0"/>
          </a:p>
        </p:txBody>
      </p:sp>
      <p:sp>
        <p:nvSpPr>
          <p:cNvPr id="12" name="大圓"/>
          <p:cNvSpPr/>
          <p:nvPr/>
        </p:nvSpPr>
        <p:spPr>
          <a:xfrm>
            <a:off x="10756582" y="2286000"/>
            <a:ext cx="2971800" cy="2971800"/>
          </a:xfrm>
          <a:prstGeom prst="ellipse">
            <a:avLst/>
          </a:prstGeom>
          <a:solidFill>
            <a:srgbClr val="FFFFFF"/>
          </a:solidFill>
          <a:ln w="43688">
            <a:solidFill>
              <a:srgbClr val="3A3A3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756582" y="2672334"/>
            <a:ext cx="2971800" cy="921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</a:t>
            </a:r>
            <a:endParaRPr lang="en-US" sz="4900" dirty="0"/>
          </a:p>
        </p:txBody>
      </p:sp>
      <p:sp>
        <p:nvSpPr>
          <p:cNvPr id="14" name="Text 12"/>
          <p:cNvSpPr/>
          <p:nvPr/>
        </p:nvSpPr>
        <p:spPr>
          <a:xfrm>
            <a:off x="11053763" y="3623310"/>
            <a:ext cx="23774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呈現的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三個層次</a:t>
            </a:r>
            <a:endParaRPr lang="en-US" sz="1900" dirty="0"/>
          </a:p>
        </p:txBody>
      </p:sp>
      <p:sp>
        <p:nvSpPr>
          <p:cNvPr id="15" name="分隔"/>
          <p:cNvSpPr/>
          <p:nvPr/>
        </p:nvSpPr>
        <p:spPr>
          <a:xfrm>
            <a:off x="5171313" y="3566160"/>
            <a:ext cx="274320" cy="411480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分隔"/>
          <p:cNvSpPr/>
          <p:nvPr/>
        </p:nvSpPr>
        <p:spPr>
          <a:xfrm>
            <a:off x="9793986" y="3566160"/>
            <a:ext cx="274320" cy="411480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小圓"/>
          <p:cNvSpPr/>
          <p:nvPr/>
        </p:nvSpPr>
        <p:spPr>
          <a:xfrm>
            <a:off x="5975917" y="4208937"/>
            <a:ext cx="914400" cy="91440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2000" dirty="0"/>
          </a:p>
        </p:txBody>
      </p:sp>
      <p:sp>
        <p:nvSpPr>
          <p:cNvPr id="18" name="小圓"/>
          <p:cNvSpPr/>
          <p:nvPr/>
        </p:nvSpPr>
        <p:spPr>
          <a:xfrm>
            <a:off x="7162610" y="4800600"/>
            <a:ext cx="914400" cy="91440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2000" dirty="0"/>
          </a:p>
        </p:txBody>
      </p:sp>
      <p:sp>
        <p:nvSpPr>
          <p:cNvPr id="19" name="小圓"/>
          <p:cNvSpPr/>
          <p:nvPr/>
        </p:nvSpPr>
        <p:spPr>
          <a:xfrm>
            <a:off x="8349302" y="4208937"/>
            <a:ext cx="914400" cy="91440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953057" y="5886450"/>
            <a:ext cx="108585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蒐集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篩選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歸納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139750" y="5886450"/>
            <a:ext cx="108585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比較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連結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326442" y="5886450"/>
            <a:ext cx="108585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聚焦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排序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呈現</a:t>
            </a:r>
            <a:endParaRPr lang="en-US" sz="1450" dirty="0"/>
          </a:p>
        </p:txBody>
      </p:sp>
      <p:sp>
        <p:nvSpPr>
          <p:cNvPr id="23" name="標籤"/>
          <p:cNvSpPr/>
          <p:nvPr/>
        </p:nvSpPr>
        <p:spPr>
          <a:xfrm>
            <a:off x="1682687" y="5715000"/>
            <a:ext cx="2628900" cy="480060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/>
        </p:spPr>
        <p:txBody>
          <a:bodyPr wrap="square" lIns="384810" tIns="0" rIns="121031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節省理解時間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884312" y="5903436"/>
            <a:ext cx="103188" cy="103188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標籤"/>
          <p:cNvSpPr/>
          <p:nvPr/>
        </p:nvSpPr>
        <p:spPr>
          <a:xfrm>
            <a:off x="1682687" y="6343650"/>
            <a:ext cx="2628900" cy="480060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/>
        </p:spPr>
        <p:txBody>
          <a:bodyPr wrap="square" lIns="384810" tIns="0" rIns="121031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對齊彼此認知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884312" y="6532086"/>
            <a:ext cx="103188" cy="103188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標籤"/>
          <p:cNvSpPr/>
          <p:nvPr/>
        </p:nvSpPr>
        <p:spPr>
          <a:xfrm>
            <a:off x="1682687" y="6972300"/>
            <a:ext cx="2628900" cy="480060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/>
        </p:spPr>
        <p:txBody>
          <a:bodyPr wrap="square" lIns="384810" tIns="0" rIns="121031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884312" y="7160736"/>
            <a:ext cx="103188" cy="103188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標籤"/>
          <p:cNvSpPr/>
          <p:nvPr/>
        </p:nvSpPr>
        <p:spPr>
          <a:xfrm>
            <a:off x="10928033" y="5715000"/>
            <a:ext cx="2628900" cy="480060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/>
        </p:spPr>
        <p:txBody>
          <a:bodyPr wrap="square" lIns="384810" tIns="0" rIns="121031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1129658" y="5903436"/>
            <a:ext cx="103188" cy="103188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標籤"/>
          <p:cNvSpPr/>
          <p:nvPr/>
        </p:nvSpPr>
        <p:spPr>
          <a:xfrm>
            <a:off x="10928033" y="6343650"/>
            <a:ext cx="2628900" cy="480060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/>
        </p:spPr>
        <p:txBody>
          <a:bodyPr wrap="square" lIns="384810" tIns="0" rIns="121031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1129658" y="6532086"/>
            <a:ext cx="103188" cy="103188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標籤"/>
          <p:cNvSpPr/>
          <p:nvPr/>
        </p:nvSpPr>
        <p:spPr>
          <a:xfrm>
            <a:off x="10928033" y="6972300"/>
            <a:ext cx="2628900" cy="480060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/>
        </p:spPr>
        <p:txBody>
          <a:bodyPr wrap="square" lIns="384810" tIns="0" rIns="121031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洞見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1129658" y="7160736"/>
            <a:ext cx="103188" cy="103188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5800" y="7520940"/>
            <a:ext cx="138680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三個圓依序回答 Why／How／What，中間的小圓拆出方法，左右兩側以清單補充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13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5720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策略規劃框架地圖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5603240" y="1066800"/>
            <a:ext cx="182880" cy="18288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2573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從現況、課題到行動方案的思考路徑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571500" cy="68580"/>
          </a:xfrm>
          <a:prstGeom prst="rect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卡片"/>
          <p:cNvSpPr/>
          <p:nvPr/>
        </p:nvSpPr>
        <p:spPr>
          <a:xfrm>
            <a:off x="685800" y="4914900"/>
            <a:ext cx="2352980" cy="1051560"/>
          </a:xfrm>
          <a:prstGeom prst="roundRect">
            <a:avLst>
              <a:gd name="adj" fmla="val 5435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4914900"/>
            <a:ext cx="2352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Vision</a:t>
            </a:r>
            <a:endParaRPr lang="en-US" sz="1750" dirty="0"/>
          </a:p>
        </p:txBody>
      </p:sp>
      <p:sp>
        <p:nvSpPr>
          <p:cNvPr id="8" name="分隔"/>
          <p:cNvSpPr/>
          <p:nvPr/>
        </p:nvSpPr>
        <p:spPr>
          <a:xfrm>
            <a:off x="3187370" y="5269230"/>
            <a:ext cx="228600" cy="342900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卡片"/>
          <p:cNvSpPr/>
          <p:nvPr/>
        </p:nvSpPr>
        <p:spPr>
          <a:xfrm>
            <a:off x="3564560" y="4914900"/>
            <a:ext cx="2352980" cy="1051560"/>
          </a:xfrm>
          <a:prstGeom prst="roundRect">
            <a:avLst>
              <a:gd name="adj" fmla="val 5435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64560" y="4914900"/>
            <a:ext cx="2352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</a:t>
            </a:r>
            <a:endParaRPr lang="en-US" sz="1750" dirty="0"/>
          </a:p>
        </p:txBody>
      </p:sp>
      <p:sp>
        <p:nvSpPr>
          <p:cNvPr id="11" name="分隔"/>
          <p:cNvSpPr/>
          <p:nvPr/>
        </p:nvSpPr>
        <p:spPr>
          <a:xfrm>
            <a:off x="6066130" y="5269230"/>
            <a:ext cx="228600" cy="342900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重點卡片"/>
          <p:cNvSpPr/>
          <p:nvPr/>
        </p:nvSpPr>
        <p:spPr>
          <a:xfrm>
            <a:off x="6443320" y="4914900"/>
            <a:ext cx="2352980" cy="1051560"/>
          </a:xfrm>
          <a:prstGeom prst="roundRect">
            <a:avLst>
              <a:gd name="adj" fmla="val 5435"/>
            </a:avLst>
          </a:prstGeom>
          <a:solidFill>
            <a:srgbClr val="3A3A3A"/>
          </a:solidFill>
          <a:ln/>
        </p:spPr>
        <p:txBody>
          <a:bodyPr wrap="square" lIns="47625" tIns="47625" rIns="47625" bIns="47625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C4C4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Objective</a:t>
            </a:r>
            <a:endParaRPr lang="en-US" sz="1750" dirty="0"/>
          </a:p>
        </p:txBody>
      </p:sp>
      <p:sp>
        <p:nvSpPr>
          <p:cNvPr id="13" name="分隔"/>
          <p:cNvSpPr/>
          <p:nvPr/>
        </p:nvSpPr>
        <p:spPr>
          <a:xfrm>
            <a:off x="8944889" y="5269230"/>
            <a:ext cx="228600" cy="342900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卡片"/>
          <p:cNvSpPr/>
          <p:nvPr/>
        </p:nvSpPr>
        <p:spPr>
          <a:xfrm>
            <a:off x="9322079" y="4914900"/>
            <a:ext cx="2352980" cy="1051560"/>
          </a:xfrm>
          <a:prstGeom prst="roundRect">
            <a:avLst>
              <a:gd name="adj" fmla="val 5435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322079" y="4914900"/>
            <a:ext cx="2352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Strategy</a:t>
            </a:r>
            <a:endParaRPr lang="en-US" sz="1750" dirty="0"/>
          </a:p>
        </p:txBody>
      </p:sp>
      <p:sp>
        <p:nvSpPr>
          <p:cNvPr id="16" name="分隔"/>
          <p:cNvSpPr/>
          <p:nvPr/>
        </p:nvSpPr>
        <p:spPr>
          <a:xfrm>
            <a:off x="11823649" y="5269230"/>
            <a:ext cx="228600" cy="342900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卡片"/>
          <p:cNvSpPr/>
          <p:nvPr/>
        </p:nvSpPr>
        <p:spPr>
          <a:xfrm>
            <a:off x="12200839" y="4914900"/>
            <a:ext cx="2352980" cy="1051560"/>
          </a:xfrm>
          <a:prstGeom prst="roundRect">
            <a:avLst>
              <a:gd name="adj" fmla="val 5435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200839" y="4914900"/>
            <a:ext cx="2352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Tactic</a:t>
            </a:r>
            <a:endParaRPr lang="en-US" sz="1750" dirty="0"/>
          </a:p>
        </p:txBody>
      </p:sp>
      <p:sp>
        <p:nvSpPr>
          <p:cNvPr id="19" name="卡片"/>
          <p:cNvSpPr/>
          <p:nvPr/>
        </p:nvSpPr>
        <p:spPr>
          <a:xfrm>
            <a:off x="6443320" y="2286000"/>
            <a:ext cx="2352980" cy="1028700"/>
          </a:xfrm>
          <a:prstGeom prst="roundRect">
            <a:avLst>
              <a:gd name="adj" fmla="val 5556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43320" y="2286000"/>
            <a:ext cx="23529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Situation</a:t>
            </a:r>
            <a:endParaRPr lang="en-US" sz="1750" dirty="0"/>
          </a:p>
        </p:txBody>
      </p:sp>
      <p:sp>
        <p:nvSpPr>
          <p:cNvPr id="21" name="卡片"/>
          <p:cNvSpPr/>
          <p:nvPr/>
        </p:nvSpPr>
        <p:spPr>
          <a:xfrm>
            <a:off x="3335960" y="3486150"/>
            <a:ext cx="1929443" cy="822960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35960" y="3486150"/>
            <a:ext cx="19294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Problem</a:t>
            </a:r>
            <a:endParaRPr lang="en-US" sz="1750" dirty="0"/>
          </a:p>
        </p:txBody>
      </p:sp>
      <p:sp>
        <p:nvSpPr>
          <p:cNvPr id="23" name="卡片"/>
          <p:cNvSpPr/>
          <p:nvPr/>
        </p:nvSpPr>
        <p:spPr>
          <a:xfrm>
            <a:off x="9974216" y="3486150"/>
            <a:ext cx="1929443" cy="822960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974216" y="3486150"/>
            <a:ext cx="19294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課題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Question</a:t>
            </a:r>
            <a:endParaRPr lang="en-US" sz="1750" dirty="0"/>
          </a:p>
        </p:txBody>
      </p:sp>
      <p:sp>
        <p:nvSpPr>
          <p:cNvPr id="25" name="曲線箭頭"/>
          <p:cNvSpPr/>
          <p:nvPr/>
        </p:nvSpPr>
        <p:spPr>
          <a:xfrm>
            <a:off x="4300682" y="2800350"/>
            <a:ext cx="2051198" cy="617220"/>
          </a:xfrm>
          <a:custGeom>
            <a:avLst/>
            <a:gdLst/>
            <a:ahLst/>
            <a:cxnLst/>
            <a:rect l="l" t="t" r="r" b="b"/>
            <a:pathLst>
              <a:path w="2051198" h="617220">
                <a:moveTo>
                  <a:pt x="0" y="617220"/>
                </a:moveTo>
                <a:cubicBezTo>
                  <a:pt x="0" y="0"/>
                  <a:pt x="342900" y="0"/>
                  <a:pt x="2051198" y="0"/>
                </a:cubicBezTo>
              </a:path>
            </a:pathLst>
          </a:custGeom>
          <a:ln w="31750">
            <a:solidFill>
              <a:srgbClr val="3A3A3A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曲線箭頭"/>
          <p:cNvSpPr/>
          <p:nvPr/>
        </p:nvSpPr>
        <p:spPr>
          <a:xfrm>
            <a:off x="8887739" y="2800350"/>
            <a:ext cx="2051198" cy="617220"/>
          </a:xfrm>
          <a:custGeom>
            <a:avLst/>
            <a:gdLst/>
            <a:ahLst/>
            <a:cxnLst/>
            <a:rect l="l" t="t" r="r" b="b"/>
            <a:pathLst>
              <a:path w="2051198" h="617220">
                <a:moveTo>
                  <a:pt x="0" y="0"/>
                </a:moveTo>
                <a:cubicBezTo>
                  <a:pt x="1708298" y="0"/>
                  <a:pt x="2051198" y="0"/>
                  <a:pt x="2051198" y="617220"/>
                </a:cubicBezTo>
              </a:path>
            </a:pathLst>
          </a:custGeom>
          <a:ln w="31750">
            <a:solidFill>
              <a:srgbClr val="3A3A3A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線條"/>
          <p:cNvSpPr/>
          <p:nvPr/>
        </p:nvSpPr>
        <p:spPr>
          <a:xfrm>
            <a:off x="5356843" y="3897630"/>
            <a:ext cx="4525933" cy="0"/>
          </a:xfrm>
          <a:prstGeom prst="line">
            <a:avLst/>
          </a:prstGeom>
          <a:noFill/>
          <a:ln w="31750">
            <a:solidFill>
              <a:srgbClr val="A6A6A6"/>
            </a:solidFill>
            <a:prstDash val="sysDash"/>
            <a:headEnd type="triangle"/>
            <a:tailEnd type="triangle"/>
          </a:ln>
        </p:spPr>
      </p:sp>
      <p:sp>
        <p:nvSpPr>
          <p:cNvPr id="28" name="編號"/>
          <p:cNvSpPr/>
          <p:nvPr/>
        </p:nvSpPr>
        <p:spPr>
          <a:xfrm>
            <a:off x="685800" y="2331720"/>
            <a:ext cx="388620" cy="38862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400" dirty="0"/>
          </a:p>
        </p:txBody>
      </p:sp>
      <p:sp>
        <p:nvSpPr>
          <p:cNvPr id="29" name="編號"/>
          <p:cNvSpPr/>
          <p:nvPr/>
        </p:nvSpPr>
        <p:spPr>
          <a:xfrm>
            <a:off x="1154430" y="2331720"/>
            <a:ext cx="388620" cy="38862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400" dirty="0"/>
          </a:p>
        </p:txBody>
      </p:sp>
      <p:sp>
        <p:nvSpPr>
          <p:cNvPr id="30" name="標籤"/>
          <p:cNvSpPr/>
          <p:nvPr/>
        </p:nvSpPr>
        <p:spPr>
          <a:xfrm>
            <a:off x="1657350" y="2343150"/>
            <a:ext cx="1267676" cy="365760"/>
          </a:xfrm>
          <a:prstGeom prst="roundRect">
            <a:avLst>
              <a:gd name="adj" fmla="val 9375"/>
            </a:avLst>
          </a:prstGeom>
          <a:solidFill>
            <a:srgbClr val="3A3A3A"/>
          </a:solidFill>
          <a:ln/>
        </p:spPr>
        <p:txBody>
          <a:bodyPr wrap="square" lIns="320929" tIns="0" rIns="92202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810969" y="2482374"/>
            <a:ext cx="87313" cy="87313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編號"/>
          <p:cNvSpPr/>
          <p:nvPr/>
        </p:nvSpPr>
        <p:spPr>
          <a:xfrm>
            <a:off x="685800" y="2903220"/>
            <a:ext cx="388620" cy="38862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400" dirty="0"/>
          </a:p>
        </p:txBody>
      </p:sp>
      <p:sp>
        <p:nvSpPr>
          <p:cNvPr id="33" name="編號"/>
          <p:cNvSpPr/>
          <p:nvPr/>
        </p:nvSpPr>
        <p:spPr>
          <a:xfrm>
            <a:off x="1154430" y="2903220"/>
            <a:ext cx="388620" cy="38862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400" dirty="0"/>
          </a:p>
        </p:txBody>
      </p:sp>
      <p:sp>
        <p:nvSpPr>
          <p:cNvPr id="34" name="標籤"/>
          <p:cNvSpPr/>
          <p:nvPr/>
        </p:nvSpPr>
        <p:spPr>
          <a:xfrm>
            <a:off x="1657350" y="2914650"/>
            <a:ext cx="1267676" cy="365760"/>
          </a:xfrm>
          <a:prstGeom prst="roundRect">
            <a:avLst>
              <a:gd name="adj" fmla="val 9375"/>
            </a:avLst>
          </a:prstGeom>
          <a:solidFill>
            <a:srgbClr val="3A3A3A"/>
          </a:solidFill>
          <a:ln/>
        </p:spPr>
        <p:txBody>
          <a:bodyPr wrap="square" lIns="320929" tIns="0" rIns="92202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810969" y="3053874"/>
            <a:ext cx="87313" cy="87313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編號"/>
          <p:cNvSpPr/>
          <p:nvPr/>
        </p:nvSpPr>
        <p:spPr>
          <a:xfrm>
            <a:off x="12086539" y="2331720"/>
            <a:ext cx="388620" cy="38862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編號"/>
          <p:cNvSpPr/>
          <p:nvPr/>
        </p:nvSpPr>
        <p:spPr>
          <a:xfrm>
            <a:off x="12555169" y="2331720"/>
            <a:ext cx="388620" cy="38862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400" dirty="0"/>
          </a:p>
        </p:txBody>
      </p:sp>
      <p:sp>
        <p:nvSpPr>
          <p:cNvPr id="38" name="標籤"/>
          <p:cNvSpPr/>
          <p:nvPr/>
        </p:nvSpPr>
        <p:spPr>
          <a:xfrm>
            <a:off x="13058089" y="2343150"/>
            <a:ext cx="1267676" cy="365760"/>
          </a:xfrm>
          <a:prstGeom prst="roundRect">
            <a:avLst>
              <a:gd name="adj" fmla="val 9375"/>
            </a:avLst>
          </a:prstGeom>
          <a:solidFill>
            <a:srgbClr val="F2F2F2"/>
          </a:solidFill>
          <a:ln/>
        </p:spPr>
        <p:txBody>
          <a:bodyPr wrap="square" lIns="320929" tIns="0" rIns="92202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3211708" y="2482374"/>
            <a:ext cx="87313" cy="87313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編號"/>
          <p:cNvSpPr/>
          <p:nvPr/>
        </p:nvSpPr>
        <p:spPr>
          <a:xfrm>
            <a:off x="12086539" y="2903220"/>
            <a:ext cx="388620" cy="38862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400" dirty="0"/>
          </a:p>
        </p:txBody>
      </p:sp>
      <p:sp>
        <p:nvSpPr>
          <p:cNvPr id="41" name="編號"/>
          <p:cNvSpPr/>
          <p:nvPr/>
        </p:nvSpPr>
        <p:spPr>
          <a:xfrm>
            <a:off x="12555169" y="2903220"/>
            <a:ext cx="388620" cy="38862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標籤"/>
          <p:cNvSpPr/>
          <p:nvPr/>
        </p:nvSpPr>
        <p:spPr>
          <a:xfrm>
            <a:off x="13058089" y="2914650"/>
            <a:ext cx="1267676" cy="365760"/>
          </a:xfrm>
          <a:prstGeom prst="roundRect">
            <a:avLst>
              <a:gd name="adj" fmla="val 9375"/>
            </a:avLst>
          </a:prstGeom>
          <a:solidFill>
            <a:srgbClr val="F2F2F2"/>
          </a:solidFill>
          <a:ln/>
        </p:spPr>
        <p:txBody>
          <a:bodyPr wrap="square" lIns="320929" tIns="0" rIns="92202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規劃路徑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3211708" y="3053874"/>
            <a:ext cx="87313" cy="87313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卡片"/>
          <p:cNvSpPr/>
          <p:nvPr/>
        </p:nvSpPr>
        <p:spPr>
          <a:xfrm>
            <a:off x="685800" y="6343650"/>
            <a:ext cx="13868019" cy="6858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85800" y="6343650"/>
            <a:ext cx="138680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r>
              <a:rPr lang="en-US" sz="14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Organization</a:t>
            </a:r>
            <a:endParaRPr lang="en-US" sz="1750" dirty="0"/>
          </a:p>
        </p:txBody>
      </p:sp>
      <p:sp>
        <p:nvSpPr>
          <p:cNvPr id="46" name="編號"/>
          <p:cNvSpPr/>
          <p:nvPr/>
        </p:nvSpPr>
        <p:spPr>
          <a:xfrm>
            <a:off x="1299689" y="7269480"/>
            <a:ext cx="388620" cy="38862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400" dirty="0"/>
          </a:p>
        </p:txBody>
      </p:sp>
      <p:sp>
        <p:nvSpPr>
          <p:cNvPr id="47" name="編號"/>
          <p:cNvSpPr/>
          <p:nvPr/>
        </p:nvSpPr>
        <p:spPr>
          <a:xfrm>
            <a:off x="1768319" y="7269480"/>
            <a:ext cx="388620" cy="38862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400" dirty="0"/>
          </a:p>
        </p:txBody>
      </p:sp>
      <p:sp>
        <p:nvSpPr>
          <p:cNvPr id="48" name="標籤"/>
          <p:cNvSpPr/>
          <p:nvPr/>
        </p:nvSpPr>
        <p:spPr>
          <a:xfrm>
            <a:off x="2271239" y="7280910"/>
            <a:ext cx="1267676" cy="365760"/>
          </a:xfrm>
          <a:prstGeom prst="roundRect">
            <a:avLst>
              <a:gd name="adj" fmla="val 9375"/>
            </a:avLst>
          </a:prstGeom>
          <a:solidFill>
            <a:srgbClr val="3A3A3A"/>
          </a:solidFill>
          <a:ln/>
        </p:spPr>
        <p:txBody>
          <a:bodyPr wrap="square" lIns="320929" tIns="0" rIns="92202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凝聚共識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2424859" y="7420134"/>
            <a:ext cx="87313" cy="87313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編號"/>
          <p:cNvSpPr/>
          <p:nvPr/>
        </p:nvSpPr>
        <p:spPr>
          <a:xfrm>
            <a:off x="4766694" y="7269480"/>
            <a:ext cx="388620" cy="38862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400" dirty="0"/>
          </a:p>
        </p:txBody>
      </p:sp>
      <p:sp>
        <p:nvSpPr>
          <p:cNvPr id="51" name="編號"/>
          <p:cNvSpPr/>
          <p:nvPr/>
        </p:nvSpPr>
        <p:spPr>
          <a:xfrm>
            <a:off x="5235324" y="7269480"/>
            <a:ext cx="388620" cy="38862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400" dirty="0"/>
          </a:p>
        </p:txBody>
      </p:sp>
      <p:sp>
        <p:nvSpPr>
          <p:cNvPr id="52" name="標籤"/>
          <p:cNvSpPr/>
          <p:nvPr/>
        </p:nvSpPr>
        <p:spPr>
          <a:xfrm>
            <a:off x="5738244" y="7280910"/>
            <a:ext cx="1267676" cy="365760"/>
          </a:xfrm>
          <a:prstGeom prst="roundRect">
            <a:avLst>
              <a:gd name="adj" fmla="val 9375"/>
            </a:avLst>
          </a:prstGeom>
          <a:solidFill>
            <a:srgbClr val="F2F2F2"/>
          </a:solidFill>
          <a:ln/>
        </p:spPr>
        <p:txBody>
          <a:bodyPr wrap="square" lIns="320929" tIns="0" rIns="92202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提升能力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891863" y="7420134"/>
            <a:ext cx="87313" cy="87313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編號"/>
          <p:cNvSpPr/>
          <p:nvPr/>
        </p:nvSpPr>
        <p:spPr>
          <a:xfrm>
            <a:off x="8468014" y="7269480"/>
            <a:ext cx="388620" cy="38862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400" dirty="0"/>
          </a:p>
        </p:txBody>
      </p:sp>
      <p:sp>
        <p:nvSpPr>
          <p:cNvPr id="55" name="標籤"/>
          <p:cNvSpPr/>
          <p:nvPr/>
        </p:nvSpPr>
        <p:spPr>
          <a:xfrm>
            <a:off x="8970934" y="7280910"/>
            <a:ext cx="1267676" cy="365760"/>
          </a:xfrm>
          <a:prstGeom prst="roundRect">
            <a:avLst>
              <a:gd name="adj" fmla="val 9375"/>
            </a:avLst>
          </a:prstGeom>
          <a:solidFill>
            <a:srgbClr val="3A3A3A"/>
          </a:solidFill>
          <a:ln/>
        </p:spPr>
        <p:txBody>
          <a:bodyPr wrap="square" lIns="320929" tIns="0" rIns="92202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9124553" y="7420134"/>
            <a:ext cx="87313" cy="87313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編號"/>
          <p:cNvSpPr/>
          <p:nvPr/>
        </p:nvSpPr>
        <p:spPr>
          <a:xfrm>
            <a:off x="11700704" y="7269480"/>
            <a:ext cx="388620" cy="38862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400" dirty="0"/>
          </a:p>
        </p:txBody>
      </p:sp>
      <p:sp>
        <p:nvSpPr>
          <p:cNvPr id="58" name="編號"/>
          <p:cNvSpPr/>
          <p:nvPr/>
        </p:nvSpPr>
        <p:spPr>
          <a:xfrm>
            <a:off x="12169334" y="7269480"/>
            <a:ext cx="388620" cy="38862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400" dirty="0"/>
          </a:p>
        </p:txBody>
      </p:sp>
      <p:sp>
        <p:nvSpPr>
          <p:cNvPr id="59" name="標籤"/>
          <p:cNvSpPr/>
          <p:nvPr/>
        </p:nvSpPr>
        <p:spPr>
          <a:xfrm>
            <a:off x="12672254" y="7280910"/>
            <a:ext cx="1267676" cy="365760"/>
          </a:xfrm>
          <a:prstGeom prst="roundRect">
            <a:avLst>
              <a:gd name="adj" fmla="val 9375"/>
            </a:avLst>
          </a:prstGeom>
          <a:solidFill>
            <a:srgbClr val="F2F2F2"/>
          </a:solidFill>
          <a:ln/>
        </p:spPr>
        <p:txBody>
          <a:bodyPr wrap="square" lIns="320929" tIns="0" rIns="92202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激勵動機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2825873" y="7420134"/>
            <a:ext cx="87313" cy="87313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13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5720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能力成長地圖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4396740" y="1066800"/>
            <a:ext cx="182880" cy="182880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2573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從個人特質到可遷移能力的三階段路徑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571500" cy="68580"/>
          </a:xfrm>
          <a:prstGeom prst="rect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漸隱箭頭"/>
          <p:cNvSpPr/>
          <p:nvPr/>
        </p:nvSpPr>
        <p:spPr>
          <a:xfrm>
            <a:off x="7172325" y="2914650"/>
            <a:ext cx="445770" cy="4202125"/>
          </a:xfrm>
          <a:prstGeom prst="rect">
            <a:avLst/>
          </a:prstGeom>
          <a:solidFill>
            <a:srgbClr val="F07F2D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漸隱箭頭"/>
          <p:cNvSpPr/>
          <p:nvPr/>
        </p:nvSpPr>
        <p:spPr>
          <a:xfrm>
            <a:off x="7172325" y="3613099"/>
            <a:ext cx="445770" cy="3503676"/>
          </a:xfrm>
          <a:prstGeom prst="rect">
            <a:avLst/>
          </a:prstGeom>
          <a:solidFill>
            <a:srgbClr val="F07F2D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漸隱箭頭"/>
          <p:cNvSpPr/>
          <p:nvPr/>
        </p:nvSpPr>
        <p:spPr>
          <a:xfrm>
            <a:off x="7172325" y="4311548"/>
            <a:ext cx="445770" cy="2805227"/>
          </a:xfrm>
          <a:prstGeom prst="rect">
            <a:avLst/>
          </a:prstGeom>
          <a:solidFill>
            <a:srgbClr val="F07F2D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漸隱箭頭"/>
          <p:cNvSpPr/>
          <p:nvPr/>
        </p:nvSpPr>
        <p:spPr>
          <a:xfrm>
            <a:off x="7172325" y="5009998"/>
            <a:ext cx="445770" cy="2106778"/>
          </a:xfrm>
          <a:prstGeom prst="rect">
            <a:avLst/>
          </a:prstGeom>
          <a:solidFill>
            <a:srgbClr val="F07F2D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漸隱箭頭"/>
          <p:cNvSpPr/>
          <p:nvPr/>
        </p:nvSpPr>
        <p:spPr>
          <a:xfrm>
            <a:off x="7172325" y="5708447"/>
            <a:ext cx="445770" cy="1408328"/>
          </a:xfrm>
          <a:prstGeom prst="rect">
            <a:avLst/>
          </a:prstGeom>
          <a:solidFill>
            <a:srgbClr val="F07F2D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漸隱箭頭"/>
          <p:cNvSpPr/>
          <p:nvPr/>
        </p:nvSpPr>
        <p:spPr>
          <a:xfrm>
            <a:off x="7172325" y="6406896"/>
            <a:ext cx="445770" cy="709879"/>
          </a:xfrm>
          <a:prstGeom prst="rect">
            <a:avLst/>
          </a:prstGeom>
          <a:solidFill>
            <a:srgbClr val="F07F2D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漸隱箭頭"/>
          <p:cNvSpPr/>
          <p:nvPr/>
        </p:nvSpPr>
        <p:spPr>
          <a:xfrm>
            <a:off x="6949440" y="7105345"/>
            <a:ext cx="891540" cy="552755"/>
          </a:xfrm>
          <a:custGeom>
            <a:avLst/>
            <a:gdLst/>
            <a:ahLst/>
            <a:cxnLst/>
            <a:rect l="l" t="t" r="r" b="b"/>
            <a:pathLst>
              <a:path w="891540" h="552755">
                <a:moveTo>
                  <a:pt x="0" y="0"/>
                </a:moveTo>
                <a:lnTo>
                  <a:pt x="891540" y="0"/>
                </a:lnTo>
                <a:lnTo>
                  <a:pt x="445770" y="552755"/>
                </a:lnTo>
                <a:close/>
              </a:path>
            </a:pathLst>
          </a:custGeom>
          <a:solidFill>
            <a:srgbClr val="F07F2D">
              <a:alpha val="5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78140" y="7200900"/>
            <a:ext cx="14859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7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成長路徑</a:t>
            </a:r>
            <a:endParaRPr lang="en-US" sz="1500" dirty="0"/>
          </a:p>
        </p:txBody>
      </p:sp>
      <p:sp>
        <p:nvSpPr>
          <p:cNvPr id="14" name="處理"/>
          <p:cNvSpPr/>
          <p:nvPr/>
        </p:nvSpPr>
        <p:spPr>
          <a:xfrm>
            <a:off x="685800" y="4743450"/>
            <a:ext cx="1085850" cy="6858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71500" y="5520690"/>
            <a:ext cx="1314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個性、動機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與價值觀</a:t>
            </a:r>
            <a:endParaRPr lang="en-US" sz="1300" dirty="0"/>
          </a:p>
        </p:txBody>
      </p:sp>
      <p:sp>
        <p:nvSpPr>
          <p:cNvPr id="16" name="處理"/>
          <p:cNvSpPr/>
          <p:nvPr/>
        </p:nvSpPr>
        <p:spPr>
          <a:xfrm>
            <a:off x="2343150" y="3749040"/>
            <a:ext cx="1143000" cy="617220"/>
          </a:xfrm>
          <a:prstGeom prst="roundRect">
            <a:avLst>
              <a:gd name="adj" fmla="val 9259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750" dirty="0"/>
          </a:p>
        </p:txBody>
      </p:sp>
      <p:sp>
        <p:nvSpPr>
          <p:cNvPr id="17" name="處理"/>
          <p:cNvSpPr/>
          <p:nvPr/>
        </p:nvSpPr>
        <p:spPr>
          <a:xfrm>
            <a:off x="2343150" y="5806440"/>
            <a:ext cx="1143000" cy="617220"/>
          </a:xfrm>
          <a:prstGeom prst="roundRect">
            <a:avLst>
              <a:gd name="adj" fmla="val 9259"/>
            </a:avLst>
          </a:prstGeom>
          <a:solidFill>
            <a:srgbClr val="F2F2F2"/>
          </a:solidFill>
          <a:ln w="31750">
            <a:solidFill>
              <a:srgbClr val="3A3A3A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2286000" y="3429000"/>
            <a:ext cx="12573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知道是什麼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6469380"/>
            <a:ext cx="12573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知道怎麼做</a:t>
            </a:r>
            <a:endParaRPr lang="en-US" sz="1300" dirty="0"/>
          </a:p>
        </p:txBody>
      </p:sp>
      <p:sp>
        <p:nvSpPr>
          <p:cNvPr id="20" name="處理"/>
          <p:cNvSpPr/>
          <p:nvPr/>
        </p:nvSpPr>
        <p:spPr>
          <a:xfrm>
            <a:off x="4057650" y="4743450"/>
            <a:ext cx="1085850" cy="685800"/>
          </a:xfrm>
          <a:prstGeom prst="roundRect">
            <a:avLst>
              <a:gd name="adj" fmla="val 8333"/>
            </a:avLst>
          </a:prstGeom>
          <a:solidFill>
            <a:srgbClr val="3A3A3A"/>
          </a:solidFill>
          <a:ln/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3943350" y="5520690"/>
            <a:ext cx="131445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能產生價值</a:t>
            </a:r>
            <a:endParaRPr lang="en-US" sz="1300" dirty="0"/>
          </a:p>
        </p:txBody>
      </p:sp>
      <p:sp>
        <p:nvSpPr>
          <p:cNvPr id="22" name="連接線"/>
          <p:cNvSpPr/>
          <p:nvPr/>
        </p:nvSpPr>
        <p:spPr>
          <a:xfrm>
            <a:off x="1840230" y="40576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1028700"/>
                </a:moveTo>
                <a:lnTo>
                  <a:pt x="217170" y="1028700"/>
                </a:lnTo>
                <a:lnTo>
                  <a:pt x="217170" y="0"/>
                </a:lnTo>
                <a:lnTo>
                  <a:pt x="434340" y="0"/>
                </a:lnTo>
              </a:path>
            </a:pathLst>
          </a:custGeom>
          <a:ln w="3175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連接線"/>
          <p:cNvSpPr/>
          <p:nvPr/>
        </p:nvSpPr>
        <p:spPr>
          <a:xfrm>
            <a:off x="1840230" y="50863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0"/>
                </a:moveTo>
                <a:lnTo>
                  <a:pt x="217170" y="0"/>
                </a:lnTo>
                <a:lnTo>
                  <a:pt x="217170" y="1028700"/>
                </a:lnTo>
                <a:lnTo>
                  <a:pt x="434340" y="1028700"/>
                </a:lnTo>
              </a:path>
            </a:pathLst>
          </a:custGeom>
          <a:ln w="3175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連接線"/>
          <p:cNvSpPr/>
          <p:nvPr/>
        </p:nvSpPr>
        <p:spPr>
          <a:xfrm>
            <a:off x="3554730" y="40576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0"/>
                </a:moveTo>
                <a:lnTo>
                  <a:pt x="217170" y="0"/>
                </a:lnTo>
                <a:lnTo>
                  <a:pt x="217170" y="1028700"/>
                </a:lnTo>
                <a:lnTo>
                  <a:pt x="434340" y="1028700"/>
                </a:lnTo>
              </a:path>
            </a:pathLst>
          </a:custGeom>
          <a:ln w="3175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連接線"/>
          <p:cNvSpPr/>
          <p:nvPr/>
        </p:nvSpPr>
        <p:spPr>
          <a:xfrm>
            <a:off x="3554730" y="50863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1028700"/>
                </a:moveTo>
                <a:lnTo>
                  <a:pt x="217170" y="1028700"/>
                </a:lnTo>
                <a:lnTo>
                  <a:pt x="217170" y="0"/>
                </a:lnTo>
                <a:lnTo>
                  <a:pt x="434340" y="0"/>
                </a:lnTo>
              </a:path>
            </a:pathLst>
          </a:custGeom>
          <a:ln w="3175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連接線"/>
          <p:cNvSpPr/>
          <p:nvPr/>
        </p:nvSpPr>
        <p:spPr>
          <a:xfrm>
            <a:off x="5212080" y="3429000"/>
            <a:ext cx="720090" cy="1657350"/>
          </a:xfrm>
          <a:custGeom>
            <a:avLst/>
            <a:gdLst/>
            <a:ahLst/>
            <a:cxnLst/>
            <a:rect l="l" t="t" r="r" b="b"/>
            <a:pathLst>
              <a:path w="720090" h="1657350">
                <a:moveTo>
                  <a:pt x="0" y="1657350"/>
                </a:moveTo>
                <a:lnTo>
                  <a:pt x="360045" y="1657350"/>
                </a:lnTo>
                <a:lnTo>
                  <a:pt x="360045" y="0"/>
                </a:lnTo>
                <a:lnTo>
                  <a:pt x="720090" y="0"/>
                </a:lnTo>
              </a:path>
            </a:pathLst>
          </a:custGeom>
          <a:ln w="3175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線條"/>
          <p:cNvSpPr/>
          <p:nvPr/>
        </p:nvSpPr>
        <p:spPr>
          <a:xfrm>
            <a:off x="5212080" y="5086350"/>
            <a:ext cx="720090" cy="0"/>
          </a:xfrm>
          <a:prstGeom prst="line">
            <a:avLst/>
          </a:prstGeom>
          <a:noFill/>
          <a:ln w="3175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28" name="連接線"/>
          <p:cNvSpPr/>
          <p:nvPr/>
        </p:nvSpPr>
        <p:spPr>
          <a:xfrm>
            <a:off x="5212080" y="5086350"/>
            <a:ext cx="720090" cy="1657350"/>
          </a:xfrm>
          <a:custGeom>
            <a:avLst/>
            <a:gdLst/>
            <a:ahLst/>
            <a:cxnLst/>
            <a:rect l="l" t="t" r="r" b="b"/>
            <a:pathLst>
              <a:path w="720090" h="1657350">
                <a:moveTo>
                  <a:pt x="0" y="0"/>
                </a:moveTo>
                <a:lnTo>
                  <a:pt x="360045" y="0"/>
                </a:lnTo>
                <a:lnTo>
                  <a:pt x="360045" y="1657350"/>
                </a:lnTo>
                <a:lnTo>
                  <a:pt x="720090" y="1657350"/>
                </a:lnTo>
              </a:path>
            </a:pathLst>
          </a:custGeom>
          <a:ln w="3175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卡片"/>
          <p:cNvSpPr/>
          <p:nvPr/>
        </p:nvSpPr>
        <p:spPr>
          <a:xfrm>
            <a:off x="6000750" y="3017520"/>
            <a:ext cx="2286000" cy="822960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0075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執行實踐</a:t>
            </a:r>
            <a:endParaRPr lang="en-US" sz="2000" dirty="0"/>
          </a:p>
        </p:txBody>
      </p:sp>
      <p:sp>
        <p:nvSpPr>
          <p:cNvPr id="31" name="標籤"/>
          <p:cNvSpPr/>
          <p:nvPr/>
        </p:nvSpPr>
        <p:spPr>
          <a:xfrm>
            <a:off x="7262495" y="2857500"/>
            <a:ext cx="852805" cy="320040"/>
          </a:xfrm>
          <a:prstGeom prst="roundRect">
            <a:avLst>
              <a:gd name="adj" fmla="val 10714"/>
            </a:avLst>
          </a:prstGeom>
          <a:solidFill>
            <a:srgbClr val="F07F2D"/>
          </a:solidFill>
          <a:ln/>
        </p:spPr>
        <p:txBody>
          <a:bodyPr wrap="square" lIns="307975" tIns="0" rIns="89154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411085" y="2977833"/>
            <a:ext cx="79375" cy="79375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標籤"/>
          <p:cNvSpPr/>
          <p:nvPr/>
        </p:nvSpPr>
        <p:spPr>
          <a:xfrm>
            <a:off x="6172200" y="3680460"/>
            <a:ext cx="1011555" cy="320040"/>
          </a:xfrm>
          <a:prstGeom prst="roundRect">
            <a:avLst>
              <a:gd name="adj" fmla="val 10714"/>
            </a:avLst>
          </a:prstGeom>
          <a:solidFill>
            <a:srgbClr val="F2F2F2"/>
          </a:solidFill>
          <a:ln/>
        </p:spPr>
        <p:txBody>
          <a:bodyPr wrap="square" lIns="307975" tIns="0" rIns="89154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打基礎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320790" y="3800793"/>
            <a:ext cx="79375" cy="79375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卡片"/>
          <p:cNvSpPr/>
          <p:nvPr/>
        </p:nvSpPr>
        <p:spPr>
          <a:xfrm>
            <a:off x="6000750" y="4674870"/>
            <a:ext cx="2286000" cy="822960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000750" y="467487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2000" dirty="0"/>
          </a:p>
        </p:txBody>
      </p:sp>
      <p:sp>
        <p:nvSpPr>
          <p:cNvPr id="37" name="標籤"/>
          <p:cNvSpPr/>
          <p:nvPr/>
        </p:nvSpPr>
        <p:spPr>
          <a:xfrm>
            <a:off x="7262495" y="4514850"/>
            <a:ext cx="852805" cy="320040"/>
          </a:xfrm>
          <a:prstGeom prst="roundRect">
            <a:avLst>
              <a:gd name="adj" fmla="val 10714"/>
            </a:avLst>
          </a:prstGeom>
          <a:solidFill>
            <a:srgbClr val="F07F2D"/>
          </a:solidFill>
          <a:ln/>
        </p:spPr>
        <p:txBody>
          <a:bodyPr wrap="square" lIns="307975" tIns="0" rIns="89154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411085" y="4635183"/>
            <a:ext cx="79375" cy="79375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標籤"/>
          <p:cNvSpPr/>
          <p:nvPr/>
        </p:nvSpPr>
        <p:spPr>
          <a:xfrm>
            <a:off x="6172200" y="5337810"/>
            <a:ext cx="1011555" cy="320040"/>
          </a:xfrm>
          <a:prstGeom prst="roundRect">
            <a:avLst>
              <a:gd name="adj" fmla="val 10714"/>
            </a:avLst>
          </a:prstGeom>
          <a:solidFill>
            <a:srgbClr val="F2F2F2"/>
          </a:solidFill>
          <a:ln/>
        </p:spPr>
        <p:txBody>
          <a:bodyPr wrap="square" lIns="307975" tIns="0" rIns="89154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擴影響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320790" y="5458142"/>
            <a:ext cx="79375" cy="79375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卡片"/>
          <p:cNvSpPr/>
          <p:nvPr/>
        </p:nvSpPr>
        <p:spPr>
          <a:xfrm>
            <a:off x="6000750" y="6332220"/>
            <a:ext cx="2286000" cy="822960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000750" y="63322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整合創新</a:t>
            </a:r>
            <a:endParaRPr lang="en-US" sz="2000" dirty="0"/>
          </a:p>
        </p:txBody>
      </p:sp>
      <p:sp>
        <p:nvSpPr>
          <p:cNvPr id="43" name="標籤"/>
          <p:cNvSpPr/>
          <p:nvPr/>
        </p:nvSpPr>
        <p:spPr>
          <a:xfrm>
            <a:off x="7262495" y="6172200"/>
            <a:ext cx="852805" cy="320040"/>
          </a:xfrm>
          <a:prstGeom prst="roundRect">
            <a:avLst>
              <a:gd name="adj" fmla="val 10714"/>
            </a:avLst>
          </a:prstGeom>
          <a:solidFill>
            <a:srgbClr val="F07F2D"/>
          </a:solidFill>
          <a:ln/>
        </p:spPr>
        <p:txBody>
          <a:bodyPr wrap="square" lIns="307975" tIns="0" rIns="89154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7411085" y="6292533"/>
            <a:ext cx="79375" cy="79375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標籤"/>
          <p:cNvSpPr/>
          <p:nvPr/>
        </p:nvSpPr>
        <p:spPr>
          <a:xfrm>
            <a:off x="6172200" y="6995160"/>
            <a:ext cx="1011555" cy="320040"/>
          </a:xfrm>
          <a:prstGeom prst="roundRect">
            <a:avLst>
              <a:gd name="adj" fmla="val 10714"/>
            </a:avLst>
          </a:prstGeom>
          <a:solidFill>
            <a:srgbClr val="F2F2F2"/>
          </a:solidFill>
          <a:ln/>
        </p:spPr>
        <p:txBody>
          <a:bodyPr wrap="square" lIns="307975" tIns="0" rIns="89154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建槓桿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320790" y="7115492"/>
            <a:ext cx="79375" cy="79375"/>
          </a:xfrm>
          <a:prstGeom prst="ellipse">
            <a:avLst/>
          </a:prstGeom>
          <a:solidFill>
            <a:srgbClr val="F07F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寬欄條"/>
          <p:cNvSpPr/>
          <p:nvPr/>
        </p:nvSpPr>
        <p:spPr>
          <a:xfrm>
            <a:off x="8858250" y="2571750"/>
            <a:ext cx="685800" cy="4857750"/>
          </a:xfrm>
          <a:prstGeom prst="roundRect">
            <a:avLst>
              <a:gd name="adj" fmla="val 8333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寬欄條"/>
          <p:cNvSpPr/>
          <p:nvPr/>
        </p:nvSpPr>
        <p:spPr>
          <a:xfrm>
            <a:off x="9772650" y="2571750"/>
            <a:ext cx="685800" cy="4857750"/>
          </a:xfrm>
          <a:prstGeom prst="roundRect">
            <a:avLst>
              <a:gd name="adj" fmla="val 8333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8458200" y="2194560"/>
            <a:ext cx="2400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　／　產出</a:t>
            </a:r>
            <a:endParaRPr lang="en-US" sz="1400" dirty="0"/>
          </a:p>
        </p:txBody>
      </p:sp>
      <p:sp>
        <p:nvSpPr>
          <p:cNvPr id="50" name="編號"/>
          <p:cNvSpPr/>
          <p:nvPr/>
        </p:nvSpPr>
        <p:spPr>
          <a:xfrm>
            <a:off x="8926830" y="3154680"/>
            <a:ext cx="548640" cy="54864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750" dirty="0"/>
          </a:p>
        </p:txBody>
      </p:sp>
      <p:sp>
        <p:nvSpPr>
          <p:cNvPr id="51" name="編號"/>
          <p:cNvSpPr/>
          <p:nvPr/>
        </p:nvSpPr>
        <p:spPr>
          <a:xfrm>
            <a:off x="9841230" y="3154680"/>
            <a:ext cx="548640" cy="54864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750" dirty="0"/>
          </a:p>
        </p:txBody>
      </p:sp>
      <p:sp>
        <p:nvSpPr>
          <p:cNvPr id="52" name="線條"/>
          <p:cNvSpPr/>
          <p:nvPr/>
        </p:nvSpPr>
        <p:spPr>
          <a:xfrm>
            <a:off x="8378190" y="3429000"/>
            <a:ext cx="48006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53" name="編號"/>
          <p:cNvSpPr/>
          <p:nvPr/>
        </p:nvSpPr>
        <p:spPr>
          <a:xfrm>
            <a:off x="8926830" y="4812030"/>
            <a:ext cx="548640" cy="54864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750" dirty="0"/>
          </a:p>
        </p:txBody>
      </p:sp>
      <p:sp>
        <p:nvSpPr>
          <p:cNvPr id="54" name="編號"/>
          <p:cNvSpPr/>
          <p:nvPr/>
        </p:nvSpPr>
        <p:spPr>
          <a:xfrm>
            <a:off x="9841230" y="4812030"/>
            <a:ext cx="548640" cy="54864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750" dirty="0"/>
          </a:p>
        </p:txBody>
      </p:sp>
      <p:sp>
        <p:nvSpPr>
          <p:cNvPr id="55" name="線條"/>
          <p:cNvSpPr/>
          <p:nvPr/>
        </p:nvSpPr>
        <p:spPr>
          <a:xfrm>
            <a:off x="8378190" y="5086350"/>
            <a:ext cx="48006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56" name="編號"/>
          <p:cNvSpPr/>
          <p:nvPr/>
        </p:nvSpPr>
        <p:spPr>
          <a:xfrm>
            <a:off x="8926830" y="6469380"/>
            <a:ext cx="548640" cy="54864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750" dirty="0"/>
          </a:p>
        </p:txBody>
      </p:sp>
      <p:sp>
        <p:nvSpPr>
          <p:cNvPr id="57" name="編號"/>
          <p:cNvSpPr/>
          <p:nvPr/>
        </p:nvSpPr>
        <p:spPr>
          <a:xfrm>
            <a:off x="9841230" y="6469380"/>
            <a:ext cx="548640" cy="548640"/>
          </a:xfrm>
          <a:prstGeom prst="ellipse">
            <a:avLst/>
          </a:prstGeom>
          <a:solidFill>
            <a:srgbClr val="3A3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750" dirty="0"/>
          </a:p>
        </p:txBody>
      </p:sp>
      <p:sp>
        <p:nvSpPr>
          <p:cNvPr id="58" name="線條"/>
          <p:cNvSpPr/>
          <p:nvPr/>
        </p:nvSpPr>
        <p:spPr>
          <a:xfrm>
            <a:off x="8378190" y="6743700"/>
            <a:ext cx="48006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59" name="線條"/>
          <p:cNvSpPr/>
          <p:nvPr/>
        </p:nvSpPr>
        <p:spPr>
          <a:xfrm>
            <a:off x="10458450" y="3429000"/>
            <a:ext cx="285750" cy="0"/>
          </a:xfrm>
          <a:prstGeom prst="line">
            <a:avLst/>
          </a:prstGeom>
          <a:noFill/>
          <a:ln w="31750">
            <a:solidFill>
              <a:srgbClr val="3A3A3A"/>
            </a:solidFill>
            <a:prstDash val="solid"/>
          </a:ln>
        </p:spPr>
      </p:sp>
      <p:sp>
        <p:nvSpPr>
          <p:cNvPr id="60" name="連接線"/>
          <p:cNvSpPr/>
          <p:nvPr/>
        </p:nvSpPr>
        <p:spPr>
          <a:xfrm>
            <a:off x="10744200" y="306324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365760"/>
                </a:moveTo>
                <a:lnTo>
                  <a:pt x="0" y="0"/>
                </a:lnTo>
                <a:lnTo>
                  <a:pt x="308610" y="0"/>
                </a:lnTo>
              </a:path>
            </a:pathLst>
          </a:custGeom>
          <a:ln w="3175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11144250" y="2891790"/>
            <a:ext cx="2628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流程操作、工具使用</a:t>
            </a:r>
            <a:endParaRPr lang="en-US" sz="1400" dirty="0"/>
          </a:p>
        </p:txBody>
      </p:sp>
      <p:sp>
        <p:nvSpPr>
          <p:cNvPr id="62" name="連接線"/>
          <p:cNvSpPr/>
          <p:nvPr/>
        </p:nvSpPr>
        <p:spPr>
          <a:xfrm>
            <a:off x="10744200" y="342900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0"/>
                </a:moveTo>
                <a:lnTo>
                  <a:pt x="0" y="365760"/>
                </a:lnTo>
                <a:lnTo>
                  <a:pt x="308610" y="365760"/>
                </a:lnTo>
              </a:path>
            </a:pathLst>
          </a:custGeom>
          <a:ln w="3175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11144250" y="3623310"/>
            <a:ext cx="2628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標準作業與規範</a:t>
            </a:r>
            <a:endParaRPr lang="en-US" sz="1400" dirty="0"/>
          </a:p>
        </p:txBody>
      </p:sp>
      <p:sp>
        <p:nvSpPr>
          <p:cNvPr id="64" name="線條"/>
          <p:cNvSpPr/>
          <p:nvPr/>
        </p:nvSpPr>
        <p:spPr>
          <a:xfrm>
            <a:off x="10458450" y="5086350"/>
            <a:ext cx="285750" cy="0"/>
          </a:xfrm>
          <a:prstGeom prst="line">
            <a:avLst/>
          </a:prstGeom>
          <a:noFill/>
          <a:ln w="31750">
            <a:solidFill>
              <a:srgbClr val="3A3A3A"/>
            </a:solidFill>
            <a:prstDash val="solid"/>
          </a:ln>
        </p:spPr>
      </p:sp>
      <p:sp>
        <p:nvSpPr>
          <p:cNvPr id="65" name="連接線"/>
          <p:cNvSpPr/>
          <p:nvPr/>
        </p:nvSpPr>
        <p:spPr>
          <a:xfrm>
            <a:off x="10744200" y="472059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365760"/>
                </a:moveTo>
                <a:lnTo>
                  <a:pt x="0" y="0"/>
                </a:lnTo>
                <a:lnTo>
                  <a:pt x="308610" y="0"/>
                </a:lnTo>
              </a:path>
            </a:pathLst>
          </a:custGeom>
          <a:ln w="3175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11144250" y="4549140"/>
            <a:ext cx="2628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表達、傾聽、協調</a:t>
            </a:r>
            <a:endParaRPr lang="en-US" sz="1400" dirty="0"/>
          </a:p>
        </p:txBody>
      </p:sp>
      <p:sp>
        <p:nvSpPr>
          <p:cNvPr id="67" name="連接線"/>
          <p:cNvSpPr/>
          <p:nvPr/>
        </p:nvSpPr>
        <p:spPr>
          <a:xfrm>
            <a:off x="10744200" y="508635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0"/>
                </a:moveTo>
                <a:lnTo>
                  <a:pt x="0" y="365760"/>
                </a:lnTo>
                <a:lnTo>
                  <a:pt x="308610" y="365760"/>
                </a:lnTo>
              </a:path>
            </a:pathLst>
          </a:custGeom>
          <a:ln w="3175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11144250" y="5280660"/>
            <a:ext cx="2628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提案、談判、領導</a:t>
            </a:r>
            <a:endParaRPr lang="en-US" sz="1400" dirty="0"/>
          </a:p>
        </p:txBody>
      </p:sp>
      <p:sp>
        <p:nvSpPr>
          <p:cNvPr id="69" name="線條"/>
          <p:cNvSpPr/>
          <p:nvPr/>
        </p:nvSpPr>
        <p:spPr>
          <a:xfrm>
            <a:off x="10458450" y="6743700"/>
            <a:ext cx="285750" cy="0"/>
          </a:xfrm>
          <a:prstGeom prst="line">
            <a:avLst/>
          </a:prstGeom>
          <a:noFill/>
          <a:ln w="31750">
            <a:solidFill>
              <a:srgbClr val="3A3A3A"/>
            </a:solidFill>
            <a:prstDash val="solid"/>
          </a:ln>
        </p:spPr>
      </p:sp>
      <p:sp>
        <p:nvSpPr>
          <p:cNvPr id="70" name="連接線"/>
          <p:cNvSpPr/>
          <p:nvPr/>
        </p:nvSpPr>
        <p:spPr>
          <a:xfrm>
            <a:off x="10744200" y="637794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365760"/>
                </a:moveTo>
                <a:lnTo>
                  <a:pt x="0" y="0"/>
                </a:lnTo>
                <a:lnTo>
                  <a:pt x="308610" y="0"/>
                </a:lnTo>
              </a:path>
            </a:pathLst>
          </a:custGeom>
          <a:ln w="3175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11144250" y="6206490"/>
            <a:ext cx="2628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結構思考、問題解決</a:t>
            </a:r>
            <a:endParaRPr lang="en-US" sz="1400" dirty="0"/>
          </a:p>
        </p:txBody>
      </p:sp>
      <p:sp>
        <p:nvSpPr>
          <p:cNvPr id="72" name="連接線"/>
          <p:cNvSpPr/>
          <p:nvPr/>
        </p:nvSpPr>
        <p:spPr>
          <a:xfrm>
            <a:off x="10744200" y="674370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0"/>
                </a:moveTo>
                <a:lnTo>
                  <a:pt x="0" y="365760"/>
                </a:lnTo>
                <a:lnTo>
                  <a:pt x="308610" y="365760"/>
                </a:lnTo>
              </a:path>
            </a:pathLst>
          </a:custGeom>
          <a:ln w="3175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11144250" y="6938010"/>
            <a:ext cx="2628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資源整合、創新</a:t>
            </a:r>
            <a:endParaRPr lang="en-US" sz="1400" dirty="0"/>
          </a:p>
        </p:txBody>
      </p:sp>
      <p:sp>
        <p:nvSpPr>
          <p:cNvPr id="74" name="漸隱直條"/>
          <p:cNvSpPr/>
          <p:nvPr/>
        </p:nvSpPr>
        <p:spPr>
          <a:xfrm>
            <a:off x="14167485" y="2810637"/>
            <a:ext cx="217170" cy="4391406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漸隱直條"/>
          <p:cNvSpPr/>
          <p:nvPr/>
        </p:nvSpPr>
        <p:spPr>
          <a:xfrm>
            <a:off x="14167485" y="3175635"/>
            <a:ext cx="217170" cy="3661410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漸隱直條"/>
          <p:cNvSpPr/>
          <p:nvPr/>
        </p:nvSpPr>
        <p:spPr>
          <a:xfrm>
            <a:off x="14167485" y="3540633"/>
            <a:ext cx="217170" cy="2931414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漸隱直條"/>
          <p:cNvSpPr/>
          <p:nvPr/>
        </p:nvSpPr>
        <p:spPr>
          <a:xfrm>
            <a:off x="14167485" y="3905631"/>
            <a:ext cx="217170" cy="2201418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漸隱直條"/>
          <p:cNvSpPr/>
          <p:nvPr/>
        </p:nvSpPr>
        <p:spPr>
          <a:xfrm>
            <a:off x="14167485" y="4270629"/>
            <a:ext cx="217170" cy="1471422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漸隱直條"/>
          <p:cNvSpPr/>
          <p:nvPr/>
        </p:nvSpPr>
        <p:spPr>
          <a:xfrm>
            <a:off x="14167485" y="4635627"/>
            <a:ext cx="217170" cy="741426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14058900" y="2571750"/>
            <a:ext cx="434340" cy="238887"/>
          </a:xfrm>
          <a:custGeom>
            <a:avLst/>
            <a:gdLst/>
            <a:ahLst/>
            <a:cxnLst/>
            <a:rect l="l" t="t" r="r" b="b"/>
            <a:pathLst>
              <a:path w="434340" h="238887">
                <a:moveTo>
                  <a:pt x="0" y="238887"/>
                </a:moveTo>
                <a:lnTo>
                  <a:pt x="217170" y="0"/>
                </a:lnTo>
                <a:lnTo>
                  <a:pt x="434340" y="238887"/>
                </a:lnTo>
                <a:close/>
              </a:path>
            </a:pathLst>
          </a:cu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14058900" y="7190613"/>
            <a:ext cx="434340" cy="238887"/>
          </a:xfrm>
          <a:custGeom>
            <a:avLst/>
            <a:gdLst/>
            <a:ahLst/>
            <a:cxnLst/>
            <a:rect l="l" t="t" r="r" b="b"/>
            <a:pathLst>
              <a:path w="434340" h="238887">
                <a:moveTo>
                  <a:pt x="0" y="0"/>
                </a:moveTo>
                <a:lnTo>
                  <a:pt x="434340" y="0"/>
                </a:lnTo>
                <a:lnTo>
                  <a:pt x="217170" y="238887"/>
                </a:lnTo>
                <a:close/>
              </a:path>
            </a:pathLst>
          </a:custGeom>
          <a:solidFill>
            <a:srgbClr val="A6A6A6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12973050" y="2194560"/>
            <a:ext cx="1600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情境限定</a:t>
            </a:r>
            <a:endParaRPr lang="en-US" sz="1250" dirty="0"/>
          </a:p>
        </p:txBody>
      </p:sp>
      <p:sp>
        <p:nvSpPr>
          <p:cNvPr id="83" name="Text 81"/>
          <p:cNvSpPr/>
          <p:nvPr/>
        </p:nvSpPr>
        <p:spPr>
          <a:xfrm>
            <a:off x="12973050" y="7486650"/>
            <a:ext cx="1600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07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跨域通用</a:t>
            </a:r>
            <a:endParaRPr lang="en-US" sz="1250" dirty="0"/>
          </a:p>
        </p:txBody>
      </p:sp>
      <p:sp>
        <p:nvSpPr>
          <p:cNvPr id="84" name="Text 82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85" name="Text 83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13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精緻圖解元件庫 · 炭灰橘點</dc:title>
  <dc:subject>PptxGenJS Presentation</dc:subject>
  <dc:creator>PPT Style Studio</dc:creator>
  <cp:lastModifiedBy>PPT Style Studio</cp:lastModifiedBy>
  <cp:revision>1</cp:revision>
  <dcterms:created xsi:type="dcterms:W3CDTF">2026-10-09T02:33:48Z</dcterms:created>
  <dcterms:modified xsi:type="dcterms:W3CDTF">2026-10-09T02:33:48Z</dcterms:modified>
</cp:coreProperties>
</file>