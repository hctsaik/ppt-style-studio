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548640" y="34747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7A1F2B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元件總表 Element Catalog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060704"/>
            <a:ext cx="822960" cy="22860"/>
          </a:xfrm>
          <a:prstGeom prst="rect">
            <a:avLst/>
          </a:prstGeom>
          <a:solidFill>
            <a:srgbClr val="B08D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8640" y="116128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一頁看完本風格的所有元件變化：挑好樣式，直接複製圖形使用</a:t>
            </a:r>
            <a:endParaRPr lang="en-US" sz="1400" dirty="0"/>
          </a:p>
        </p:txBody>
      </p:sp>
      <p:sp>
        <p:nvSpPr>
          <p:cNvPr id="5" name="類別"/>
          <p:cNvSpPr/>
          <p:nvPr/>
        </p:nvSpPr>
        <p:spPr>
          <a:xfrm>
            <a:off x="548640" y="1741932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流程方塊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</a:t>
            </a:r>
            <a:endParaRPr lang="en-US" sz="1400" dirty="0"/>
          </a:p>
        </p:txBody>
      </p:sp>
      <p:sp>
        <p:nvSpPr>
          <p:cNvPr id="6" name="流程方塊"/>
          <p:cNvSpPr/>
          <p:nvPr/>
        </p:nvSpPr>
        <p:spPr>
          <a:xfrm>
            <a:off x="1998160" y="1673352"/>
            <a:ext cx="10972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150" dirty="0"/>
          </a:p>
        </p:txBody>
      </p:sp>
      <p:sp>
        <p:nvSpPr>
          <p:cNvPr id="7" name="圖說"/>
          <p:cNvSpPr/>
          <p:nvPr/>
        </p:nvSpPr>
        <p:spPr>
          <a:xfrm>
            <a:off x="1874520" y="208940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無陰影・外框</a:t>
            </a:r>
            <a:endParaRPr lang="en-US" sz="850" dirty="0"/>
          </a:p>
        </p:txBody>
      </p:sp>
      <p:sp>
        <p:nvSpPr>
          <p:cNvPr id="8" name="流程方塊"/>
          <p:cNvSpPr/>
          <p:nvPr/>
        </p:nvSpPr>
        <p:spPr>
          <a:xfrm>
            <a:off x="3397584" y="1673352"/>
            <a:ext cx="1097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  <a:effectLst>
            <a:outerShdw blurRad="84836" dist="24257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150" dirty="0"/>
          </a:p>
        </p:txBody>
      </p:sp>
      <p:sp>
        <p:nvSpPr>
          <p:cNvPr id="9" name="圖說"/>
          <p:cNvSpPr/>
          <p:nvPr/>
        </p:nvSpPr>
        <p:spPr>
          <a:xfrm>
            <a:off x="3273944" y="208940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850" dirty="0"/>
          </a:p>
        </p:txBody>
      </p:sp>
      <p:sp>
        <p:nvSpPr>
          <p:cNvPr id="10" name="流程方塊"/>
          <p:cNvSpPr/>
          <p:nvPr/>
        </p:nvSpPr>
        <p:spPr>
          <a:xfrm>
            <a:off x="4797008" y="1673352"/>
            <a:ext cx="1097280" cy="384048"/>
          </a:xfrm>
          <a:prstGeom prst="rect">
            <a:avLst/>
          </a:prstGeom>
          <a:solidFill>
            <a:srgbClr val="F3E6E8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150" dirty="0"/>
          </a:p>
        </p:txBody>
      </p:sp>
      <p:sp>
        <p:nvSpPr>
          <p:cNvPr id="11" name="圖說"/>
          <p:cNvSpPr/>
          <p:nvPr/>
        </p:nvSpPr>
        <p:spPr>
          <a:xfrm>
            <a:off x="4673368" y="208940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850" dirty="0"/>
          </a:p>
        </p:txBody>
      </p:sp>
      <p:sp>
        <p:nvSpPr>
          <p:cNvPr id="12" name="流程方塊"/>
          <p:cNvSpPr/>
          <p:nvPr/>
        </p:nvSpPr>
        <p:spPr>
          <a:xfrm>
            <a:off x="6196432" y="1673352"/>
            <a:ext cx="1097280" cy="384048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150" dirty="0"/>
          </a:p>
        </p:txBody>
      </p:sp>
      <p:sp>
        <p:nvSpPr>
          <p:cNvPr id="13" name="圖說"/>
          <p:cNvSpPr/>
          <p:nvPr/>
        </p:nvSpPr>
        <p:spPr>
          <a:xfrm>
            <a:off x="6072792" y="208940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淺灰底</a:t>
            </a:r>
            <a:endParaRPr lang="en-US" sz="850" dirty="0"/>
          </a:p>
        </p:txBody>
      </p:sp>
      <p:sp>
        <p:nvSpPr>
          <p:cNvPr id="14" name="流程方塊"/>
          <p:cNvSpPr/>
          <p:nvPr/>
        </p:nvSpPr>
        <p:spPr>
          <a:xfrm>
            <a:off x="7595855" y="1673352"/>
            <a:ext cx="1097280" cy="384048"/>
          </a:xfrm>
          <a:prstGeom prst="rect">
            <a:avLst/>
          </a:prstGeom>
          <a:solidFill>
            <a:srgbClr val="FFFFFF"/>
          </a:solidFill>
          <a:ln w="22225">
            <a:solidFill>
              <a:srgbClr val="7A1F2B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1F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150" dirty="0"/>
          </a:p>
        </p:txBody>
      </p:sp>
      <p:sp>
        <p:nvSpPr>
          <p:cNvPr id="15" name="圖說"/>
          <p:cNvSpPr/>
          <p:nvPr/>
        </p:nvSpPr>
        <p:spPr>
          <a:xfrm>
            <a:off x="7472216" y="208940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主色粗外框</a:t>
            </a:r>
            <a:endParaRPr lang="en-US" sz="850" dirty="0"/>
          </a:p>
        </p:txBody>
      </p:sp>
      <p:sp>
        <p:nvSpPr>
          <p:cNvPr id="16" name="流程方塊"/>
          <p:cNvSpPr/>
          <p:nvPr/>
        </p:nvSpPr>
        <p:spPr>
          <a:xfrm>
            <a:off x="8995279" y="1673352"/>
            <a:ext cx="1097280" cy="384048"/>
          </a:xfrm>
          <a:prstGeom prst="rect">
            <a:avLst/>
          </a:prstGeom>
          <a:solidFill>
            <a:srgbClr val="7A1F2B"/>
          </a:solidFill>
          <a:ln/>
          <a:effectLst>
            <a:outerShdw blurRad="53340" dist="19050" dir="5400000" sx="100000" sy="100000" algn="ctr" rotWithShape="0">
              <a:srgbClr val="000000">
                <a:alpha val="29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關鍵步驟</a:t>
            </a:r>
            <a:endParaRPr lang="en-US" sz="1150" dirty="0"/>
          </a:p>
        </p:txBody>
      </p:sp>
      <p:sp>
        <p:nvSpPr>
          <p:cNvPr id="17" name="圖說"/>
          <p:cNvSpPr/>
          <p:nvPr/>
        </p:nvSpPr>
        <p:spPr>
          <a:xfrm>
            <a:off x="8871639" y="208940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850" dirty="0"/>
          </a:p>
        </p:txBody>
      </p:sp>
      <p:sp>
        <p:nvSpPr>
          <p:cNvPr id="18" name="流程方塊"/>
          <p:cNvSpPr/>
          <p:nvPr/>
        </p:nvSpPr>
        <p:spPr>
          <a:xfrm>
            <a:off x="10394703" y="1673352"/>
            <a:ext cx="10972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8C8C8C"/>
            </a:solidFill>
            <a:prstDash val="dash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待定步驟</a:t>
            </a:r>
            <a:endParaRPr lang="en-US" sz="1150" dirty="0"/>
          </a:p>
        </p:txBody>
      </p:sp>
      <p:sp>
        <p:nvSpPr>
          <p:cNvPr id="19" name="圖說"/>
          <p:cNvSpPr/>
          <p:nvPr/>
        </p:nvSpPr>
        <p:spPr>
          <a:xfrm>
            <a:off x="10271063" y="208940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虛線・待定</a:t>
            </a:r>
            <a:endParaRPr lang="en-US" sz="850" dirty="0"/>
          </a:p>
        </p:txBody>
      </p:sp>
      <p:sp>
        <p:nvSpPr>
          <p:cNvPr id="20" name="線條"/>
          <p:cNvSpPr/>
          <p:nvPr/>
        </p:nvSpPr>
        <p:spPr>
          <a:xfrm>
            <a:off x="548640" y="2263140"/>
            <a:ext cx="11094415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21" name="類別"/>
          <p:cNvSpPr/>
          <p:nvPr/>
        </p:nvSpPr>
        <p:spPr>
          <a:xfrm>
            <a:off x="548640" y="2427732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判斷菱形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</a:t>
            </a:r>
            <a:endParaRPr lang="en-US" sz="1400" dirty="0"/>
          </a:p>
        </p:txBody>
      </p:sp>
      <p:sp>
        <p:nvSpPr>
          <p:cNvPr id="22" name="判斷菱形"/>
          <p:cNvSpPr/>
          <p:nvPr/>
        </p:nvSpPr>
        <p:spPr>
          <a:xfrm>
            <a:off x="2066740" y="2313432"/>
            <a:ext cx="960120" cy="47548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050" dirty="0"/>
          </a:p>
        </p:txBody>
      </p:sp>
      <p:sp>
        <p:nvSpPr>
          <p:cNvPr id="23" name="圖說"/>
          <p:cNvSpPr/>
          <p:nvPr/>
        </p:nvSpPr>
        <p:spPr>
          <a:xfrm>
            <a:off x="1874520" y="282092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</a:t>
            </a:r>
            <a:endParaRPr lang="en-US" sz="850" dirty="0"/>
          </a:p>
        </p:txBody>
      </p:sp>
      <p:sp>
        <p:nvSpPr>
          <p:cNvPr id="24" name="判斷菱形"/>
          <p:cNvSpPr/>
          <p:nvPr/>
        </p:nvSpPr>
        <p:spPr>
          <a:xfrm>
            <a:off x="3466164" y="2313432"/>
            <a:ext cx="960120" cy="475488"/>
          </a:xfrm>
          <a:prstGeom prst="diamond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  <a:effectLst>
            <a:outerShdw blurRad="88900" dist="25400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050" dirty="0"/>
          </a:p>
        </p:txBody>
      </p:sp>
      <p:sp>
        <p:nvSpPr>
          <p:cNvPr id="25" name="圖說"/>
          <p:cNvSpPr/>
          <p:nvPr/>
        </p:nvSpPr>
        <p:spPr>
          <a:xfrm>
            <a:off x="3273944" y="282092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850" dirty="0"/>
          </a:p>
        </p:txBody>
      </p:sp>
      <p:sp>
        <p:nvSpPr>
          <p:cNvPr id="26" name="判斷菱形"/>
          <p:cNvSpPr/>
          <p:nvPr/>
        </p:nvSpPr>
        <p:spPr>
          <a:xfrm>
            <a:off x="4865588" y="2313432"/>
            <a:ext cx="960120" cy="475488"/>
          </a:xfrm>
          <a:prstGeom prst="diamond">
            <a:avLst/>
          </a:prstGeom>
          <a:solidFill>
            <a:srgbClr val="F3E6E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050" dirty="0"/>
          </a:p>
        </p:txBody>
      </p:sp>
      <p:sp>
        <p:nvSpPr>
          <p:cNvPr id="27" name="圖說"/>
          <p:cNvSpPr/>
          <p:nvPr/>
        </p:nvSpPr>
        <p:spPr>
          <a:xfrm>
            <a:off x="4673368" y="282092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850" dirty="0"/>
          </a:p>
        </p:txBody>
      </p:sp>
      <p:sp>
        <p:nvSpPr>
          <p:cNvPr id="28" name="判斷菱形"/>
          <p:cNvSpPr/>
          <p:nvPr/>
        </p:nvSpPr>
        <p:spPr>
          <a:xfrm>
            <a:off x="6265012" y="2313432"/>
            <a:ext cx="960120" cy="475488"/>
          </a:xfrm>
          <a:prstGeom prst="diamond">
            <a:avLst/>
          </a:prstGeom>
          <a:solidFill>
            <a:srgbClr val="FFFFFF"/>
          </a:solidFill>
          <a:ln w="19050">
            <a:solidFill>
              <a:srgbClr val="7A1F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1F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050" dirty="0"/>
          </a:p>
        </p:txBody>
      </p:sp>
      <p:sp>
        <p:nvSpPr>
          <p:cNvPr id="29" name="圖說"/>
          <p:cNvSpPr/>
          <p:nvPr/>
        </p:nvSpPr>
        <p:spPr>
          <a:xfrm>
            <a:off x="6072792" y="282092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主色外框</a:t>
            </a:r>
            <a:endParaRPr lang="en-US" sz="850" dirty="0"/>
          </a:p>
        </p:txBody>
      </p:sp>
      <p:sp>
        <p:nvSpPr>
          <p:cNvPr id="30" name="判斷菱形"/>
          <p:cNvSpPr/>
          <p:nvPr/>
        </p:nvSpPr>
        <p:spPr>
          <a:xfrm>
            <a:off x="7664435" y="2313432"/>
            <a:ext cx="960120" cy="475488"/>
          </a:xfrm>
          <a:prstGeom prst="diamond">
            <a:avLst/>
          </a:prstGeom>
          <a:solidFill>
            <a:srgbClr val="7A1F2B"/>
          </a:solidFill>
          <a:ln/>
          <a:effectLst>
            <a:outerShdw blurRad="53340" dist="19050" dir="5400000" sx="100000" sy="100000" algn="ctr" rotWithShape="0">
              <a:srgbClr val="000000">
                <a:alpha val="29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050" dirty="0"/>
          </a:p>
        </p:txBody>
      </p:sp>
      <p:sp>
        <p:nvSpPr>
          <p:cNvPr id="31" name="圖說"/>
          <p:cNvSpPr/>
          <p:nvPr/>
        </p:nvSpPr>
        <p:spPr>
          <a:xfrm>
            <a:off x="7472216" y="282092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850" dirty="0"/>
          </a:p>
        </p:txBody>
      </p:sp>
      <p:sp>
        <p:nvSpPr>
          <p:cNvPr id="32" name="判斷菱形"/>
          <p:cNvSpPr/>
          <p:nvPr/>
        </p:nvSpPr>
        <p:spPr>
          <a:xfrm>
            <a:off x="9063859" y="2313432"/>
            <a:ext cx="960120" cy="47548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8C8C8C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050" dirty="0"/>
          </a:p>
        </p:txBody>
      </p:sp>
      <p:sp>
        <p:nvSpPr>
          <p:cNvPr id="33" name="圖說"/>
          <p:cNvSpPr/>
          <p:nvPr/>
        </p:nvSpPr>
        <p:spPr>
          <a:xfrm>
            <a:off x="8871639" y="282092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虛線・待確認</a:t>
            </a:r>
            <a:endParaRPr lang="en-US" sz="850" dirty="0"/>
          </a:p>
        </p:txBody>
      </p:sp>
      <p:grpSp>
        <p:nvGrpSpPr>
          <p:cNvPr id="5000" name="判斷＋分岔箭頭"/>
          <p:cNvGrpSpPr/>
          <p:nvPr/>
        </p:nvGrpSpPr>
        <p:grpSpPr>
          <a:xfrm>
            <a:off x="10330695" y="2313432"/>
            <a:ext cx="1115568" cy="475488"/>
            <a:chOff x="10330695" y="2313432"/>
            <a:chExt cx="1115568" cy="475488"/>
          </a:xfrm>
        </p:grpSpPr>
        <p:sp>
          <p:nvSpPr>
            <p:cNvPr id="34" name="判斷菱形"/>
            <p:cNvSpPr/>
            <p:nvPr/>
          </p:nvSpPr>
          <p:spPr>
            <a:xfrm>
              <a:off x="10330695" y="2313432"/>
              <a:ext cx="566928" cy="475488"/>
            </a:xfrm>
            <a:prstGeom prst="diamond">
              <a:avLst/>
            </a:prstGeom>
            <a:solidFill>
              <a:srgbClr val="FFFFFF"/>
            </a:solidFill>
            <a:ln w="15875">
              <a:solidFill>
                <a:srgbClr val="7A1F2B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35" name="線條"/>
            <p:cNvSpPr/>
            <p:nvPr/>
          </p:nvSpPr>
          <p:spPr>
            <a:xfrm>
              <a:off x="10897623" y="2551176"/>
              <a:ext cx="548640" cy="0"/>
            </a:xfrm>
            <a:prstGeom prst="line">
              <a:avLst/>
            </a:prstGeom>
            <a:noFill/>
            <a:ln w="12700">
              <a:solidFill>
                <a:srgbClr val="7F7F7F"/>
              </a:solidFill>
              <a:prstDash val="solid"/>
              <a:tailEnd type="stealth" w="lg" len="lg"/>
            </a:ln>
          </p:spPr>
        </p:sp>
        <p:sp>
          <p:nvSpPr>
            <p:cNvPr id="36" name="標註"/>
            <p:cNvSpPr/>
            <p:nvPr/>
          </p:nvSpPr>
          <p:spPr>
            <a:xfrm>
              <a:off x="10915911" y="2368296"/>
              <a:ext cx="27432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8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是</a:t>
              </a:r>
              <a:endParaRPr lang="en-US" sz="800" dirty="0"/>
            </a:p>
          </p:txBody>
        </p:sp>
      </p:grpSp>
      <p:sp>
        <p:nvSpPr>
          <p:cNvPr id="37" name="圖說"/>
          <p:cNvSpPr/>
          <p:nvPr/>
        </p:nvSpPr>
        <p:spPr>
          <a:xfrm>
            <a:off x="10271063" y="282092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判斷＋分岔箭頭</a:t>
            </a:r>
            <a:endParaRPr lang="en-US" sz="850" dirty="0"/>
          </a:p>
        </p:txBody>
      </p:sp>
      <p:sp>
        <p:nvSpPr>
          <p:cNvPr id="38" name="線條"/>
          <p:cNvSpPr/>
          <p:nvPr/>
        </p:nvSpPr>
        <p:spPr>
          <a:xfrm>
            <a:off x="548640" y="2994660"/>
            <a:ext cx="11094415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39" name="類別"/>
          <p:cNvSpPr/>
          <p:nvPr/>
        </p:nvSpPr>
        <p:spPr>
          <a:xfrm>
            <a:off x="548640" y="3095244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開始／結束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/ End</a:t>
            </a:r>
            <a:endParaRPr lang="en-US" sz="1400" dirty="0"/>
          </a:p>
        </p:txBody>
      </p:sp>
      <p:sp>
        <p:nvSpPr>
          <p:cNvPr id="40" name="開始／結束"/>
          <p:cNvSpPr/>
          <p:nvPr/>
        </p:nvSpPr>
        <p:spPr>
          <a:xfrm>
            <a:off x="1998160" y="3044952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7A1F2B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1F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150" dirty="0"/>
          </a:p>
        </p:txBody>
      </p:sp>
      <p:sp>
        <p:nvSpPr>
          <p:cNvPr id="41" name="圖說"/>
          <p:cNvSpPr/>
          <p:nvPr/>
        </p:nvSpPr>
        <p:spPr>
          <a:xfrm>
            <a:off x="1874520" y="342442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</a:t>
            </a:r>
            <a:endParaRPr lang="en-US" sz="850" dirty="0"/>
          </a:p>
        </p:txBody>
      </p:sp>
      <p:sp>
        <p:nvSpPr>
          <p:cNvPr id="42" name="開始／結束"/>
          <p:cNvSpPr/>
          <p:nvPr/>
        </p:nvSpPr>
        <p:spPr>
          <a:xfrm>
            <a:off x="3397584" y="3044952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F3E6E8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E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150" dirty="0"/>
          </a:p>
        </p:txBody>
      </p:sp>
      <p:sp>
        <p:nvSpPr>
          <p:cNvPr id="43" name="圖說"/>
          <p:cNvSpPr/>
          <p:nvPr/>
        </p:nvSpPr>
        <p:spPr>
          <a:xfrm>
            <a:off x="3273944" y="342442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850" dirty="0"/>
          </a:p>
        </p:txBody>
      </p:sp>
      <p:sp>
        <p:nvSpPr>
          <p:cNvPr id="44" name="開始／結束"/>
          <p:cNvSpPr/>
          <p:nvPr/>
        </p:nvSpPr>
        <p:spPr>
          <a:xfrm>
            <a:off x="4797008" y="3044952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150" dirty="0"/>
          </a:p>
        </p:txBody>
      </p:sp>
      <p:sp>
        <p:nvSpPr>
          <p:cNvPr id="45" name="圖說"/>
          <p:cNvSpPr/>
          <p:nvPr/>
        </p:nvSpPr>
        <p:spPr>
          <a:xfrm>
            <a:off x="4673368" y="342442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淺灰底</a:t>
            </a:r>
            <a:endParaRPr lang="en-US" sz="850" dirty="0"/>
          </a:p>
        </p:txBody>
      </p:sp>
      <p:sp>
        <p:nvSpPr>
          <p:cNvPr id="46" name="開始／結束"/>
          <p:cNvSpPr/>
          <p:nvPr/>
        </p:nvSpPr>
        <p:spPr>
          <a:xfrm>
            <a:off x="6196432" y="3044952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  <a:effectLst>
            <a:outerShdw blurRad="76835" dist="21971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150" dirty="0"/>
          </a:p>
        </p:txBody>
      </p:sp>
      <p:sp>
        <p:nvSpPr>
          <p:cNvPr id="47" name="圖說"/>
          <p:cNvSpPr/>
          <p:nvPr/>
        </p:nvSpPr>
        <p:spPr>
          <a:xfrm>
            <a:off x="6072792" y="342442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850" dirty="0"/>
          </a:p>
        </p:txBody>
      </p:sp>
      <p:sp>
        <p:nvSpPr>
          <p:cNvPr id="48" name="開始／結束"/>
          <p:cNvSpPr/>
          <p:nvPr/>
        </p:nvSpPr>
        <p:spPr>
          <a:xfrm>
            <a:off x="7595855" y="3044952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/>
          <a:effectLst>
            <a:outerShdw blurRad="53340" dist="19050" dir="5400000" sx="100000" sy="100000" algn="ctr" rotWithShape="0">
              <a:srgbClr val="000000">
                <a:alpha val="29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</a:t>
            </a:r>
            <a:endParaRPr lang="en-US" sz="1150" dirty="0"/>
          </a:p>
        </p:txBody>
      </p:sp>
      <p:sp>
        <p:nvSpPr>
          <p:cNvPr id="49" name="圖說"/>
          <p:cNvSpPr/>
          <p:nvPr/>
        </p:nvSpPr>
        <p:spPr>
          <a:xfrm>
            <a:off x="7472216" y="342442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850" dirty="0"/>
          </a:p>
        </p:txBody>
      </p:sp>
      <p:sp>
        <p:nvSpPr>
          <p:cNvPr id="50" name="開始／結束"/>
          <p:cNvSpPr/>
          <p:nvPr/>
        </p:nvSpPr>
        <p:spPr>
          <a:xfrm>
            <a:off x="8995279" y="3044952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B08D57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</a:t>
            </a:r>
            <a:endParaRPr lang="en-US" sz="1150" dirty="0"/>
          </a:p>
        </p:txBody>
      </p:sp>
      <p:sp>
        <p:nvSpPr>
          <p:cNvPr id="51" name="圖說"/>
          <p:cNvSpPr/>
          <p:nvPr/>
        </p:nvSpPr>
        <p:spPr>
          <a:xfrm>
            <a:off x="8871639" y="342442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強調色</a:t>
            </a:r>
            <a:endParaRPr lang="en-US" sz="850" dirty="0"/>
          </a:p>
        </p:txBody>
      </p:sp>
      <p:sp>
        <p:nvSpPr>
          <p:cNvPr id="52" name="線條"/>
          <p:cNvSpPr/>
          <p:nvPr/>
        </p:nvSpPr>
        <p:spPr>
          <a:xfrm>
            <a:off x="548640" y="3598164"/>
            <a:ext cx="11094415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53" name="類別"/>
          <p:cNvSpPr/>
          <p:nvPr/>
        </p:nvSpPr>
        <p:spPr>
          <a:xfrm>
            <a:off x="548640" y="3707892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箭頭與連接線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Arrows</a:t>
            </a:r>
            <a:endParaRPr lang="en-US" sz="1400" dirty="0"/>
          </a:p>
        </p:txBody>
      </p:sp>
      <p:sp>
        <p:nvSpPr>
          <p:cNvPr id="54" name="線條"/>
          <p:cNvSpPr/>
          <p:nvPr/>
        </p:nvSpPr>
        <p:spPr>
          <a:xfrm>
            <a:off x="2016448" y="3831336"/>
            <a:ext cx="1060704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  <a:tailEnd type="stealth" w="lg" len="lg"/>
          </a:ln>
        </p:spPr>
      </p:sp>
      <p:sp>
        <p:nvSpPr>
          <p:cNvPr id="55" name="圖說"/>
          <p:cNvSpPr/>
          <p:nvPr/>
        </p:nvSpPr>
        <p:spPr>
          <a:xfrm>
            <a:off x="1874520" y="4046220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細直線箭頭</a:t>
            </a:r>
            <a:endParaRPr lang="en-US" sz="850" dirty="0"/>
          </a:p>
        </p:txBody>
      </p:sp>
      <p:sp>
        <p:nvSpPr>
          <p:cNvPr id="56" name="線條"/>
          <p:cNvSpPr/>
          <p:nvPr/>
        </p:nvSpPr>
        <p:spPr>
          <a:xfrm>
            <a:off x="3415872" y="3831336"/>
            <a:ext cx="1060704" cy="0"/>
          </a:xfrm>
          <a:prstGeom prst="line">
            <a:avLst/>
          </a:prstGeom>
          <a:noFill/>
          <a:ln w="28575">
            <a:solidFill>
              <a:srgbClr val="7A1F2B"/>
            </a:solidFill>
            <a:prstDash val="solid"/>
            <a:tailEnd type="triangle"/>
          </a:ln>
        </p:spPr>
      </p:sp>
      <p:sp>
        <p:nvSpPr>
          <p:cNvPr id="57" name="圖說"/>
          <p:cNvSpPr/>
          <p:nvPr/>
        </p:nvSpPr>
        <p:spPr>
          <a:xfrm>
            <a:off x="3273944" y="4046220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粗箭頭</a:t>
            </a:r>
            <a:endParaRPr lang="en-US" sz="850" dirty="0"/>
          </a:p>
        </p:txBody>
      </p:sp>
      <p:sp>
        <p:nvSpPr>
          <p:cNvPr id="58" name="連接線"/>
          <p:cNvSpPr/>
          <p:nvPr/>
        </p:nvSpPr>
        <p:spPr>
          <a:xfrm>
            <a:off x="4815296" y="3694176"/>
            <a:ext cx="1060704" cy="274320"/>
          </a:xfrm>
          <a:custGeom>
            <a:avLst/>
            <a:gdLst/>
            <a:ahLst/>
            <a:cxnLst/>
            <a:rect l="l" t="t" r="r" b="b"/>
            <a:pathLst>
              <a:path w="1060704" h="274320">
                <a:moveTo>
                  <a:pt x="0" y="0"/>
                </a:moveTo>
                <a:lnTo>
                  <a:pt x="530352" y="0"/>
                </a:lnTo>
                <a:lnTo>
                  <a:pt x="530352" y="274320"/>
                </a:lnTo>
                <a:lnTo>
                  <a:pt x="1060704" y="274320"/>
                </a:lnTo>
              </a:path>
            </a:pathLst>
          </a:custGeom>
          <a:ln w="12700">
            <a:solidFill>
              <a:srgbClr val="7F7F7F"/>
            </a:solidFill>
            <a:prstDash val="solid"/>
            <a:tailEnd type="stealth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圖說"/>
          <p:cNvSpPr/>
          <p:nvPr/>
        </p:nvSpPr>
        <p:spPr>
          <a:xfrm>
            <a:off x="4673368" y="4046220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折線連接</a:t>
            </a:r>
            <a:endParaRPr lang="en-US" sz="850" dirty="0"/>
          </a:p>
        </p:txBody>
      </p:sp>
      <p:sp>
        <p:nvSpPr>
          <p:cNvPr id="60" name="線條"/>
          <p:cNvSpPr/>
          <p:nvPr/>
        </p:nvSpPr>
        <p:spPr>
          <a:xfrm>
            <a:off x="6214720" y="3831336"/>
            <a:ext cx="1060704" cy="0"/>
          </a:xfrm>
          <a:prstGeom prst="line">
            <a:avLst/>
          </a:prstGeom>
          <a:noFill/>
          <a:ln w="12700">
            <a:solidFill>
              <a:srgbClr val="707070"/>
            </a:solidFill>
            <a:prstDash val="sysDash"/>
            <a:tailEnd type="arrow"/>
          </a:ln>
        </p:spPr>
      </p:sp>
      <p:sp>
        <p:nvSpPr>
          <p:cNvPr id="61" name="圖說"/>
          <p:cNvSpPr/>
          <p:nvPr/>
        </p:nvSpPr>
        <p:spPr>
          <a:xfrm>
            <a:off x="6072792" y="4046220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虛線（次要／回饋）</a:t>
            </a:r>
            <a:endParaRPr lang="en-US" sz="850" dirty="0"/>
          </a:p>
        </p:txBody>
      </p:sp>
      <p:sp>
        <p:nvSpPr>
          <p:cNvPr id="62" name="線條"/>
          <p:cNvSpPr/>
          <p:nvPr/>
        </p:nvSpPr>
        <p:spPr>
          <a:xfrm>
            <a:off x="7614143" y="3831336"/>
            <a:ext cx="1060704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  <a:headEnd type="triangle" w="lg" len="lg"/>
            <a:tailEnd type="triangle" w="lg" len="lg"/>
          </a:ln>
        </p:spPr>
      </p:sp>
      <p:sp>
        <p:nvSpPr>
          <p:cNvPr id="63" name="圖說"/>
          <p:cNvSpPr/>
          <p:nvPr/>
        </p:nvSpPr>
        <p:spPr>
          <a:xfrm>
            <a:off x="7472216" y="4046220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雙向箭頭</a:t>
            </a:r>
            <a:endParaRPr lang="en-US" sz="850" dirty="0"/>
          </a:p>
        </p:txBody>
      </p:sp>
      <p:grpSp>
        <p:nvGrpSpPr>
          <p:cNvPr id="5001" name="▶ 三角／V 形分隔"/>
          <p:cNvGrpSpPr/>
          <p:nvPr/>
        </p:nvGrpSpPr>
        <p:grpSpPr>
          <a:xfrm>
            <a:off x="9214735" y="3703320"/>
            <a:ext cx="640080" cy="256032"/>
            <a:chOff x="9214735" y="3703320"/>
            <a:chExt cx="640080" cy="256032"/>
          </a:xfrm>
        </p:grpSpPr>
        <p:sp>
          <p:nvSpPr>
            <p:cNvPr id="64" name="三角分隔"/>
            <p:cNvSpPr/>
            <p:nvPr/>
          </p:nvSpPr>
          <p:spPr>
            <a:xfrm>
              <a:off x="9214735" y="3730752"/>
              <a:ext cx="155448" cy="201168"/>
            </a:xfrm>
            <a:custGeom>
              <a:avLst/>
              <a:gdLst/>
              <a:ahLst/>
              <a:cxnLst/>
              <a:rect l="l" t="t" r="r" b="b"/>
              <a:pathLst>
                <a:path w="155448" h="201168">
                  <a:moveTo>
                    <a:pt x="0" y="0"/>
                  </a:moveTo>
                  <a:lnTo>
                    <a:pt x="155448" y="100584"/>
                  </a:lnTo>
                  <a:lnTo>
                    <a:pt x="0" y="201168"/>
                  </a:lnTo>
                  <a:close/>
                </a:path>
              </a:pathLst>
            </a:custGeom>
            <a:solidFill>
              <a:srgbClr val="595959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5" name="V 形分隔"/>
            <p:cNvSpPr/>
            <p:nvPr/>
          </p:nvSpPr>
          <p:spPr>
            <a:xfrm>
              <a:off x="9708511" y="3703320"/>
              <a:ext cx="146304" cy="256032"/>
            </a:xfrm>
            <a:prstGeom prst="chevron">
              <a:avLst>
                <a:gd name="adj" fmla="val 62500"/>
              </a:avLst>
            </a:prstGeom>
            <a:solidFill>
              <a:srgbClr val="7A1F2B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66" name="圖說"/>
          <p:cNvSpPr/>
          <p:nvPr/>
        </p:nvSpPr>
        <p:spPr>
          <a:xfrm>
            <a:off x="8871639" y="4046220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三角／V 形分隔</a:t>
            </a:r>
            <a:endParaRPr lang="en-US" sz="850" dirty="0"/>
          </a:p>
        </p:txBody>
      </p:sp>
      <p:sp>
        <p:nvSpPr>
          <p:cNvPr id="67" name="區塊箭頭"/>
          <p:cNvSpPr/>
          <p:nvPr/>
        </p:nvSpPr>
        <p:spPr>
          <a:xfrm>
            <a:off x="10440423" y="3648456"/>
            <a:ext cx="1005840" cy="365760"/>
          </a:xfrm>
          <a:custGeom>
            <a:avLst/>
            <a:gdLst/>
            <a:ahLst/>
            <a:cxnLst/>
            <a:rect l="l" t="t" r="r" b="b"/>
            <a:pathLst>
              <a:path w="1005840" h="365760">
                <a:moveTo>
                  <a:pt x="0" y="109728"/>
                </a:moveTo>
                <a:lnTo>
                  <a:pt x="786384" y="109728"/>
                </a:lnTo>
                <a:lnTo>
                  <a:pt x="786384" y="0"/>
                </a:lnTo>
                <a:lnTo>
                  <a:pt x="1005840" y="182880"/>
                </a:lnTo>
                <a:lnTo>
                  <a:pt x="786384" y="365760"/>
                </a:lnTo>
                <a:lnTo>
                  <a:pt x="786384" y="256032"/>
                </a:lnTo>
                <a:lnTo>
                  <a:pt x="0" y="256032"/>
                </a:lnTo>
                <a:close/>
              </a:path>
            </a:pathLst>
          </a:custGeom>
          <a:solidFill>
            <a:srgbClr val="7A1F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圖說"/>
          <p:cNvSpPr/>
          <p:nvPr/>
        </p:nvSpPr>
        <p:spPr>
          <a:xfrm>
            <a:off x="10271063" y="4046220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區塊箭頭</a:t>
            </a:r>
            <a:endParaRPr lang="en-US" sz="850" dirty="0"/>
          </a:p>
        </p:txBody>
      </p:sp>
      <p:sp>
        <p:nvSpPr>
          <p:cNvPr id="69" name="線條"/>
          <p:cNvSpPr/>
          <p:nvPr/>
        </p:nvSpPr>
        <p:spPr>
          <a:xfrm>
            <a:off x="548640" y="4219956"/>
            <a:ext cx="11094415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70" name="類別"/>
          <p:cNvSpPr/>
          <p:nvPr/>
        </p:nvSpPr>
        <p:spPr>
          <a:xfrm>
            <a:off x="548640" y="4347972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例外與警示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Exception</a:t>
            </a:r>
            <a:endParaRPr lang="en-US" sz="1400" dirty="0"/>
          </a:p>
        </p:txBody>
      </p:sp>
      <p:sp>
        <p:nvSpPr>
          <p:cNvPr id="71" name="警示方塊"/>
          <p:cNvSpPr/>
          <p:nvPr/>
        </p:nvSpPr>
        <p:spPr>
          <a:xfrm>
            <a:off x="1998160" y="4270248"/>
            <a:ext cx="1097280" cy="402336"/>
          </a:xfrm>
          <a:prstGeom prst="rect">
            <a:avLst/>
          </a:prstGeom>
          <a:solidFill>
            <a:srgbClr val="FFFFFF"/>
          </a:solidFill>
          <a:ln w="19050">
            <a:solidFill>
              <a:srgbClr val="7A1F2B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C17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例外狀況</a:t>
            </a:r>
            <a:endParaRPr lang="en-US" sz="1150" dirty="0"/>
          </a:p>
        </p:txBody>
      </p:sp>
      <p:sp>
        <p:nvSpPr>
          <p:cNvPr id="72" name="圖說"/>
          <p:cNvSpPr/>
          <p:nvPr/>
        </p:nvSpPr>
        <p:spPr>
          <a:xfrm>
            <a:off x="1874520" y="470458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警示外框</a:t>
            </a:r>
            <a:endParaRPr lang="en-US" sz="850" dirty="0"/>
          </a:p>
        </p:txBody>
      </p:sp>
      <p:sp>
        <p:nvSpPr>
          <p:cNvPr id="73" name="警示方塊"/>
          <p:cNvSpPr/>
          <p:nvPr/>
        </p:nvSpPr>
        <p:spPr>
          <a:xfrm>
            <a:off x="3397584" y="4270248"/>
            <a:ext cx="1097280" cy="402336"/>
          </a:xfrm>
          <a:prstGeom prst="rect">
            <a:avLst/>
          </a:prstGeom>
          <a:solidFill>
            <a:srgbClr val="ECE0E1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C17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注意事項</a:t>
            </a:r>
            <a:endParaRPr lang="en-US" sz="1150" dirty="0"/>
          </a:p>
        </p:txBody>
      </p:sp>
      <p:sp>
        <p:nvSpPr>
          <p:cNvPr id="74" name="圖說"/>
          <p:cNvSpPr/>
          <p:nvPr/>
        </p:nvSpPr>
        <p:spPr>
          <a:xfrm>
            <a:off x="3273944" y="470458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警示淺底</a:t>
            </a:r>
            <a:endParaRPr lang="en-US" sz="850" dirty="0"/>
          </a:p>
        </p:txBody>
      </p:sp>
      <p:sp>
        <p:nvSpPr>
          <p:cNvPr id="75" name="警示方塊"/>
          <p:cNvSpPr/>
          <p:nvPr/>
        </p:nvSpPr>
        <p:spPr>
          <a:xfrm>
            <a:off x="4797008" y="4270248"/>
            <a:ext cx="1097280" cy="402336"/>
          </a:xfrm>
          <a:prstGeom prst="rect">
            <a:avLst/>
          </a:prstGeom>
          <a:solidFill>
            <a:srgbClr val="7A1F2B"/>
          </a:solidFill>
          <a:ln/>
          <a:effectLst>
            <a:outerShdw blurRad="53340" dist="19050" dir="5400000" sx="100000" sy="100000" algn="ctr" rotWithShape="0">
              <a:srgbClr val="000000">
                <a:alpha val="29000"/>
              </a:srgbClr>
            </a:outerShdw>
          </a:effectLst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中止</a:t>
            </a:r>
            <a:endParaRPr lang="en-US" sz="1150" dirty="0"/>
          </a:p>
        </p:txBody>
      </p:sp>
      <p:sp>
        <p:nvSpPr>
          <p:cNvPr id="76" name="圖說"/>
          <p:cNvSpPr/>
          <p:nvPr/>
        </p:nvSpPr>
        <p:spPr>
          <a:xfrm>
            <a:off x="4673368" y="470458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深底警示</a:t>
            </a:r>
            <a:endParaRPr lang="en-US" sz="850" dirty="0"/>
          </a:p>
        </p:txBody>
      </p:sp>
      <p:grpSp>
        <p:nvGrpSpPr>
          <p:cNvPr id="5002" name="警告三角"/>
          <p:cNvGrpSpPr/>
          <p:nvPr/>
        </p:nvGrpSpPr>
        <p:grpSpPr>
          <a:xfrm>
            <a:off x="6507050" y="4266225"/>
            <a:ext cx="476044" cy="410383"/>
            <a:chOff x="6507050" y="4266225"/>
            <a:chExt cx="476044" cy="410383"/>
          </a:xfrm>
        </p:grpSpPr>
        <p:sp>
          <p:nvSpPr>
            <p:cNvPr id="77" name="警告三角"/>
            <p:cNvSpPr/>
            <p:nvPr/>
          </p:nvSpPr>
          <p:spPr>
            <a:xfrm>
              <a:off x="6507050" y="4266225"/>
              <a:ext cx="476044" cy="410383"/>
            </a:xfrm>
            <a:custGeom>
              <a:avLst/>
              <a:gdLst/>
              <a:ahLst/>
              <a:cxnLst/>
              <a:rect l="l" t="t" r="r" b="b"/>
              <a:pathLst>
                <a:path w="476044" h="410383">
                  <a:moveTo>
                    <a:pt x="0" y="410383"/>
                  </a:moveTo>
                  <a:lnTo>
                    <a:pt x="238022" y="0"/>
                  </a:lnTo>
                  <a:lnTo>
                    <a:pt x="476044" y="410383"/>
                  </a:lnTo>
                  <a:close/>
                </a:path>
              </a:pathLst>
            </a:custGeom>
            <a:solidFill>
              <a:srgbClr val="7A1F2B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8" name="驚嘆號"/>
            <p:cNvSpPr/>
            <p:nvPr/>
          </p:nvSpPr>
          <p:spPr>
            <a:xfrm>
              <a:off x="6507050" y="4389339"/>
              <a:ext cx="476044" cy="2790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7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!</a:t>
              </a:r>
              <a:endParaRPr lang="en-US" sz="1700" dirty="0"/>
            </a:p>
          </p:txBody>
        </p:sp>
      </p:grpSp>
      <p:sp>
        <p:nvSpPr>
          <p:cNvPr id="79" name="圖說"/>
          <p:cNvSpPr/>
          <p:nvPr/>
        </p:nvSpPr>
        <p:spPr>
          <a:xfrm>
            <a:off x="6072792" y="470458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警告三角</a:t>
            </a:r>
            <a:endParaRPr lang="en-US" sz="850" dirty="0"/>
          </a:p>
        </p:txBody>
      </p:sp>
      <p:sp>
        <p:nvSpPr>
          <p:cNvPr id="80" name="錯誤標記"/>
          <p:cNvSpPr/>
          <p:nvPr/>
        </p:nvSpPr>
        <p:spPr>
          <a:xfrm>
            <a:off x="7979538" y="4306458"/>
            <a:ext cx="329916" cy="329916"/>
          </a:xfrm>
          <a:prstGeom prst="ellipse">
            <a:avLst/>
          </a:prstGeom>
          <a:solidFill>
            <a:srgbClr val="7A1F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600" dirty="0"/>
          </a:p>
        </p:txBody>
      </p:sp>
      <p:sp>
        <p:nvSpPr>
          <p:cNvPr id="81" name="圖說"/>
          <p:cNvSpPr/>
          <p:nvPr/>
        </p:nvSpPr>
        <p:spPr>
          <a:xfrm>
            <a:off x="7472216" y="470458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 錯誤標記</a:t>
            </a:r>
            <a:endParaRPr lang="en-US" sz="850" dirty="0"/>
          </a:p>
        </p:txBody>
      </p:sp>
      <p:grpSp>
        <p:nvGrpSpPr>
          <p:cNvPr id="5003" name="紅點提示"/>
          <p:cNvGrpSpPr/>
          <p:nvPr/>
        </p:nvGrpSpPr>
        <p:grpSpPr>
          <a:xfrm>
            <a:off x="8995279" y="4210812"/>
            <a:ext cx="1156716" cy="461772"/>
            <a:chOff x="8995279" y="4210812"/>
            <a:chExt cx="1156716" cy="461772"/>
          </a:xfrm>
        </p:grpSpPr>
        <p:sp>
          <p:nvSpPr>
            <p:cNvPr id="82" name="流程方塊"/>
            <p:cNvSpPr/>
            <p:nvPr/>
          </p:nvSpPr>
          <p:spPr>
            <a:xfrm>
              <a:off x="8995279" y="4270248"/>
              <a:ext cx="1097280" cy="40233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FBFBF"/>
              </a:solidFill>
              <a:prstDash val="solid"/>
            </a:ln>
          </p:spPr>
          <p:txBody>
            <a:bodyPr wrap="square" lIns="25400" tIns="0" rIns="25400" bIns="0" rtlCol="0" anchor="ctr"/>
            <a:lstStyle/>
            <a:p>
              <a:pPr algn="ctr" indent="0" marL="0">
                <a:buNone/>
              </a:pPr>
              <a:r>
                <a:rPr lang="en-US" sz="11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待處理</a:t>
              </a:r>
              <a:endParaRPr lang="en-US" sz="1150" dirty="0"/>
            </a:p>
          </p:txBody>
        </p:sp>
        <p:sp>
          <p:nvSpPr>
            <p:cNvPr id="83" name="提示紅點"/>
            <p:cNvSpPr/>
            <p:nvPr/>
          </p:nvSpPr>
          <p:spPr>
            <a:xfrm>
              <a:off x="9996547" y="4210812"/>
              <a:ext cx="155448" cy="155448"/>
            </a:xfrm>
            <a:prstGeom prst="ellipse">
              <a:avLst/>
            </a:prstGeom>
            <a:solidFill>
              <a:srgbClr val="7A1F2B"/>
            </a:solidFill>
            <a:ln w="15875">
              <a:solidFill>
                <a:srgbClr val="FFFFFF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84" name="圖說"/>
          <p:cNvSpPr/>
          <p:nvPr/>
        </p:nvSpPr>
        <p:spPr>
          <a:xfrm>
            <a:off x="8871639" y="470458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紅點提示</a:t>
            </a:r>
            <a:endParaRPr lang="en-US" sz="850" dirty="0"/>
          </a:p>
        </p:txBody>
      </p:sp>
      <p:sp>
        <p:nvSpPr>
          <p:cNvPr id="85" name="連接線"/>
          <p:cNvSpPr/>
          <p:nvPr/>
        </p:nvSpPr>
        <p:spPr>
          <a:xfrm>
            <a:off x="10412991" y="4325112"/>
            <a:ext cx="1060704" cy="292608"/>
          </a:xfrm>
          <a:custGeom>
            <a:avLst/>
            <a:gdLst/>
            <a:ahLst/>
            <a:cxnLst/>
            <a:rect l="l" t="t" r="r" b="b"/>
            <a:pathLst>
              <a:path w="1060704" h="292608">
                <a:moveTo>
                  <a:pt x="0" y="0"/>
                </a:moveTo>
                <a:lnTo>
                  <a:pt x="438912" y="0"/>
                </a:lnTo>
                <a:lnTo>
                  <a:pt x="438912" y="292608"/>
                </a:lnTo>
                <a:lnTo>
                  <a:pt x="1060704" y="292608"/>
                </a:lnTo>
              </a:path>
            </a:pathLst>
          </a:custGeom>
          <a:ln w="15875">
            <a:solidFill>
              <a:srgbClr val="7A1F2B"/>
            </a:solidFill>
            <a:prstDash val="sysDash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圖說"/>
          <p:cNvSpPr/>
          <p:nvPr/>
        </p:nvSpPr>
        <p:spPr>
          <a:xfrm>
            <a:off x="10271063" y="470458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例外路徑（虛線）</a:t>
            </a:r>
            <a:endParaRPr lang="en-US" sz="850" dirty="0"/>
          </a:p>
        </p:txBody>
      </p:sp>
      <p:sp>
        <p:nvSpPr>
          <p:cNvPr id="87" name="線條"/>
          <p:cNvSpPr/>
          <p:nvPr/>
        </p:nvSpPr>
        <p:spPr>
          <a:xfrm>
            <a:off x="548640" y="4878324"/>
            <a:ext cx="11094415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88" name="類別"/>
          <p:cNvSpPr/>
          <p:nvPr/>
        </p:nvSpPr>
        <p:spPr>
          <a:xfrm>
            <a:off x="548640" y="5088636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圓形・編號・標籤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Circle / Badge / Tag</a:t>
            </a:r>
            <a:endParaRPr lang="en-US" sz="1400" dirty="0"/>
          </a:p>
        </p:txBody>
      </p:sp>
      <p:grpSp>
        <p:nvGrpSpPr>
          <p:cNvPr id="5004" name="光暈大圓"/>
          <p:cNvGrpSpPr/>
          <p:nvPr/>
        </p:nvGrpSpPr>
        <p:grpSpPr>
          <a:xfrm>
            <a:off x="2263336" y="4928616"/>
            <a:ext cx="566928" cy="566928"/>
            <a:chOff x="2263336" y="4928616"/>
            <a:chExt cx="566928" cy="566928"/>
          </a:xfrm>
        </p:grpSpPr>
        <p:sp>
          <p:nvSpPr>
            <p:cNvPr id="89" name="大圓"/>
            <p:cNvSpPr/>
            <p:nvPr/>
          </p:nvSpPr>
          <p:spPr>
            <a:xfrm>
              <a:off x="2263336" y="4928616"/>
              <a:ext cx="566928" cy="56692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  <a:prstDash val="solid"/>
            </a:ln>
            <a:effectLst>
              <a:outerShdw blurRad="85344" dist="15240" dir="5400000" sx="100840" sy="100840" algn="ctr" rotWithShape="0">
                <a:srgbClr val="000000">
                  <a:alpha val="28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0" name="Text 88"/>
            <p:cNvSpPr/>
            <p:nvPr/>
          </p:nvSpPr>
          <p:spPr>
            <a:xfrm>
              <a:off x="2297352" y="4962632"/>
              <a:ext cx="498897" cy="498897"/>
            </a:xfrm>
            <a:prstGeom prst="ellipse">
              <a:avLst/>
            </a:prstGeom>
            <a:ln w="9525">
              <a:solidFill>
                <a:srgbClr val="B08D57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91" name="圖說"/>
          <p:cNvSpPr/>
          <p:nvPr/>
        </p:nvSpPr>
        <p:spPr>
          <a:xfrm>
            <a:off x="1874520" y="552754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光暈大圓</a:t>
            </a:r>
            <a:endParaRPr lang="en-US" sz="850" dirty="0"/>
          </a:p>
        </p:txBody>
      </p:sp>
      <p:grpSp>
        <p:nvGrpSpPr>
          <p:cNvPr id="5005" name="光暈＋外圈細環"/>
          <p:cNvGrpSpPr/>
          <p:nvPr/>
        </p:nvGrpSpPr>
        <p:grpSpPr>
          <a:xfrm>
            <a:off x="3607896" y="4873752"/>
            <a:ext cx="676656" cy="676656"/>
            <a:chOff x="3607896" y="4873752"/>
            <a:chExt cx="676656" cy="676656"/>
          </a:xfrm>
        </p:grpSpPr>
        <p:sp>
          <p:nvSpPr>
            <p:cNvPr id="92" name="外圈細環"/>
            <p:cNvSpPr/>
            <p:nvPr/>
          </p:nvSpPr>
          <p:spPr>
            <a:xfrm>
              <a:off x="3607896" y="4873752"/>
              <a:ext cx="676656" cy="676656"/>
            </a:xfrm>
            <a:prstGeom prst="ellipse">
              <a:avLst/>
            </a:prstGeom>
            <a:ln w="9525">
              <a:solidFill>
                <a:srgbClr val="E6E6E6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3" name="大圓"/>
            <p:cNvSpPr/>
            <p:nvPr/>
          </p:nvSpPr>
          <p:spPr>
            <a:xfrm>
              <a:off x="3662760" y="4928616"/>
              <a:ext cx="566928" cy="56692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  <a:prstDash val="solid"/>
            </a:ln>
            <a:effectLst>
              <a:outerShdw blurRad="85344" dist="15240" dir="5400000" sx="100840" sy="100840" algn="ctr" rotWithShape="0">
                <a:srgbClr val="000000">
                  <a:alpha val="28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4" name="Text 92"/>
            <p:cNvSpPr/>
            <p:nvPr/>
          </p:nvSpPr>
          <p:spPr>
            <a:xfrm>
              <a:off x="3696776" y="4962632"/>
              <a:ext cx="498897" cy="498897"/>
            </a:xfrm>
            <a:prstGeom prst="ellipse">
              <a:avLst/>
            </a:prstGeom>
            <a:ln w="9525">
              <a:solidFill>
                <a:srgbClr val="B08D57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95" name="圖說"/>
          <p:cNvSpPr/>
          <p:nvPr/>
        </p:nvSpPr>
        <p:spPr>
          <a:xfrm>
            <a:off x="3273944" y="552754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光暈＋外圈細環</a:t>
            </a:r>
            <a:endParaRPr lang="en-US" sz="850" dirty="0"/>
          </a:p>
        </p:txBody>
      </p:sp>
      <p:sp>
        <p:nvSpPr>
          <p:cNvPr id="96" name="外框圓"/>
          <p:cNvSpPr/>
          <p:nvPr/>
        </p:nvSpPr>
        <p:spPr>
          <a:xfrm>
            <a:off x="5062184" y="4928616"/>
            <a:ext cx="566928" cy="5669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7" name="圖說"/>
          <p:cNvSpPr/>
          <p:nvPr/>
        </p:nvSpPr>
        <p:spPr>
          <a:xfrm>
            <a:off x="4673368" y="552754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無陰影外框圓</a:t>
            </a:r>
            <a:endParaRPr lang="en-US" sz="850" dirty="0"/>
          </a:p>
        </p:txBody>
      </p:sp>
      <p:grpSp>
        <p:nvGrpSpPr>
          <p:cNvPr id="5006" name="編號徽章"/>
          <p:cNvGrpSpPr/>
          <p:nvPr/>
        </p:nvGrpSpPr>
        <p:grpSpPr>
          <a:xfrm>
            <a:off x="6205576" y="5056632"/>
            <a:ext cx="1078992" cy="310896"/>
            <a:chOff x="6205576" y="5056632"/>
            <a:chExt cx="1078992" cy="310896"/>
          </a:xfrm>
        </p:grpSpPr>
        <p:sp>
          <p:nvSpPr>
            <p:cNvPr id="98" name="編號"/>
            <p:cNvSpPr/>
            <p:nvPr/>
          </p:nvSpPr>
          <p:spPr>
            <a:xfrm>
              <a:off x="6205576" y="5056632"/>
              <a:ext cx="310896" cy="310896"/>
            </a:xfrm>
            <a:prstGeom prst="rect">
              <a:avLst/>
            </a:prstGeom>
            <a:solidFill>
              <a:srgbClr val="7A1F2B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01</a:t>
              </a:r>
              <a:endParaRPr lang="en-US" sz="1000" dirty="0"/>
            </a:p>
          </p:txBody>
        </p:sp>
        <p:sp>
          <p:nvSpPr>
            <p:cNvPr id="99" name="編號"/>
            <p:cNvSpPr/>
            <p:nvPr/>
          </p:nvSpPr>
          <p:spPr>
            <a:xfrm>
              <a:off x="6589624" y="5056632"/>
              <a:ext cx="310896" cy="310896"/>
            </a:xfrm>
            <a:prstGeom prst="rect">
              <a:avLst/>
            </a:prstGeom>
            <a:solidFill>
              <a:srgbClr val="7A1F2B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02</a:t>
              </a:r>
              <a:endParaRPr lang="en-US" sz="1000" dirty="0"/>
            </a:p>
          </p:txBody>
        </p:sp>
        <p:sp>
          <p:nvSpPr>
            <p:cNvPr id="100" name="編號"/>
            <p:cNvSpPr/>
            <p:nvPr/>
          </p:nvSpPr>
          <p:spPr>
            <a:xfrm>
              <a:off x="6973672" y="5056632"/>
              <a:ext cx="310896" cy="310896"/>
            </a:xfrm>
            <a:prstGeom prst="rect">
              <a:avLst/>
            </a:prstGeom>
            <a:solidFill>
              <a:srgbClr val="B08D57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FFFFF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03</a:t>
              </a:r>
              <a:endParaRPr lang="en-US" sz="1000" dirty="0"/>
            </a:p>
          </p:txBody>
        </p:sp>
      </p:grpSp>
      <p:sp>
        <p:nvSpPr>
          <p:cNvPr id="101" name="圖說"/>
          <p:cNvSpPr/>
          <p:nvPr/>
        </p:nvSpPr>
        <p:spPr>
          <a:xfrm>
            <a:off x="6072792" y="552754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編號徽章</a:t>
            </a:r>
            <a:endParaRPr lang="en-US" sz="850" dirty="0"/>
          </a:p>
        </p:txBody>
      </p:sp>
      <p:sp>
        <p:nvSpPr>
          <p:cNvPr id="102" name="標籤"/>
          <p:cNvSpPr/>
          <p:nvPr/>
        </p:nvSpPr>
        <p:spPr>
          <a:xfrm>
            <a:off x="7742200" y="5065776"/>
            <a:ext cx="804591" cy="292608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主要標籤</a:t>
            </a:r>
            <a:endParaRPr lang="en-US" sz="1100" dirty="0"/>
          </a:p>
        </p:txBody>
      </p:sp>
      <p:sp>
        <p:nvSpPr>
          <p:cNvPr id="103" name="圖說"/>
          <p:cNvSpPr/>
          <p:nvPr/>
        </p:nvSpPr>
        <p:spPr>
          <a:xfrm>
            <a:off x="7472216" y="552754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深色標籤</a:t>
            </a:r>
            <a:endParaRPr lang="en-US" sz="850" dirty="0"/>
          </a:p>
        </p:txBody>
      </p:sp>
      <p:grpSp>
        <p:nvGrpSpPr>
          <p:cNvPr id="5007" name="淺色／灰階標籤"/>
          <p:cNvGrpSpPr/>
          <p:nvPr/>
        </p:nvGrpSpPr>
        <p:grpSpPr>
          <a:xfrm>
            <a:off x="8990199" y="5074920"/>
            <a:ext cx="1107440" cy="274320"/>
            <a:chOff x="8990199" y="5074920"/>
            <a:chExt cx="1107440" cy="274320"/>
          </a:xfrm>
        </p:grpSpPr>
        <p:sp>
          <p:nvSpPr>
            <p:cNvPr id="104" name="標籤"/>
            <p:cNvSpPr/>
            <p:nvPr/>
          </p:nvSpPr>
          <p:spPr>
            <a:xfrm>
              <a:off x="8990199" y="5074920"/>
              <a:ext cx="517144" cy="274320"/>
            </a:xfrm>
            <a:prstGeom prst="rect">
              <a:avLst/>
            </a:prstGeom>
            <a:solidFill>
              <a:srgbClr val="B08D57"/>
            </a:solidFill>
            <a:ln/>
          </p:spPr>
          <p:txBody>
            <a:bodyPr wrap="square" lIns="25400" tIns="0" rIns="25400" bIns="0" rtlCol="0" anchor="ctr"/>
            <a:lstStyle/>
            <a:p>
              <a:pPr algn="ctr" indent="0" marL="0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輔助</a:t>
              </a:r>
              <a:endParaRPr lang="en-US" sz="1100" dirty="0"/>
            </a:p>
          </p:txBody>
        </p:sp>
        <p:sp>
          <p:nvSpPr>
            <p:cNvPr id="105" name="標籤"/>
            <p:cNvSpPr/>
            <p:nvPr/>
          </p:nvSpPr>
          <p:spPr>
            <a:xfrm>
              <a:off x="9580495" y="5074920"/>
              <a:ext cx="517144" cy="274320"/>
            </a:xfrm>
            <a:prstGeom prst="rect">
              <a:avLst/>
            </a:prstGeom>
            <a:solidFill>
              <a:srgbClr val="E6E6E6"/>
            </a:solidFill>
            <a:ln/>
          </p:spPr>
          <p:txBody>
            <a:bodyPr wrap="square" lIns="25400" tIns="0" rIns="25400" bIns="0" rtlCol="0" anchor="ctr"/>
            <a:lstStyle/>
            <a:p>
              <a:pPr algn="ctr" indent="0" marL="0">
                <a:buNone/>
              </a:pPr>
              <a:r>
                <a:rPr lang="en-US" sz="11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灰階</a:t>
              </a:r>
              <a:endParaRPr lang="en-US" sz="1100" dirty="0"/>
            </a:p>
          </p:txBody>
        </p:sp>
      </p:grpSp>
      <p:sp>
        <p:nvSpPr>
          <p:cNvPr id="106" name="圖說"/>
          <p:cNvSpPr/>
          <p:nvPr/>
        </p:nvSpPr>
        <p:spPr>
          <a:xfrm>
            <a:off x="8871639" y="552754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淺色／灰階標籤</a:t>
            </a:r>
            <a:endParaRPr lang="en-US" sz="850" dirty="0"/>
          </a:p>
        </p:txBody>
      </p:sp>
      <p:grpSp>
        <p:nvGrpSpPr>
          <p:cNvPr id="5008" name="小圓點"/>
          <p:cNvGrpSpPr/>
          <p:nvPr/>
        </p:nvGrpSpPr>
        <p:grpSpPr>
          <a:xfrm>
            <a:off x="10600443" y="5143500"/>
            <a:ext cx="685800" cy="137160"/>
            <a:chOff x="10600443" y="5143500"/>
            <a:chExt cx="685800" cy="137160"/>
          </a:xfrm>
        </p:grpSpPr>
        <p:sp>
          <p:nvSpPr>
            <p:cNvPr id="107" name="圓點"/>
            <p:cNvSpPr/>
            <p:nvPr/>
          </p:nvSpPr>
          <p:spPr>
            <a:xfrm>
              <a:off x="10600443" y="5143500"/>
              <a:ext cx="137160" cy="137160"/>
            </a:xfrm>
            <a:prstGeom prst="ellipse">
              <a:avLst/>
            </a:prstGeom>
            <a:solidFill>
              <a:srgbClr val="7A1F2B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08" name="圓點"/>
            <p:cNvSpPr/>
            <p:nvPr/>
          </p:nvSpPr>
          <p:spPr>
            <a:xfrm>
              <a:off x="10874763" y="5143500"/>
              <a:ext cx="137160" cy="137160"/>
            </a:xfrm>
            <a:prstGeom prst="ellipse">
              <a:avLst/>
            </a:prstGeom>
            <a:solidFill>
              <a:srgbClr val="B08D57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09" name="圓點"/>
            <p:cNvSpPr/>
            <p:nvPr/>
          </p:nvSpPr>
          <p:spPr>
            <a:xfrm>
              <a:off x="11149083" y="5143500"/>
              <a:ext cx="137160" cy="137160"/>
            </a:xfrm>
            <a:prstGeom prst="ellipse">
              <a:avLst/>
            </a:prstGeom>
            <a:solidFill>
              <a:srgbClr val="BFBFBF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10" name="圖說"/>
          <p:cNvSpPr/>
          <p:nvPr/>
        </p:nvSpPr>
        <p:spPr>
          <a:xfrm>
            <a:off x="10271063" y="5527548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小圓點</a:t>
            </a:r>
            <a:endParaRPr lang="en-US" sz="850" dirty="0"/>
          </a:p>
        </p:txBody>
      </p:sp>
      <p:sp>
        <p:nvSpPr>
          <p:cNvPr id="111" name="線條"/>
          <p:cNvSpPr/>
          <p:nvPr/>
        </p:nvSpPr>
        <p:spPr>
          <a:xfrm>
            <a:off x="548640" y="5701284"/>
            <a:ext cx="11094415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</p:sp>
      <p:sp>
        <p:nvSpPr>
          <p:cNvPr id="112" name="類別"/>
          <p:cNvSpPr/>
          <p:nvPr/>
        </p:nvSpPr>
        <p:spPr>
          <a:xfrm>
            <a:off x="548640" y="5838444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容器與群組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Container</a:t>
            </a:r>
            <a:endParaRPr lang="en-US" sz="1400" dirty="0"/>
          </a:p>
        </p:txBody>
      </p:sp>
      <p:grpSp>
        <p:nvGrpSpPr>
          <p:cNvPr id="5009" name="虛線群組框"/>
          <p:cNvGrpSpPr/>
          <p:nvPr/>
        </p:nvGrpSpPr>
        <p:grpSpPr>
          <a:xfrm>
            <a:off x="1998160" y="5724144"/>
            <a:ext cx="1097280" cy="448056"/>
            <a:chOff x="1998160" y="5724144"/>
            <a:chExt cx="1097280" cy="448056"/>
          </a:xfrm>
        </p:grpSpPr>
        <p:sp>
          <p:nvSpPr>
            <p:cNvPr id="113" name="群組框"/>
            <p:cNvSpPr/>
            <p:nvPr/>
          </p:nvSpPr>
          <p:spPr>
            <a:xfrm>
              <a:off x="1998160" y="5806440"/>
              <a:ext cx="1097280" cy="365760"/>
            </a:xfrm>
            <a:prstGeom prst="rect">
              <a:avLst/>
            </a:prstGeom>
            <a:ln w="9525">
              <a:solidFill>
                <a:srgbClr val="8C8C8C"/>
              </a:solidFill>
              <a:prstDash val="dash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14" name="群組名稱"/>
            <p:cNvSpPr/>
            <p:nvPr/>
          </p:nvSpPr>
          <p:spPr>
            <a:xfrm>
              <a:off x="2089600" y="5724144"/>
              <a:ext cx="566928" cy="164592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群組 A</a:t>
              </a:r>
              <a:endParaRPr lang="en-US" sz="800" dirty="0"/>
            </a:p>
          </p:txBody>
        </p:sp>
      </p:grpSp>
      <p:sp>
        <p:nvSpPr>
          <p:cNvPr id="115" name="圖說"/>
          <p:cNvSpPr/>
          <p:nvPr/>
        </p:nvSpPr>
        <p:spPr>
          <a:xfrm>
            <a:off x="1874520" y="620420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虛線群組框</a:t>
            </a:r>
            <a:endParaRPr lang="en-US" sz="850" dirty="0"/>
          </a:p>
        </p:txBody>
      </p:sp>
      <p:sp>
        <p:nvSpPr>
          <p:cNvPr id="116" name="淺灰面板"/>
          <p:cNvSpPr/>
          <p:nvPr/>
        </p:nvSpPr>
        <p:spPr>
          <a:xfrm>
            <a:off x="3397584" y="5751576"/>
            <a:ext cx="1097280" cy="420624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7" name="圖說"/>
          <p:cNvSpPr/>
          <p:nvPr/>
        </p:nvSpPr>
        <p:spPr>
          <a:xfrm>
            <a:off x="3273944" y="620420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淺灰面板</a:t>
            </a:r>
            <a:endParaRPr lang="en-US" sz="850" dirty="0"/>
          </a:p>
        </p:txBody>
      </p:sp>
      <p:grpSp>
        <p:nvGrpSpPr>
          <p:cNvPr id="5010" name="本風格卡片"/>
          <p:cNvGrpSpPr/>
          <p:nvPr/>
        </p:nvGrpSpPr>
        <p:grpSpPr>
          <a:xfrm>
            <a:off x="4797008" y="5751576"/>
            <a:ext cx="1097280" cy="420624"/>
            <a:chOff x="4797008" y="5751576"/>
            <a:chExt cx="1097280" cy="420624"/>
          </a:xfrm>
        </p:grpSpPr>
        <p:sp>
          <p:nvSpPr>
            <p:cNvPr id="118" name="卡片"/>
            <p:cNvSpPr/>
            <p:nvPr/>
          </p:nvSpPr>
          <p:spPr>
            <a:xfrm>
              <a:off x="4797008" y="5751576"/>
              <a:ext cx="1097280" cy="42062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19" name="色條"/>
            <p:cNvSpPr/>
            <p:nvPr/>
          </p:nvSpPr>
          <p:spPr>
            <a:xfrm>
              <a:off x="4797008" y="5751576"/>
              <a:ext cx="1097280" cy="64008"/>
            </a:xfrm>
            <a:prstGeom prst="rect">
              <a:avLst/>
            </a:prstGeom>
            <a:solidFill>
              <a:srgbClr val="7A1F2B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0" name="圖說"/>
          <p:cNvSpPr/>
          <p:nvPr/>
        </p:nvSpPr>
        <p:spPr>
          <a:xfrm>
            <a:off x="4673368" y="620420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本風格卡片</a:t>
            </a:r>
            <a:endParaRPr lang="en-US" sz="850" dirty="0"/>
          </a:p>
        </p:txBody>
      </p:sp>
      <p:grpSp>
        <p:nvGrpSpPr>
          <p:cNvPr id="5011" name="卡片＋陰影"/>
          <p:cNvGrpSpPr/>
          <p:nvPr/>
        </p:nvGrpSpPr>
        <p:grpSpPr>
          <a:xfrm>
            <a:off x="6196432" y="5751576"/>
            <a:ext cx="1097280" cy="420624"/>
            <a:chOff x="6196432" y="5751576"/>
            <a:chExt cx="1097280" cy="420624"/>
          </a:xfrm>
        </p:grpSpPr>
        <p:sp>
          <p:nvSpPr>
            <p:cNvPr id="121" name="卡片"/>
            <p:cNvSpPr/>
            <p:nvPr/>
          </p:nvSpPr>
          <p:spPr>
            <a:xfrm>
              <a:off x="6196432" y="5751576"/>
              <a:ext cx="1097280" cy="42062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  <a:prstDash val="solid"/>
            </a:ln>
            <a:effectLst>
              <a:outerShdw blurRad="88900" dist="25400" dir="5400000" sx="100000" sy="100000" algn="ctr" rotWithShape="0">
                <a:srgbClr val="000000">
                  <a:alpha val="25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22" name="色條"/>
            <p:cNvSpPr/>
            <p:nvPr/>
          </p:nvSpPr>
          <p:spPr>
            <a:xfrm>
              <a:off x="6196432" y="5751576"/>
              <a:ext cx="1097280" cy="64008"/>
            </a:xfrm>
            <a:prstGeom prst="rect">
              <a:avLst/>
            </a:prstGeom>
            <a:solidFill>
              <a:srgbClr val="7A1F2B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3" name="圖說"/>
          <p:cNvSpPr/>
          <p:nvPr/>
        </p:nvSpPr>
        <p:spPr>
          <a:xfrm>
            <a:off x="6072792" y="620420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卡片＋陰影</a:t>
            </a:r>
            <a:endParaRPr lang="en-US" sz="850" dirty="0"/>
          </a:p>
        </p:txBody>
      </p:sp>
      <p:grpSp>
        <p:nvGrpSpPr>
          <p:cNvPr id="5012" name="表頭色帶卡"/>
          <p:cNvGrpSpPr/>
          <p:nvPr/>
        </p:nvGrpSpPr>
        <p:grpSpPr>
          <a:xfrm>
            <a:off x="7595855" y="5751576"/>
            <a:ext cx="1097280" cy="420624"/>
            <a:chOff x="7595855" y="5751576"/>
            <a:chExt cx="1097280" cy="420624"/>
          </a:xfrm>
        </p:grpSpPr>
        <p:sp>
          <p:nvSpPr>
            <p:cNvPr id="124" name="卡片"/>
            <p:cNvSpPr/>
            <p:nvPr/>
          </p:nvSpPr>
          <p:spPr>
            <a:xfrm>
              <a:off x="7595855" y="5751576"/>
              <a:ext cx="1097280" cy="42062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25" name="表頭"/>
            <p:cNvSpPr/>
            <p:nvPr/>
          </p:nvSpPr>
          <p:spPr>
            <a:xfrm>
              <a:off x="7595855" y="5751576"/>
              <a:ext cx="1097280" cy="146304"/>
            </a:xfrm>
            <a:prstGeom prst="rect">
              <a:avLst/>
            </a:prstGeom>
            <a:solidFill>
              <a:srgbClr val="7A1F2B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6" name="圖說"/>
          <p:cNvSpPr/>
          <p:nvPr/>
        </p:nvSpPr>
        <p:spPr>
          <a:xfrm>
            <a:off x="7472216" y="620420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表頭色帶卡</a:t>
            </a:r>
            <a:endParaRPr lang="en-US" sz="850" dirty="0"/>
          </a:p>
        </p:txBody>
      </p:sp>
      <p:grpSp>
        <p:nvGrpSpPr>
          <p:cNvPr id="5013" name="頂邊／側邊色條"/>
          <p:cNvGrpSpPr/>
          <p:nvPr/>
        </p:nvGrpSpPr>
        <p:grpSpPr>
          <a:xfrm>
            <a:off x="8995279" y="5751576"/>
            <a:ext cx="1097280" cy="420624"/>
            <a:chOff x="8995279" y="5751576"/>
            <a:chExt cx="1097280" cy="420624"/>
          </a:xfrm>
        </p:grpSpPr>
        <p:sp>
          <p:nvSpPr>
            <p:cNvPr id="127" name="卡片"/>
            <p:cNvSpPr/>
            <p:nvPr/>
          </p:nvSpPr>
          <p:spPr>
            <a:xfrm>
              <a:off x="8995279" y="5751576"/>
              <a:ext cx="1097280" cy="42062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28" name="側邊色條"/>
            <p:cNvSpPr/>
            <p:nvPr/>
          </p:nvSpPr>
          <p:spPr>
            <a:xfrm>
              <a:off x="8995279" y="5751576"/>
              <a:ext cx="54864" cy="420624"/>
            </a:xfrm>
            <a:prstGeom prst="rect">
              <a:avLst/>
            </a:prstGeom>
            <a:solidFill>
              <a:srgbClr val="B08D57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9" name="圖說"/>
          <p:cNvSpPr/>
          <p:nvPr/>
        </p:nvSpPr>
        <p:spPr>
          <a:xfrm>
            <a:off x="8871639" y="620420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頂邊／側邊色條</a:t>
            </a:r>
            <a:endParaRPr lang="en-US" sz="850" dirty="0"/>
          </a:p>
        </p:txBody>
      </p:sp>
      <p:grpSp>
        <p:nvGrpSpPr>
          <p:cNvPr id="5014" name="半透明寬欄條"/>
          <p:cNvGrpSpPr/>
          <p:nvPr/>
        </p:nvGrpSpPr>
        <p:grpSpPr>
          <a:xfrm>
            <a:off x="10577583" y="5751576"/>
            <a:ext cx="731520" cy="420624"/>
            <a:chOff x="10577583" y="5751576"/>
            <a:chExt cx="731520" cy="420624"/>
          </a:xfrm>
        </p:grpSpPr>
        <p:sp>
          <p:nvSpPr>
            <p:cNvPr id="130" name="寬欄條"/>
            <p:cNvSpPr/>
            <p:nvPr/>
          </p:nvSpPr>
          <p:spPr>
            <a:xfrm>
              <a:off x="10577583" y="5751576"/>
              <a:ext cx="310896" cy="420624"/>
            </a:xfrm>
            <a:prstGeom prst="rect">
              <a:avLst/>
            </a:prstGeom>
            <a:solidFill>
              <a:srgbClr val="A6A6A6">
                <a:alpha val="38000"/>
              </a:srgbClr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31" name="寬欄條"/>
            <p:cNvSpPr/>
            <p:nvPr/>
          </p:nvSpPr>
          <p:spPr>
            <a:xfrm>
              <a:off x="10998207" y="5751576"/>
              <a:ext cx="310896" cy="420624"/>
            </a:xfrm>
            <a:prstGeom prst="rect">
              <a:avLst/>
            </a:prstGeom>
            <a:solidFill>
              <a:srgbClr val="A6A6A6">
                <a:alpha val="38000"/>
              </a:srgbClr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32" name="圖說"/>
          <p:cNvSpPr/>
          <p:nvPr/>
        </p:nvSpPr>
        <p:spPr>
          <a:xfrm>
            <a:off x="10271063" y="6204204"/>
            <a:ext cx="134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半透明寬欄條</a:t>
            </a:r>
            <a:endParaRPr lang="en-US" sz="850" dirty="0"/>
          </a:p>
        </p:txBody>
      </p:sp>
      <p:sp>
        <p:nvSpPr>
          <p:cNvPr id="133" name="線條"/>
          <p:cNvSpPr/>
          <p:nvPr/>
        </p:nvSpPr>
        <p:spPr>
          <a:xfrm>
            <a:off x="1737360" y="1700784"/>
            <a:ext cx="0" cy="4626864"/>
          </a:xfrm>
          <a:prstGeom prst="line">
            <a:avLst/>
          </a:prstGeom>
          <a:noFill/>
          <a:ln w="6350">
            <a:solidFill>
              <a:srgbClr val="E4E4E4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酒紅精品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135" name="Text 133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/ 13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548640" y="34747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7A1F2B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常見組合 Common Patterns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060704"/>
            <a:ext cx="822960" cy="22860"/>
          </a:xfrm>
          <a:prstGeom prst="rect">
            <a:avLst/>
          </a:prstGeom>
          <a:solidFill>
            <a:srgbClr val="B08D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8640" y="116128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已排好、已連線的流程小組合：整組複製即可使用（純流程圖語意）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15084"/>
            <a:ext cx="100584" cy="100584"/>
          </a:xfrm>
          <a:prstGeom prst="rect">
            <a:avLst/>
          </a:prstGeom>
          <a:solidFill>
            <a:srgbClr val="B08D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組合名稱"/>
          <p:cNvSpPr/>
          <p:nvPr/>
        </p:nvSpPr>
        <p:spPr>
          <a:xfrm>
            <a:off x="749808" y="1737360"/>
            <a:ext cx="242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三步驟流程</a:t>
            </a:r>
            <a:r>
              <a:rPr lang="en-US" sz="8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Linear Process</a:t>
            </a:r>
            <a:endParaRPr lang="en-US" sz="1400" dirty="0"/>
          </a:p>
        </p:txBody>
      </p:sp>
      <p:sp>
        <p:nvSpPr>
          <p:cNvPr id="7" name="線條"/>
          <p:cNvSpPr/>
          <p:nvPr/>
        </p:nvSpPr>
        <p:spPr>
          <a:xfrm>
            <a:off x="548640" y="2048256"/>
            <a:ext cx="262272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0" name="三步驟流程"/>
          <p:cNvGrpSpPr/>
          <p:nvPr/>
        </p:nvGrpSpPr>
        <p:grpSpPr>
          <a:xfrm>
            <a:off x="548640" y="2276856"/>
            <a:ext cx="2622728" cy="777240"/>
            <a:chOff x="548640" y="2276856"/>
            <a:chExt cx="2622728" cy="777240"/>
          </a:xfrm>
        </p:grpSpPr>
        <p:sp>
          <p:nvSpPr>
            <p:cNvPr id="8" name="處理"/>
            <p:cNvSpPr/>
            <p:nvPr/>
          </p:nvSpPr>
          <p:spPr>
            <a:xfrm>
              <a:off x="548640" y="2670048"/>
              <a:ext cx="676656" cy="3840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6A6A6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步驟一</a:t>
              </a:r>
              <a:endParaRPr lang="en-US" sz="1050" dirty="0"/>
            </a:p>
          </p:txBody>
        </p:sp>
        <p:sp>
          <p:nvSpPr>
            <p:cNvPr id="9" name="編號"/>
            <p:cNvSpPr/>
            <p:nvPr/>
          </p:nvSpPr>
          <p:spPr>
            <a:xfrm>
              <a:off x="768096" y="2276856"/>
              <a:ext cx="237744" cy="237744"/>
            </a:xfrm>
            <a:prstGeom prst="rect">
              <a:avLst/>
            </a:prstGeom>
            <a:solidFill>
              <a:srgbClr val="7A1F2B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FFFFF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01</a:t>
              </a:r>
              <a:endParaRPr lang="en-US" sz="900" dirty="0"/>
            </a:p>
          </p:txBody>
        </p:sp>
        <p:sp>
          <p:nvSpPr>
            <p:cNvPr id="10" name="處理"/>
            <p:cNvSpPr/>
            <p:nvPr/>
          </p:nvSpPr>
          <p:spPr>
            <a:xfrm>
              <a:off x="1521676" y="2670048"/>
              <a:ext cx="676656" cy="3840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6A6A6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步驟二</a:t>
              </a:r>
              <a:endParaRPr lang="en-US" sz="1050" dirty="0"/>
            </a:p>
          </p:txBody>
        </p:sp>
        <p:sp>
          <p:nvSpPr>
            <p:cNvPr id="11" name="編號"/>
            <p:cNvSpPr/>
            <p:nvPr/>
          </p:nvSpPr>
          <p:spPr>
            <a:xfrm>
              <a:off x="1741132" y="2276856"/>
              <a:ext cx="237744" cy="237744"/>
            </a:xfrm>
            <a:prstGeom prst="rect">
              <a:avLst/>
            </a:prstGeom>
            <a:solidFill>
              <a:srgbClr val="7A1F2B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FFFFF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02</a:t>
              </a:r>
              <a:endParaRPr lang="en-US" sz="900" dirty="0"/>
            </a:p>
          </p:txBody>
        </p:sp>
        <p:sp>
          <p:nvSpPr>
            <p:cNvPr id="12" name="處理"/>
            <p:cNvSpPr/>
            <p:nvPr/>
          </p:nvSpPr>
          <p:spPr>
            <a:xfrm>
              <a:off x="2494712" y="2670048"/>
              <a:ext cx="676656" cy="384048"/>
            </a:xfrm>
            <a:prstGeom prst="rect">
              <a:avLst/>
            </a:prstGeom>
            <a:solidFill>
              <a:srgbClr val="7A1F2B"/>
            </a:solidFill>
            <a:ln/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步驟三</a:t>
              </a:r>
              <a:endParaRPr lang="en-US" sz="1050" dirty="0"/>
            </a:p>
          </p:txBody>
        </p:sp>
        <p:sp>
          <p:nvSpPr>
            <p:cNvPr id="13" name="編號"/>
            <p:cNvSpPr/>
            <p:nvPr/>
          </p:nvSpPr>
          <p:spPr>
            <a:xfrm>
              <a:off x="2714168" y="2276856"/>
              <a:ext cx="237744" cy="237744"/>
            </a:xfrm>
            <a:prstGeom prst="rect">
              <a:avLst/>
            </a:prstGeom>
            <a:solidFill>
              <a:srgbClr val="7A1F2B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FFFFF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03</a:t>
              </a:r>
              <a:endParaRPr lang="en-US" sz="900" dirty="0"/>
            </a:p>
          </p:txBody>
        </p:sp>
        <p:cxnSp>
          <p:nvCxnSpPr>
            <p:cNvPr id="14" name="連接線"/>
            <p:cNvCxnSpPr>
              <a:stCxn id="8" idx="3"/>
              <a:endCxn id="10" idx="1"/>
            </p:cNvCxnSpPr>
            <p:nvPr/>
          </p:nvCxnSpPr>
          <p:spPr>
            <a:xfrm>
              <a:off x="1225296" y="2862072"/>
              <a:ext cx="296380" cy="0"/>
            </a:xfrm>
            <a:prstGeom prst="straightConnector1">
              <a:avLst/>
            </a:prstGeom>
            <a:ln w="12700">
              <a:solidFill>
                <a:srgbClr val="7F7F7F"/>
              </a:solidFill>
              <a:prstDash val="solid"/>
              <a:tailEnd type="stealth" w="lg" len="lg"/>
            </a:ln>
          </p:spPr>
        </p:cxnSp>
        <p:cxnSp>
          <p:nvCxnSpPr>
            <p:cNvPr id="15" name="連接線"/>
            <p:cNvCxnSpPr>
              <a:stCxn id="10" idx="3"/>
              <a:endCxn id="12" idx="1"/>
            </p:cNvCxnSpPr>
            <p:nvPr/>
          </p:nvCxnSpPr>
          <p:spPr>
            <a:xfrm>
              <a:off x="2198332" y="2862072"/>
              <a:ext cx="296380" cy="0"/>
            </a:xfrm>
            <a:prstGeom prst="straightConnector1">
              <a:avLst/>
            </a:prstGeom>
            <a:ln w="12700">
              <a:solidFill>
                <a:srgbClr val="7F7F7F"/>
              </a:solidFill>
              <a:prstDash val="solid"/>
              <a:tailEnd type="stealth" w="lg" len="lg"/>
            </a:ln>
          </p:spPr>
        </p:cxnSp>
      </p:grpSp>
      <p:sp>
        <p:nvSpPr>
          <p:cNvPr id="16" name="Text 14"/>
          <p:cNvSpPr/>
          <p:nvPr/>
        </p:nvSpPr>
        <p:spPr>
          <a:xfrm>
            <a:off x="3372536" y="1815084"/>
            <a:ext cx="100584" cy="100584"/>
          </a:xfrm>
          <a:prstGeom prst="rect">
            <a:avLst/>
          </a:prstGeom>
          <a:solidFill>
            <a:srgbClr val="B08D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組合名稱"/>
          <p:cNvSpPr/>
          <p:nvPr/>
        </p:nvSpPr>
        <p:spPr>
          <a:xfrm>
            <a:off x="3573704" y="1737360"/>
            <a:ext cx="242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判斷分岔（是／否）</a:t>
            </a:r>
            <a:r>
              <a:rPr lang="en-US" sz="8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Decision Branch</a:t>
            </a:r>
            <a:endParaRPr lang="en-US" sz="1400" dirty="0"/>
          </a:p>
        </p:txBody>
      </p:sp>
      <p:sp>
        <p:nvSpPr>
          <p:cNvPr id="18" name="線條"/>
          <p:cNvSpPr/>
          <p:nvPr/>
        </p:nvSpPr>
        <p:spPr>
          <a:xfrm>
            <a:off x="3372536" y="2048256"/>
            <a:ext cx="262272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1" name="判斷分岔（是／否）"/>
          <p:cNvGrpSpPr/>
          <p:nvPr/>
        </p:nvGrpSpPr>
        <p:grpSpPr>
          <a:xfrm>
            <a:off x="3372536" y="2221992"/>
            <a:ext cx="2622728" cy="1417320"/>
            <a:chOff x="3372536" y="2221992"/>
            <a:chExt cx="2622728" cy="1417320"/>
          </a:xfrm>
        </p:grpSpPr>
        <p:sp>
          <p:nvSpPr>
            <p:cNvPr id="19" name="處理"/>
            <p:cNvSpPr/>
            <p:nvPr/>
          </p:nvSpPr>
          <p:spPr>
            <a:xfrm>
              <a:off x="3372536" y="2322576"/>
              <a:ext cx="658368" cy="3840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6A6A6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檢查</a:t>
              </a:r>
              <a:endParaRPr lang="en-US" sz="1050" dirty="0"/>
            </a:p>
          </p:txBody>
        </p:sp>
        <p:sp>
          <p:nvSpPr>
            <p:cNvPr id="20" name="判斷"/>
            <p:cNvSpPr/>
            <p:nvPr/>
          </p:nvSpPr>
          <p:spPr>
            <a:xfrm>
              <a:off x="4268648" y="2221992"/>
              <a:ext cx="768096" cy="585216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rgbClr val="A6A6A6"/>
              </a:solidFill>
              <a:prstDash val="solid"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9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通過？</a:t>
              </a:r>
              <a:endParaRPr lang="en-US" sz="950" dirty="0"/>
            </a:p>
          </p:txBody>
        </p:sp>
        <p:cxnSp>
          <p:nvCxnSpPr>
            <p:cNvPr id="21" name="連接線"/>
            <p:cNvCxnSpPr>
              <a:stCxn id="19" idx="3"/>
              <a:endCxn id="20" idx="1"/>
            </p:cNvCxnSpPr>
            <p:nvPr/>
          </p:nvCxnSpPr>
          <p:spPr>
            <a:xfrm>
              <a:off x="4030904" y="2514600"/>
              <a:ext cx="237744" cy="0"/>
            </a:xfrm>
            <a:prstGeom prst="straightConnector1">
              <a:avLst/>
            </a:prstGeom>
            <a:ln w="12700">
              <a:solidFill>
                <a:srgbClr val="7F7F7F"/>
              </a:solidFill>
              <a:prstDash val="solid"/>
              <a:tailEnd type="stealth" w="lg" len="lg"/>
            </a:ln>
          </p:spPr>
        </p:cxnSp>
        <p:sp>
          <p:nvSpPr>
            <p:cNvPr id="22" name="處理"/>
            <p:cNvSpPr/>
            <p:nvPr/>
          </p:nvSpPr>
          <p:spPr>
            <a:xfrm>
              <a:off x="5318608" y="2322576"/>
              <a:ext cx="676656" cy="384048"/>
            </a:xfrm>
            <a:prstGeom prst="rect">
              <a:avLst/>
            </a:prstGeom>
            <a:solidFill>
              <a:srgbClr val="7A1F2B"/>
            </a:solidFill>
            <a:ln/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執行</a:t>
              </a:r>
              <a:endParaRPr lang="en-US" sz="1050" dirty="0"/>
            </a:p>
          </p:txBody>
        </p:sp>
        <p:cxnSp>
          <p:nvCxnSpPr>
            <p:cNvPr id="23" name="連接線"/>
            <p:cNvCxnSpPr>
              <a:stCxn id="20" idx="3"/>
              <a:endCxn id="22" idx="1"/>
            </p:cNvCxnSpPr>
            <p:nvPr/>
          </p:nvCxnSpPr>
          <p:spPr>
            <a:xfrm>
              <a:off x="5036744" y="2514600"/>
              <a:ext cx="281864" cy="0"/>
            </a:xfrm>
            <a:prstGeom prst="straightConnector1">
              <a:avLst/>
            </a:prstGeom>
            <a:ln w="12700">
              <a:solidFill>
                <a:srgbClr val="7F7F7F"/>
              </a:solidFill>
              <a:prstDash val="solid"/>
              <a:tailEnd type="stealth" w="lg" len="lg"/>
            </a:ln>
          </p:spPr>
        </p:cxnSp>
        <p:sp>
          <p:nvSpPr>
            <p:cNvPr id="24" name="標註"/>
            <p:cNvSpPr/>
            <p:nvPr/>
          </p:nvSpPr>
          <p:spPr>
            <a:xfrm>
              <a:off x="5036744" y="2295144"/>
              <a:ext cx="3657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是</a:t>
              </a:r>
              <a:endParaRPr lang="en-US" sz="850" dirty="0"/>
            </a:p>
          </p:txBody>
        </p:sp>
        <p:sp>
          <p:nvSpPr>
            <p:cNvPr id="25" name="處理"/>
            <p:cNvSpPr/>
            <p:nvPr/>
          </p:nvSpPr>
          <p:spPr>
            <a:xfrm>
              <a:off x="4314368" y="3255264"/>
              <a:ext cx="676656" cy="3840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6A6A6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修正</a:t>
              </a:r>
              <a:endParaRPr lang="en-US" sz="1050" dirty="0"/>
            </a:p>
          </p:txBody>
        </p:sp>
        <p:cxnSp>
          <p:nvCxnSpPr>
            <p:cNvPr id="26" name="連接線"/>
            <p:cNvCxnSpPr>
              <a:stCxn id="20" idx="2"/>
              <a:endCxn id="25" idx="0"/>
            </p:cNvCxnSpPr>
            <p:nvPr/>
          </p:nvCxnSpPr>
          <p:spPr>
            <a:xfrm>
              <a:off x="4652696" y="2807208"/>
              <a:ext cx="0" cy="448056"/>
            </a:xfrm>
            <a:prstGeom prst="straightConnector1">
              <a:avLst/>
            </a:prstGeom>
            <a:ln w="12700">
              <a:solidFill>
                <a:srgbClr val="7F7F7F"/>
              </a:solidFill>
              <a:prstDash val="solid"/>
              <a:tailEnd type="stealth" w="lg" len="lg"/>
            </a:ln>
          </p:spPr>
        </p:cxnSp>
        <p:sp>
          <p:nvSpPr>
            <p:cNvPr id="27" name="標註"/>
            <p:cNvSpPr/>
            <p:nvPr/>
          </p:nvSpPr>
          <p:spPr>
            <a:xfrm>
              <a:off x="4670984" y="2843784"/>
              <a:ext cx="2743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否</a:t>
              </a:r>
              <a:endParaRPr lang="en-US" sz="850" dirty="0"/>
            </a:p>
          </p:txBody>
        </p:sp>
      </p:grpSp>
      <p:sp>
        <p:nvSpPr>
          <p:cNvPr id="28" name="Text 26"/>
          <p:cNvSpPr/>
          <p:nvPr/>
        </p:nvSpPr>
        <p:spPr>
          <a:xfrm>
            <a:off x="6196432" y="1815084"/>
            <a:ext cx="100584" cy="100584"/>
          </a:xfrm>
          <a:prstGeom prst="rect">
            <a:avLst/>
          </a:prstGeom>
          <a:solidFill>
            <a:srgbClr val="B08D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組合名稱"/>
          <p:cNvSpPr/>
          <p:nvPr/>
        </p:nvSpPr>
        <p:spPr>
          <a:xfrm>
            <a:off x="6397600" y="1737360"/>
            <a:ext cx="242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例外退回路徑</a:t>
            </a:r>
            <a:r>
              <a:rPr lang="en-US" sz="8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Exception Return</a:t>
            </a:r>
            <a:endParaRPr lang="en-US" sz="1400" dirty="0"/>
          </a:p>
        </p:txBody>
      </p:sp>
      <p:sp>
        <p:nvSpPr>
          <p:cNvPr id="30" name="線條"/>
          <p:cNvSpPr/>
          <p:nvPr/>
        </p:nvSpPr>
        <p:spPr>
          <a:xfrm>
            <a:off x="6196432" y="2048256"/>
            <a:ext cx="262272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2" name="例外退回路徑"/>
          <p:cNvGrpSpPr/>
          <p:nvPr/>
        </p:nvGrpSpPr>
        <p:grpSpPr>
          <a:xfrm>
            <a:off x="6196432" y="2432304"/>
            <a:ext cx="2622728" cy="987552"/>
            <a:chOff x="6196432" y="2432304"/>
            <a:chExt cx="2622728" cy="987552"/>
          </a:xfrm>
        </p:grpSpPr>
        <p:sp>
          <p:nvSpPr>
            <p:cNvPr id="31" name="處理"/>
            <p:cNvSpPr/>
            <p:nvPr/>
          </p:nvSpPr>
          <p:spPr>
            <a:xfrm>
              <a:off x="6196432" y="2432304"/>
              <a:ext cx="676656" cy="3840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6A6A6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受理</a:t>
              </a:r>
              <a:endParaRPr lang="en-US" sz="1050" dirty="0"/>
            </a:p>
          </p:txBody>
        </p:sp>
        <p:sp>
          <p:nvSpPr>
            <p:cNvPr id="32" name="處理"/>
            <p:cNvSpPr/>
            <p:nvPr/>
          </p:nvSpPr>
          <p:spPr>
            <a:xfrm>
              <a:off x="7169468" y="2432304"/>
              <a:ext cx="676656" cy="3840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6A6A6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審查</a:t>
              </a:r>
              <a:endParaRPr lang="en-US" sz="1050" dirty="0"/>
            </a:p>
          </p:txBody>
        </p:sp>
        <p:sp>
          <p:nvSpPr>
            <p:cNvPr id="33" name="處理"/>
            <p:cNvSpPr/>
            <p:nvPr/>
          </p:nvSpPr>
          <p:spPr>
            <a:xfrm>
              <a:off x="8142503" y="2432304"/>
              <a:ext cx="676656" cy="384048"/>
            </a:xfrm>
            <a:prstGeom prst="rect">
              <a:avLst/>
            </a:prstGeom>
            <a:solidFill>
              <a:srgbClr val="7A1F2B"/>
            </a:solidFill>
            <a:ln/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完成</a:t>
              </a:r>
              <a:endParaRPr lang="en-US" sz="1050" dirty="0"/>
            </a:p>
          </p:txBody>
        </p:sp>
        <p:cxnSp>
          <p:nvCxnSpPr>
            <p:cNvPr id="34" name="連接線"/>
            <p:cNvCxnSpPr>
              <a:stCxn id="31" idx="3"/>
              <a:endCxn id="32" idx="1"/>
            </p:cNvCxnSpPr>
            <p:nvPr/>
          </p:nvCxnSpPr>
          <p:spPr>
            <a:xfrm>
              <a:off x="6873088" y="2624328"/>
              <a:ext cx="296380" cy="0"/>
            </a:xfrm>
            <a:prstGeom prst="straightConnector1">
              <a:avLst/>
            </a:prstGeom>
            <a:ln w="12700">
              <a:solidFill>
                <a:srgbClr val="7F7F7F"/>
              </a:solidFill>
              <a:prstDash val="solid"/>
              <a:tailEnd type="stealth" w="lg" len="lg"/>
            </a:ln>
          </p:spPr>
        </p:cxnSp>
        <p:cxnSp>
          <p:nvCxnSpPr>
            <p:cNvPr id="35" name="連接線"/>
            <p:cNvCxnSpPr>
              <a:stCxn id="32" idx="3"/>
              <a:endCxn id="33" idx="1"/>
            </p:cNvCxnSpPr>
            <p:nvPr/>
          </p:nvCxnSpPr>
          <p:spPr>
            <a:xfrm>
              <a:off x="7846124" y="2624328"/>
              <a:ext cx="296380" cy="0"/>
            </a:xfrm>
            <a:prstGeom prst="straightConnector1">
              <a:avLst/>
            </a:prstGeom>
            <a:ln w="12700">
              <a:solidFill>
                <a:srgbClr val="7F7F7F"/>
              </a:solidFill>
              <a:prstDash val="solid"/>
              <a:tailEnd type="stealth" w="lg" len="lg"/>
            </a:ln>
          </p:spPr>
        </p:cxnSp>
        <p:cxnSp>
          <p:nvCxnSpPr>
            <p:cNvPr id="36" name="連接線"/>
            <p:cNvCxnSpPr>
              <a:stCxn id="32" idx="2"/>
              <a:endCxn id="31" idx="2"/>
            </p:cNvCxnSpPr>
            <p:nvPr/>
          </p:nvCxnSpPr>
          <p:spPr>
            <a:xfrm rot="5400000">
              <a:off x="7018534" y="2332577"/>
              <a:ext cx="5486" cy="973036"/>
            </a:xfrm>
            <a:prstGeom prst="bentConnector3">
              <a:avLst>
                <a:gd name="adj1" fmla="val 7000000"/>
              </a:avLst>
            </a:prstGeom>
            <a:ln w="15875">
              <a:solidFill>
                <a:srgbClr val="7A1F2B"/>
              </a:solidFill>
              <a:prstDash val="sysDash"/>
              <a:tailEnd type="triangle"/>
            </a:ln>
          </p:spPr>
        </p:cxnSp>
        <p:sp>
          <p:nvSpPr>
            <p:cNvPr id="37" name="標註"/>
            <p:cNvSpPr/>
            <p:nvPr/>
          </p:nvSpPr>
          <p:spPr>
            <a:xfrm>
              <a:off x="6534760" y="3236976"/>
              <a:ext cx="973036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5C172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例外：退回補件</a:t>
              </a:r>
              <a:endParaRPr lang="en-US" sz="850" dirty="0"/>
            </a:p>
          </p:txBody>
        </p:sp>
      </p:grpSp>
      <p:sp>
        <p:nvSpPr>
          <p:cNvPr id="38" name="Text 36"/>
          <p:cNvSpPr/>
          <p:nvPr/>
        </p:nvSpPr>
        <p:spPr>
          <a:xfrm>
            <a:off x="9020327" y="1815084"/>
            <a:ext cx="100584" cy="100584"/>
          </a:xfrm>
          <a:prstGeom prst="rect">
            <a:avLst/>
          </a:prstGeom>
          <a:solidFill>
            <a:srgbClr val="B08D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組合名稱"/>
          <p:cNvSpPr/>
          <p:nvPr/>
        </p:nvSpPr>
        <p:spPr>
          <a:xfrm>
            <a:off x="9221495" y="1737360"/>
            <a:ext cx="242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審核迴圈</a:t>
            </a:r>
            <a:r>
              <a:rPr lang="en-US" sz="8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Approval Loop</a:t>
            </a:r>
            <a:endParaRPr lang="en-US" sz="1400" dirty="0"/>
          </a:p>
        </p:txBody>
      </p:sp>
      <p:sp>
        <p:nvSpPr>
          <p:cNvPr id="40" name="線條"/>
          <p:cNvSpPr/>
          <p:nvPr/>
        </p:nvSpPr>
        <p:spPr>
          <a:xfrm>
            <a:off x="9020327" y="2048256"/>
            <a:ext cx="262272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3" name="審核迴圈"/>
          <p:cNvGrpSpPr/>
          <p:nvPr/>
        </p:nvGrpSpPr>
        <p:grpSpPr>
          <a:xfrm>
            <a:off x="9020327" y="2121408"/>
            <a:ext cx="2622728" cy="1161288"/>
            <a:chOff x="9020327" y="2121408"/>
            <a:chExt cx="2622728" cy="1161288"/>
          </a:xfrm>
        </p:grpSpPr>
        <p:sp>
          <p:nvSpPr>
            <p:cNvPr id="41" name="處理"/>
            <p:cNvSpPr/>
            <p:nvPr/>
          </p:nvSpPr>
          <p:spPr>
            <a:xfrm>
              <a:off x="9020327" y="2816352"/>
              <a:ext cx="731520" cy="3840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6A6A6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提出申請</a:t>
              </a:r>
              <a:endParaRPr lang="en-US" sz="1050" dirty="0"/>
            </a:p>
          </p:txBody>
        </p:sp>
        <p:sp>
          <p:nvSpPr>
            <p:cNvPr id="42" name="判斷"/>
            <p:cNvSpPr/>
            <p:nvPr/>
          </p:nvSpPr>
          <p:spPr>
            <a:xfrm>
              <a:off x="9934727" y="2734056"/>
              <a:ext cx="676656" cy="548640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rgbClr val="A6A6A6"/>
              </a:solidFill>
              <a:prstDash val="solid"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9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審核</a:t>
              </a:r>
              <a:endParaRPr lang="en-US" sz="950" dirty="0"/>
            </a:p>
          </p:txBody>
        </p:sp>
        <p:cxnSp>
          <p:nvCxnSpPr>
            <p:cNvPr id="43" name="連接線"/>
            <p:cNvCxnSpPr>
              <a:stCxn id="41" idx="3"/>
              <a:endCxn id="42" idx="1"/>
            </p:cNvCxnSpPr>
            <p:nvPr/>
          </p:nvCxnSpPr>
          <p:spPr>
            <a:xfrm>
              <a:off x="9751847" y="3008376"/>
              <a:ext cx="182880" cy="0"/>
            </a:xfrm>
            <a:prstGeom prst="straightConnector1">
              <a:avLst/>
            </a:prstGeom>
            <a:ln w="12700">
              <a:solidFill>
                <a:srgbClr val="7F7F7F"/>
              </a:solidFill>
              <a:prstDash val="solid"/>
              <a:tailEnd type="stealth" w="lg" len="lg"/>
            </a:ln>
          </p:spPr>
        </p:cxnSp>
        <p:sp>
          <p:nvSpPr>
            <p:cNvPr id="44" name="處理"/>
            <p:cNvSpPr/>
            <p:nvPr/>
          </p:nvSpPr>
          <p:spPr>
            <a:xfrm>
              <a:off x="11076127" y="2816352"/>
              <a:ext cx="566928" cy="384048"/>
            </a:xfrm>
            <a:prstGeom prst="rect">
              <a:avLst/>
            </a:prstGeom>
            <a:solidFill>
              <a:srgbClr val="7A1F2B"/>
            </a:solidFill>
            <a:ln/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核准</a:t>
              </a:r>
              <a:endParaRPr lang="en-US" sz="1050" dirty="0"/>
            </a:p>
          </p:txBody>
        </p:sp>
        <p:cxnSp>
          <p:nvCxnSpPr>
            <p:cNvPr id="45" name="連接線"/>
            <p:cNvCxnSpPr>
              <a:stCxn id="42" idx="3"/>
              <a:endCxn id="44" idx="1"/>
            </p:cNvCxnSpPr>
            <p:nvPr/>
          </p:nvCxnSpPr>
          <p:spPr>
            <a:xfrm>
              <a:off x="10611383" y="3008376"/>
              <a:ext cx="464744" cy="0"/>
            </a:xfrm>
            <a:prstGeom prst="straightConnector1">
              <a:avLst/>
            </a:prstGeom>
            <a:ln w="12700">
              <a:solidFill>
                <a:srgbClr val="7F7F7F"/>
              </a:solidFill>
              <a:prstDash val="solid"/>
              <a:tailEnd type="stealth" w="lg" len="lg"/>
            </a:ln>
          </p:spPr>
        </p:cxnSp>
        <p:sp>
          <p:nvSpPr>
            <p:cNvPr id="46" name="標註"/>
            <p:cNvSpPr/>
            <p:nvPr/>
          </p:nvSpPr>
          <p:spPr>
            <a:xfrm>
              <a:off x="10611383" y="2788920"/>
              <a:ext cx="464744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通過</a:t>
              </a:r>
              <a:endParaRPr lang="en-US" sz="850" dirty="0"/>
            </a:p>
          </p:txBody>
        </p:sp>
        <p:cxnSp>
          <p:nvCxnSpPr>
            <p:cNvPr id="47" name="連接線"/>
            <p:cNvCxnSpPr>
              <a:stCxn id="42" idx="0"/>
              <a:endCxn id="41" idx="0"/>
            </p:cNvCxnSpPr>
            <p:nvPr/>
          </p:nvCxnSpPr>
          <p:spPr>
            <a:xfrm rot="5400000">
              <a:off x="9788423" y="2331720"/>
              <a:ext cx="82296" cy="886968"/>
            </a:xfrm>
            <a:prstGeom prst="bentConnector3">
              <a:avLst>
                <a:gd name="adj1" fmla="val -500000"/>
              </a:avLst>
            </a:prstGeom>
            <a:ln w="12700">
              <a:solidFill>
                <a:srgbClr val="7F7F7F"/>
              </a:solidFill>
              <a:prstDash val="solid"/>
              <a:tailEnd type="stealth" w="lg" len="lg"/>
            </a:ln>
          </p:spPr>
        </p:cxnSp>
        <p:sp>
          <p:nvSpPr>
            <p:cNvPr id="48" name="標註"/>
            <p:cNvSpPr/>
            <p:nvPr/>
          </p:nvSpPr>
          <p:spPr>
            <a:xfrm>
              <a:off x="9404375" y="2121408"/>
              <a:ext cx="8686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退回修改後重送</a:t>
              </a:r>
              <a:endParaRPr lang="en-US" sz="850" dirty="0"/>
            </a:p>
          </p:txBody>
        </p:sp>
      </p:grpSp>
      <p:sp>
        <p:nvSpPr>
          <p:cNvPr id="49" name="Text 47"/>
          <p:cNvSpPr/>
          <p:nvPr/>
        </p:nvSpPr>
        <p:spPr>
          <a:xfrm>
            <a:off x="548640" y="4119372"/>
            <a:ext cx="100584" cy="100584"/>
          </a:xfrm>
          <a:prstGeom prst="rect">
            <a:avLst/>
          </a:prstGeom>
          <a:solidFill>
            <a:srgbClr val="B08D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組合名稱"/>
          <p:cNvSpPr/>
          <p:nvPr/>
        </p:nvSpPr>
        <p:spPr>
          <a:xfrm>
            <a:off x="749808" y="4041648"/>
            <a:ext cx="242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泳道（雙道）</a:t>
            </a:r>
            <a:r>
              <a:rPr lang="en-US" sz="8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Swimlane</a:t>
            </a:r>
            <a:endParaRPr lang="en-US" sz="1400" dirty="0"/>
          </a:p>
        </p:txBody>
      </p:sp>
      <p:sp>
        <p:nvSpPr>
          <p:cNvPr id="51" name="線條"/>
          <p:cNvSpPr/>
          <p:nvPr/>
        </p:nvSpPr>
        <p:spPr>
          <a:xfrm>
            <a:off x="548640" y="4352544"/>
            <a:ext cx="262272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4" name="泳道（雙道）"/>
          <p:cNvGrpSpPr/>
          <p:nvPr/>
        </p:nvGrpSpPr>
        <p:grpSpPr>
          <a:xfrm>
            <a:off x="548640" y="4443984"/>
            <a:ext cx="2622728" cy="1517904"/>
            <a:chOff x="548640" y="4443984"/>
            <a:chExt cx="2622728" cy="1517904"/>
          </a:xfrm>
        </p:grpSpPr>
        <p:sp>
          <p:nvSpPr>
            <p:cNvPr id="52" name="泳道"/>
            <p:cNvSpPr/>
            <p:nvPr/>
          </p:nvSpPr>
          <p:spPr>
            <a:xfrm>
              <a:off x="548640" y="4443984"/>
              <a:ext cx="2622728" cy="7315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3" name="泳道標題"/>
            <p:cNvSpPr/>
            <p:nvPr/>
          </p:nvSpPr>
          <p:spPr>
            <a:xfrm>
              <a:off x="548640" y="4443984"/>
              <a:ext cx="420624" cy="731520"/>
            </a:xfrm>
            <a:prstGeom prst="rect">
              <a:avLst/>
            </a:prstGeom>
            <a:solidFill>
              <a:srgbClr val="F2F2F2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8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申</a:t>
              </a:r>
              <a:endParaRPr lang="en-US" sz="8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8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請</a:t>
              </a:r>
              <a:endParaRPr lang="en-US" sz="8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8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人</a:t>
              </a:r>
              <a:endParaRPr lang="en-US" sz="850" dirty="0"/>
            </a:p>
          </p:txBody>
        </p:sp>
        <p:sp>
          <p:nvSpPr>
            <p:cNvPr id="54" name="泳道"/>
            <p:cNvSpPr/>
            <p:nvPr/>
          </p:nvSpPr>
          <p:spPr>
            <a:xfrm>
              <a:off x="548640" y="5230368"/>
              <a:ext cx="2622728" cy="7315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5" name="泳道標題"/>
            <p:cNvSpPr/>
            <p:nvPr/>
          </p:nvSpPr>
          <p:spPr>
            <a:xfrm>
              <a:off x="548640" y="5230368"/>
              <a:ext cx="420624" cy="731520"/>
            </a:xfrm>
            <a:prstGeom prst="rect">
              <a:avLst/>
            </a:prstGeom>
            <a:solidFill>
              <a:srgbClr val="F2F2F2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8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主</a:t>
              </a:r>
              <a:endParaRPr lang="en-US" sz="8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8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管</a:t>
              </a:r>
              <a:endParaRPr lang="en-US" sz="850" dirty="0"/>
            </a:p>
          </p:txBody>
        </p:sp>
        <p:sp>
          <p:nvSpPr>
            <p:cNvPr id="56" name="處理"/>
            <p:cNvSpPr/>
            <p:nvPr/>
          </p:nvSpPr>
          <p:spPr>
            <a:xfrm>
              <a:off x="1097280" y="4617720"/>
              <a:ext cx="640080" cy="3840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6A6A6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填寫</a:t>
              </a:r>
              <a:endParaRPr lang="en-US" sz="1050" dirty="0"/>
            </a:p>
          </p:txBody>
        </p:sp>
        <p:sp>
          <p:nvSpPr>
            <p:cNvPr id="57" name="處理"/>
            <p:cNvSpPr/>
            <p:nvPr/>
          </p:nvSpPr>
          <p:spPr>
            <a:xfrm>
              <a:off x="2011680" y="5404104"/>
              <a:ext cx="640080" cy="3840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6A6A6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審核</a:t>
              </a:r>
              <a:endParaRPr lang="en-US" sz="1050" dirty="0"/>
            </a:p>
          </p:txBody>
        </p:sp>
        <p:sp>
          <p:nvSpPr>
            <p:cNvPr id="58" name="處理"/>
            <p:cNvSpPr/>
            <p:nvPr/>
          </p:nvSpPr>
          <p:spPr>
            <a:xfrm>
              <a:off x="2458136" y="4617720"/>
              <a:ext cx="640080" cy="384048"/>
            </a:xfrm>
            <a:prstGeom prst="rect">
              <a:avLst/>
            </a:prstGeom>
            <a:solidFill>
              <a:srgbClr val="7A1F2B"/>
            </a:solidFill>
            <a:ln/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歸檔</a:t>
              </a:r>
              <a:endParaRPr lang="en-US" sz="1050" dirty="0"/>
            </a:p>
          </p:txBody>
        </p:sp>
        <p:cxnSp>
          <p:nvCxnSpPr>
            <p:cNvPr id="59" name="連接線"/>
            <p:cNvCxnSpPr>
              <a:stCxn id="56" idx="3"/>
              <a:endCxn id="57" idx="0"/>
            </p:cNvCxnSpPr>
            <p:nvPr/>
          </p:nvCxnSpPr>
          <p:spPr>
            <a:xfrm>
              <a:off x="1737360" y="4809744"/>
              <a:ext cx="594360" cy="594360"/>
            </a:xfrm>
            <a:prstGeom prst="bentConnector2">
              <a:avLst/>
            </a:prstGeom>
            <a:ln w="12700">
              <a:solidFill>
                <a:srgbClr val="7F7F7F"/>
              </a:solidFill>
              <a:prstDash val="solid"/>
              <a:tailEnd type="stealth" w="lg" len="lg"/>
            </a:ln>
          </p:spPr>
        </p:cxnSp>
        <p:cxnSp>
          <p:nvCxnSpPr>
            <p:cNvPr id="60" name="連接線"/>
            <p:cNvCxnSpPr>
              <a:stCxn id="57" idx="3"/>
              <a:endCxn id="58" idx="2"/>
            </p:cNvCxnSpPr>
            <p:nvPr/>
          </p:nvCxnSpPr>
          <p:spPr>
            <a:xfrm flipV="1">
              <a:off x="2651760" y="5001768"/>
              <a:ext cx="126416" cy="594360"/>
            </a:xfrm>
            <a:prstGeom prst="bentConnector2">
              <a:avLst/>
            </a:prstGeom>
            <a:ln w="12700">
              <a:solidFill>
                <a:srgbClr val="7F7F7F"/>
              </a:solidFill>
              <a:prstDash val="solid"/>
              <a:tailEnd type="stealth" w="lg" len="lg"/>
            </a:ln>
          </p:spPr>
        </p:cxnSp>
      </p:grpSp>
      <p:sp>
        <p:nvSpPr>
          <p:cNvPr id="61" name="Text 59"/>
          <p:cNvSpPr/>
          <p:nvPr/>
        </p:nvSpPr>
        <p:spPr>
          <a:xfrm>
            <a:off x="3372536" y="4119372"/>
            <a:ext cx="100584" cy="100584"/>
          </a:xfrm>
          <a:prstGeom prst="rect">
            <a:avLst/>
          </a:prstGeom>
          <a:solidFill>
            <a:srgbClr val="B08D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組合名稱"/>
          <p:cNvSpPr/>
          <p:nvPr/>
        </p:nvSpPr>
        <p:spPr>
          <a:xfrm>
            <a:off x="3573704" y="4041648"/>
            <a:ext cx="242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平行分流／合流</a:t>
            </a:r>
            <a:r>
              <a:rPr lang="en-US" sz="8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Parallel Split / Merge</a:t>
            </a:r>
            <a:endParaRPr lang="en-US" sz="1400" dirty="0"/>
          </a:p>
        </p:txBody>
      </p:sp>
      <p:sp>
        <p:nvSpPr>
          <p:cNvPr id="63" name="線條"/>
          <p:cNvSpPr/>
          <p:nvPr/>
        </p:nvSpPr>
        <p:spPr>
          <a:xfrm>
            <a:off x="3372536" y="4352544"/>
            <a:ext cx="262272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5" name="平行分流／合流"/>
          <p:cNvGrpSpPr/>
          <p:nvPr/>
        </p:nvGrpSpPr>
        <p:grpSpPr>
          <a:xfrm>
            <a:off x="3372536" y="4498848"/>
            <a:ext cx="2622728" cy="1353312"/>
            <a:chOff x="3372536" y="4498848"/>
            <a:chExt cx="2622728" cy="1353312"/>
          </a:xfrm>
        </p:grpSpPr>
        <p:sp>
          <p:nvSpPr>
            <p:cNvPr id="64" name="處理"/>
            <p:cNvSpPr/>
            <p:nvPr/>
          </p:nvSpPr>
          <p:spPr>
            <a:xfrm>
              <a:off x="3372536" y="4983480"/>
              <a:ext cx="512064" cy="3840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6A6A6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開始</a:t>
              </a:r>
              <a:endParaRPr lang="en-US" sz="1050" dirty="0"/>
            </a:p>
          </p:txBody>
        </p:sp>
        <p:sp>
          <p:nvSpPr>
            <p:cNvPr id="65" name="分流"/>
            <p:cNvSpPr/>
            <p:nvPr/>
          </p:nvSpPr>
          <p:spPr>
            <a:xfrm>
              <a:off x="4067480" y="4498848"/>
              <a:ext cx="64008" cy="1353312"/>
            </a:xfrm>
            <a:prstGeom prst="rect">
              <a:avLst/>
            </a:prstGeom>
            <a:solidFill>
              <a:srgbClr val="7A1F2B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6" name="處理"/>
            <p:cNvSpPr/>
            <p:nvPr/>
          </p:nvSpPr>
          <p:spPr>
            <a:xfrm>
              <a:off x="4323512" y="4562856"/>
              <a:ext cx="676656" cy="3840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6A6A6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作業 A</a:t>
              </a:r>
              <a:endParaRPr lang="en-US" sz="1050" dirty="0"/>
            </a:p>
          </p:txBody>
        </p:sp>
        <p:sp>
          <p:nvSpPr>
            <p:cNvPr id="67" name="處理"/>
            <p:cNvSpPr/>
            <p:nvPr/>
          </p:nvSpPr>
          <p:spPr>
            <a:xfrm>
              <a:off x="4323512" y="5404104"/>
              <a:ext cx="676656" cy="3840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6A6A6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作業 B</a:t>
              </a:r>
              <a:endParaRPr lang="en-US" sz="1050" dirty="0"/>
            </a:p>
          </p:txBody>
        </p:sp>
        <p:sp>
          <p:nvSpPr>
            <p:cNvPr id="68" name="合流"/>
            <p:cNvSpPr/>
            <p:nvPr/>
          </p:nvSpPr>
          <p:spPr>
            <a:xfrm>
              <a:off x="5026000" y="4498848"/>
              <a:ext cx="64008" cy="1353312"/>
            </a:xfrm>
            <a:prstGeom prst="rect">
              <a:avLst/>
            </a:prstGeom>
            <a:solidFill>
              <a:srgbClr val="7A1F2B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9" name="處理"/>
            <p:cNvSpPr/>
            <p:nvPr/>
          </p:nvSpPr>
          <p:spPr>
            <a:xfrm>
              <a:off x="5428336" y="4983480"/>
              <a:ext cx="566928" cy="384048"/>
            </a:xfrm>
            <a:prstGeom prst="rect">
              <a:avLst/>
            </a:prstGeom>
            <a:solidFill>
              <a:srgbClr val="7A1F2B"/>
            </a:solidFill>
            <a:ln/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彙整</a:t>
              </a:r>
              <a:endParaRPr lang="en-US" sz="1050" dirty="0"/>
            </a:p>
          </p:txBody>
        </p:sp>
        <p:cxnSp>
          <p:nvCxnSpPr>
            <p:cNvPr id="70" name="連接線"/>
            <p:cNvCxnSpPr>
              <a:stCxn id="64" idx="3"/>
              <a:endCxn id="65" idx="1"/>
            </p:cNvCxnSpPr>
            <p:nvPr/>
          </p:nvCxnSpPr>
          <p:spPr>
            <a:xfrm>
              <a:off x="3884600" y="5175504"/>
              <a:ext cx="182880" cy="0"/>
            </a:xfrm>
            <a:prstGeom prst="straightConnector1">
              <a:avLst/>
            </a:prstGeom>
            <a:ln w="12700">
              <a:solidFill>
                <a:srgbClr val="7F7F7F"/>
              </a:solidFill>
              <a:prstDash val="solid"/>
              <a:tailEnd type="stealth" w="lg" len="lg"/>
            </a:ln>
          </p:spPr>
        </p:cxnSp>
        <p:cxnSp>
          <p:nvCxnSpPr>
            <p:cNvPr id="71" name="連接線"/>
            <p:cNvCxnSpPr>
              <a:endCxn id="66" idx="1"/>
            </p:cNvCxnSpPr>
            <p:nvPr/>
          </p:nvCxnSpPr>
          <p:spPr>
            <a:xfrm>
              <a:off x="4131488" y="4754880"/>
              <a:ext cx="192024" cy="0"/>
            </a:xfrm>
            <a:prstGeom prst="straightConnector1">
              <a:avLst/>
            </a:prstGeom>
            <a:ln w="12700">
              <a:solidFill>
                <a:srgbClr val="7F7F7F"/>
              </a:solidFill>
              <a:prstDash val="solid"/>
              <a:tailEnd type="stealth" w="lg" len="lg"/>
            </a:ln>
          </p:spPr>
        </p:cxnSp>
        <p:cxnSp>
          <p:nvCxnSpPr>
            <p:cNvPr id="72" name="連接線"/>
            <p:cNvCxnSpPr>
              <a:endCxn id="67" idx="1"/>
            </p:cNvCxnSpPr>
            <p:nvPr/>
          </p:nvCxnSpPr>
          <p:spPr>
            <a:xfrm>
              <a:off x="4131488" y="5596128"/>
              <a:ext cx="192024" cy="0"/>
            </a:xfrm>
            <a:prstGeom prst="straightConnector1">
              <a:avLst/>
            </a:prstGeom>
            <a:ln w="12700">
              <a:solidFill>
                <a:srgbClr val="7F7F7F"/>
              </a:solidFill>
              <a:prstDash val="solid"/>
              <a:tailEnd type="stealth" w="lg" len="lg"/>
            </a:ln>
          </p:spPr>
        </p:cxnSp>
        <p:cxnSp>
          <p:nvCxnSpPr>
            <p:cNvPr id="73" name="連接線"/>
            <p:cNvCxnSpPr>
              <a:stCxn id="66" idx="3"/>
            </p:cNvCxnSpPr>
            <p:nvPr/>
          </p:nvCxnSpPr>
          <p:spPr>
            <a:xfrm>
              <a:off x="5000168" y="4754880"/>
              <a:ext cx="25832" cy="0"/>
            </a:xfrm>
            <a:prstGeom prst="straightConnector1">
              <a:avLst/>
            </a:prstGeom>
            <a:ln w="12700">
              <a:solidFill>
                <a:srgbClr val="7F7F7F"/>
              </a:solidFill>
              <a:prstDash val="solid"/>
              <a:tailEnd type="stealth" w="lg" len="lg"/>
            </a:ln>
          </p:spPr>
        </p:cxnSp>
        <p:cxnSp>
          <p:nvCxnSpPr>
            <p:cNvPr id="74" name="連接線"/>
            <p:cNvCxnSpPr>
              <a:stCxn id="67" idx="3"/>
            </p:cNvCxnSpPr>
            <p:nvPr/>
          </p:nvCxnSpPr>
          <p:spPr>
            <a:xfrm>
              <a:off x="5000168" y="5596128"/>
              <a:ext cx="25832" cy="0"/>
            </a:xfrm>
            <a:prstGeom prst="straightConnector1">
              <a:avLst/>
            </a:prstGeom>
            <a:ln w="12700">
              <a:solidFill>
                <a:srgbClr val="7F7F7F"/>
              </a:solidFill>
              <a:prstDash val="solid"/>
              <a:tailEnd type="stealth" w="lg" len="lg"/>
            </a:ln>
          </p:spPr>
        </p:cxnSp>
        <p:cxnSp>
          <p:nvCxnSpPr>
            <p:cNvPr id="75" name="連接線"/>
            <p:cNvCxnSpPr>
              <a:stCxn id="68" idx="3"/>
              <a:endCxn id="69" idx="1"/>
            </p:cNvCxnSpPr>
            <p:nvPr/>
          </p:nvCxnSpPr>
          <p:spPr>
            <a:xfrm>
              <a:off x="5090008" y="5175504"/>
              <a:ext cx="338328" cy="0"/>
            </a:xfrm>
            <a:prstGeom prst="straightConnector1">
              <a:avLst/>
            </a:prstGeom>
            <a:ln w="12700">
              <a:solidFill>
                <a:srgbClr val="7F7F7F"/>
              </a:solidFill>
              <a:prstDash val="solid"/>
              <a:tailEnd type="stealth" w="lg" len="lg"/>
            </a:ln>
          </p:spPr>
        </p:cxnSp>
      </p:grpSp>
      <p:sp>
        <p:nvSpPr>
          <p:cNvPr id="76" name="Text 74"/>
          <p:cNvSpPr/>
          <p:nvPr/>
        </p:nvSpPr>
        <p:spPr>
          <a:xfrm>
            <a:off x="6196432" y="4119372"/>
            <a:ext cx="100584" cy="100584"/>
          </a:xfrm>
          <a:prstGeom prst="rect">
            <a:avLst/>
          </a:prstGeom>
          <a:solidFill>
            <a:srgbClr val="B08D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組合名稱"/>
          <p:cNvSpPr/>
          <p:nvPr/>
        </p:nvSpPr>
        <p:spPr>
          <a:xfrm>
            <a:off x="6397600" y="4041648"/>
            <a:ext cx="242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輸入→處理→輸出</a:t>
            </a:r>
            <a:r>
              <a:rPr lang="en-US" sz="8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Input / Process / Output</a:t>
            </a:r>
            <a:endParaRPr lang="en-US" sz="1400" dirty="0"/>
          </a:p>
        </p:txBody>
      </p:sp>
      <p:sp>
        <p:nvSpPr>
          <p:cNvPr id="78" name="線條"/>
          <p:cNvSpPr/>
          <p:nvPr/>
        </p:nvSpPr>
        <p:spPr>
          <a:xfrm>
            <a:off x="6196432" y="4352544"/>
            <a:ext cx="262272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6" name="輸入→處理→輸出"/>
          <p:cNvGrpSpPr/>
          <p:nvPr/>
        </p:nvGrpSpPr>
        <p:grpSpPr>
          <a:xfrm>
            <a:off x="6150712" y="4818888"/>
            <a:ext cx="2714168" cy="777240"/>
            <a:chOff x="6150712" y="4818888"/>
            <a:chExt cx="2714168" cy="777240"/>
          </a:xfrm>
        </p:grpSpPr>
        <p:sp>
          <p:nvSpPr>
            <p:cNvPr id="79" name="輸入輸出"/>
            <p:cNvSpPr/>
            <p:nvPr/>
          </p:nvSpPr>
          <p:spPr>
            <a:xfrm>
              <a:off x="6196432" y="4864608"/>
              <a:ext cx="749808" cy="384048"/>
            </a:xfrm>
            <a:prstGeom prst="parallelogram">
              <a:avLst>
                <a:gd name="adj" fmla="val 42000"/>
              </a:avLst>
            </a:prstGeom>
            <a:solidFill>
              <a:srgbClr val="FFFFFF"/>
            </a:solidFill>
            <a:ln w="9525">
              <a:solidFill>
                <a:srgbClr val="A6A6A6"/>
              </a:solidFill>
              <a:prstDash val="solid"/>
            </a:ln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輸入</a:t>
              </a:r>
              <a:endParaRPr lang="en-US" sz="1050" dirty="0"/>
            </a:p>
          </p:txBody>
        </p:sp>
        <p:sp>
          <p:nvSpPr>
            <p:cNvPr id="80" name="標註"/>
            <p:cNvSpPr/>
            <p:nvPr/>
          </p:nvSpPr>
          <p:spPr>
            <a:xfrm>
              <a:off x="6150712" y="5413248"/>
              <a:ext cx="84124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資料來源</a:t>
              </a:r>
              <a:endParaRPr lang="en-US" sz="850" dirty="0"/>
            </a:p>
          </p:txBody>
        </p:sp>
        <p:sp>
          <p:nvSpPr>
            <p:cNvPr id="81" name="處理"/>
            <p:cNvSpPr/>
            <p:nvPr/>
          </p:nvSpPr>
          <p:spPr>
            <a:xfrm>
              <a:off x="7187756" y="4864608"/>
              <a:ext cx="640080" cy="384048"/>
            </a:xfrm>
            <a:prstGeom prst="rect">
              <a:avLst/>
            </a:prstGeom>
            <a:solidFill>
              <a:srgbClr val="7A1F2B"/>
            </a:solidFill>
            <a:ln/>
          </p:spPr>
          <p:txBody>
            <a:bodyPr wrap="square" lIns="38100" tIns="38100" rIns="38100" bIns="3810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處理</a:t>
              </a:r>
              <a:endParaRPr lang="en-US" sz="1050" dirty="0"/>
            </a:p>
          </p:txBody>
        </p:sp>
        <p:sp>
          <p:nvSpPr>
            <p:cNvPr id="82" name="標註"/>
            <p:cNvSpPr/>
            <p:nvPr/>
          </p:nvSpPr>
          <p:spPr>
            <a:xfrm>
              <a:off x="7142036" y="5413248"/>
              <a:ext cx="7315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整理運算</a:t>
              </a:r>
              <a:endParaRPr lang="en-US" sz="850" dirty="0"/>
            </a:p>
          </p:txBody>
        </p:sp>
        <p:sp>
          <p:nvSpPr>
            <p:cNvPr id="83" name="文件"/>
            <p:cNvSpPr/>
            <p:nvPr/>
          </p:nvSpPr>
          <p:spPr>
            <a:xfrm>
              <a:off x="8069351" y="4818888"/>
              <a:ext cx="749808" cy="475488"/>
            </a:xfrm>
            <a:prstGeom prst="flowChartDocument">
              <a:avLst/>
            </a:prstGeom>
            <a:solidFill>
              <a:srgbClr val="FFFFFF"/>
            </a:solidFill>
            <a:ln w="9525">
              <a:solidFill>
                <a:srgbClr val="A6A6A6"/>
              </a:solidFill>
              <a:prstDash val="solid"/>
            </a:ln>
          </p:spPr>
          <p:txBody>
            <a:bodyPr wrap="square" lIns="38100" tIns="0" rIns="38100" bIns="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報表</a:t>
              </a:r>
              <a:endParaRPr lang="en-US" sz="1050" dirty="0"/>
            </a:p>
          </p:txBody>
        </p:sp>
        <p:sp>
          <p:nvSpPr>
            <p:cNvPr id="84" name="標註"/>
            <p:cNvSpPr/>
            <p:nvPr/>
          </p:nvSpPr>
          <p:spPr>
            <a:xfrm>
              <a:off x="8023631" y="5413248"/>
              <a:ext cx="84124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產出結果</a:t>
              </a:r>
              <a:endParaRPr lang="en-US" sz="850" dirty="0"/>
            </a:p>
          </p:txBody>
        </p:sp>
        <p:cxnSp>
          <p:nvCxnSpPr>
            <p:cNvPr id="85" name="連接線"/>
            <p:cNvCxnSpPr>
              <a:stCxn id="79" idx="2"/>
              <a:endCxn id="81" idx="1"/>
            </p:cNvCxnSpPr>
            <p:nvPr/>
          </p:nvCxnSpPr>
          <p:spPr>
            <a:xfrm>
              <a:off x="6865590" y="5056632"/>
              <a:ext cx="322166" cy="0"/>
            </a:xfrm>
            <a:prstGeom prst="straightConnector1">
              <a:avLst/>
            </a:prstGeom>
            <a:ln w="12700">
              <a:solidFill>
                <a:srgbClr val="7F7F7F"/>
              </a:solidFill>
              <a:prstDash val="solid"/>
              <a:tailEnd type="stealth" w="lg" len="lg"/>
            </a:ln>
          </p:spPr>
        </p:cxnSp>
        <p:cxnSp>
          <p:nvCxnSpPr>
            <p:cNvPr id="86" name="連接線"/>
            <p:cNvCxnSpPr>
              <a:stCxn id="81" idx="3"/>
              <a:endCxn id="83" idx="1"/>
            </p:cNvCxnSpPr>
            <p:nvPr/>
          </p:nvCxnSpPr>
          <p:spPr>
            <a:xfrm>
              <a:off x="7827836" y="5056632"/>
              <a:ext cx="241516" cy="0"/>
            </a:xfrm>
            <a:prstGeom prst="straightConnector1">
              <a:avLst/>
            </a:prstGeom>
            <a:ln w="12700">
              <a:solidFill>
                <a:srgbClr val="7F7F7F"/>
              </a:solidFill>
              <a:prstDash val="solid"/>
              <a:tailEnd type="stealth" w="lg" len="lg"/>
            </a:ln>
          </p:spPr>
        </p:cxnSp>
      </p:grpSp>
      <p:sp>
        <p:nvSpPr>
          <p:cNvPr id="87" name="Text 85"/>
          <p:cNvSpPr/>
          <p:nvPr/>
        </p:nvSpPr>
        <p:spPr>
          <a:xfrm>
            <a:off x="9020327" y="4119372"/>
            <a:ext cx="100584" cy="100584"/>
          </a:xfrm>
          <a:prstGeom prst="rect">
            <a:avLst/>
          </a:prstGeom>
          <a:solidFill>
            <a:srgbClr val="B08D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8" name="組合名稱"/>
          <p:cNvSpPr/>
          <p:nvPr/>
        </p:nvSpPr>
        <p:spPr>
          <a:xfrm>
            <a:off x="9221495" y="4041648"/>
            <a:ext cx="242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前後對照</a:t>
            </a:r>
            <a:r>
              <a:rPr lang="en-US" sz="8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Before / After</a:t>
            </a:r>
            <a:endParaRPr lang="en-US" sz="1400" dirty="0"/>
          </a:p>
        </p:txBody>
      </p:sp>
      <p:sp>
        <p:nvSpPr>
          <p:cNvPr id="89" name="線條"/>
          <p:cNvSpPr/>
          <p:nvPr/>
        </p:nvSpPr>
        <p:spPr>
          <a:xfrm>
            <a:off x="9020327" y="4352544"/>
            <a:ext cx="262272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7" name="前後對照"/>
          <p:cNvGrpSpPr/>
          <p:nvPr/>
        </p:nvGrpSpPr>
        <p:grpSpPr>
          <a:xfrm>
            <a:off x="9020327" y="4590288"/>
            <a:ext cx="2622728" cy="1188720"/>
            <a:chOff x="9020327" y="4590288"/>
            <a:chExt cx="2622728" cy="1188720"/>
          </a:xfrm>
        </p:grpSpPr>
        <p:sp>
          <p:nvSpPr>
            <p:cNvPr id="90" name="卡片"/>
            <p:cNvSpPr/>
            <p:nvPr/>
          </p:nvSpPr>
          <p:spPr>
            <a:xfrm>
              <a:off x="9020327" y="4590288"/>
              <a:ext cx="1078992" cy="11887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1" name="色條"/>
            <p:cNvSpPr/>
            <p:nvPr/>
          </p:nvSpPr>
          <p:spPr>
            <a:xfrm>
              <a:off x="9020327" y="4590288"/>
              <a:ext cx="1078992" cy="64008"/>
            </a:xfrm>
            <a:prstGeom prst="rect">
              <a:avLst/>
            </a:prstGeom>
            <a:solidFill>
              <a:srgbClr val="7A1F2B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2" name="卡片標題"/>
            <p:cNvSpPr/>
            <p:nvPr/>
          </p:nvSpPr>
          <p:spPr>
            <a:xfrm>
              <a:off x="9148343" y="4700016"/>
              <a:ext cx="8229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10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現況 </a:t>
              </a:r>
              <a:r>
                <a:rPr lang="en-US" sz="800" dirty="0">
                  <a:solidFill>
                    <a:srgbClr val="8C8C8C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Before</a:t>
              </a:r>
              <a:endParaRPr lang="en-US" sz="1100" dirty="0"/>
            </a:p>
          </p:txBody>
        </p:sp>
        <p:sp>
          <p:nvSpPr>
            <p:cNvPr id="93" name="卡片內文"/>
            <p:cNvSpPr/>
            <p:nvPr/>
          </p:nvSpPr>
          <p:spPr>
            <a:xfrm>
              <a:off x="9148343" y="5029200"/>
              <a:ext cx="82296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20000"/>
                </a:lnSpc>
                <a:buNone/>
              </a:pPr>
              <a:r>
                <a:rPr lang="en-US" sz="9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流程分散</a:t>
              </a:r>
              <a:endParaRPr lang="en-US" sz="950" dirty="0"/>
            </a:p>
            <a:p>
              <a:pPr algn="l" indent="0" marL="0">
                <a:lnSpc>
                  <a:spcPct val="120000"/>
                </a:lnSpc>
                <a:buNone/>
              </a:pPr>
              <a:r>
                <a:rPr lang="en-US" sz="9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交接常出錯</a:t>
              </a:r>
              <a:endParaRPr lang="en-US" sz="950" dirty="0"/>
            </a:p>
          </p:txBody>
        </p:sp>
        <p:sp>
          <p:nvSpPr>
            <p:cNvPr id="94" name="線條"/>
            <p:cNvSpPr/>
            <p:nvPr/>
          </p:nvSpPr>
          <p:spPr>
            <a:xfrm>
              <a:off x="10093947" y="5184648"/>
              <a:ext cx="457200" cy="0"/>
            </a:xfrm>
            <a:prstGeom prst="line">
              <a:avLst/>
            </a:prstGeom>
            <a:noFill/>
            <a:ln w="12700">
              <a:solidFill>
                <a:srgbClr val="7A1F2B"/>
              </a:solidFill>
              <a:prstDash val="solid"/>
              <a:tailEnd type="stealth" w="lg" len="lg"/>
            </a:ln>
          </p:spPr>
        </p:sp>
        <p:sp>
          <p:nvSpPr>
            <p:cNvPr id="95" name="強調卡片"/>
            <p:cNvSpPr/>
            <p:nvPr/>
          </p:nvSpPr>
          <p:spPr>
            <a:xfrm>
              <a:off x="10564063" y="4590288"/>
              <a:ext cx="1078992" cy="118872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7A1F2B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6" name="卡片標題"/>
            <p:cNvSpPr/>
            <p:nvPr/>
          </p:nvSpPr>
          <p:spPr>
            <a:xfrm>
              <a:off x="10692079" y="4700016"/>
              <a:ext cx="8229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100" b="1" dirty="0">
                  <a:solidFill>
                    <a:srgbClr val="7A1F2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改善後 </a:t>
              </a:r>
              <a:r>
                <a:rPr lang="en-US" sz="800" dirty="0">
                  <a:solidFill>
                    <a:srgbClr val="8C8C8C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After</a:t>
              </a:r>
              <a:endParaRPr lang="en-US" sz="1100" dirty="0"/>
            </a:p>
          </p:txBody>
        </p:sp>
        <p:sp>
          <p:nvSpPr>
            <p:cNvPr id="97" name="卡片內文"/>
            <p:cNvSpPr/>
            <p:nvPr/>
          </p:nvSpPr>
          <p:spPr>
            <a:xfrm>
              <a:off x="10692079" y="5029200"/>
              <a:ext cx="82296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20000"/>
                </a:lnSpc>
                <a:buNone/>
              </a:pPr>
              <a:r>
                <a:rPr lang="en-US" sz="9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單一窗口</a:t>
              </a:r>
              <a:endParaRPr lang="en-US" sz="950" dirty="0"/>
            </a:p>
            <a:p>
              <a:pPr algn="l" indent="0" marL="0">
                <a:lnSpc>
                  <a:spcPct val="120000"/>
                </a:lnSpc>
                <a:buNone/>
              </a:pPr>
              <a:r>
                <a:rPr lang="en-US" sz="9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進度一目了然</a:t>
              </a:r>
              <a:endParaRPr lang="en-US" sz="950" dirty="0"/>
            </a:p>
          </p:txBody>
        </p:sp>
      </p:grpSp>
      <p:sp>
        <p:nvSpPr>
          <p:cNvPr id="98" name="Text 96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酒紅精品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548640" y="34747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7A1F2B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常見組合（二）Common Patterns II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060704"/>
            <a:ext cx="822960" cy="22860"/>
          </a:xfrm>
          <a:prstGeom prst="rect">
            <a:avLst/>
          </a:prstGeom>
          <a:solidFill>
            <a:srgbClr val="B08D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8640" y="116128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分工表、前後對照、問題對策、方案比較、KPI 數字卡與 PDCA：整組複製即可使用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15084"/>
            <a:ext cx="100584" cy="100584"/>
          </a:xfrm>
          <a:prstGeom prst="rect">
            <a:avLst/>
          </a:prstGeom>
          <a:solidFill>
            <a:srgbClr val="B08D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組合名稱"/>
          <p:cNvSpPr/>
          <p:nvPr/>
        </p:nvSpPr>
        <p:spPr>
          <a:xfrm>
            <a:off x="749808" y="1737360"/>
            <a:ext cx="32897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責任分工 RACI</a:t>
            </a:r>
            <a:r>
              <a:rPr lang="en-US" sz="8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RACI Matrix</a:t>
            </a:r>
            <a:endParaRPr lang="en-US" sz="1400" dirty="0"/>
          </a:p>
        </p:txBody>
      </p:sp>
      <p:sp>
        <p:nvSpPr>
          <p:cNvPr id="7" name="線條"/>
          <p:cNvSpPr/>
          <p:nvPr/>
        </p:nvSpPr>
        <p:spPr>
          <a:xfrm>
            <a:off x="548640" y="2048256"/>
            <a:ext cx="3490874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490874" cy="914400"/>
        </p:xfrm>
        <a:graphic>
          <a:graphicData uri="http://schemas.openxmlformats.org/drawingml/2006/table">
            <a:tbl>
              <a:tblPr/>
              <a:tblGrid>
                <a:gridCol w="1060704"/>
                <a:gridCol w="607543"/>
                <a:gridCol w="607543"/>
                <a:gridCol w="607543"/>
                <a:gridCol w="607543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工作項目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7A1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PM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7A1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設計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7A1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工程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7A1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業務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7A1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需求定義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方案設計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開發測試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上線推廣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RACI 標記"/>
          <p:cNvSpPr/>
          <p:nvPr/>
        </p:nvSpPr>
        <p:spPr>
          <a:xfrm>
            <a:off x="1757667" y="2455164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B08D5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800" dirty="0"/>
          </a:p>
        </p:txBody>
      </p:sp>
      <p:sp>
        <p:nvSpPr>
          <p:cNvPr id="10" name="RACI 標記"/>
          <p:cNvSpPr/>
          <p:nvPr/>
        </p:nvSpPr>
        <p:spPr>
          <a:xfrm>
            <a:off x="2365210" y="2455164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F3E6E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E1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800" dirty="0"/>
          </a:p>
        </p:txBody>
      </p:sp>
      <p:sp>
        <p:nvSpPr>
          <p:cNvPr id="11" name="RACI 標記"/>
          <p:cNvSpPr/>
          <p:nvPr/>
        </p:nvSpPr>
        <p:spPr>
          <a:xfrm>
            <a:off x="2972753" y="2455164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F3E6E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E1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800" dirty="0"/>
          </a:p>
        </p:txBody>
      </p:sp>
      <p:sp>
        <p:nvSpPr>
          <p:cNvPr id="12" name="RACI 標記"/>
          <p:cNvSpPr/>
          <p:nvPr/>
        </p:nvSpPr>
        <p:spPr>
          <a:xfrm>
            <a:off x="3580295" y="2455164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800" dirty="0"/>
          </a:p>
        </p:txBody>
      </p:sp>
      <p:sp>
        <p:nvSpPr>
          <p:cNvPr id="13" name="RACI 標記"/>
          <p:cNvSpPr/>
          <p:nvPr/>
        </p:nvSpPr>
        <p:spPr>
          <a:xfrm>
            <a:off x="1757667" y="2766060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B08D5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800" dirty="0"/>
          </a:p>
        </p:txBody>
      </p:sp>
      <p:sp>
        <p:nvSpPr>
          <p:cNvPr id="14" name="RACI 標記"/>
          <p:cNvSpPr/>
          <p:nvPr/>
        </p:nvSpPr>
        <p:spPr>
          <a:xfrm>
            <a:off x="2365210" y="2766060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800" dirty="0"/>
          </a:p>
        </p:txBody>
      </p:sp>
      <p:sp>
        <p:nvSpPr>
          <p:cNvPr id="15" name="RACI 標記"/>
          <p:cNvSpPr/>
          <p:nvPr/>
        </p:nvSpPr>
        <p:spPr>
          <a:xfrm>
            <a:off x="2972753" y="2766060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F3E6E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E1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800" dirty="0"/>
          </a:p>
        </p:txBody>
      </p:sp>
      <p:sp>
        <p:nvSpPr>
          <p:cNvPr id="16" name="RACI 標記"/>
          <p:cNvSpPr/>
          <p:nvPr/>
        </p:nvSpPr>
        <p:spPr>
          <a:xfrm>
            <a:off x="3580295" y="2766060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959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800" dirty="0"/>
          </a:p>
        </p:txBody>
      </p:sp>
      <p:sp>
        <p:nvSpPr>
          <p:cNvPr id="17" name="RACI 標記"/>
          <p:cNvSpPr/>
          <p:nvPr/>
        </p:nvSpPr>
        <p:spPr>
          <a:xfrm>
            <a:off x="1757667" y="3076956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B08D5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800" dirty="0"/>
          </a:p>
        </p:txBody>
      </p:sp>
      <p:sp>
        <p:nvSpPr>
          <p:cNvPr id="18" name="RACI 標記"/>
          <p:cNvSpPr/>
          <p:nvPr/>
        </p:nvSpPr>
        <p:spPr>
          <a:xfrm>
            <a:off x="2365210" y="3076956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F3E6E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E1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800" dirty="0"/>
          </a:p>
        </p:txBody>
      </p:sp>
      <p:sp>
        <p:nvSpPr>
          <p:cNvPr id="19" name="RACI 標記"/>
          <p:cNvSpPr/>
          <p:nvPr/>
        </p:nvSpPr>
        <p:spPr>
          <a:xfrm>
            <a:off x="2972753" y="3076956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800" dirty="0"/>
          </a:p>
        </p:txBody>
      </p:sp>
      <p:sp>
        <p:nvSpPr>
          <p:cNvPr id="20" name="RACI 標記"/>
          <p:cNvSpPr/>
          <p:nvPr/>
        </p:nvSpPr>
        <p:spPr>
          <a:xfrm>
            <a:off x="3580295" y="3076956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959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800" dirty="0"/>
          </a:p>
        </p:txBody>
      </p:sp>
      <p:sp>
        <p:nvSpPr>
          <p:cNvPr id="21" name="RACI 標記"/>
          <p:cNvSpPr/>
          <p:nvPr/>
        </p:nvSpPr>
        <p:spPr>
          <a:xfrm>
            <a:off x="1757667" y="3387852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B08D5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800" dirty="0"/>
          </a:p>
        </p:txBody>
      </p:sp>
      <p:sp>
        <p:nvSpPr>
          <p:cNvPr id="22" name="RACI 標記"/>
          <p:cNvSpPr/>
          <p:nvPr/>
        </p:nvSpPr>
        <p:spPr>
          <a:xfrm>
            <a:off x="2365210" y="3387852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959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800" dirty="0"/>
          </a:p>
        </p:txBody>
      </p:sp>
      <p:sp>
        <p:nvSpPr>
          <p:cNvPr id="23" name="RACI 標記"/>
          <p:cNvSpPr/>
          <p:nvPr/>
        </p:nvSpPr>
        <p:spPr>
          <a:xfrm>
            <a:off x="2972753" y="3387852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F3E6E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E1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800" dirty="0"/>
          </a:p>
        </p:txBody>
      </p:sp>
      <p:sp>
        <p:nvSpPr>
          <p:cNvPr id="24" name="RACI 標記"/>
          <p:cNvSpPr/>
          <p:nvPr/>
        </p:nvSpPr>
        <p:spPr>
          <a:xfrm>
            <a:off x="3580295" y="3387852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800" dirty="0"/>
          </a:p>
        </p:txBody>
      </p:sp>
      <p:sp>
        <p:nvSpPr>
          <p:cNvPr id="25" name="圖例"/>
          <p:cNvSpPr/>
          <p:nvPr/>
        </p:nvSpPr>
        <p:spPr>
          <a:xfrm>
            <a:off x="548640" y="3730752"/>
            <a:ext cx="201168" cy="146304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650" dirty="0"/>
          </a:p>
        </p:txBody>
      </p:sp>
      <p:sp>
        <p:nvSpPr>
          <p:cNvPr id="26" name="圖例"/>
          <p:cNvSpPr/>
          <p:nvPr/>
        </p:nvSpPr>
        <p:spPr>
          <a:xfrm>
            <a:off x="786384" y="371246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800" dirty="0"/>
          </a:p>
        </p:txBody>
      </p:sp>
      <p:sp>
        <p:nvSpPr>
          <p:cNvPr id="27" name="圖例"/>
          <p:cNvSpPr/>
          <p:nvPr/>
        </p:nvSpPr>
        <p:spPr>
          <a:xfrm>
            <a:off x="1335024" y="3730752"/>
            <a:ext cx="201168" cy="146304"/>
          </a:xfrm>
          <a:prstGeom prst="roundRect">
            <a:avLst>
              <a:gd name="adj" fmla="val 50000"/>
            </a:avLst>
          </a:prstGeom>
          <a:solidFill>
            <a:srgbClr val="B08D5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650" dirty="0"/>
          </a:p>
        </p:txBody>
      </p:sp>
      <p:sp>
        <p:nvSpPr>
          <p:cNvPr id="28" name="圖例"/>
          <p:cNvSpPr/>
          <p:nvPr/>
        </p:nvSpPr>
        <p:spPr>
          <a:xfrm>
            <a:off x="1572768" y="371246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當責</a:t>
            </a:r>
            <a:endParaRPr lang="en-US" sz="800" dirty="0"/>
          </a:p>
        </p:txBody>
      </p:sp>
      <p:sp>
        <p:nvSpPr>
          <p:cNvPr id="29" name="圖例"/>
          <p:cNvSpPr/>
          <p:nvPr/>
        </p:nvSpPr>
        <p:spPr>
          <a:xfrm>
            <a:off x="2121408" y="3730752"/>
            <a:ext cx="201168" cy="146304"/>
          </a:xfrm>
          <a:prstGeom prst="roundRect">
            <a:avLst>
              <a:gd name="adj" fmla="val 50000"/>
            </a:avLst>
          </a:prstGeom>
          <a:solidFill>
            <a:srgbClr val="F3E6E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5E1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650" dirty="0"/>
          </a:p>
        </p:txBody>
      </p:sp>
      <p:sp>
        <p:nvSpPr>
          <p:cNvPr id="30" name="圖例"/>
          <p:cNvSpPr/>
          <p:nvPr/>
        </p:nvSpPr>
        <p:spPr>
          <a:xfrm>
            <a:off x="2359152" y="371246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諮詢</a:t>
            </a:r>
            <a:endParaRPr lang="en-US" sz="800" dirty="0"/>
          </a:p>
        </p:txBody>
      </p:sp>
      <p:sp>
        <p:nvSpPr>
          <p:cNvPr id="31" name="圖例"/>
          <p:cNvSpPr/>
          <p:nvPr/>
        </p:nvSpPr>
        <p:spPr>
          <a:xfrm>
            <a:off x="2907792" y="3730752"/>
            <a:ext cx="201168" cy="1463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5959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650" dirty="0"/>
          </a:p>
        </p:txBody>
      </p:sp>
      <p:sp>
        <p:nvSpPr>
          <p:cNvPr id="32" name="圖例"/>
          <p:cNvSpPr/>
          <p:nvPr/>
        </p:nvSpPr>
        <p:spPr>
          <a:xfrm>
            <a:off x="3145536" y="371246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知會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4350410" y="1815084"/>
            <a:ext cx="100584" cy="100584"/>
          </a:xfrm>
          <a:prstGeom prst="rect">
            <a:avLst/>
          </a:prstGeom>
          <a:solidFill>
            <a:srgbClr val="B08D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組合名稱"/>
          <p:cNvSpPr/>
          <p:nvPr/>
        </p:nvSpPr>
        <p:spPr>
          <a:xfrm>
            <a:off x="4551578" y="1737360"/>
            <a:ext cx="32897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改善前後對照表</a:t>
            </a:r>
            <a:r>
              <a:rPr lang="en-US" sz="8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Before / After Table</a:t>
            </a:r>
            <a:endParaRPr lang="en-US" sz="1400" dirty="0"/>
          </a:p>
        </p:txBody>
      </p:sp>
      <p:sp>
        <p:nvSpPr>
          <p:cNvPr id="35" name="線條"/>
          <p:cNvSpPr/>
          <p:nvPr/>
        </p:nvSpPr>
        <p:spPr>
          <a:xfrm>
            <a:off x="4350410" y="2048256"/>
            <a:ext cx="3490874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aphicFrame>
        <p:nvGraphicFramePr>
          <p:cNvPr id="3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50410" y="2103120"/>
          <a:ext cx="3490874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288237"/>
                <a:gridCol w="1288237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7A1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改善前 Before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改善後 After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7A1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2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交期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C8C8C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10 天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A1F2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6 天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不良率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C8C8C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3.2%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A1F2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1.1%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人力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C8C8C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5 人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A1F2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3 人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客訴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C8C8C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8 件／月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A1F2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2 件／月</a:t>
                      </a:r>
                      <a:endParaRPr lang="en-US" sz="1200" dirty="0"/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7" name="Text 33"/>
          <p:cNvSpPr/>
          <p:nvPr/>
        </p:nvSpPr>
        <p:spPr>
          <a:xfrm>
            <a:off x="4350410" y="3785616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改善後一欄以主色粗體標示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8152181" y="1815084"/>
            <a:ext cx="100584" cy="100584"/>
          </a:xfrm>
          <a:prstGeom prst="rect">
            <a:avLst/>
          </a:prstGeom>
          <a:solidFill>
            <a:srgbClr val="B08D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組合名稱"/>
          <p:cNvSpPr/>
          <p:nvPr/>
        </p:nvSpPr>
        <p:spPr>
          <a:xfrm>
            <a:off x="8353349" y="1737360"/>
            <a:ext cx="32897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 → 原因 → 對策</a:t>
            </a:r>
            <a:r>
              <a:rPr lang="en-US" sz="8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Problem / Cause / Countermeasure</a:t>
            </a:r>
            <a:endParaRPr lang="en-US" sz="1400" dirty="0"/>
          </a:p>
        </p:txBody>
      </p:sp>
      <p:sp>
        <p:nvSpPr>
          <p:cNvPr id="40" name="線條"/>
          <p:cNvSpPr/>
          <p:nvPr/>
        </p:nvSpPr>
        <p:spPr>
          <a:xfrm>
            <a:off x="8152181" y="2048256"/>
            <a:ext cx="3490874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2" name="問題 → 原因 → 對策"/>
          <p:cNvGrpSpPr/>
          <p:nvPr/>
        </p:nvGrpSpPr>
        <p:grpSpPr>
          <a:xfrm>
            <a:off x="8152181" y="2304288"/>
            <a:ext cx="3490874" cy="1060704"/>
            <a:chOff x="8152181" y="2304288"/>
            <a:chExt cx="3490874" cy="1060704"/>
          </a:xfrm>
        </p:grpSpPr>
        <p:sp>
          <p:nvSpPr>
            <p:cNvPr id="41" name="問題"/>
            <p:cNvSpPr/>
            <p:nvPr/>
          </p:nvSpPr>
          <p:spPr>
            <a:xfrm>
              <a:off x="8152181" y="2304288"/>
              <a:ext cx="932688" cy="106070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7A1F2B"/>
              </a:solidFill>
              <a:prstDash val="solid"/>
            </a:ln>
          </p:spPr>
          <p:txBody>
            <a:bodyPr wrap="square" lIns="88900" tIns="101600" rIns="63500" bIns="50800" rtlCol="0" anchor="t"/>
            <a:lstStyle/>
            <a:p>
              <a:pPr algn="l" indent="0" marL="0">
                <a:lnSpc>
                  <a:spcPct val="115000"/>
                </a:lnSpc>
                <a:buNone/>
              </a:pPr>
              <a:r>
                <a:rPr lang="en-US" sz="1150" b="1" dirty="0">
                  <a:solidFill>
                    <a:srgbClr val="5C172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問題</a:t>
              </a:r>
              <a:endParaRPr lang="en-US" sz="8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700" dirty="0">
                  <a:solidFill>
                    <a:srgbClr val="8C8C8C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Problem</a:t>
              </a:r>
              <a:endParaRPr lang="en-US" sz="8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交期常延誤</a:t>
              </a:r>
              <a:endParaRPr lang="en-US" sz="8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客戶抱怨增加</a:t>
              </a:r>
              <a:endParaRPr lang="en-US" sz="850" dirty="0"/>
            </a:p>
          </p:txBody>
        </p:sp>
        <p:sp>
          <p:nvSpPr>
            <p:cNvPr id="42" name="原因"/>
            <p:cNvSpPr/>
            <p:nvPr/>
          </p:nvSpPr>
          <p:spPr>
            <a:xfrm>
              <a:off x="9431274" y="2304288"/>
              <a:ext cx="932688" cy="1060704"/>
            </a:xfrm>
            <a:prstGeom prst="rect">
              <a:avLst/>
            </a:prstGeom>
            <a:solidFill>
              <a:srgbClr val="F2F2F2"/>
            </a:solidFill>
            <a:ln/>
          </p:spPr>
          <p:txBody>
            <a:bodyPr wrap="square" lIns="88900" tIns="101600" rIns="63500" bIns="50800" rtlCol="0" anchor="t"/>
            <a:lstStyle/>
            <a:p>
              <a:pPr algn="l" indent="0" marL="0">
                <a:lnSpc>
                  <a:spcPct val="115000"/>
                </a:lnSpc>
                <a:buNone/>
              </a:pPr>
              <a:r>
                <a:rPr lang="en-US" sz="11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原因</a:t>
              </a:r>
              <a:endParaRPr lang="en-US" sz="8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700" dirty="0">
                  <a:solidFill>
                    <a:srgbClr val="8C8C8C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Cause</a:t>
              </a:r>
              <a:endParaRPr lang="en-US" sz="8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需求變更頻繁</a:t>
              </a:r>
              <a:endParaRPr lang="en-US" sz="8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排程未同步</a:t>
              </a:r>
              <a:endParaRPr lang="en-US" sz="850" dirty="0"/>
            </a:p>
          </p:txBody>
        </p:sp>
        <p:sp>
          <p:nvSpPr>
            <p:cNvPr id="43" name="對策"/>
            <p:cNvSpPr/>
            <p:nvPr/>
          </p:nvSpPr>
          <p:spPr>
            <a:xfrm>
              <a:off x="10710367" y="2304288"/>
              <a:ext cx="932688" cy="1060704"/>
            </a:xfrm>
            <a:prstGeom prst="rect">
              <a:avLst/>
            </a:prstGeom>
            <a:solidFill>
              <a:srgbClr val="7A1F2B"/>
            </a:solidFill>
            <a:ln/>
          </p:spPr>
          <p:txBody>
            <a:bodyPr wrap="square" lIns="88900" tIns="101600" rIns="63500" bIns="50800" rtlCol="0" anchor="t"/>
            <a:lstStyle/>
            <a:p>
              <a:pPr algn="l" indent="0" marL="0">
                <a:lnSpc>
                  <a:spcPct val="115000"/>
                </a:lnSpc>
                <a:buNone/>
              </a:pPr>
              <a:r>
                <a:rPr lang="en-US" sz="11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對策</a:t>
              </a:r>
              <a:endParaRPr lang="en-US" sz="8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700" dirty="0">
                  <a:solidFill>
                    <a:srgbClr val="D7BCB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Countermeasure</a:t>
              </a:r>
              <a:endParaRPr lang="en-US" sz="8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850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需求凍結點</a:t>
              </a:r>
              <a:endParaRPr lang="en-US" sz="8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850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每週排程會議</a:t>
              </a:r>
              <a:endParaRPr lang="en-US" sz="850" dirty="0"/>
            </a:p>
          </p:txBody>
        </p:sp>
        <p:cxnSp>
          <p:nvCxnSpPr>
            <p:cNvPr id="44" name="連接線"/>
            <p:cNvCxnSpPr>
              <a:stCxn id="41" idx="3"/>
              <a:endCxn id="42" idx="1"/>
            </p:cNvCxnSpPr>
            <p:nvPr/>
          </p:nvCxnSpPr>
          <p:spPr>
            <a:xfrm>
              <a:off x="9084869" y="2834640"/>
              <a:ext cx="346405" cy="0"/>
            </a:xfrm>
            <a:prstGeom prst="straightConnector1">
              <a:avLst/>
            </a:prstGeom>
            <a:ln w="12700">
              <a:solidFill>
                <a:srgbClr val="7F7F7F"/>
              </a:solidFill>
              <a:prstDash val="solid"/>
              <a:tailEnd type="stealth" w="lg" len="lg"/>
            </a:ln>
          </p:spPr>
        </p:cxnSp>
        <p:cxnSp>
          <p:nvCxnSpPr>
            <p:cNvPr id="45" name="連接線"/>
            <p:cNvCxnSpPr>
              <a:stCxn id="42" idx="3"/>
              <a:endCxn id="43" idx="1"/>
            </p:cNvCxnSpPr>
            <p:nvPr/>
          </p:nvCxnSpPr>
          <p:spPr>
            <a:xfrm>
              <a:off x="10363962" y="2834640"/>
              <a:ext cx="346405" cy="0"/>
            </a:xfrm>
            <a:prstGeom prst="straightConnector1">
              <a:avLst/>
            </a:prstGeom>
            <a:ln w="12700">
              <a:solidFill>
                <a:srgbClr val="7F7F7F"/>
              </a:solidFill>
              <a:prstDash val="solid"/>
              <a:tailEnd type="stealth" w="lg" len="lg"/>
            </a:ln>
          </p:spPr>
        </p:cxnSp>
      </p:grpSp>
      <p:sp>
        <p:nvSpPr>
          <p:cNvPr id="46" name="Text 42"/>
          <p:cNvSpPr/>
          <p:nvPr/>
        </p:nvSpPr>
        <p:spPr>
          <a:xfrm>
            <a:off x="548640" y="4101084"/>
            <a:ext cx="100584" cy="100584"/>
          </a:xfrm>
          <a:prstGeom prst="rect">
            <a:avLst/>
          </a:prstGeom>
          <a:solidFill>
            <a:srgbClr val="B08D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組合名稱"/>
          <p:cNvSpPr/>
          <p:nvPr/>
        </p:nvSpPr>
        <p:spPr>
          <a:xfrm>
            <a:off x="749808" y="4023360"/>
            <a:ext cx="32897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三方案比較</a:t>
            </a:r>
            <a:r>
              <a:rPr lang="en-US" sz="8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3-Column Comparison</a:t>
            </a:r>
            <a:endParaRPr lang="en-US" sz="1400" dirty="0"/>
          </a:p>
        </p:txBody>
      </p:sp>
      <p:sp>
        <p:nvSpPr>
          <p:cNvPr id="48" name="線條"/>
          <p:cNvSpPr/>
          <p:nvPr/>
        </p:nvSpPr>
        <p:spPr>
          <a:xfrm>
            <a:off x="548640" y="4334256"/>
            <a:ext cx="3490874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3" name="三方案比較"/>
          <p:cNvGrpSpPr/>
          <p:nvPr/>
        </p:nvGrpSpPr>
        <p:grpSpPr>
          <a:xfrm>
            <a:off x="548640" y="4443984"/>
            <a:ext cx="3490874" cy="1773936"/>
            <a:chOff x="548640" y="4443984"/>
            <a:chExt cx="3490874" cy="1773936"/>
          </a:xfrm>
        </p:grpSpPr>
        <p:sp>
          <p:nvSpPr>
            <p:cNvPr id="49" name="方案"/>
            <p:cNvSpPr/>
            <p:nvPr/>
          </p:nvSpPr>
          <p:spPr>
            <a:xfrm>
              <a:off x="548640" y="4443984"/>
              <a:ext cx="1090473" cy="16459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0" name="表頭底"/>
            <p:cNvSpPr/>
            <p:nvPr/>
          </p:nvSpPr>
          <p:spPr>
            <a:xfrm>
              <a:off x="549554" y="4444898"/>
              <a:ext cx="1088644" cy="365760"/>
            </a:xfrm>
            <a:prstGeom prst="rect">
              <a:avLst/>
            </a:prstGeom>
            <a:solidFill>
              <a:srgbClr val="F2F2F2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1" name="方案名稱"/>
            <p:cNvSpPr/>
            <p:nvPr/>
          </p:nvSpPr>
          <p:spPr>
            <a:xfrm>
              <a:off x="548640" y="4443984"/>
              <a:ext cx="1090473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 A</a:t>
              </a:r>
              <a:endParaRPr lang="en-US" sz="140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700" dirty="0">
                  <a:solidFill>
                    <a:srgbClr val="8C8C8C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Option A</a:t>
              </a:r>
              <a:endParaRPr lang="en-US" sz="1400" dirty="0"/>
            </a:p>
          </p:txBody>
        </p:sp>
        <p:sp>
          <p:nvSpPr>
            <p:cNvPr id="52" name="項目"/>
            <p:cNvSpPr/>
            <p:nvPr/>
          </p:nvSpPr>
          <p:spPr>
            <a:xfrm>
              <a:off x="658368" y="4937760"/>
              <a:ext cx="871017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成本</a:t>
              </a:r>
              <a:endParaRPr lang="en-US" sz="750" dirty="0"/>
            </a:p>
          </p:txBody>
        </p:sp>
        <p:sp>
          <p:nvSpPr>
            <p:cNvPr id="53" name="內容"/>
            <p:cNvSpPr/>
            <p:nvPr/>
          </p:nvSpPr>
          <p:spPr>
            <a:xfrm>
              <a:off x="658368" y="5074920"/>
              <a:ext cx="871017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低</a:t>
              </a:r>
              <a:endParaRPr lang="en-US" sz="950" dirty="0"/>
            </a:p>
          </p:txBody>
        </p:sp>
        <p:sp>
          <p:nvSpPr>
            <p:cNvPr id="54" name="項目"/>
            <p:cNvSpPr/>
            <p:nvPr/>
          </p:nvSpPr>
          <p:spPr>
            <a:xfrm>
              <a:off x="658368" y="5266944"/>
              <a:ext cx="871017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時程</a:t>
              </a:r>
              <a:endParaRPr lang="en-US" sz="750" dirty="0"/>
            </a:p>
          </p:txBody>
        </p:sp>
        <p:sp>
          <p:nvSpPr>
            <p:cNvPr id="55" name="內容"/>
            <p:cNvSpPr/>
            <p:nvPr/>
          </p:nvSpPr>
          <p:spPr>
            <a:xfrm>
              <a:off x="658368" y="5404104"/>
              <a:ext cx="871017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 週</a:t>
              </a:r>
              <a:endParaRPr lang="en-US" sz="950" dirty="0"/>
            </a:p>
          </p:txBody>
        </p:sp>
        <p:sp>
          <p:nvSpPr>
            <p:cNvPr id="56" name="項目"/>
            <p:cNvSpPr/>
            <p:nvPr/>
          </p:nvSpPr>
          <p:spPr>
            <a:xfrm>
              <a:off x="658368" y="5596128"/>
              <a:ext cx="871017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擴充</a:t>
              </a:r>
              <a:endParaRPr lang="en-US" sz="750" dirty="0"/>
            </a:p>
          </p:txBody>
        </p:sp>
        <p:sp>
          <p:nvSpPr>
            <p:cNvPr id="57" name="內容"/>
            <p:cNvSpPr/>
            <p:nvPr/>
          </p:nvSpPr>
          <p:spPr>
            <a:xfrm>
              <a:off x="658368" y="5733288"/>
              <a:ext cx="871017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有限</a:t>
              </a:r>
              <a:endParaRPr lang="en-US" sz="950" dirty="0"/>
            </a:p>
          </p:txBody>
        </p:sp>
        <p:sp>
          <p:nvSpPr>
            <p:cNvPr id="58" name="推薦方案"/>
            <p:cNvSpPr/>
            <p:nvPr/>
          </p:nvSpPr>
          <p:spPr>
            <a:xfrm>
              <a:off x="1748841" y="4443984"/>
              <a:ext cx="1090473" cy="164592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7A1F2B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9" name="表頭"/>
            <p:cNvSpPr/>
            <p:nvPr/>
          </p:nvSpPr>
          <p:spPr>
            <a:xfrm>
              <a:off x="1748841" y="4443984"/>
              <a:ext cx="1090473" cy="365760"/>
            </a:xfrm>
            <a:prstGeom prst="rect">
              <a:avLst/>
            </a:prstGeom>
            <a:solidFill>
              <a:srgbClr val="7A1F2B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0" name="方案名稱"/>
            <p:cNvSpPr/>
            <p:nvPr/>
          </p:nvSpPr>
          <p:spPr>
            <a:xfrm>
              <a:off x="1748841" y="4443984"/>
              <a:ext cx="1090473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 B</a:t>
              </a:r>
              <a:endParaRPr lang="en-US" sz="140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700" dirty="0">
                  <a:solidFill>
                    <a:srgbClr val="D7BCB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Option B</a:t>
              </a:r>
              <a:endParaRPr lang="en-US" sz="1400" dirty="0"/>
            </a:p>
          </p:txBody>
        </p:sp>
        <p:sp>
          <p:nvSpPr>
            <p:cNvPr id="61" name="項目"/>
            <p:cNvSpPr/>
            <p:nvPr/>
          </p:nvSpPr>
          <p:spPr>
            <a:xfrm>
              <a:off x="1858569" y="4937760"/>
              <a:ext cx="871017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成本</a:t>
              </a:r>
              <a:endParaRPr lang="en-US" sz="750" dirty="0"/>
            </a:p>
          </p:txBody>
        </p:sp>
        <p:sp>
          <p:nvSpPr>
            <p:cNvPr id="62" name="內容"/>
            <p:cNvSpPr/>
            <p:nvPr/>
          </p:nvSpPr>
          <p:spPr>
            <a:xfrm>
              <a:off x="1858569" y="5074920"/>
              <a:ext cx="871017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b="1" dirty="0">
                  <a:solidFill>
                    <a:srgbClr val="7A1F2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中</a:t>
              </a:r>
              <a:endParaRPr lang="en-US" sz="950" dirty="0"/>
            </a:p>
          </p:txBody>
        </p:sp>
        <p:sp>
          <p:nvSpPr>
            <p:cNvPr id="63" name="項目"/>
            <p:cNvSpPr/>
            <p:nvPr/>
          </p:nvSpPr>
          <p:spPr>
            <a:xfrm>
              <a:off x="1858569" y="5266944"/>
              <a:ext cx="871017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時程</a:t>
              </a:r>
              <a:endParaRPr lang="en-US" sz="750" dirty="0"/>
            </a:p>
          </p:txBody>
        </p:sp>
        <p:sp>
          <p:nvSpPr>
            <p:cNvPr id="64" name="內容"/>
            <p:cNvSpPr/>
            <p:nvPr/>
          </p:nvSpPr>
          <p:spPr>
            <a:xfrm>
              <a:off x="1858569" y="5404104"/>
              <a:ext cx="871017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b="1" dirty="0">
                  <a:solidFill>
                    <a:srgbClr val="7A1F2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4 週</a:t>
              </a:r>
              <a:endParaRPr lang="en-US" sz="950" dirty="0"/>
            </a:p>
          </p:txBody>
        </p:sp>
        <p:sp>
          <p:nvSpPr>
            <p:cNvPr id="65" name="項目"/>
            <p:cNvSpPr/>
            <p:nvPr/>
          </p:nvSpPr>
          <p:spPr>
            <a:xfrm>
              <a:off x="1858569" y="5596128"/>
              <a:ext cx="871017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擴充</a:t>
              </a:r>
              <a:endParaRPr lang="en-US" sz="750" dirty="0"/>
            </a:p>
          </p:txBody>
        </p:sp>
        <p:sp>
          <p:nvSpPr>
            <p:cNvPr id="66" name="內容"/>
            <p:cNvSpPr/>
            <p:nvPr/>
          </p:nvSpPr>
          <p:spPr>
            <a:xfrm>
              <a:off x="1858569" y="5733288"/>
              <a:ext cx="871017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b="1" dirty="0">
                  <a:solidFill>
                    <a:srgbClr val="7A1F2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佳</a:t>
              </a:r>
              <a:endParaRPr lang="en-US" sz="950" dirty="0"/>
            </a:p>
          </p:txBody>
        </p:sp>
        <p:sp>
          <p:nvSpPr>
            <p:cNvPr id="67" name="標籤"/>
            <p:cNvSpPr/>
            <p:nvPr/>
          </p:nvSpPr>
          <p:spPr>
            <a:xfrm>
              <a:off x="2073605" y="6016752"/>
              <a:ext cx="440944" cy="201168"/>
            </a:xfrm>
            <a:prstGeom prst="rect">
              <a:avLst/>
            </a:prstGeom>
            <a:solidFill>
              <a:srgbClr val="B08D57"/>
            </a:solidFill>
            <a:ln/>
          </p:spPr>
          <p:txBody>
            <a:bodyPr wrap="square" lIns="25400" tIns="0" rIns="25400" bIns="0" rtlCol="0" anchor="ctr"/>
            <a:lstStyle/>
            <a:p>
              <a:pPr algn="ctr" indent="0" marL="0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推薦</a:t>
              </a:r>
              <a:endParaRPr lang="en-US" sz="800" dirty="0"/>
            </a:p>
          </p:txBody>
        </p:sp>
        <p:sp>
          <p:nvSpPr>
            <p:cNvPr id="68" name="方案"/>
            <p:cNvSpPr/>
            <p:nvPr/>
          </p:nvSpPr>
          <p:spPr>
            <a:xfrm>
              <a:off x="2949042" y="4443984"/>
              <a:ext cx="1090473" cy="16459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9" name="表頭底"/>
            <p:cNvSpPr/>
            <p:nvPr/>
          </p:nvSpPr>
          <p:spPr>
            <a:xfrm>
              <a:off x="2949956" y="4444898"/>
              <a:ext cx="1088644" cy="365760"/>
            </a:xfrm>
            <a:prstGeom prst="rect">
              <a:avLst/>
            </a:prstGeom>
            <a:solidFill>
              <a:srgbClr val="F2F2F2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0" name="方案名稱"/>
            <p:cNvSpPr/>
            <p:nvPr/>
          </p:nvSpPr>
          <p:spPr>
            <a:xfrm>
              <a:off x="2949042" y="4443984"/>
              <a:ext cx="1090473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 C</a:t>
              </a:r>
              <a:endParaRPr lang="en-US" sz="140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700" dirty="0">
                  <a:solidFill>
                    <a:srgbClr val="8C8C8C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Option C</a:t>
              </a:r>
              <a:endParaRPr lang="en-US" sz="1400" dirty="0"/>
            </a:p>
          </p:txBody>
        </p:sp>
        <p:sp>
          <p:nvSpPr>
            <p:cNvPr id="71" name="項目"/>
            <p:cNvSpPr/>
            <p:nvPr/>
          </p:nvSpPr>
          <p:spPr>
            <a:xfrm>
              <a:off x="3058770" y="4937760"/>
              <a:ext cx="871017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成本</a:t>
              </a:r>
              <a:endParaRPr lang="en-US" sz="750" dirty="0"/>
            </a:p>
          </p:txBody>
        </p:sp>
        <p:sp>
          <p:nvSpPr>
            <p:cNvPr id="72" name="內容"/>
            <p:cNvSpPr/>
            <p:nvPr/>
          </p:nvSpPr>
          <p:spPr>
            <a:xfrm>
              <a:off x="3058770" y="5074920"/>
              <a:ext cx="871017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高</a:t>
              </a:r>
              <a:endParaRPr lang="en-US" sz="950" dirty="0"/>
            </a:p>
          </p:txBody>
        </p:sp>
        <p:sp>
          <p:nvSpPr>
            <p:cNvPr id="73" name="項目"/>
            <p:cNvSpPr/>
            <p:nvPr/>
          </p:nvSpPr>
          <p:spPr>
            <a:xfrm>
              <a:off x="3058770" y="5266944"/>
              <a:ext cx="871017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時程</a:t>
              </a:r>
              <a:endParaRPr lang="en-US" sz="750" dirty="0"/>
            </a:p>
          </p:txBody>
        </p:sp>
        <p:sp>
          <p:nvSpPr>
            <p:cNvPr id="74" name="內容"/>
            <p:cNvSpPr/>
            <p:nvPr/>
          </p:nvSpPr>
          <p:spPr>
            <a:xfrm>
              <a:off x="3058770" y="5404104"/>
              <a:ext cx="871017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8 週</a:t>
              </a:r>
              <a:endParaRPr lang="en-US" sz="950" dirty="0"/>
            </a:p>
          </p:txBody>
        </p:sp>
        <p:sp>
          <p:nvSpPr>
            <p:cNvPr id="75" name="項目"/>
            <p:cNvSpPr/>
            <p:nvPr/>
          </p:nvSpPr>
          <p:spPr>
            <a:xfrm>
              <a:off x="3058770" y="5596128"/>
              <a:ext cx="871017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擴充</a:t>
              </a:r>
              <a:endParaRPr lang="en-US" sz="750" dirty="0"/>
            </a:p>
          </p:txBody>
        </p:sp>
        <p:sp>
          <p:nvSpPr>
            <p:cNvPr id="76" name="內容"/>
            <p:cNvSpPr/>
            <p:nvPr/>
          </p:nvSpPr>
          <p:spPr>
            <a:xfrm>
              <a:off x="3058770" y="5733288"/>
              <a:ext cx="871017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最佳</a:t>
              </a:r>
              <a:endParaRPr lang="en-US" sz="950" dirty="0"/>
            </a:p>
          </p:txBody>
        </p:sp>
      </p:grpSp>
      <p:sp>
        <p:nvSpPr>
          <p:cNvPr id="77" name="Text 73"/>
          <p:cNvSpPr/>
          <p:nvPr/>
        </p:nvSpPr>
        <p:spPr>
          <a:xfrm>
            <a:off x="4350410" y="4101084"/>
            <a:ext cx="100584" cy="100584"/>
          </a:xfrm>
          <a:prstGeom prst="rect">
            <a:avLst/>
          </a:prstGeom>
          <a:solidFill>
            <a:srgbClr val="B08D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組合名稱"/>
          <p:cNvSpPr/>
          <p:nvPr/>
        </p:nvSpPr>
        <p:spPr>
          <a:xfrm>
            <a:off x="4551578" y="4023360"/>
            <a:ext cx="32897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KPI 數字卡</a:t>
            </a:r>
            <a:r>
              <a:rPr lang="en-US" sz="8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KPI Cards</a:t>
            </a:r>
            <a:endParaRPr lang="en-US" sz="1400" dirty="0"/>
          </a:p>
        </p:txBody>
      </p:sp>
      <p:sp>
        <p:nvSpPr>
          <p:cNvPr id="79" name="線條"/>
          <p:cNvSpPr/>
          <p:nvPr/>
        </p:nvSpPr>
        <p:spPr>
          <a:xfrm>
            <a:off x="4350410" y="4334256"/>
            <a:ext cx="3490874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4" name="KPI 數字卡"/>
          <p:cNvGrpSpPr/>
          <p:nvPr/>
        </p:nvGrpSpPr>
        <p:grpSpPr>
          <a:xfrm>
            <a:off x="4350410" y="4590288"/>
            <a:ext cx="3490874" cy="1243584"/>
            <a:chOff x="4350410" y="4590288"/>
            <a:chExt cx="3490874" cy="1243584"/>
          </a:xfrm>
        </p:grpSpPr>
        <p:sp>
          <p:nvSpPr>
            <p:cNvPr id="80" name="卡片"/>
            <p:cNvSpPr/>
            <p:nvPr/>
          </p:nvSpPr>
          <p:spPr>
            <a:xfrm>
              <a:off x="4350410" y="4590288"/>
              <a:ext cx="1078281" cy="124358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1" name="色條"/>
            <p:cNvSpPr/>
            <p:nvPr/>
          </p:nvSpPr>
          <p:spPr>
            <a:xfrm>
              <a:off x="4350410" y="4590288"/>
              <a:ext cx="1078281" cy="64008"/>
            </a:xfrm>
            <a:prstGeom prst="rect">
              <a:avLst/>
            </a:prstGeom>
            <a:solidFill>
              <a:srgbClr val="7A1F2B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2" name="色條"/>
            <p:cNvSpPr/>
            <p:nvPr/>
          </p:nvSpPr>
          <p:spPr>
            <a:xfrm>
              <a:off x="4478426" y="4736592"/>
              <a:ext cx="219456" cy="36576"/>
            </a:xfrm>
            <a:prstGeom prst="rect">
              <a:avLst/>
            </a:prstGeom>
            <a:solidFill>
              <a:srgbClr val="7A1F2B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3" name="指標名稱"/>
            <p:cNvSpPr/>
            <p:nvPr/>
          </p:nvSpPr>
          <p:spPr>
            <a:xfrm>
              <a:off x="4478426" y="4828032"/>
              <a:ext cx="895401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準時交貨率</a:t>
              </a:r>
              <a:endParaRPr lang="en-US" sz="850" dirty="0"/>
            </a:p>
          </p:txBody>
        </p:sp>
        <p:sp>
          <p:nvSpPr>
            <p:cNvPr id="84" name="數值"/>
            <p:cNvSpPr/>
            <p:nvPr/>
          </p:nvSpPr>
          <p:spPr>
            <a:xfrm>
              <a:off x="4460138" y="5047488"/>
              <a:ext cx="913689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2400" b="1" dirty="0">
                  <a:solidFill>
                    <a:srgbClr val="7A1F2B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98.6</a:t>
              </a:r>
              <a:r>
                <a:rPr lang="en-US" sz="9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%</a:t>
              </a:r>
              <a:endParaRPr lang="en-US" sz="1400" dirty="0"/>
            </a:p>
          </p:txBody>
        </p:sp>
        <p:sp>
          <p:nvSpPr>
            <p:cNvPr id="85" name="變化"/>
            <p:cNvSpPr/>
            <p:nvPr/>
          </p:nvSpPr>
          <p:spPr>
            <a:xfrm>
              <a:off x="4478426" y="5504688"/>
              <a:ext cx="895401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800" b="1" dirty="0">
                  <a:solidFill>
                    <a:srgbClr val="7A1F2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▲ 2.1 pt</a:t>
              </a:r>
              <a:r>
                <a:rPr lang="en-US" sz="7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較上季</a:t>
              </a:r>
              <a:endParaRPr lang="en-US" sz="1400" dirty="0"/>
            </a:p>
          </p:txBody>
        </p:sp>
        <p:sp>
          <p:nvSpPr>
            <p:cNvPr id="86" name="卡片"/>
            <p:cNvSpPr/>
            <p:nvPr/>
          </p:nvSpPr>
          <p:spPr>
            <a:xfrm>
              <a:off x="5556707" y="4590288"/>
              <a:ext cx="1078281" cy="124358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7" name="色條"/>
            <p:cNvSpPr/>
            <p:nvPr/>
          </p:nvSpPr>
          <p:spPr>
            <a:xfrm>
              <a:off x="5556707" y="4590288"/>
              <a:ext cx="1078281" cy="64008"/>
            </a:xfrm>
            <a:prstGeom prst="rect">
              <a:avLst/>
            </a:prstGeom>
            <a:solidFill>
              <a:srgbClr val="7A1F2B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8" name="色條"/>
            <p:cNvSpPr/>
            <p:nvPr/>
          </p:nvSpPr>
          <p:spPr>
            <a:xfrm>
              <a:off x="5684723" y="4736592"/>
              <a:ext cx="219456" cy="36576"/>
            </a:xfrm>
            <a:prstGeom prst="rect">
              <a:avLst/>
            </a:prstGeom>
            <a:solidFill>
              <a:srgbClr val="BFBFBF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9" name="指標名稱"/>
            <p:cNvSpPr/>
            <p:nvPr/>
          </p:nvSpPr>
          <p:spPr>
            <a:xfrm>
              <a:off x="5684723" y="4828032"/>
              <a:ext cx="895401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平均交期</a:t>
              </a:r>
              <a:endParaRPr lang="en-US" sz="850" dirty="0"/>
            </a:p>
          </p:txBody>
        </p:sp>
        <p:sp>
          <p:nvSpPr>
            <p:cNvPr id="90" name="數值"/>
            <p:cNvSpPr/>
            <p:nvPr/>
          </p:nvSpPr>
          <p:spPr>
            <a:xfrm>
              <a:off x="5666435" y="5047488"/>
              <a:ext cx="913689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2400" b="1" dirty="0">
                  <a:solidFill>
                    <a:srgbClr val="3A3A3A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6.2</a:t>
              </a:r>
              <a:r>
                <a:rPr lang="en-US" sz="9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天</a:t>
              </a:r>
              <a:endParaRPr lang="en-US" sz="1400" dirty="0"/>
            </a:p>
          </p:txBody>
        </p:sp>
        <p:sp>
          <p:nvSpPr>
            <p:cNvPr id="91" name="變化"/>
            <p:cNvSpPr/>
            <p:nvPr/>
          </p:nvSpPr>
          <p:spPr>
            <a:xfrm>
              <a:off x="5684723" y="5504688"/>
              <a:ext cx="895401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800" b="1" dirty="0">
                  <a:solidFill>
                    <a:srgbClr val="7A1F2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▼ 1.8 天</a:t>
              </a:r>
              <a:r>
                <a:rPr lang="en-US" sz="7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較上季</a:t>
              </a:r>
              <a:endParaRPr lang="en-US" sz="1400" dirty="0"/>
            </a:p>
          </p:txBody>
        </p:sp>
        <p:sp>
          <p:nvSpPr>
            <p:cNvPr id="92" name="卡片"/>
            <p:cNvSpPr/>
            <p:nvPr/>
          </p:nvSpPr>
          <p:spPr>
            <a:xfrm>
              <a:off x="6763004" y="4590288"/>
              <a:ext cx="1078281" cy="124358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3" name="色條"/>
            <p:cNvSpPr/>
            <p:nvPr/>
          </p:nvSpPr>
          <p:spPr>
            <a:xfrm>
              <a:off x="6763004" y="4590288"/>
              <a:ext cx="1078281" cy="64008"/>
            </a:xfrm>
            <a:prstGeom prst="rect">
              <a:avLst/>
            </a:prstGeom>
            <a:solidFill>
              <a:srgbClr val="7A1F2B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4" name="色條"/>
            <p:cNvSpPr/>
            <p:nvPr/>
          </p:nvSpPr>
          <p:spPr>
            <a:xfrm>
              <a:off x="6891020" y="4736592"/>
              <a:ext cx="219456" cy="36576"/>
            </a:xfrm>
            <a:prstGeom prst="rect">
              <a:avLst/>
            </a:prstGeom>
            <a:solidFill>
              <a:srgbClr val="BFBFBF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5" name="指標名稱"/>
            <p:cNvSpPr/>
            <p:nvPr/>
          </p:nvSpPr>
          <p:spPr>
            <a:xfrm>
              <a:off x="6891020" y="4828032"/>
              <a:ext cx="895401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客訴件數</a:t>
              </a:r>
              <a:endParaRPr lang="en-US" sz="850" dirty="0"/>
            </a:p>
          </p:txBody>
        </p:sp>
        <p:sp>
          <p:nvSpPr>
            <p:cNvPr id="96" name="數值"/>
            <p:cNvSpPr/>
            <p:nvPr/>
          </p:nvSpPr>
          <p:spPr>
            <a:xfrm>
              <a:off x="6872732" y="5047488"/>
              <a:ext cx="913689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2400" b="1" dirty="0">
                  <a:solidFill>
                    <a:srgbClr val="3A3A3A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2</a:t>
              </a:r>
              <a:r>
                <a:rPr lang="en-US" sz="9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件／月</a:t>
              </a:r>
              <a:endParaRPr lang="en-US" sz="1400" dirty="0"/>
            </a:p>
          </p:txBody>
        </p:sp>
        <p:sp>
          <p:nvSpPr>
            <p:cNvPr id="97" name="變化"/>
            <p:cNvSpPr/>
            <p:nvPr/>
          </p:nvSpPr>
          <p:spPr>
            <a:xfrm>
              <a:off x="6891020" y="5504688"/>
              <a:ext cx="895401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800" b="1" dirty="0">
                  <a:solidFill>
                    <a:srgbClr val="7A1F2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▼ 75%</a:t>
              </a:r>
              <a:r>
                <a:rPr lang="en-US" sz="7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較上季</a:t>
              </a:r>
              <a:endParaRPr lang="en-US" sz="1400" dirty="0"/>
            </a:p>
          </p:txBody>
        </p:sp>
      </p:grpSp>
      <p:sp>
        <p:nvSpPr>
          <p:cNvPr id="98" name="Text 94"/>
          <p:cNvSpPr/>
          <p:nvPr/>
        </p:nvSpPr>
        <p:spPr>
          <a:xfrm>
            <a:off x="8152181" y="4101084"/>
            <a:ext cx="100584" cy="100584"/>
          </a:xfrm>
          <a:prstGeom prst="rect">
            <a:avLst/>
          </a:prstGeom>
          <a:solidFill>
            <a:srgbClr val="B08D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9" name="組合名稱"/>
          <p:cNvSpPr/>
          <p:nvPr/>
        </p:nvSpPr>
        <p:spPr>
          <a:xfrm>
            <a:off x="8353349" y="4023360"/>
            <a:ext cx="32897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PDCA 循環</a:t>
            </a:r>
            <a:r>
              <a:rPr lang="en-US" sz="8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PDCA Cycle</a:t>
            </a:r>
            <a:endParaRPr lang="en-US" sz="1400" dirty="0"/>
          </a:p>
        </p:txBody>
      </p:sp>
      <p:sp>
        <p:nvSpPr>
          <p:cNvPr id="100" name="線條"/>
          <p:cNvSpPr/>
          <p:nvPr/>
        </p:nvSpPr>
        <p:spPr>
          <a:xfrm>
            <a:off x="8152181" y="4334256"/>
            <a:ext cx="3490874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grpSp>
        <p:nvGrpSpPr>
          <p:cNvPr id="5005" name="PDCA 循環"/>
          <p:cNvGrpSpPr/>
          <p:nvPr/>
        </p:nvGrpSpPr>
        <p:grpSpPr>
          <a:xfrm>
            <a:off x="8152181" y="4443984"/>
            <a:ext cx="3490874" cy="1645920"/>
            <a:chOff x="8152181" y="4443984"/>
            <a:chExt cx="3490874" cy="1645920"/>
          </a:xfrm>
        </p:grpSpPr>
        <p:sp>
          <p:nvSpPr>
            <p:cNvPr id="101" name="PDCA Plan"/>
            <p:cNvSpPr/>
            <p:nvPr/>
          </p:nvSpPr>
          <p:spPr>
            <a:xfrm>
              <a:off x="8152181" y="4443984"/>
              <a:ext cx="1316736" cy="62179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6A6A6"/>
              </a:solidFill>
              <a:prstDash val="solid"/>
            </a:ln>
          </p:spPr>
          <p:txBody>
            <a:bodyPr wrap="square" lIns="101600" tIns="0" rIns="5080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500" b="1" dirty="0">
                  <a:solidFill>
                    <a:srgbClr val="7A1F2B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P</a:t>
              </a: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計畫 </a:t>
              </a:r>
              <a:r>
                <a:rPr lang="en-US" sz="750" dirty="0">
                  <a:solidFill>
                    <a:srgbClr val="8C8C8C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Plan</a:t>
              </a:r>
              <a:endParaRPr lang="en-US" sz="85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設定目標與做法</a:t>
              </a:r>
              <a:endParaRPr lang="en-US" sz="850" dirty="0"/>
            </a:p>
          </p:txBody>
        </p:sp>
        <p:sp>
          <p:nvSpPr>
            <p:cNvPr id="102" name="PDCA Do"/>
            <p:cNvSpPr/>
            <p:nvPr/>
          </p:nvSpPr>
          <p:spPr>
            <a:xfrm>
              <a:off x="10326319" y="4443984"/>
              <a:ext cx="1316736" cy="62179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6A6A6"/>
              </a:solidFill>
              <a:prstDash val="solid"/>
            </a:ln>
          </p:spPr>
          <p:txBody>
            <a:bodyPr wrap="square" lIns="101600" tIns="0" rIns="5080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500" b="1" dirty="0">
                  <a:solidFill>
                    <a:srgbClr val="7A1F2B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D</a:t>
              </a: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執行 </a:t>
              </a:r>
              <a:r>
                <a:rPr lang="en-US" sz="750" dirty="0">
                  <a:solidFill>
                    <a:srgbClr val="8C8C8C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Do</a:t>
              </a:r>
              <a:endParaRPr lang="en-US" sz="85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依計畫小步執行</a:t>
              </a:r>
              <a:endParaRPr lang="en-US" sz="850" dirty="0"/>
            </a:p>
          </p:txBody>
        </p:sp>
        <p:sp>
          <p:nvSpPr>
            <p:cNvPr id="103" name="PDCA Check"/>
            <p:cNvSpPr/>
            <p:nvPr/>
          </p:nvSpPr>
          <p:spPr>
            <a:xfrm>
              <a:off x="10326319" y="5468112"/>
              <a:ext cx="1316736" cy="62179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6A6A6"/>
              </a:solidFill>
              <a:prstDash val="solid"/>
            </a:ln>
          </p:spPr>
          <p:txBody>
            <a:bodyPr wrap="square" lIns="101600" tIns="0" rIns="5080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500" b="1" dirty="0">
                  <a:solidFill>
                    <a:srgbClr val="7A1F2B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C</a:t>
              </a: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查核 </a:t>
              </a:r>
              <a:r>
                <a:rPr lang="en-US" sz="750" dirty="0">
                  <a:solidFill>
                    <a:srgbClr val="8C8C8C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Check</a:t>
              </a:r>
              <a:endParaRPr lang="en-US" sz="85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量測結果與差異</a:t>
              </a:r>
              <a:endParaRPr lang="en-US" sz="850" dirty="0"/>
            </a:p>
          </p:txBody>
        </p:sp>
        <p:sp>
          <p:nvSpPr>
            <p:cNvPr id="104" name="PDCA Act"/>
            <p:cNvSpPr/>
            <p:nvPr/>
          </p:nvSpPr>
          <p:spPr>
            <a:xfrm>
              <a:off x="8152181" y="5468112"/>
              <a:ext cx="1316736" cy="62179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6A6A6"/>
              </a:solidFill>
              <a:prstDash val="solid"/>
            </a:ln>
          </p:spPr>
          <p:txBody>
            <a:bodyPr wrap="square" lIns="101600" tIns="0" rIns="5080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500" b="1" dirty="0">
                  <a:solidFill>
                    <a:srgbClr val="7A1F2B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A</a:t>
              </a:r>
              <a:r>
                <a:rPr lang="en-US" sz="10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行動 </a:t>
              </a:r>
              <a:r>
                <a:rPr lang="en-US" sz="750" dirty="0">
                  <a:solidFill>
                    <a:srgbClr val="8C8C8C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Act</a:t>
              </a:r>
              <a:endParaRPr lang="en-US" sz="85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8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標準化並修正</a:t>
              </a:r>
              <a:endParaRPr lang="en-US" sz="850" dirty="0"/>
            </a:p>
          </p:txBody>
        </p:sp>
        <p:cxnSp>
          <p:nvCxnSpPr>
            <p:cNvPr id="105" name="連接線"/>
            <p:cNvCxnSpPr>
              <a:stCxn id="101" idx="3"/>
              <a:endCxn id="102" idx="1"/>
            </p:cNvCxnSpPr>
            <p:nvPr/>
          </p:nvCxnSpPr>
          <p:spPr>
            <a:xfrm>
              <a:off x="9468917" y="4754880"/>
              <a:ext cx="857402" cy="0"/>
            </a:xfrm>
            <a:prstGeom prst="straightConnector1">
              <a:avLst/>
            </a:prstGeom>
            <a:ln w="12700">
              <a:solidFill>
                <a:srgbClr val="7F7F7F"/>
              </a:solidFill>
              <a:prstDash val="solid"/>
              <a:tailEnd type="stealth" w="lg" len="lg"/>
            </a:ln>
          </p:spPr>
        </p:cxnSp>
        <p:cxnSp>
          <p:nvCxnSpPr>
            <p:cNvPr id="106" name="連接線"/>
            <p:cNvCxnSpPr>
              <a:stCxn id="102" idx="2"/>
              <a:endCxn id="103" idx="0"/>
            </p:cNvCxnSpPr>
            <p:nvPr/>
          </p:nvCxnSpPr>
          <p:spPr>
            <a:xfrm>
              <a:off x="10984687" y="5065776"/>
              <a:ext cx="0" cy="402336"/>
            </a:xfrm>
            <a:prstGeom prst="straightConnector1">
              <a:avLst/>
            </a:prstGeom>
            <a:ln w="12700">
              <a:solidFill>
                <a:srgbClr val="7F7F7F"/>
              </a:solidFill>
              <a:prstDash val="solid"/>
              <a:tailEnd type="stealth" w="lg" len="lg"/>
            </a:ln>
          </p:spPr>
        </p:cxnSp>
        <p:cxnSp>
          <p:nvCxnSpPr>
            <p:cNvPr id="107" name="連接線"/>
            <p:cNvCxnSpPr>
              <a:stCxn id="103" idx="1"/>
              <a:endCxn id="104" idx="3"/>
            </p:cNvCxnSpPr>
            <p:nvPr/>
          </p:nvCxnSpPr>
          <p:spPr>
            <a:xfrm flipH="1">
              <a:off x="9468917" y="5779008"/>
              <a:ext cx="857402" cy="0"/>
            </a:xfrm>
            <a:prstGeom prst="straightConnector1">
              <a:avLst/>
            </a:prstGeom>
            <a:ln w="12700">
              <a:solidFill>
                <a:srgbClr val="7F7F7F"/>
              </a:solidFill>
              <a:prstDash val="solid"/>
              <a:tailEnd type="stealth" w="lg" len="lg"/>
            </a:ln>
          </p:spPr>
        </p:cxnSp>
        <p:cxnSp>
          <p:nvCxnSpPr>
            <p:cNvPr id="108" name="連接線"/>
            <p:cNvCxnSpPr>
              <a:stCxn id="104" idx="0"/>
              <a:endCxn id="101" idx="2"/>
            </p:cNvCxnSpPr>
            <p:nvPr/>
          </p:nvCxnSpPr>
          <p:spPr>
            <a:xfrm flipV="1">
              <a:off x="8810549" y="5065776"/>
              <a:ext cx="0" cy="402336"/>
            </a:xfrm>
            <a:prstGeom prst="straightConnector1">
              <a:avLst/>
            </a:prstGeom>
            <a:ln w="12700">
              <a:solidFill>
                <a:srgbClr val="7F7F7F"/>
              </a:solidFill>
              <a:prstDash val="solid"/>
              <a:tailEnd type="stealth" w="lg" len="lg"/>
            </a:ln>
          </p:spPr>
        </p:cxnSp>
        <p:sp>
          <p:nvSpPr>
            <p:cNvPr id="109" name="中心標籤"/>
            <p:cNvSpPr/>
            <p:nvPr/>
          </p:nvSpPr>
          <p:spPr>
            <a:xfrm>
              <a:off x="9440418" y="5148072"/>
              <a:ext cx="914400" cy="237744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D9D9D9"/>
              </a:solidFill>
              <a:prstDash val="solid"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00" b="1" dirty="0">
                  <a:solidFill>
                    <a:srgbClr val="7A1F2B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PDCA</a:t>
              </a:r>
              <a:r>
                <a:rPr lang="en-US" sz="7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持續改善</a:t>
              </a:r>
              <a:endParaRPr lang="en-US" sz="800" dirty="0"/>
            </a:p>
          </p:txBody>
        </p:sp>
      </p:grpSp>
      <p:sp>
        <p:nvSpPr>
          <p:cNvPr id="110" name="Text 106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酒紅精品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111" name="Text 107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548640" y="34747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7A1F2B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風格規範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060704"/>
            <a:ext cx="822960" cy="22860"/>
          </a:xfrm>
          <a:prstGeom prst="rect">
            <a:avLst/>
          </a:prstGeom>
          <a:solidFill>
            <a:srgbClr val="B08D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8640" y="116128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色彩、字級與元件語言一覽：直角、頂邊色條卡片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79092"/>
            <a:ext cx="100584" cy="100584"/>
          </a:xfrm>
          <a:prstGeom prst="rect">
            <a:avLst/>
          </a:prstGeom>
          <a:solidFill>
            <a:srgbClr val="B08D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49808" y="1783080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色彩 Palette</a:t>
            </a:r>
            <a:endParaRPr lang="en-US" sz="1300" dirty="0"/>
          </a:p>
        </p:txBody>
      </p:sp>
      <p:sp>
        <p:nvSpPr>
          <p:cNvPr id="7" name="線條"/>
          <p:cNvSpPr/>
          <p:nvPr/>
        </p:nvSpPr>
        <p:spPr>
          <a:xfrm>
            <a:off x="548640" y="2167128"/>
            <a:ext cx="502920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31720"/>
            <a:ext cx="493776" cy="493776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75488" y="288950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309067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#7A1F2B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79576" y="2331720"/>
            <a:ext cx="493776" cy="493776"/>
          </a:xfrm>
          <a:prstGeom prst="rect">
            <a:avLst/>
          </a:prstGeom>
          <a:solidFill>
            <a:srgbClr val="5E16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106424" y="288950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深色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69848" y="309067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#5E1620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810512" y="2331720"/>
            <a:ext cx="493776" cy="493776"/>
          </a:xfrm>
          <a:prstGeom prst="rect">
            <a:avLst/>
          </a:prstGeom>
          <a:solidFill>
            <a:srgbClr val="F3E6E8"/>
          </a:solidFill>
          <a:ln w="9525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737360" y="288950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淺色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00784" y="309067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#F3E6E8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441448" y="2331720"/>
            <a:ext cx="493776" cy="493776"/>
          </a:xfrm>
          <a:prstGeom prst="rect">
            <a:avLst/>
          </a:prstGeom>
          <a:solidFill>
            <a:srgbClr val="B08D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368296" y="288950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輔助色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331720" y="309067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#B08D57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072384" y="2331720"/>
            <a:ext cx="493776" cy="493776"/>
          </a:xfrm>
          <a:prstGeom prst="rect">
            <a:avLst/>
          </a:prstGeom>
          <a:solidFill>
            <a:srgbClr val="3A3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999232" y="288950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文字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62656" y="309067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#3A3A3A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703320" y="2331720"/>
            <a:ext cx="493776" cy="493776"/>
          </a:xfrm>
          <a:prstGeom prst="rect">
            <a:avLst/>
          </a:prstGeom>
          <a:solidFill>
            <a:srgbClr val="8C8C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630168" y="288950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註解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593592" y="309067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#8C8C8C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334256" y="2331720"/>
            <a:ext cx="493776" cy="493776"/>
          </a:xfrm>
          <a:prstGeom prst="rect">
            <a:avLst/>
          </a:prstGeom>
          <a:solidFill>
            <a:srgbClr val="BFBF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261104" y="288950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框線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224528" y="309067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#BFBFBF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965192" y="2331720"/>
            <a:ext cx="493776" cy="493776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892040" y="288950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底色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55464" y="309067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#F2F2F2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48640" y="3643884"/>
            <a:ext cx="100584" cy="100584"/>
          </a:xfrm>
          <a:prstGeom prst="rect">
            <a:avLst/>
          </a:prstGeom>
          <a:solidFill>
            <a:srgbClr val="B08D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49808" y="354787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字級 Typography</a:t>
            </a:r>
            <a:endParaRPr lang="en-US" sz="1300" dirty="0"/>
          </a:p>
        </p:txBody>
      </p:sp>
      <p:sp>
        <p:nvSpPr>
          <p:cNvPr id="34" name="線條"/>
          <p:cNvSpPr/>
          <p:nvPr/>
        </p:nvSpPr>
        <p:spPr>
          <a:xfrm>
            <a:off x="548640" y="3931920"/>
            <a:ext cx="502920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3931920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7A1F2B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大標題文字</a:t>
            </a:r>
            <a:r>
              <a:rPr lang="en-US" sz="10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38pt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48640" y="459028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副標題・細字主色</a:t>
            </a:r>
            <a:r>
              <a:rPr lang="en-US" sz="10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16pt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48640" y="499262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標籤與卡片標題</a:t>
            </a:r>
            <a:r>
              <a:rPr lang="en-US" sz="10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16pt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48640" y="53766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內文說明文字，灰色、行距寬鬆</a:t>
            </a:r>
            <a:r>
              <a:rPr lang="en-US" sz="10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12pt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48640" y="572414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註解文字以灰色呈現，10.5pt，放在版面下緣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172200" y="1879092"/>
            <a:ext cx="100584" cy="100584"/>
          </a:xfrm>
          <a:prstGeom prst="rect">
            <a:avLst/>
          </a:prstGeom>
          <a:solidFill>
            <a:srgbClr val="B08D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373368" y="1783080"/>
            <a:ext cx="52696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元件語言 Shape Language</a:t>
            </a:r>
            <a:endParaRPr lang="en-US" sz="1300" dirty="0"/>
          </a:p>
        </p:txBody>
      </p:sp>
      <p:sp>
        <p:nvSpPr>
          <p:cNvPr id="42" name="線條"/>
          <p:cNvSpPr/>
          <p:nvPr/>
        </p:nvSpPr>
        <p:spPr>
          <a:xfrm>
            <a:off x="6172200" y="2167128"/>
            <a:ext cx="547085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72200" y="23317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0012680" y="2331720"/>
            <a:ext cx="1630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頂邊色條</a:t>
            </a:r>
            <a:endParaRPr lang="en-US" sz="1000" dirty="0"/>
          </a:p>
        </p:txBody>
      </p:sp>
      <p:sp>
        <p:nvSpPr>
          <p:cNvPr id="45" name="卡片"/>
          <p:cNvSpPr/>
          <p:nvPr/>
        </p:nvSpPr>
        <p:spPr>
          <a:xfrm>
            <a:off x="7086600" y="2368296"/>
            <a:ext cx="132588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色條"/>
          <p:cNvSpPr/>
          <p:nvPr/>
        </p:nvSpPr>
        <p:spPr>
          <a:xfrm>
            <a:off x="7086600" y="2368296"/>
            <a:ext cx="1325880" cy="64008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卡片"/>
          <p:cNvSpPr/>
          <p:nvPr/>
        </p:nvSpPr>
        <p:spPr>
          <a:xfrm>
            <a:off x="8595360" y="2368296"/>
            <a:ext cx="11887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blurRad="88900" dist="25400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色條"/>
          <p:cNvSpPr/>
          <p:nvPr/>
        </p:nvSpPr>
        <p:spPr>
          <a:xfrm>
            <a:off x="8595360" y="2368296"/>
            <a:ext cx="1188720" cy="64008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8595360" y="2368296"/>
            <a:ext cx="1188720" cy="164592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線條"/>
          <p:cNvSpPr/>
          <p:nvPr/>
        </p:nvSpPr>
        <p:spPr>
          <a:xfrm>
            <a:off x="6172200" y="2935224"/>
            <a:ext cx="5470855" cy="0"/>
          </a:xfrm>
          <a:prstGeom prst="line">
            <a:avLst/>
          </a:prstGeom>
          <a:noFill/>
          <a:ln w="6350">
            <a:solidFill>
              <a:srgbClr val="ECECE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72200" y="2980944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10012680" y="2980944"/>
            <a:ext cx="1630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直角實心</a:t>
            </a:r>
            <a:endParaRPr lang="en-US" sz="1000" dirty="0"/>
          </a:p>
        </p:txBody>
      </p:sp>
      <p:sp>
        <p:nvSpPr>
          <p:cNvPr id="53" name="標籤"/>
          <p:cNvSpPr/>
          <p:nvPr/>
        </p:nvSpPr>
        <p:spPr>
          <a:xfrm>
            <a:off x="7086600" y="3108960"/>
            <a:ext cx="550591" cy="292608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</a:t>
            </a:r>
            <a:endParaRPr lang="en-US" sz="1200" dirty="0"/>
          </a:p>
        </p:txBody>
      </p:sp>
      <p:sp>
        <p:nvSpPr>
          <p:cNvPr id="54" name="標籤"/>
          <p:cNvSpPr/>
          <p:nvPr/>
        </p:nvSpPr>
        <p:spPr>
          <a:xfrm>
            <a:off x="7746919" y="3108960"/>
            <a:ext cx="550591" cy="292608"/>
          </a:xfrm>
          <a:prstGeom prst="rect">
            <a:avLst/>
          </a:prstGeom>
          <a:solidFill>
            <a:srgbClr val="B08D57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</a:t>
            </a:r>
            <a:endParaRPr lang="en-US" sz="1200" dirty="0"/>
          </a:p>
        </p:txBody>
      </p:sp>
      <p:sp>
        <p:nvSpPr>
          <p:cNvPr id="55" name="標籤"/>
          <p:cNvSpPr/>
          <p:nvPr/>
        </p:nvSpPr>
        <p:spPr>
          <a:xfrm>
            <a:off x="8407237" y="3108960"/>
            <a:ext cx="550591" cy="292608"/>
          </a:xfrm>
          <a:prstGeom prst="rect">
            <a:avLst/>
          </a:prstGeom>
          <a:solidFill>
            <a:srgbClr val="E6E6E6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灰階</a:t>
            </a:r>
            <a:endParaRPr lang="en-US" sz="1200" dirty="0"/>
          </a:p>
        </p:txBody>
      </p:sp>
      <p:sp>
        <p:nvSpPr>
          <p:cNvPr id="56" name="線條"/>
          <p:cNvSpPr/>
          <p:nvPr/>
        </p:nvSpPr>
        <p:spPr>
          <a:xfrm>
            <a:off x="6172200" y="3584448"/>
            <a:ext cx="5470855" cy="0"/>
          </a:xfrm>
          <a:prstGeom prst="line">
            <a:avLst/>
          </a:prstGeom>
          <a:noFill/>
          <a:ln w="6350">
            <a:solidFill>
              <a:srgbClr val="ECECE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72200" y="363016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10012680" y="3630168"/>
            <a:ext cx="1630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方形襯線數字</a:t>
            </a:r>
            <a:endParaRPr lang="en-US" sz="1000" dirty="0"/>
          </a:p>
        </p:txBody>
      </p:sp>
      <p:sp>
        <p:nvSpPr>
          <p:cNvPr id="59" name="編號"/>
          <p:cNvSpPr/>
          <p:nvPr/>
        </p:nvSpPr>
        <p:spPr>
          <a:xfrm>
            <a:off x="7123176" y="3721608"/>
            <a:ext cx="365760" cy="365760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00" dirty="0"/>
          </a:p>
        </p:txBody>
      </p:sp>
      <p:sp>
        <p:nvSpPr>
          <p:cNvPr id="60" name="編號"/>
          <p:cNvSpPr/>
          <p:nvPr/>
        </p:nvSpPr>
        <p:spPr>
          <a:xfrm>
            <a:off x="7690104" y="3721608"/>
            <a:ext cx="365760" cy="365760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" dirty="0"/>
          </a:p>
        </p:txBody>
      </p:sp>
      <p:sp>
        <p:nvSpPr>
          <p:cNvPr id="61" name="編號"/>
          <p:cNvSpPr/>
          <p:nvPr/>
        </p:nvSpPr>
        <p:spPr>
          <a:xfrm>
            <a:off x="8257032" y="3721608"/>
            <a:ext cx="365760" cy="365760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8869680" y="363016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② ③</a:t>
            </a:r>
            <a:endParaRPr lang="en-US" sz="1400" dirty="0"/>
          </a:p>
        </p:txBody>
      </p:sp>
      <p:sp>
        <p:nvSpPr>
          <p:cNvPr id="63" name="線條"/>
          <p:cNvSpPr/>
          <p:nvPr/>
        </p:nvSpPr>
        <p:spPr>
          <a:xfrm>
            <a:off x="6172200" y="4233672"/>
            <a:ext cx="5470855" cy="0"/>
          </a:xfrm>
          <a:prstGeom prst="line">
            <a:avLst/>
          </a:prstGeom>
          <a:noFill/>
          <a:ln w="6350">
            <a:solidFill>
              <a:srgbClr val="ECECE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172200" y="427939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分隔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10012680" y="4279392"/>
            <a:ext cx="1630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燕尾箭頭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70866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200" dirty="0"/>
          </a:p>
        </p:txBody>
      </p:sp>
      <p:sp>
        <p:nvSpPr>
          <p:cNvPr id="67" name="線條"/>
          <p:cNvSpPr/>
          <p:nvPr/>
        </p:nvSpPr>
        <p:spPr>
          <a:xfrm>
            <a:off x="7671816" y="4553712"/>
            <a:ext cx="457200" cy="0"/>
          </a:xfrm>
          <a:prstGeom prst="line">
            <a:avLst/>
          </a:prstGeom>
          <a:noFill/>
          <a:ln w="12700">
            <a:solidFill>
              <a:srgbClr val="7A1F2B"/>
            </a:solidFill>
            <a:prstDash val="solid"/>
            <a:tailEnd type="stealth" w="lg" len="lg"/>
          </a:ln>
        </p:spPr>
      </p:sp>
      <p:sp>
        <p:nvSpPr>
          <p:cNvPr id="68" name="Text 66"/>
          <p:cNvSpPr/>
          <p:nvPr/>
        </p:nvSpPr>
        <p:spPr>
          <a:xfrm>
            <a:off x="818388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200" dirty="0"/>
          </a:p>
        </p:txBody>
      </p:sp>
      <p:sp>
        <p:nvSpPr>
          <p:cNvPr id="69" name="線條"/>
          <p:cNvSpPr/>
          <p:nvPr/>
        </p:nvSpPr>
        <p:spPr>
          <a:xfrm>
            <a:off x="8769096" y="4553712"/>
            <a:ext cx="457200" cy="0"/>
          </a:xfrm>
          <a:prstGeom prst="line">
            <a:avLst/>
          </a:prstGeom>
          <a:noFill/>
          <a:ln w="12700">
            <a:solidFill>
              <a:srgbClr val="7A1F2B"/>
            </a:solidFill>
            <a:prstDash val="solid"/>
            <a:tailEnd type="stealth" w="lg" len="lg"/>
          </a:ln>
        </p:spPr>
      </p:sp>
      <p:sp>
        <p:nvSpPr>
          <p:cNvPr id="70" name="Text 68"/>
          <p:cNvSpPr/>
          <p:nvPr/>
        </p:nvSpPr>
        <p:spPr>
          <a:xfrm>
            <a:off x="928116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200" dirty="0"/>
          </a:p>
        </p:txBody>
      </p:sp>
      <p:sp>
        <p:nvSpPr>
          <p:cNvPr id="71" name="線條"/>
          <p:cNvSpPr/>
          <p:nvPr/>
        </p:nvSpPr>
        <p:spPr>
          <a:xfrm>
            <a:off x="6172200" y="4882896"/>
            <a:ext cx="5470855" cy="0"/>
          </a:xfrm>
          <a:prstGeom prst="line">
            <a:avLst/>
          </a:prstGeom>
          <a:noFill/>
          <a:ln w="6350">
            <a:solidFill>
              <a:srgbClr val="ECECE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172200" y="4928616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連接線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10012680" y="4928616"/>
            <a:ext cx="1630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1pt 實線＋燕尾箭頭</a:t>
            </a:r>
            <a:endParaRPr lang="en-US" sz="1000" dirty="0"/>
          </a:p>
        </p:txBody>
      </p:sp>
      <p:sp>
        <p:nvSpPr>
          <p:cNvPr id="74" name="線條"/>
          <p:cNvSpPr/>
          <p:nvPr/>
        </p:nvSpPr>
        <p:spPr>
          <a:xfrm>
            <a:off x="7086600" y="5202936"/>
            <a:ext cx="118872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  <a:tailEnd type="stealth" w="lg" len="lg"/>
          </a:ln>
        </p:spPr>
      </p:sp>
      <p:sp>
        <p:nvSpPr>
          <p:cNvPr id="75" name="連接線"/>
          <p:cNvSpPr/>
          <p:nvPr/>
        </p:nvSpPr>
        <p:spPr>
          <a:xfrm>
            <a:off x="8549640" y="5001768"/>
            <a:ext cx="1234440" cy="402336"/>
          </a:xfrm>
          <a:custGeom>
            <a:avLst/>
            <a:gdLst/>
            <a:ahLst/>
            <a:cxnLst/>
            <a:rect l="l" t="t" r="r" b="b"/>
            <a:pathLst>
              <a:path w="1234440" h="402336">
                <a:moveTo>
                  <a:pt x="0" y="0"/>
                </a:moveTo>
                <a:lnTo>
                  <a:pt x="548640" y="0"/>
                </a:lnTo>
                <a:lnTo>
                  <a:pt x="548640" y="402336"/>
                </a:lnTo>
                <a:lnTo>
                  <a:pt x="1234440" y="402336"/>
                </a:lnTo>
              </a:path>
            </a:pathLst>
          </a:custGeom>
          <a:ln w="12700">
            <a:solidFill>
              <a:srgbClr val="7F7F7F"/>
            </a:solidFill>
            <a:prstDash val="solid"/>
            <a:tailEnd type="stealth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線條"/>
          <p:cNvSpPr/>
          <p:nvPr/>
        </p:nvSpPr>
        <p:spPr>
          <a:xfrm>
            <a:off x="6172200" y="5532120"/>
            <a:ext cx="5470855" cy="0"/>
          </a:xfrm>
          <a:prstGeom prst="line">
            <a:avLst/>
          </a:prstGeom>
          <a:noFill/>
          <a:ln w="6350">
            <a:solidFill>
              <a:srgbClr val="ECECE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172200" y="55778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流程鏈</a:t>
            </a:r>
            <a:endParaRPr lang="en-US" sz="1300" dirty="0"/>
          </a:p>
        </p:txBody>
      </p:sp>
      <p:sp>
        <p:nvSpPr>
          <p:cNvPr id="78" name="Text 76"/>
          <p:cNvSpPr/>
          <p:nvPr/>
        </p:nvSpPr>
        <p:spPr>
          <a:xfrm>
            <a:off x="10012680" y="5577840"/>
            <a:ext cx="1630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五邊形箭號</a:t>
            </a:r>
            <a:endParaRPr lang="en-US" sz="1000" dirty="0"/>
          </a:p>
        </p:txBody>
      </p:sp>
      <p:sp>
        <p:nvSpPr>
          <p:cNvPr id="79" name="流程鏈"/>
          <p:cNvSpPr/>
          <p:nvPr/>
        </p:nvSpPr>
        <p:spPr>
          <a:xfrm>
            <a:off x="7086600" y="5650992"/>
            <a:ext cx="974385" cy="402336"/>
          </a:xfrm>
          <a:prstGeom prst="homePlate">
            <a:avLst>
              <a:gd name="adj" fmla="val 36000"/>
            </a:avLst>
          </a:prstGeom>
          <a:solidFill>
            <a:srgbClr val="7A1F2B"/>
          </a:solidFill>
          <a:ln/>
        </p:spPr>
        <p:txBody>
          <a:bodyPr wrap="square" lIns="762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</a:t>
            </a:r>
            <a:endParaRPr lang="en-US" sz="1100" dirty="0"/>
          </a:p>
        </p:txBody>
      </p:sp>
      <p:sp>
        <p:nvSpPr>
          <p:cNvPr id="80" name="流程鏈"/>
          <p:cNvSpPr/>
          <p:nvPr/>
        </p:nvSpPr>
        <p:spPr>
          <a:xfrm>
            <a:off x="7971008" y="5650992"/>
            <a:ext cx="974385" cy="402336"/>
          </a:xfrm>
          <a:prstGeom prst="homePlate">
            <a:avLst>
              <a:gd name="adj" fmla="val 36000"/>
            </a:avLst>
          </a:prstGeom>
          <a:solidFill>
            <a:srgbClr val="F2F2F2"/>
          </a:solidFill>
          <a:ln/>
        </p:spPr>
        <p:txBody>
          <a:bodyPr wrap="square" lIns="762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1100" dirty="0"/>
          </a:p>
        </p:txBody>
      </p:sp>
      <p:sp>
        <p:nvSpPr>
          <p:cNvPr id="81" name="流程鏈"/>
          <p:cNvSpPr/>
          <p:nvPr/>
        </p:nvSpPr>
        <p:spPr>
          <a:xfrm>
            <a:off x="8855415" y="5650992"/>
            <a:ext cx="974385" cy="402336"/>
          </a:xfrm>
          <a:prstGeom prst="homePlate">
            <a:avLst>
              <a:gd name="adj" fmla="val 36000"/>
            </a:avLst>
          </a:prstGeom>
          <a:solidFill>
            <a:srgbClr val="F2F2F2"/>
          </a:solidFill>
          <a:ln/>
        </p:spPr>
        <p:txBody>
          <a:bodyPr wrap="square" lIns="762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檢核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酒紅精品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548640" y="34747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7A1F2B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卡片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060704"/>
            <a:ext cx="822960" cy="22860"/>
          </a:xfrm>
          <a:prstGeom prst="rect">
            <a:avLst/>
          </a:prstGeom>
          <a:solidFill>
            <a:srgbClr val="B08D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8640" y="116128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標題＋內文、角落標籤、表頭強調三種基本卡片</a:t>
            </a:r>
            <a:endParaRPr lang="en-US" sz="1400" dirty="0"/>
          </a:p>
        </p:txBody>
      </p:sp>
      <p:sp>
        <p:nvSpPr>
          <p:cNvPr id="5" name="卡片"/>
          <p:cNvSpPr/>
          <p:nvPr/>
        </p:nvSpPr>
        <p:spPr>
          <a:xfrm>
            <a:off x="548640" y="1874520"/>
            <a:ext cx="3410712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色條"/>
          <p:cNvSpPr/>
          <p:nvPr/>
        </p:nvSpPr>
        <p:spPr>
          <a:xfrm>
            <a:off x="548640" y="1874520"/>
            <a:ext cx="3410712" cy="64008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86384" y="2057400"/>
            <a:ext cx="2935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A1F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標題＋內文</a:t>
            </a:r>
            <a:r>
              <a:rPr lang="en-US" sz="1000" b="1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Card</a:t>
            </a:r>
            <a:endParaRPr lang="en-US" sz="1600" dirty="0"/>
          </a:p>
        </p:txBody>
      </p:sp>
      <p:sp>
        <p:nvSpPr>
          <p:cNvPr id="8" name="線條"/>
          <p:cNvSpPr/>
          <p:nvPr/>
        </p:nvSpPr>
        <p:spPr>
          <a:xfrm>
            <a:off x="786384" y="2551176"/>
            <a:ext cx="2935224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697480"/>
            <a:ext cx="29352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先用一句話說清楚重點，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再以兩到三行補充說明。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內文維持灰色、行距寬鬆，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留白讓卡片更好讀。</a:t>
            </a:r>
            <a:endParaRPr lang="en-US" sz="1200" dirty="0"/>
          </a:p>
        </p:txBody>
      </p:sp>
      <p:sp>
        <p:nvSpPr>
          <p:cNvPr id="10" name="卡片"/>
          <p:cNvSpPr/>
          <p:nvPr/>
        </p:nvSpPr>
        <p:spPr>
          <a:xfrm>
            <a:off x="4390492" y="1874520"/>
            <a:ext cx="3410712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色條"/>
          <p:cNvSpPr/>
          <p:nvPr/>
        </p:nvSpPr>
        <p:spPr>
          <a:xfrm>
            <a:off x="4390492" y="1874520"/>
            <a:ext cx="3410712" cy="64008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628236" y="2057400"/>
            <a:ext cx="2935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A1F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角落標籤卡片</a:t>
            </a:r>
            <a:endParaRPr lang="en-US" sz="1600" dirty="0"/>
          </a:p>
        </p:txBody>
      </p:sp>
      <p:sp>
        <p:nvSpPr>
          <p:cNvPr id="13" name="線條"/>
          <p:cNvSpPr/>
          <p:nvPr/>
        </p:nvSpPr>
        <p:spPr>
          <a:xfrm>
            <a:off x="4628236" y="2551176"/>
            <a:ext cx="2935224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28236" y="2697480"/>
            <a:ext cx="29352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右上角的小標籤標示階段、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分類或狀態，跨在邊框上，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不佔用內文空間。</a:t>
            </a:r>
            <a:endParaRPr lang="en-US" sz="1200" dirty="0"/>
          </a:p>
        </p:txBody>
      </p:sp>
      <p:sp>
        <p:nvSpPr>
          <p:cNvPr id="15" name="標籤"/>
          <p:cNvSpPr/>
          <p:nvPr/>
        </p:nvSpPr>
        <p:spPr>
          <a:xfrm>
            <a:off x="6854292" y="1746504"/>
            <a:ext cx="745744" cy="256032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第一階段</a:t>
            </a:r>
            <a:endParaRPr lang="en-US" sz="1000" dirty="0"/>
          </a:p>
        </p:txBody>
      </p:sp>
      <p:sp>
        <p:nvSpPr>
          <p:cNvPr id="16" name="卡片"/>
          <p:cNvSpPr/>
          <p:nvPr/>
        </p:nvSpPr>
        <p:spPr>
          <a:xfrm>
            <a:off x="8232343" y="1874520"/>
            <a:ext cx="3410712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blurRad="88900" dist="25400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色條"/>
          <p:cNvSpPr/>
          <p:nvPr/>
        </p:nvSpPr>
        <p:spPr>
          <a:xfrm>
            <a:off x="8232343" y="1874520"/>
            <a:ext cx="3410712" cy="64008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表頭"/>
          <p:cNvSpPr/>
          <p:nvPr/>
        </p:nvSpPr>
        <p:spPr>
          <a:xfrm>
            <a:off x="8232343" y="1874520"/>
            <a:ext cx="3410712" cy="530352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470087" y="1874520"/>
            <a:ext cx="2935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表頭強調卡片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70087" y="2587752"/>
            <a:ext cx="2935224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以主色表頭強調，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用來標出最重要的一張卡。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同一頁建議只放一張。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187952"/>
            <a:ext cx="3410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A｜基本卡片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390492" y="4187952"/>
            <a:ext cx="3410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B｜角標卡片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232343" y="4187952"/>
            <a:ext cx="3410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C｜強調卡片（含陰影）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4668012"/>
            <a:ext cx="100584" cy="100584"/>
          </a:xfrm>
          <a:prstGeom prst="rect">
            <a:avLst/>
          </a:prstGeom>
          <a:solidFill>
            <a:srgbClr val="B08D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49808" y="4572000"/>
            <a:ext cx="6199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標籤＋說明列</a:t>
            </a:r>
            <a:endParaRPr lang="en-US" sz="1300" dirty="0"/>
          </a:p>
        </p:txBody>
      </p:sp>
      <p:sp>
        <p:nvSpPr>
          <p:cNvPr id="26" name="線條"/>
          <p:cNvSpPr/>
          <p:nvPr/>
        </p:nvSpPr>
        <p:spPr>
          <a:xfrm>
            <a:off x="548640" y="4956048"/>
            <a:ext cx="640080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7" name="標籤"/>
          <p:cNvSpPr/>
          <p:nvPr/>
        </p:nvSpPr>
        <p:spPr>
          <a:xfrm>
            <a:off x="548640" y="5102352"/>
            <a:ext cx="749808" cy="292608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簡潔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463040" y="510235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一頁只講一個重點，讀者不費力</a:t>
            </a:r>
            <a:endParaRPr lang="en-US" sz="1300" dirty="0"/>
          </a:p>
        </p:txBody>
      </p:sp>
      <p:sp>
        <p:nvSpPr>
          <p:cNvPr id="29" name="標籤"/>
          <p:cNvSpPr/>
          <p:nvPr/>
        </p:nvSpPr>
        <p:spPr>
          <a:xfrm>
            <a:off x="548640" y="5486400"/>
            <a:ext cx="749808" cy="292608"/>
          </a:xfrm>
          <a:prstGeom prst="rect">
            <a:avLst/>
          </a:prstGeom>
          <a:solidFill>
            <a:srgbClr val="B08D57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463040" y="548640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用例子與數字說話，避免空泛</a:t>
            </a:r>
            <a:endParaRPr lang="en-US" sz="1300" dirty="0"/>
          </a:p>
        </p:txBody>
      </p:sp>
      <p:sp>
        <p:nvSpPr>
          <p:cNvPr id="31" name="標籤"/>
          <p:cNvSpPr/>
          <p:nvPr/>
        </p:nvSpPr>
        <p:spPr>
          <a:xfrm>
            <a:off x="548640" y="5870448"/>
            <a:ext cx="749808" cy="292608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深入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463040" y="587044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提出觀點與洞見，留下記憶點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315200" y="4668012"/>
            <a:ext cx="100584" cy="100584"/>
          </a:xfrm>
          <a:prstGeom prst="rect">
            <a:avLst/>
          </a:prstGeom>
          <a:solidFill>
            <a:srgbClr val="B08D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516368" y="4572000"/>
            <a:ext cx="41266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註解 Note</a:t>
            </a:r>
            <a:endParaRPr lang="en-US" sz="1300" dirty="0"/>
          </a:p>
        </p:txBody>
      </p:sp>
      <p:sp>
        <p:nvSpPr>
          <p:cNvPr id="35" name="線條"/>
          <p:cNvSpPr/>
          <p:nvPr/>
        </p:nvSpPr>
        <p:spPr>
          <a:xfrm>
            <a:off x="7315200" y="4956048"/>
            <a:ext cx="432785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0" y="5120640"/>
            <a:ext cx="4327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註解用灰色小字，補充前提或資料來源。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315200" y="5486400"/>
            <a:ext cx="4327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每張卡片內文以 3–4 行為上限。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酒紅精品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548640" y="34747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7A1F2B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標籤與編號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060704"/>
            <a:ext cx="822960" cy="22860"/>
          </a:xfrm>
          <a:prstGeom prst="rect">
            <a:avLst/>
          </a:prstGeom>
          <a:solidFill>
            <a:srgbClr val="B08D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8640" y="116128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單一標籤、堆疊清單、編號徽章與圈號清單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79092"/>
            <a:ext cx="100584" cy="100584"/>
          </a:xfrm>
          <a:prstGeom prst="rect">
            <a:avLst/>
          </a:prstGeom>
          <a:solidFill>
            <a:srgbClr val="B08D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49808" y="1783080"/>
            <a:ext cx="1089324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單一標籤 Tags</a:t>
            </a:r>
            <a:endParaRPr lang="en-US" sz="1300" dirty="0"/>
          </a:p>
        </p:txBody>
      </p:sp>
      <p:sp>
        <p:nvSpPr>
          <p:cNvPr id="7" name="線條"/>
          <p:cNvSpPr/>
          <p:nvPr/>
        </p:nvSpPr>
        <p:spPr>
          <a:xfrm>
            <a:off x="548640" y="2167128"/>
            <a:ext cx="1109441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8" name="標籤"/>
          <p:cNvSpPr/>
          <p:nvPr/>
        </p:nvSpPr>
        <p:spPr>
          <a:xfrm>
            <a:off x="548640" y="2331720"/>
            <a:ext cx="952276" cy="347472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主要標籤</a:t>
            </a:r>
            <a:endParaRPr lang="en-US" sz="1300" dirty="0"/>
          </a:p>
        </p:txBody>
      </p:sp>
      <p:sp>
        <p:nvSpPr>
          <p:cNvPr id="9" name="標籤"/>
          <p:cNvSpPr/>
          <p:nvPr/>
        </p:nvSpPr>
        <p:spPr>
          <a:xfrm>
            <a:off x="1775236" y="2331720"/>
            <a:ext cx="952276" cy="347472"/>
          </a:xfrm>
          <a:prstGeom prst="rect">
            <a:avLst/>
          </a:prstGeom>
          <a:solidFill>
            <a:srgbClr val="B08D57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輔助標籤</a:t>
            </a:r>
            <a:endParaRPr lang="en-US" sz="1300" dirty="0"/>
          </a:p>
        </p:txBody>
      </p:sp>
      <p:sp>
        <p:nvSpPr>
          <p:cNvPr id="10" name="標籤"/>
          <p:cNvSpPr/>
          <p:nvPr/>
        </p:nvSpPr>
        <p:spPr>
          <a:xfrm>
            <a:off x="3001833" y="2331720"/>
            <a:ext cx="952276" cy="347472"/>
          </a:xfrm>
          <a:prstGeom prst="rect">
            <a:avLst/>
          </a:prstGeom>
          <a:solidFill>
            <a:srgbClr val="E6E6E6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灰階標籤</a:t>
            </a:r>
            <a:endParaRPr lang="en-US" sz="1300" dirty="0"/>
          </a:p>
        </p:txBody>
      </p:sp>
      <p:sp>
        <p:nvSpPr>
          <p:cNvPr id="11" name="標籤"/>
          <p:cNvSpPr/>
          <p:nvPr/>
        </p:nvSpPr>
        <p:spPr>
          <a:xfrm>
            <a:off x="4228429" y="2331720"/>
            <a:ext cx="952276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7A1F2B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1F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外框標籤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29346" y="23317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小尺寸</a:t>
            </a:r>
            <a:endParaRPr lang="en-US" sz="1100" dirty="0"/>
          </a:p>
        </p:txBody>
      </p:sp>
      <p:sp>
        <p:nvSpPr>
          <p:cNvPr id="13" name="標籤"/>
          <p:cNvSpPr/>
          <p:nvPr/>
        </p:nvSpPr>
        <p:spPr>
          <a:xfrm>
            <a:off x="6460866" y="2368296"/>
            <a:ext cx="491744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7A1F2B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1F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元素</a:t>
            </a:r>
            <a:endParaRPr lang="en-US" sz="1000" dirty="0"/>
          </a:p>
        </p:txBody>
      </p:sp>
      <p:sp>
        <p:nvSpPr>
          <p:cNvPr id="14" name="標籤"/>
          <p:cNvSpPr/>
          <p:nvPr/>
        </p:nvSpPr>
        <p:spPr>
          <a:xfrm>
            <a:off x="7089770" y="2368296"/>
            <a:ext cx="491744" cy="274320"/>
          </a:xfrm>
          <a:prstGeom prst="rect">
            <a:avLst/>
          </a:prstGeom>
          <a:solidFill>
            <a:srgbClr val="E6E6E6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關聯</a:t>
            </a:r>
            <a:endParaRPr lang="en-US" sz="1000" dirty="0"/>
          </a:p>
        </p:txBody>
      </p:sp>
      <p:sp>
        <p:nvSpPr>
          <p:cNvPr id="15" name="標籤"/>
          <p:cNvSpPr/>
          <p:nvPr/>
        </p:nvSpPr>
        <p:spPr>
          <a:xfrm>
            <a:off x="7718674" y="2368296"/>
            <a:ext cx="491744" cy="274320"/>
          </a:xfrm>
          <a:prstGeom prst="rect">
            <a:avLst/>
          </a:prstGeom>
          <a:solidFill>
            <a:srgbClr val="E6E6E6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因果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159252"/>
            <a:ext cx="100584" cy="100584"/>
          </a:xfrm>
          <a:prstGeom prst="rect">
            <a:avLst/>
          </a:prstGeom>
          <a:solidFill>
            <a:srgbClr val="B08D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49808" y="3063240"/>
            <a:ext cx="3264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堆疊清單 Stacked</a:t>
            </a:r>
            <a:endParaRPr lang="en-US" sz="1300" dirty="0"/>
          </a:p>
        </p:txBody>
      </p:sp>
      <p:sp>
        <p:nvSpPr>
          <p:cNvPr id="18" name="線條"/>
          <p:cNvSpPr/>
          <p:nvPr/>
        </p:nvSpPr>
        <p:spPr>
          <a:xfrm>
            <a:off x="548640" y="3447288"/>
            <a:ext cx="3465576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9" name="標籤"/>
          <p:cNvSpPr/>
          <p:nvPr/>
        </p:nvSpPr>
        <p:spPr>
          <a:xfrm>
            <a:off x="548640" y="3666744"/>
            <a:ext cx="2651760" cy="384048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釐清溝通目的</a:t>
            </a:r>
            <a:endParaRPr lang="en-US" sz="1300" dirty="0"/>
          </a:p>
        </p:txBody>
      </p:sp>
      <p:sp>
        <p:nvSpPr>
          <p:cNvPr id="20" name="標籤"/>
          <p:cNvSpPr/>
          <p:nvPr/>
        </p:nvSpPr>
        <p:spPr>
          <a:xfrm>
            <a:off x="548640" y="4233672"/>
            <a:ext cx="2651760" cy="384048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對齊彼此期待</a:t>
            </a:r>
            <a:endParaRPr lang="en-US" sz="1300" dirty="0"/>
          </a:p>
        </p:txBody>
      </p:sp>
      <p:sp>
        <p:nvSpPr>
          <p:cNvPr id="21" name="標籤"/>
          <p:cNvSpPr/>
          <p:nvPr/>
        </p:nvSpPr>
        <p:spPr>
          <a:xfrm>
            <a:off x="548640" y="4800600"/>
            <a:ext cx="2651760" cy="384048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降低理解門檻</a:t>
            </a:r>
            <a:endParaRPr lang="en-US" sz="1300" dirty="0"/>
          </a:p>
        </p:txBody>
      </p:sp>
      <p:sp>
        <p:nvSpPr>
          <p:cNvPr id="22" name="標籤"/>
          <p:cNvSpPr/>
          <p:nvPr/>
        </p:nvSpPr>
        <p:spPr>
          <a:xfrm>
            <a:off x="548640" y="5367528"/>
            <a:ext cx="2651760" cy="384048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提升決策效率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63060" y="3159252"/>
            <a:ext cx="100584" cy="100584"/>
          </a:xfrm>
          <a:prstGeom prst="rect">
            <a:avLst/>
          </a:prstGeom>
          <a:solidFill>
            <a:srgbClr val="B08D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564228" y="3063240"/>
            <a:ext cx="3264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 Badges</a:t>
            </a:r>
            <a:endParaRPr lang="en-US" sz="1300" dirty="0"/>
          </a:p>
        </p:txBody>
      </p:sp>
      <p:sp>
        <p:nvSpPr>
          <p:cNvPr id="25" name="線條"/>
          <p:cNvSpPr/>
          <p:nvPr/>
        </p:nvSpPr>
        <p:spPr>
          <a:xfrm>
            <a:off x="4363060" y="3447288"/>
            <a:ext cx="3465576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6" name="編號"/>
          <p:cNvSpPr/>
          <p:nvPr/>
        </p:nvSpPr>
        <p:spPr>
          <a:xfrm>
            <a:off x="4399636" y="3675888"/>
            <a:ext cx="384048" cy="384048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27" name="編號"/>
          <p:cNvSpPr/>
          <p:nvPr/>
        </p:nvSpPr>
        <p:spPr>
          <a:xfrm>
            <a:off x="4966564" y="3675888"/>
            <a:ext cx="384048" cy="384048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28" name="編號"/>
          <p:cNvSpPr/>
          <p:nvPr/>
        </p:nvSpPr>
        <p:spPr>
          <a:xfrm>
            <a:off x="5533492" y="3675888"/>
            <a:ext cx="384048" cy="384048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29" name="編號"/>
          <p:cNvSpPr/>
          <p:nvPr/>
        </p:nvSpPr>
        <p:spPr>
          <a:xfrm>
            <a:off x="6100420" y="3675888"/>
            <a:ext cx="384048" cy="384048"/>
          </a:xfrm>
          <a:prstGeom prst="rect">
            <a:avLst/>
          </a:prstGeom>
          <a:solidFill>
            <a:srgbClr val="B08D5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30" name="編號"/>
          <p:cNvSpPr/>
          <p:nvPr/>
        </p:nvSpPr>
        <p:spPr>
          <a:xfrm>
            <a:off x="4427068" y="4517136"/>
            <a:ext cx="329184" cy="329184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29988" y="45262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界定問題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963260" y="4526280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先釐清要解決什麼</a:t>
            </a:r>
            <a:endParaRPr lang="en-US" sz="1100" dirty="0"/>
          </a:p>
        </p:txBody>
      </p:sp>
      <p:sp>
        <p:nvSpPr>
          <p:cNvPr id="33" name="編號"/>
          <p:cNvSpPr/>
          <p:nvPr/>
        </p:nvSpPr>
        <p:spPr>
          <a:xfrm>
            <a:off x="4427068" y="5084064"/>
            <a:ext cx="329184" cy="329184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29988" y="50932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盤點現況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963260" y="5093208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蒐集事實與數據</a:t>
            </a:r>
            <a:endParaRPr lang="en-US" sz="1100" dirty="0"/>
          </a:p>
        </p:txBody>
      </p:sp>
      <p:sp>
        <p:nvSpPr>
          <p:cNvPr id="36" name="編號"/>
          <p:cNvSpPr/>
          <p:nvPr/>
        </p:nvSpPr>
        <p:spPr>
          <a:xfrm>
            <a:off x="4427068" y="5650992"/>
            <a:ext cx="329184" cy="329184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29988" y="566013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排序優先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963260" y="5660136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聚焦影響最大處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177479" y="3159252"/>
            <a:ext cx="100584" cy="100584"/>
          </a:xfrm>
          <a:prstGeom prst="rect">
            <a:avLst/>
          </a:prstGeom>
          <a:solidFill>
            <a:srgbClr val="B08D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8378647" y="3063240"/>
            <a:ext cx="3264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圈號清單 ①②③</a:t>
            </a:r>
            <a:endParaRPr lang="en-US" sz="1300" dirty="0"/>
          </a:p>
        </p:txBody>
      </p:sp>
      <p:sp>
        <p:nvSpPr>
          <p:cNvPr id="41" name="線條"/>
          <p:cNvSpPr/>
          <p:nvPr/>
        </p:nvSpPr>
        <p:spPr>
          <a:xfrm>
            <a:off x="8177479" y="3447288"/>
            <a:ext cx="3465576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77479" y="365760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釐清目的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177479" y="404164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拆解結構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177479" y="442569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重新組合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8177479" y="480974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檢查一致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10006279" y="3657600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過濾數據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0006279" y="4041648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確認關係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0006279" y="4425696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產出圖表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177479" y="5303520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清單 3–5 項最易記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酒紅精品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548640" y="34747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7A1F2B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圓形與流程鏈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060704"/>
            <a:ext cx="822960" cy="22860"/>
          </a:xfrm>
          <a:prstGeom prst="rect">
            <a:avLst/>
          </a:prstGeom>
          <a:solidFill>
            <a:srgbClr val="B08D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8640" y="116128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大外框圓＋疊放小圓，以及三段式流程鏈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79092"/>
            <a:ext cx="100584" cy="100584"/>
          </a:xfrm>
          <a:prstGeom prst="rect">
            <a:avLst/>
          </a:prstGeom>
          <a:solidFill>
            <a:srgbClr val="B08D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49808" y="1783080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大圓＋疊圓 Circles</a:t>
            </a:r>
            <a:endParaRPr lang="en-US" sz="1300" dirty="0"/>
          </a:p>
        </p:txBody>
      </p:sp>
      <p:sp>
        <p:nvSpPr>
          <p:cNvPr id="7" name="線條"/>
          <p:cNvSpPr/>
          <p:nvPr/>
        </p:nvSpPr>
        <p:spPr>
          <a:xfrm>
            <a:off x="548640" y="2167128"/>
            <a:ext cx="512064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8" name="大圓"/>
          <p:cNvSpPr/>
          <p:nvPr/>
        </p:nvSpPr>
        <p:spPr>
          <a:xfrm>
            <a:off x="1847088" y="2350008"/>
            <a:ext cx="2523744" cy="25237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929384" y="2432304"/>
            <a:ext cx="2359152" cy="2359152"/>
          </a:xfrm>
          <a:prstGeom prst="ellipse">
            <a:avLst/>
          </a:prstGeom>
          <a:ln w="9525">
            <a:solidFill>
              <a:srgbClr val="B08D5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847088" y="2678095"/>
            <a:ext cx="2523744" cy="782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00" dirty="0">
                <a:solidFill>
                  <a:srgbClr val="5959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</a:t>
            </a:r>
            <a:endParaRPr lang="en-US" sz="4100" dirty="0"/>
          </a:p>
        </p:txBody>
      </p:sp>
      <p:sp>
        <p:nvSpPr>
          <p:cNvPr id="11" name="Text 9"/>
          <p:cNvSpPr/>
          <p:nvPr/>
        </p:nvSpPr>
        <p:spPr>
          <a:xfrm>
            <a:off x="2099462" y="3485693"/>
            <a:ext cx="2018995" cy="706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5E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如何做到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5E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三個關鍵</a:t>
            </a:r>
            <a:endParaRPr lang="en-US" sz="1500" dirty="0"/>
          </a:p>
        </p:txBody>
      </p:sp>
      <p:sp>
        <p:nvSpPr>
          <p:cNvPr id="12" name="小圓"/>
          <p:cNvSpPr/>
          <p:nvPr/>
        </p:nvSpPr>
        <p:spPr>
          <a:xfrm>
            <a:off x="1717136" y="3987246"/>
            <a:ext cx="768096" cy="768096"/>
          </a:xfrm>
          <a:prstGeom prst="ellipse">
            <a:avLst/>
          </a:prstGeom>
          <a:solidFill>
            <a:srgbClr val="7A1F2B"/>
          </a:solidFill>
          <a:ln w="31750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</a:t>
            </a:r>
            <a:endParaRPr lang="en-US" sz="1600" dirty="0"/>
          </a:p>
        </p:txBody>
      </p:sp>
      <p:sp>
        <p:nvSpPr>
          <p:cNvPr id="13" name="小圓"/>
          <p:cNvSpPr/>
          <p:nvPr/>
        </p:nvSpPr>
        <p:spPr>
          <a:xfrm>
            <a:off x="2724912" y="4489704"/>
            <a:ext cx="768096" cy="768096"/>
          </a:xfrm>
          <a:prstGeom prst="ellipse">
            <a:avLst/>
          </a:prstGeom>
          <a:solidFill>
            <a:srgbClr val="7A1F2B"/>
          </a:solidFill>
          <a:ln w="31750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</a:t>
            </a:r>
            <a:endParaRPr lang="en-US" sz="1600" dirty="0"/>
          </a:p>
        </p:txBody>
      </p:sp>
      <p:sp>
        <p:nvSpPr>
          <p:cNvPr id="14" name="小圓"/>
          <p:cNvSpPr/>
          <p:nvPr/>
        </p:nvSpPr>
        <p:spPr>
          <a:xfrm>
            <a:off x="3732688" y="3987246"/>
            <a:ext cx="768096" cy="768096"/>
          </a:xfrm>
          <a:prstGeom prst="ellipse">
            <a:avLst/>
          </a:prstGeom>
          <a:solidFill>
            <a:srgbClr val="7A1F2B"/>
          </a:solidFill>
          <a:ln w="31750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9360" y="1879092"/>
            <a:ext cx="100584" cy="100584"/>
          </a:xfrm>
          <a:prstGeom prst="rect">
            <a:avLst/>
          </a:prstGeom>
          <a:solidFill>
            <a:srgbClr val="B08D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510528" y="1783080"/>
            <a:ext cx="513252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流程鏈 Chain</a:t>
            </a:r>
            <a:endParaRPr lang="en-US" sz="1300" dirty="0"/>
          </a:p>
        </p:txBody>
      </p:sp>
      <p:sp>
        <p:nvSpPr>
          <p:cNvPr id="17" name="線條"/>
          <p:cNvSpPr/>
          <p:nvPr/>
        </p:nvSpPr>
        <p:spPr>
          <a:xfrm>
            <a:off x="6309360" y="2167128"/>
            <a:ext cx="53336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8" name="流程鏈"/>
          <p:cNvSpPr/>
          <p:nvPr/>
        </p:nvSpPr>
        <p:spPr>
          <a:xfrm>
            <a:off x="6309360" y="2395728"/>
            <a:ext cx="1899331" cy="658368"/>
          </a:xfrm>
          <a:prstGeom prst="homePlate">
            <a:avLst>
              <a:gd name="adj" fmla="val 36000"/>
            </a:avLst>
          </a:prstGeom>
          <a:solidFill>
            <a:srgbClr val="7A1F2B"/>
          </a:solidFill>
          <a:ln/>
        </p:spPr>
        <p:txBody>
          <a:bodyPr wrap="square" lIns="76200" tIns="0" rIns="2540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主題思考</a:t>
            </a:r>
            <a:endParaRPr lang="en-US" sz="1600" dirty="0"/>
          </a:p>
        </p:txBody>
      </p:sp>
      <p:sp>
        <p:nvSpPr>
          <p:cNvPr id="19" name="流程鏈"/>
          <p:cNvSpPr/>
          <p:nvPr/>
        </p:nvSpPr>
        <p:spPr>
          <a:xfrm>
            <a:off x="8026542" y="2395728"/>
            <a:ext cx="1899331" cy="658368"/>
          </a:xfrm>
          <a:prstGeom prst="homePlate">
            <a:avLst>
              <a:gd name="adj" fmla="val 36000"/>
            </a:avLst>
          </a:prstGeom>
          <a:solidFill>
            <a:srgbClr val="F2F2F2"/>
          </a:solidFill>
          <a:ln/>
        </p:spPr>
        <p:txBody>
          <a:bodyPr wrap="square" lIns="76200" tIns="0" rIns="2540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主題定位</a:t>
            </a:r>
            <a:endParaRPr lang="en-US" sz="1600" dirty="0"/>
          </a:p>
        </p:txBody>
      </p:sp>
      <p:sp>
        <p:nvSpPr>
          <p:cNvPr id="20" name="流程鏈"/>
          <p:cNvSpPr/>
          <p:nvPr/>
        </p:nvSpPr>
        <p:spPr>
          <a:xfrm>
            <a:off x="9743724" y="2395728"/>
            <a:ext cx="1899331" cy="658368"/>
          </a:xfrm>
          <a:prstGeom prst="homePlate">
            <a:avLst>
              <a:gd name="adj" fmla="val 36000"/>
            </a:avLst>
          </a:prstGeom>
          <a:solidFill>
            <a:srgbClr val="F2F2F2"/>
          </a:solidFill>
          <a:ln/>
        </p:spPr>
        <p:txBody>
          <a:bodyPr wrap="square" lIns="76200" tIns="0" rIns="2540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內容產出</a:t>
            </a:r>
            <a:endParaRPr lang="en-US" sz="1600" dirty="0"/>
          </a:p>
        </p:txBody>
      </p:sp>
      <p:sp>
        <p:nvSpPr>
          <p:cNvPr id="21" name="流程鏈"/>
          <p:cNvSpPr/>
          <p:nvPr/>
        </p:nvSpPr>
        <p:spPr>
          <a:xfrm>
            <a:off x="6309360" y="3520440"/>
            <a:ext cx="1170322" cy="512064"/>
          </a:xfrm>
          <a:prstGeom prst="homePlate">
            <a:avLst>
              <a:gd name="adj" fmla="val 36000"/>
            </a:avLst>
          </a:prstGeom>
          <a:solidFill>
            <a:srgbClr val="7A1F2B"/>
          </a:solidFill>
          <a:ln/>
        </p:spPr>
        <p:txBody>
          <a:bodyPr wrap="square" lIns="76200" tIns="0" rIns="254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願景</a:t>
            </a:r>
            <a:endParaRPr lang="en-US" sz="1400" dirty="0"/>
          </a:p>
        </p:txBody>
      </p:sp>
      <p:sp>
        <p:nvSpPr>
          <p:cNvPr id="22" name="流程鏈"/>
          <p:cNvSpPr/>
          <p:nvPr/>
        </p:nvSpPr>
        <p:spPr>
          <a:xfrm>
            <a:off x="7350203" y="3520440"/>
            <a:ext cx="1170322" cy="512064"/>
          </a:xfrm>
          <a:prstGeom prst="homePlate">
            <a:avLst>
              <a:gd name="adj" fmla="val 36000"/>
            </a:avLst>
          </a:prstGeom>
          <a:solidFill>
            <a:srgbClr val="F2F2F2"/>
          </a:solidFill>
          <a:ln/>
        </p:spPr>
        <p:txBody>
          <a:bodyPr wrap="square" lIns="76200" tIns="0" rIns="254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使命</a:t>
            </a:r>
            <a:endParaRPr lang="en-US" sz="1400" dirty="0"/>
          </a:p>
        </p:txBody>
      </p:sp>
      <p:sp>
        <p:nvSpPr>
          <p:cNvPr id="23" name="流程鏈"/>
          <p:cNvSpPr/>
          <p:nvPr/>
        </p:nvSpPr>
        <p:spPr>
          <a:xfrm>
            <a:off x="8391046" y="3520440"/>
            <a:ext cx="1170322" cy="512064"/>
          </a:xfrm>
          <a:prstGeom prst="homePlate">
            <a:avLst>
              <a:gd name="adj" fmla="val 36000"/>
            </a:avLst>
          </a:prstGeom>
          <a:solidFill>
            <a:srgbClr val="F2F2F2"/>
          </a:solidFill>
          <a:ln/>
        </p:spPr>
        <p:txBody>
          <a:bodyPr wrap="square" lIns="76200" tIns="0" rIns="254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1400" dirty="0"/>
          </a:p>
        </p:txBody>
      </p:sp>
      <p:sp>
        <p:nvSpPr>
          <p:cNvPr id="24" name="流程鏈"/>
          <p:cNvSpPr/>
          <p:nvPr/>
        </p:nvSpPr>
        <p:spPr>
          <a:xfrm>
            <a:off x="9431890" y="3520440"/>
            <a:ext cx="1170322" cy="512064"/>
          </a:xfrm>
          <a:prstGeom prst="homePlate">
            <a:avLst>
              <a:gd name="adj" fmla="val 36000"/>
            </a:avLst>
          </a:prstGeom>
          <a:solidFill>
            <a:srgbClr val="F2F2F2"/>
          </a:solidFill>
          <a:ln/>
        </p:spPr>
        <p:txBody>
          <a:bodyPr wrap="square" lIns="76200" tIns="0" rIns="254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</a:t>
            </a:r>
            <a:endParaRPr lang="en-US" sz="1400" dirty="0"/>
          </a:p>
        </p:txBody>
      </p:sp>
      <p:sp>
        <p:nvSpPr>
          <p:cNvPr id="25" name="流程鏈"/>
          <p:cNvSpPr/>
          <p:nvPr/>
        </p:nvSpPr>
        <p:spPr>
          <a:xfrm>
            <a:off x="10472733" y="3520440"/>
            <a:ext cx="1170322" cy="512064"/>
          </a:xfrm>
          <a:prstGeom prst="homePlate">
            <a:avLst>
              <a:gd name="adj" fmla="val 36000"/>
            </a:avLst>
          </a:prstGeom>
          <a:solidFill>
            <a:srgbClr val="F2F2F2"/>
          </a:solidFill>
          <a:ln/>
        </p:spPr>
        <p:txBody>
          <a:bodyPr wrap="square" lIns="76200" tIns="0" rIns="254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戰術</a:t>
            </a:r>
            <a:endParaRPr lang="en-US" sz="1400" dirty="0"/>
          </a:p>
        </p:txBody>
      </p:sp>
      <p:sp>
        <p:nvSpPr>
          <p:cNvPr id="26" name="流程鏈"/>
          <p:cNvSpPr/>
          <p:nvPr/>
        </p:nvSpPr>
        <p:spPr>
          <a:xfrm>
            <a:off x="6309360" y="4526280"/>
            <a:ext cx="1430533" cy="512064"/>
          </a:xfrm>
          <a:prstGeom prst="homePlate">
            <a:avLst>
              <a:gd name="adj" fmla="val 36000"/>
            </a:avLst>
          </a:prstGeom>
          <a:solidFill>
            <a:srgbClr val="7A1F2B"/>
          </a:solidFill>
          <a:ln/>
        </p:spPr>
        <p:txBody>
          <a:bodyPr wrap="square" lIns="76200" tIns="0" rIns="254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</a:t>
            </a:r>
            <a:endParaRPr lang="en-US" sz="1400" dirty="0"/>
          </a:p>
        </p:txBody>
      </p:sp>
      <p:sp>
        <p:nvSpPr>
          <p:cNvPr id="27" name="流程鏈"/>
          <p:cNvSpPr/>
          <p:nvPr/>
        </p:nvSpPr>
        <p:spPr>
          <a:xfrm>
            <a:off x="7610414" y="4526280"/>
            <a:ext cx="1430533" cy="512064"/>
          </a:xfrm>
          <a:prstGeom prst="homePlate">
            <a:avLst>
              <a:gd name="adj" fmla="val 36000"/>
            </a:avLst>
          </a:prstGeom>
          <a:solidFill>
            <a:srgbClr val="F2F2F2"/>
          </a:solidFill>
          <a:ln/>
        </p:spPr>
        <p:txBody>
          <a:bodyPr wrap="square" lIns="76200" tIns="0" rIns="254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</a:t>
            </a:r>
            <a:endParaRPr lang="en-US" sz="1400" dirty="0"/>
          </a:p>
        </p:txBody>
      </p:sp>
      <p:sp>
        <p:nvSpPr>
          <p:cNvPr id="28" name="流程鏈"/>
          <p:cNvSpPr/>
          <p:nvPr/>
        </p:nvSpPr>
        <p:spPr>
          <a:xfrm>
            <a:off x="8911468" y="4526280"/>
            <a:ext cx="1430533" cy="512064"/>
          </a:xfrm>
          <a:prstGeom prst="homePlate">
            <a:avLst>
              <a:gd name="adj" fmla="val 36000"/>
            </a:avLst>
          </a:prstGeom>
          <a:solidFill>
            <a:srgbClr val="F2F2F2"/>
          </a:solidFill>
          <a:ln/>
        </p:spPr>
        <p:txBody>
          <a:bodyPr wrap="square" lIns="76200" tIns="0" rIns="254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1400" dirty="0"/>
          </a:p>
        </p:txBody>
      </p:sp>
      <p:sp>
        <p:nvSpPr>
          <p:cNvPr id="29" name="流程鏈"/>
          <p:cNvSpPr/>
          <p:nvPr/>
        </p:nvSpPr>
        <p:spPr>
          <a:xfrm>
            <a:off x="10212522" y="4526280"/>
            <a:ext cx="1430533" cy="512064"/>
          </a:xfrm>
          <a:prstGeom prst="homePlate">
            <a:avLst>
              <a:gd name="adj" fmla="val 36000"/>
            </a:avLst>
          </a:prstGeom>
          <a:solidFill>
            <a:srgbClr val="F2F2F2"/>
          </a:solidFill>
          <a:ln/>
        </p:spPr>
        <p:txBody>
          <a:bodyPr wrap="square" lIns="76200" tIns="0" rIns="254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檢討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309360" y="5138928"/>
            <a:ext cx="14305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界定範圍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610414" y="5138928"/>
            <a:ext cx="14305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產出方案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911468" y="5138928"/>
            <a:ext cx="14305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落實計畫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212522" y="5138928"/>
            <a:ext cx="14305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回顧改善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09360" y="5760720"/>
            <a:ext cx="5333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流程鏈以 3–5 個步驟為佳，重點步驟可用強調色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酒紅精品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548640" y="34747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7A1F2B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連接線與箭頭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060704"/>
            <a:ext cx="822960" cy="22860"/>
          </a:xfrm>
          <a:prstGeom prst="rect">
            <a:avLst/>
          </a:prstGeom>
          <a:solidFill>
            <a:srgbClr val="B08D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8640" y="116128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細直線、折線、點狀線、曲線、▶ 小三角與區塊箭號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79092"/>
            <a:ext cx="100584" cy="100584"/>
          </a:xfrm>
          <a:prstGeom prst="rect">
            <a:avLst/>
          </a:prstGeom>
          <a:solidFill>
            <a:srgbClr val="B08D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49808" y="1783080"/>
            <a:ext cx="23529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細直線 Straight</a:t>
            </a:r>
            <a:endParaRPr lang="en-US" sz="1300" dirty="0"/>
          </a:p>
        </p:txBody>
      </p:sp>
      <p:sp>
        <p:nvSpPr>
          <p:cNvPr id="7" name="線條"/>
          <p:cNvSpPr/>
          <p:nvPr/>
        </p:nvSpPr>
        <p:spPr>
          <a:xfrm>
            <a:off x="548640" y="2167128"/>
            <a:ext cx="255414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8" name="處理"/>
          <p:cNvSpPr/>
          <p:nvPr/>
        </p:nvSpPr>
        <p:spPr>
          <a:xfrm>
            <a:off x="548640" y="2807208"/>
            <a:ext cx="822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300" dirty="0"/>
          </a:p>
        </p:txBody>
      </p:sp>
      <p:sp>
        <p:nvSpPr>
          <p:cNvPr id="9" name="處理"/>
          <p:cNvSpPr/>
          <p:nvPr/>
        </p:nvSpPr>
        <p:spPr>
          <a:xfrm>
            <a:off x="2279828" y="2807208"/>
            <a:ext cx="822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300" dirty="0"/>
          </a:p>
        </p:txBody>
      </p:sp>
      <p:cxnSp>
        <p:nvCxnSpPr>
          <p:cNvPr id="10" name="連接線"/>
          <p:cNvCxnSpPr>
            <a:stCxn id="8" idx="3"/>
            <a:endCxn id="9" idx="1"/>
          </p:cNvCxnSpPr>
          <p:nvPr/>
        </p:nvCxnSpPr>
        <p:spPr>
          <a:xfrm>
            <a:off x="1371600" y="3017520"/>
            <a:ext cx="908228" cy="0"/>
          </a:xfrm>
          <a:prstGeom prst="straightConnector1">
            <a:avLst/>
          </a:prstGeom>
          <a:ln w="12700">
            <a:solidFill>
              <a:srgbClr val="7F7F7F"/>
            </a:solidFill>
            <a:prstDash val="solid"/>
            <a:tailEnd type="stealth" w="lg" len="lg"/>
          </a:ln>
        </p:spPr>
      </p:cxnSp>
      <p:sp>
        <p:nvSpPr>
          <p:cNvPr id="11" name="Text 9"/>
          <p:cNvSpPr/>
          <p:nvPr/>
        </p:nvSpPr>
        <p:spPr>
          <a:xfrm>
            <a:off x="3395396" y="1879092"/>
            <a:ext cx="100584" cy="100584"/>
          </a:xfrm>
          <a:prstGeom prst="rect">
            <a:avLst/>
          </a:prstGeom>
          <a:solidFill>
            <a:srgbClr val="B08D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96564" y="1783080"/>
            <a:ext cx="23529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折線 Elbow</a:t>
            </a:r>
            <a:endParaRPr lang="en-US" sz="1300" dirty="0"/>
          </a:p>
        </p:txBody>
      </p:sp>
      <p:sp>
        <p:nvSpPr>
          <p:cNvPr id="13" name="線條"/>
          <p:cNvSpPr/>
          <p:nvPr/>
        </p:nvSpPr>
        <p:spPr>
          <a:xfrm>
            <a:off x="3395396" y="2167128"/>
            <a:ext cx="255414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4" name="處理"/>
          <p:cNvSpPr/>
          <p:nvPr/>
        </p:nvSpPr>
        <p:spPr>
          <a:xfrm>
            <a:off x="3395396" y="2468880"/>
            <a:ext cx="822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300" dirty="0"/>
          </a:p>
        </p:txBody>
      </p:sp>
      <p:sp>
        <p:nvSpPr>
          <p:cNvPr id="15" name="處理"/>
          <p:cNvSpPr/>
          <p:nvPr/>
        </p:nvSpPr>
        <p:spPr>
          <a:xfrm>
            <a:off x="5126584" y="3383280"/>
            <a:ext cx="822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300" dirty="0"/>
          </a:p>
        </p:txBody>
      </p:sp>
      <p:cxnSp>
        <p:nvCxnSpPr>
          <p:cNvPr id="16" name="連接線"/>
          <p:cNvCxnSpPr>
            <a:stCxn id="14" idx="3"/>
            <a:endCxn id="15" idx="1"/>
          </p:cNvCxnSpPr>
          <p:nvPr/>
        </p:nvCxnSpPr>
        <p:spPr>
          <a:xfrm>
            <a:off x="4218356" y="2679192"/>
            <a:ext cx="908228" cy="914400"/>
          </a:xfrm>
          <a:prstGeom prst="bentConnector3">
            <a:avLst>
              <a:gd name="adj1" fmla="val 50000"/>
            </a:avLst>
          </a:prstGeom>
          <a:ln w="12700">
            <a:solidFill>
              <a:srgbClr val="7F7F7F"/>
            </a:solidFill>
            <a:prstDash val="solid"/>
            <a:tailEnd type="stealth" w="lg" len="lg"/>
          </a:ln>
        </p:spPr>
      </p:cxnSp>
      <p:sp>
        <p:nvSpPr>
          <p:cNvPr id="17" name="Text 15"/>
          <p:cNvSpPr/>
          <p:nvPr/>
        </p:nvSpPr>
        <p:spPr>
          <a:xfrm>
            <a:off x="6242152" y="1879092"/>
            <a:ext cx="100584" cy="100584"/>
          </a:xfrm>
          <a:prstGeom prst="rect">
            <a:avLst/>
          </a:prstGeom>
          <a:solidFill>
            <a:srgbClr val="B08D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443320" y="1783080"/>
            <a:ext cx="23529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點狀線 Dotted</a:t>
            </a:r>
            <a:endParaRPr lang="en-US" sz="1300" dirty="0"/>
          </a:p>
        </p:txBody>
      </p:sp>
      <p:sp>
        <p:nvSpPr>
          <p:cNvPr id="19" name="線條"/>
          <p:cNvSpPr/>
          <p:nvPr/>
        </p:nvSpPr>
        <p:spPr>
          <a:xfrm>
            <a:off x="6242152" y="2167128"/>
            <a:ext cx="255414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0" name="處理"/>
          <p:cNvSpPr/>
          <p:nvPr/>
        </p:nvSpPr>
        <p:spPr>
          <a:xfrm>
            <a:off x="6242152" y="2807208"/>
            <a:ext cx="822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300" dirty="0"/>
          </a:p>
        </p:txBody>
      </p:sp>
      <p:sp>
        <p:nvSpPr>
          <p:cNvPr id="21" name="處理"/>
          <p:cNvSpPr/>
          <p:nvPr/>
        </p:nvSpPr>
        <p:spPr>
          <a:xfrm>
            <a:off x="7973339" y="2807208"/>
            <a:ext cx="822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300" dirty="0"/>
          </a:p>
        </p:txBody>
      </p:sp>
      <p:cxnSp>
        <p:nvCxnSpPr>
          <p:cNvPr id="22" name="連接線"/>
          <p:cNvCxnSpPr>
            <a:stCxn id="20" idx="3"/>
            <a:endCxn id="21" idx="1"/>
          </p:cNvCxnSpPr>
          <p:nvPr/>
        </p:nvCxnSpPr>
        <p:spPr>
          <a:xfrm>
            <a:off x="7065112" y="3017520"/>
            <a:ext cx="908228" cy="0"/>
          </a:xfrm>
          <a:prstGeom prst="straightConnector1">
            <a:avLst/>
          </a:prstGeom>
          <a:ln w="15875">
            <a:solidFill>
              <a:srgbClr val="7F7F7F"/>
            </a:solidFill>
            <a:prstDash val="sysDot"/>
            <a:tailEnd type="stealth" w="lg" len="lg"/>
          </a:ln>
        </p:spPr>
      </p:cxnSp>
      <p:sp>
        <p:nvSpPr>
          <p:cNvPr id="23" name="Text 21"/>
          <p:cNvSpPr/>
          <p:nvPr/>
        </p:nvSpPr>
        <p:spPr>
          <a:xfrm>
            <a:off x="9088907" y="1879092"/>
            <a:ext cx="100584" cy="100584"/>
          </a:xfrm>
          <a:prstGeom prst="rect">
            <a:avLst/>
          </a:prstGeom>
          <a:solidFill>
            <a:srgbClr val="B08D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290075" y="1783080"/>
            <a:ext cx="23529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曲線 Curved</a:t>
            </a:r>
            <a:endParaRPr lang="en-US" sz="1300" dirty="0"/>
          </a:p>
        </p:txBody>
      </p:sp>
      <p:sp>
        <p:nvSpPr>
          <p:cNvPr id="25" name="線條"/>
          <p:cNvSpPr/>
          <p:nvPr/>
        </p:nvSpPr>
        <p:spPr>
          <a:xfrm>
            <a:off x="9088907" y="2167128"/>
            <a:ext cx="255414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6" name="處理"/>
          <p:cNvSpPr/>
          <p:nvPr/>
        </p:nvSpPr>
        <p:spPr>
          <a:xfrm>
            <a:off x="9088907" y="3246120"/>
            <a:ext cx="822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300" dirty="0"/>
          </a:p>
        </p:txBody>
      </p:sp>
      <p:sp>
        <p:nvSpPr>
          <p:cNvPr id="27" name="處理"/>
          <p:cNvSpPr/>
          <p:nvPr/>
        </p:nvSpPr>
        <p:spPr>
          <a:xfrm>
            <a:off x="10820095" y="3246120"/>
            <a:ext cx="822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300" dirty="0"/>
          </a:p>
        </p:txBody>
      </p:sp>
      <p:sp>
        <p:nvSpPr>
          <p:cNvPr id="28" name="曲線箭頭"/>
          <p:cNvSpPr/>
          <p:nvPr/>
        </p:nvSpPr>
        <p:spPr>
          <a:xfrm>
            <a:off x="9500387" y="2423160"/>
            <a:ext cx="1731188" cy="768096"/>
          </a:xfrm>
          <a:custGeom>
            <a:avLst/>
            <a:gdLst/>
            <a:ahLst/>
            <a:cxnLst/>
            <a:rect l="l" t="t" r="r" b="b"/>
            <a:pathLst>
              <a:path w="1731188" h="768096">
                <a:moveTo>
                  <a:pt x="0" y="768096"/>
                </a:moveTo>
                <a:cubicBezTo>
                  <a:pt x="0" y="0"/>
                  <a:pt x="1731188" y="0"/>
                  <a:pt x="1731188" y="768096"/>
                </a:cubicBezTo>
              </a:path>
            </a:pathLst>
          </a:custGeom>
          <a:ln w="12700">
            <a:solidFill>
              <a:srgbClr val="7F7F7F"/>
            </a:solidFill>
            <a:prstDash val="sysDash"/>
            <a:tailEnd type="stealth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48640" y="4027932"/>
            <a:ext cx="100584" cy="100584"/>
          </a:xfrm>
          <a:prstGeom prst="rect">
            <a:avLst/>
          </a:prstGeom>
          <a:solidFill>
            <a:srgbClr val="B08D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49808" y="3931920"/>
            <a:ext cx="23529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小三角分隔</a:t>
            </a:r>
            <a:endParaRPr lang="en-US" sz="1300" dirty="0"/>
          </a:p>
        </p:txBody>
      </p:sp>
      <p:sp>
        <p:nvSpPr>
          <p:cNvPr id="31" name="線條"/>
          <p:cNvSpPr/>
          <p:nvPr/>
        </p:nvSpPr>
        <p:spPr>
          <a:xfrm>
            <a:off x="548640" y="4315968"/>
            <a:ext cx="255414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98348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300" dirty="0"/>
          </a:p>
        </p:txBody>
      </p:sp>
      <p:sp>
        <p:nvSpPr>
          <p:cNvPr id="33" name="線條"/>
          <p:cNvSpPr/>
          <p:nvPr/>
        </p:nvSpPr>
        <p:spPr>
          <a:xfrm>
            <a:off x="1091165" y="5166360"/>
            <a:ext cx="457200" cy="0"/>
          </a:xfrm>
          <a:prstGeom prst="line">
            <a:avLst/>
          </a:prstGeom>
          <a:noFill/>
          <a:ln w="12700">
            <a:solidFill>
              <a:srgbClr val="7A1F2B"/>
            </a:solidFill>
            <a:prstDash val="solid"/>
            <a:tailEnd type="stealth" w="lg" len="lg"/>
          </a:ln>
        </p:spPr>
      </p:sp>
      <p:sp>
        <p:nvSpPr>
          <p:cNvPr id="34" name="Text 32"/>
          <p:cNvSpPr/>
          <p:nvPr/>
        </p:nvSpPr>
        <p:spPr>
          <a:xfrm>
            <a:off x="1542250" y="498348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300" dirty="0"/>
          </a:p>
        </p:txBody>
      </p:sp>
      <p:sp>
        <p:nvSpPr>
          <p:cNvPr id="35" name="線條"/>
          <p:cNvSpPr/>
          <p:nvPr/>
        </p:nvSpPr>
        <p:spPr>
          <a:xfrm>
            <a:off x="2084775" y="5166360"/>
            <a:ext cx="457200" cy="0"/>
          </a:xfrm>
          <a:prstGeom prst="line">
            <a:avLst/>
          </a:prstGeom>
          <a:noFill/>
          <a:ln w="12700">
            <a:solidFill>
              <a:srgbClr val="7A1F2B"/>
            </a:solidFill>
            <a:prstDash val="solid"/>
            <a:tailEnd type="stealth" w="lg" len="lg"/>
          </a:ln>
        </p:spPr>
      </p:sp>
      <p:sp>
        <p:nvSpPr>
          <p:cNvPr id="36" name="Text 34"/>
          <p:cNvSpPr/>
          <p:nvPr/>
        </p:nvSpPr>
        <p:spPr>
          <a:xfrm>
            <a:off x="2535860" y="498348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395396" y="4027932"/>
            <a:ext cx="100584" cy="100584"/>
          </a:xfrm>
          <a:prstGeom prst="rect">
            <a:avLst/>
          </a:prstGeom>
          <a:solidFill>
            <a:srgbClr val="B08D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596564" y="3931920"/>
            <a:ext cx="23529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▶▶▶ 點狀箭號</a:t>
            </a:r>
            <a:endParaRPr lang="en-US" sz="1300" dirty="0"/>
          </a:p>
        </p:txBody>
      </p:sp>
      <p:sp>
        <p:nvSpPr>
          <p:cNvPr id="39" name="線條"/>
          <p:cNvSpPr/>
          <p:nvPr/>
        </p:nvSpPr>
        <p:spPr>
          <a:xfrm>
            <a:off x="3395396" y="4315968"/>
            <a:ext cx="255414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0" name="處理"/>
          <p:cNvSpPr/>
          <p:nvPr/>
        </p:nvSpPr>
        <p:spPr>
          <a:xfrm>
            <a:off x="3395396" y="4956048"/>
            <a:ext cx="822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300" dirty="0"/>
          </a:p>
        </p:txBody>
      </p:sp>
      <p:sp>
        <p:nvSpPr>
          <p:cNvPr id="41" name="處理"/>
          <p:cNvSpPr/>
          <p:nvPr/>
        </p:nvSpPr>
        <p:spPr>
          <a:xfrm>
            <a:off x="5126584" y="4956048"/>
            <a:ext cx="822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300" dirty="0"/>
          </a:p>
        </p:txBody>
      </p:sp>
      <p:sp>
        <p:nvSpPr>
          <p:cNvPr id="42" name="三角形"/>
          <p:cNvSpPr/>
          <p:nvPr/>
        </p:nvSpPr>
        <p:spPr>
          <a:xfrm>
            <a:off x="4463987" y="5095037"/>
            <a:ext cx="109728" cy="142646"/>
          </a:xfrm>
          <a:custGeom>
            <a:avLst/>
            <a:gdLst/>
            <a:ahLst/>
            <a:cxnLst/>
            <a:rect l="l" t="t" r="r" b="b"/>
            <a:pathLst>
              <a:path w="109728" h="142646">
                <a:moveTo>
                  <a:pt x="0" y="0"/>
                </a:moveTo>
                <a:lnTo>
                  <a:pt x="109728" y="71323"/>
                </a:lnTo>
                <a:lnTo>
                  <a:pt x="0" y="142646"/>
                </a:lnTo>
                <a:close/>
              </a:path>
            </a:pathLst>
          </a:custGeom>
          <a:solidFill>
            <a:srgbClr val="B08D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三角形"/>
          <p:cNvSpPr/>
          <p:nvPr/>
        </p:nvSpPr>
        <p:spPr>
          <a:xfrm>
            <a:off x="4617606" y="5095037"/>
            <a:ext cx="109728" cy="142646"/>
          </a:xfrm>
          <a:custGeom>
            <a:avLst/>
            <a:gdLst/>
            <a:ahLst/>
            <a:cxnLst/>
            <a:rect l="l" t="t" r="r" b="b"/>
            <a:pathLst>
              <a:path w="109728" h="142646">
                <a:moveTo>
                  <a:pt x="0" y="0"/>
                </a:moveTo>
                <a:lnTo>
                  <a:pt x="109728" y="71323"/>
                </a:lnTo>
                <a:lnTo>
                  <a:pt x="0" y="142646"/>
                </a:lnTo>
                <a:close/>
              </a:path>
            </a:pathLst>
          </a:custGeom>
          <a:solidFill>
            <a:srgbClr val="B08D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三角形"/>
          <p:cNvSpPr/>
          <p:nvPr/>
        </p:nvSpPr>
        <p:spPr>
          <a:xfrm>
            <a:off x="4771225" y="5095037"/>
            <a:ext cx="109728" cy="142646"/>
          </a:xfrm>
          <a:custGeom>
            <a:avLst/>
            <a:gdLst/>
            <a:ahLst/>
            <a:cxnLst/>
            <a:rect l="l" t="t" r="r" b="b"/>
            <a:pathLst>
              <a:path w="109728" h="142646">
                <a:moveTo>
                  <a:pt x="0" y="0"/>
                </a:moveTo>
                <a:lnTo>
                  <a:pt x="109728" y="71323"/>
                </a:lnTo>
                <a:lnTo>
                  <a:pt x="0" y="142646"/>
                </a:lnTo>
                <a:close/>
              </a:path>
            </a:pathLst>
          </a:custGeom>
          <a:solidFill>
            <a:srgbClr val="B08D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242152" y="4027932"/>
            <a:ext cx="100584" cy="100584"/>
          </a:xfrm>
          <a:prstGeom prst="rect">
            <a:avLst/>
          </a:prstGeom>
          <a:solidFill>
            <a:srgbClr val="B08D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443320" y="3931920"/>
            <a:ext cx="23529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區塊箭號 Chevron</a:t>
            </a:r>
            <a:endParaRPr lang="en-US" sz="1300" dirty="0"/>
          </a:p>
        </p:txBody>
      </p:sp>
      <p:sp>
        <p:nvSpPr>
          <p:cNvPr id="47" name="線條"/>
          <p:cNvSpPr/>
          <p:nvPr/>
        </p:nvSpPr>
        <p:spPr>
          <a:xfrm>
            <a:off x="6242152" y="4315968"/>
            <a:ext cx="255414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8" name="區塊箭號"/>
          <p:cNvSpPr/>
          <p:nvPr/>
        </p:nvSpPr>
        <p:spPr>
          <a:xfrm>
            <a:off x="6242152" y="4919472"/>
            <a:ext cx="961111" cy="493776"/>
          </a:xfrm>
          <a:prstGeom prst="homePlate">
            <a:avLst>
              <a:gd name="adj" fmla="val 33333"/>
            </a:avLst>
          </a:prstGeom>
          <a:solidFill>
            <a:srgbClr val="7A1F2B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</a:t>
            </a:r>
            <a:endParaRPr lang="en-US" sz="1300" dirty="0"/>
          </a:p>
        </p:txBody>
      </p:sp>
      <p:sp>
        <p:nvSpPr>
          <p:cNvPr id="49" name="區塊箭號"/>
          <p:cNvSpPr/>
          <p:nvPr/>
        </p:nvSpPr>
        <p:spPr>
          <a:xfrm>
            <a:off x="7075246" y="4919472"/>
            <a:ext cx="961111" cy="493776"/>
          </a:xfrm>
          <a:prstGeom prst="chevron">
            <a:avLst>
              <a:gd name="adj" fmla="val 33333"/>
            </a:avLst>
          </a:prstGeom>
          <a:solidFill>
            <a:srgbClr val="9B5760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</a:t>
            </a:r>
            <a:endParaRPr lang="en-US" sz="1300" dirty="0"/>
          </a:p>
        </p:txBody>
      </p:sp>
      <p:sp>
        <p:nvSpPr>
          <p:cNvPr id="50" name="區塊箭號"/>
          <p:cNvSpPr/>
          <p:nvPr/>
        </p:nvSpPr>
        <p:spPr>
          <a:xfrm>
            <a:off x="7908341" y="4919472"/>
            <a:ext cx="961111" cy="493776"/>
          </a:xfrm>
          <a:prstGeom prst="chevron">
            <a:avLst>
              <a:gd name="adj" fmla="val 33333"/>
            </a:avLst>
          </a:prstGeom>
          <a:solidFill>
            <a:srgbClr val="B08D57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9088907" y="4027932"/>
            <a:ext cx="100584" cy="100584"/>
          </a:xfrm>
          <a:prstGeom prst="rect">
            <a:avLst/>
          </a:prstGeom>
          <a:solidFill>
            <a:srgbClr val="B08D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9290075" y="3931920"/>
            <a:ext cx="23529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 Branch</a:t>
            </a:r>
            <a:endParaRPr lang="en-US" sz="1300" dirty="0"/>
          </a:p>
        </p:txBody>
      </p:sp>
      <p:sp>
        <p:nvSpPr>
          <p:cNvPr id="53" name="線條"/>
          <p:cNvSpPr/>
          <p:nvPr/>
        </p:nvSpPr>
        <p:spPr>
          <a:xfrm>
            <a:off x="9088907" y="4315968"/>
            <a:ext cx="255414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54" name="處理"/>
          <p:cNvSpPr/>
          <p:nvPr/>
        </p:nvSpPr>
        <p:spPr>
          <a:xfrm>
            <a:off x="9088907" y="4956048"/>
            <a:ext cx="822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300" dirty="0"/>
          </a:p>
        </p:txBody>
      </p:sp>
      <p:sp>
        <p:nvSpPr>
          <p:cNvPr id="55" name="處理"/>
          <p:cNvSpPr/>
          <p:nvPr/>
        </p:nvSpPr>
        <p:spPr>
          <a:xfrm>
            <a:off x="10820095" y="4572000"/>
            <a:ext cx="822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B1</a:t>
            </a:r>
            <a:endParaRPr lang="en-US" sz="1300" dirty="0"/>
          </a:p>
        </p:txBody>
      </p:sp>
      <p:sp>
        <p:nvSpPr>
          <p:cNvPr id="56" name="處理"/>
          <p:cNvSpPr/>
          <p:nvPr/>
        </p:nvSpPr>
        <p:spPr>
          <a:xfrm>
            <a:off x="10820095" y="5340096"/>
            <a:ext cx="8229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B2</a:t>
            </a:r>
            <a:endParaRPr lang="en-US" sz="1300" dirty="0"/>
          </a:p>
        </p:txBody>
      </p:sp>
      <p:cxnSp>
        <p:nvCxnSpPr>
          <p:cNvPr id="57" name="連接線"/>
          <p:cNvCxnSpPr>
            <a:stCxn id="54" idx="3"/>
            <a:endCxn id="55" idx="1"/>
          </p:cNvCxnSpPr>
          <p:nvPr/>
        </p:nvCxnSpPr>
        <p:spPr>
          <a:xfrm flipV="1">
            <a:off x="9911867" y="4782312"/>
            <a:ext cx="908228" cy="384048"/>
          </a:xfrm>
          <a:prstGeom prst="bentConnector3">
            <a:avLst>
              <a:gd name="adj1" fmla="val 50000"/>
            </a:avLst>
          </a:prstGeom>
          <a:ln w="12700">
            <a:solidFill>
              <a:srgbClr val="7F7F7F"/>
            </a:solidFill>
            <a:prstDash val="solid"/>
            <a:tailEnd type="stealth" w="lg" len="lg"/>
          </a:ln>
        </p:spPr>
      </p:cxnSp>
      <p:cxnSp>
        <p:nvCxnSpPr>
          <p:cNvPr id="58" name="連接線"/>
          <p:cNvCxnSpPr>
            <a:stCxn id="54" idx="3"/>
            <a:endCxn id="56" idx="1"/>
          </p:cNvCxnSpPr>
          <p:nvPr/>
        </p:nvCxnSpPr>
        <p:spPr>
          <a:xfrm>
            <a:off x="9911867" y="5166360"/>
            <a:ext cx="908228" cy="384048"/>
          </a:xfrm>
          <a:prstGeom prst="bentConnector3">
            <a:avLst>
              <a:gd name="adj1" fmla="val 50000"/>
            </a:avLst>
          </a:prstGeom>
          <a:ln w="12700">
            <a:solidFill>
              <a:srgbClr val="7F7F7F"/>
            </a:solidFill>
            <a:prstDash val="solid"/>
            <a:tailEnd type="stealth" w="lg" len="lg"/>
          </a:ln>
        </p:spPr>
      </p:cxnSp>
      <p:sp>
        <p:nvSpPr>
          <p:cNvPr id="59" name="Text 57"/>
          <p:cNvSpPr/>
          <p:nvPr/>
        </p:nvSpPr>
        <p:spPr>
          <a:xfrm>
            <a:off x="548640" y="594360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直線、折線、點狀線、分支在 pptx 中是「黏著連接線」：移動圖形，線會跟著走（曲線為一般線條）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酒紅精品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548640" y="34747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7A1F2B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流程圖符號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060704"/>
            <a:ext cx="822960" cy="22860"/>
          </a:xfrm>
          <a:prstGeom prst="rect">
            <a:avLst/>
          </a:prstGeom>
          <a:solidFill>
            <a:srgbClr val="B08D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8640" y="116128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開始／結束、處理、判斷、輸入輸出、文件、資料庫</a:t>
            </a:r>
            <a:endParaRPr lang="en-US" sz="1400" dirty="0"/>
          </a:p>
        </p:txBody>
      </p:sp>
      <p:sp>
        <p:nvSpPr>
          <p:cNvPr id="5" name="開始／結束"/>
          <p:cNvSpPr/>
          <p:nvPr/>
        </p:nvSpPr>
        <p:spPr>
          <a:xfrm>
            <a:off x="787375" y="2231136"/>
            <a:ext cx="1371600" cy="566928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127248"/>
            <a:ext cx="184906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開始／結束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Terminator</a:t>
            </a:r>
            <a:endParaRPr lang="en-US" sz="1400" dirty="0"/>
          </a:p>
        </p:txBody>
      </p:sp>
      <p:sp>
        <p:nvSpPr>
          <p:cNvPr id="7" name="處理"/>
          <p:cNvSpPr/>
          <p:nvPr/>
        </p:nvSpPr>
        <p:spPr>
          <a:xfrm>
            <a:off x="2590724" y="2185416"/>
            <a:ext cx="14630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397709" y="3127248"/>
            <a:ext cx="184906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</a:t>
            </a:r>
            <a:endParaRPr lang="en-US" sz="1400" dirty="0"/>
          </a:p>
        </p:txBody>
      </p:sp>
      <p:sp>
        <p:nvSpPr>
          <p:cNvPr id="9" name="判斷"/>
          <p:cNvSpPr/>
          <p:nvPr/>
        </p:nvSpPr>
        <p:spPr>
          <a:xfrm>
            <a:off x="4485513" y="2057400"/>
            <a:ext cx="1371600" cy="914400"/>
          </a:xfrm>
          <a:prstGeom prst="diamond">
            <a:avLst/>
          </a:prstGeom>
          <a:solidFill>
            <a:srgbClr val="F3E6E8"/>
          </a:solidFill>
          <a:ln w="9525">
            <a:solidFill>
              <a:srgbClr val="7A1F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E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46778" y="3127248"/>
            <a:ext cx="184906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</a:t>
            </a:r>
            <a:endParaRPr lang="en-US" sz="1400" dirty="0"/>
          </a:p>
        </p:txBody>
      </p:sp>
      <p:sp>
        <p:nvSpPr>
          <p:cNvPr id="11" name="輸入輸出"/>
          <p:cNvSpPr/>
          <p:nvPr/>
        </p:nvSpPr>
        <p:spPr>
          <a:xfrm>
            <a:off x="6243142" y="2185416"/>
            <a:ext cx="1554480" cy="658368"/>
          </a:xfrm>
          <a:prstGeom prst="parallelogram">
            <a:avLst>
              <a:gd name="adj" fmla="val 42000"/>
            </a:avLst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095848" y="3127248"/>
            <a:ext cx="184906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輸入／輸出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 / Output</a:t>
            </a:r>
            <a:endParaRPr lang="en-US" sz="1400" dirty="0"/>
          </a:p>
        </p:txBody>
      </p:sp>
      <p:sp>
        <p:nvSpPr>
          <p:cNvPr id="13" name="文件"/>
          <p:cNvSpPr/>
          <p:nvPr/>
        </p:nvSpPr>
        <p:spPr>
          <a:xfrm>
            <a:off x="8183651" y="2125980"/>
            <a:ext cx="1371600" cy="777240"/>
          </a:xfrm>
          <a:prstGeom prst="flowChartDocumen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lIns="38100" tIns="0" rIns="3810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944917" y="3127248"/>
            <a:ext cx="184906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</a:t>
            </a:r>
            <a:endParaRPr lang="en-US" sz="1400" dirty="0"/>
          </a:p>
        </p:txBody>
      </p:sp>
      <p:sp>
        <p:nvSpPr>
          <p:cNvPr id="15" name="資料庫"/>
          <p:cNvSpPr/>
          <p:nvPr/>
        </p:nvSpPr>
        <p:spPr>
          <a:xfrm>
            <a:off x="10215601" y="2057400"/>
            <a:ext cx="1005840" cy="914400"/>
          </a:xfrm>
          <a:prstGeom prst="can">
            <a:avLst>
              <a:gd name="adj" fmla="val 13000"/>
            </a:avLst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793986" y="3127248"/>
            <a:ext cx="184906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3863340"/>
            <a:ext cx="100584" cy="100584"/>
          </a:xfrm>
          <a:prstGeom prst="rect">
            <a:avLst/>
          </a:prstGeom>
          <a:solidFill>
            <a:srgbClr val="B08D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49808" y="3767328"/>
            <a:ext cx="1089324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基本流程範例</a:t>
            </a:r>
            <a:endParaRPr lang="en-US" sz="1300" dirty="0"/>
          </a:p>
        </p:txBody>
      </p:sp>
      <p:sp>
        <p:nvSpPr>
          <p:cNvPr id="19" name="線條"/>
          <p:cNvSpPr/>
          <p:nvPr/>
        </p:nvSpPr>
        <p:spPr>
          <a:xfrm>
            <a:off x="548640" y="4151376"/>
            <a:ext cx="1109441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0" name="開始／結束"/>
          <p:cNvSpPr/>
          <p:nvPr/>
        </p:nvSpPr>
        <p:spPr>
          <a:xfrm>
            <a:off x="548640" y="4434840"/>
            <a:ext cx="1143000" cy="548640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400" dirty="0"/>
          </a:p>
        </p:txBody>
      </p:sp>
      <p:sp>
        <p:nvSpPr>
          <p:cNvPr id="21" name="輸入輸出"/>
          <p:cNvSpPr/>
          <p:nvPr/>
        </p:nvSpPr>
        <p:spPr>
          <a:xfrm>
            <a:off x="2228027" y="4398264"/>
            <a:ext cx="1645920" cy="621792"/>
          </a:xfrm>
          <a:prstGeom prst="parallelogram">
            <a:avLst>
              <a:gd name="adj" fmla="val 42000"/>
            </a:avLst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輸入需求</a:t>
            </a:r>
            <a:endParaRPr lang="en-US" sz="1400" dirty="0"/>
          </a:p>
        </p:txBody>
      </p:sp>
      <p:sp>
        <p:nvSpPr>
          <p:cNvPr id="22" name="判斷"/>
          <p:cNvSpPr/>
          <p:nvPr/>
        </p:nvSpPr>
        <p:spPr>
          <a:xfrm>
            <a:off x="4410334" y="4251960"/>
            <a:ext cx="1554480" cy="914400"/>
          </a:xfrm>
          <a:prstGeom prst="diamond">
            <a:avLst/>
          </a:prstGeom>
          <a:solidFill>
            <a:srgbClr val="F3E6E8"/>
          </a:solidFill>
          <a:ln w="9525">
            <a:solidFill>
              <a:srgbClr val="7A1F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是否可行？</a:t>
            </a:r>
            <a:endParaRPr lang="en-US" sz="1300" dirty="0"/>
          </a:p>
        </p:txBody>
      </p:sp>
      <p:sp>
        <p:nvSpPr>
          <p:cNvPr id="23" name="處理"/>
          <p:cNvSpPr/>
          <p:nvPr/>
        </p:nvSpPr>
        <p:spPr>
          <a:xfrm>
            <a:off x="6501201" y="4398264"/>
            <a:ext cx="14630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執行處理</a:t>
            </a:r>
            <a:endParaRPr lang="en-US" sz="1400" dirty="0"/>
          </a:p>
        </p:txBody>
      </p:sp>
      <p:sp>
        <p:nvSpPr>
          <p:cNvPr id="24" name="文件"/>
          <p:cNvSpPr/>
          <p:nvPr/>
        </p:nvSpPr>
        <p:spPr>
          <a:xfrm>
            <a:off x="8500628" y="4343400"/>
            <a:ext cx="1463040" cy="731520"/>
          </a:xfrm>
          <a:prstGeom prst="flowChartDocumen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lIns="38100" tIns="0" rIns="3810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產出報告</a:t>
            </a:r>
            <a:endParaRPr lang="en-US" sz="1400" dirty="0"/>
          </a:p>
        </p:txBody>
      </p:sp>
      <p:sp>
        <p:nvSpPr>
          <p:cNvPr id="25" name="開始／結束"/>
          <p:cNvSpPr/>
          <p:nvPr/>
        </p:nvSpPr>
        <p:spPr>
          <a:xfrm>
            <a:off x="10500055" y="4434840"/>
            <a:ext cx="1143000" cy="548640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</a:t>
            </a:r>
            <a:endParaRPr lang="en-US" sz="1400" dirty="0"/>
          </a:p>
        </p:txBody>
      </p:sp>
      <p:cxnSp>
        <p:nvCxnSpPr>
          <p:cNvPr id="26" name="連接線"/>
          <p:cNvCxnSpPr>
            <a:stCxn id="20" idx="3"/>
            <a:endCxn id="21" idx="5"/>
          </p:cNvCxnSpPr>
          <p:nvPr/>
        </p:nvCxnSpPr>
        <p:spPr>
          <a:xfrm>
            <a:off x="1691640" y="4709160"/>
            <a:ext cx="666963" cy="0"/>
          </a:xfrm>
          <a:prstGeom prst="straightConnector1">
            <a:avLst/>
          </a:prstGeom>
          <a:ln w="12700">
            <a:solidFill>
              <a:srgbClr val="7F7F7F"/>
            </a:solidFill>
            <a:prstDash val="solid"/>
            <a:tailEnd type="stealth" w="lg" len="lg"/>
          </a:ln>
        </p:spPr>
      </p:cxnSp>
      <p:cxnSp>
        <p:nvCxnSpPr>
          <p:cNvPr id="27" name="連接線"/>
          <p:cNvCxnSpPr>
            <a:stCxn id="21" idx="2"/>
            <a:endCxn id="22" idx="1"/>
          </p:cNvCxnSpPr>
          <p:nvPr/>
        </p:nvCxnSpPr>
        <p:spPr>
          <a:xfrm>
            <a:off x="3743371" y="4709160"/>
            <a:ext cx="666963" cy="0"/>
          </a:xfrm>
          <a:prstGeom prst="straightConnector1">
            <a:avLst/>
          </a:prstGeom>
          <a:ln w="12700">
            <a:solidFill>
              <a:srgbClr val="7F7F7F"/>
            </a:solidFill>
            <a:prstDash val="solid"/>
            <a:tailEnd type="stealth" w="lg" len="lg"/>
          </a:ln>
        </p:spPr>
      </p:cxnSp>
      <p:cxnSp>
        <p:nvCxnSpPr>
          <p:cNvPr id="28" name="連接線"/>
          <p:cNvCxnSpPr>
            <a:stCxn id="22" idx="3"/>
            <a:endCxn id="23" idx="1"/>
          </p:cNvCxnSpPr>
          <p:nvPr/>
        </p:nvCxnSpPr>
        <p:spPr>
          <a:xfrm>
            <a:off x="5964814" y="4709160"/>
            <a:ext cx="536387" cy="0"/>
          </a:xfrm>
          <a:prstGeom prst="straightConnector1">
            <a:avLst/>
          </a:prstGeom>
          <a:ln w="12700">
            <a:solidFill>
              <a:srgbClr val="7F7F7F"/>
            </a:solidFill>
            <a:prstDash val="solid"/>
            <a:tailEnd type="stealth" w="lg" len="lg"/>
          </a:ln>
        </p:spPr>
      </p:cxnSp>
      <p:cxnSp>
        <p:nvCxnSpPr>
          <p:cNvPr id="29" name="連接線"/>
          <p:cNvCxnSpPr>
            <a:stCxn id="23" idx="3"/>
            <a:endCxn id="24" idx="1"/>
          </p:cNvCxnSpPr>
          <p:nvPr/>
        </p:nvCxnSpPr>
        <p:spPr>
          <a:xfrm>
            <a:off x="7964241" y="4709160"/>
            <a:ext cx="536387" cy="0"/>
          </a:xfrm>
          <a:prstGeom prst="straightConnector1">
            <a:avLst/>
          </a:prstGeom>
          <a:ln w="12700">
            <a:solidFill>
              <a:srgbClr val="7F7F7F"/>
            </a:solidFill>
            <a:prstDash val="solid"/>
            <a:tailEnd type="stealth" w="lg" len="lg"/>
          </a:ln>
        </p:spPr>
      </p:cxnSp>
      <p:cxnSp>
        <p:nvCxnSpPr>
          <p:cNvPr id="30" name="連接線"/>
          <p:cNvCxnSpPr>
            <a:stCxn id="24" idx="3"/>
            <a:endCxn id="25" idx="1"/>
          </p:cNvCxnSpPr>
          <p:nvPr/>
        </p:nvCxnSpPr>
        <p:spPr>
          <a:xfrm>
            <a:off x="9963668" y="4709160"/>
            <a:ext cx="536387" cy="0"/>
          </a:xfrm>
          <a:prstGeom prst="straightConnector1">
            <a:avLst/>
          </a:prstGeom>
          <a:ln w="12700">
            <a:solidFill>
              <a:srgbClr val="7F7F7F"/>
            </a:solidFill>
            <a:prstDash val="solid"/>
            <a:tailEnd type="stealth" w="lg" len="lg"/>
          </a:ln>
        </p:spPr>
      </p:cxnSp>
      <p:sp>
        <p:nvSpPr>
          <p:cNvPr id="31" name="Text 29"/>
          <p:cNvSpPr/>
          <p:nvPr/>
        </p:nvSpPr>
        <p:spPr>
          <a:xfrm>
            <a:off x="5983102" y="4325112"/>
            <a:ext cx="5363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</a:t>
            </a:r>
            <a:endParaRPr lang="en-US" sz="1100" dirty="0"/>
          </a:p>
        </p:txBody>
      </p:sp>
      <p:sp>
        <p:nvSpPr>
          <p:cNvPr id="32" name="資料庫"/>
          <p:cNvSpPr/>
          <p:nvPr/>
        </p:nvSpPr>
        <p:spPr>
          <a:xfrm>
            <a:off x="6775521" y="5413248"/>
            <a:ext cx="914400" cy="749808"/>
          </a:xfrm>
          <a:prstGeom prst="can">
            <a:avLst>
              <a:gd name="adj" fmla="val 13000"/>
            </a:avLst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200" dirty="0"/>
          </a:p>
        </p:txBody>
      </p:sp>
      <p:cxnSp>
        <p:nvCxnSpPr>
          <p:cNvPr id="33" name="連接線"/>
          <p:cNvCxnSpPr>
            <a:stCxn id="23" idx="2"/>
            <a:endCxn id="32" idx="0"/>
          </p:cNvCxnSpPr>
          <p:nvPr/>
        </p:nvCxnSpPr>
        <p:spPr>
          <a:xfrm>
            <a:off x="7232721" y="5020056"/>
            <a:ext cx="0" cy="393192"/>
          </a:xfrm>
          <a:prstGeom prst="straightConnector1">
            <a:avLst/>
          </a:prstGeom>
          <a:ln w="12700">
            <a:solidFill>
              <a:srgbClr val="7F7F7F"/>
            </a:solidFill>
            <a:prstDash val="sysDash"/>
            <a:headEnd type="triangle" w="lg" len="lg"/>
            <a:tailEnd type="stealth" w="lg" len="lg"/>
          </a:ln>
        </p:spPr>
      </p:cxnSp>
      <p:cxnSp>
        <p:nvCxnSpPr>
          <p:cNvPr id="34" name="連接線"/>
          <p:cNvCxnSpPr>
            <a:stCxn id="22" idx="2"/>
            <a:endCxn id="21" idx="4"/>
          </p:cNvCxnSpPr>
          <p:nvPr/>
        </p:nvCxnSpPr>
        <p:spPr>
          <a:xfrm rot="5400000" flipH="1">
            <a:off x="4046129" y="4024914"/>
            <a:ext cx="146304" cy="2136587"/>
          </a:xfrm>
          <a:prstGeom prst="bentConnector3">
            <a:avLst>
              <a:gd name="adj1" fmla="val -468750"/>
            </a:avLst>
          </a:prstGeom>
          <a:ln w="12700">
            <a:solidFill>
              <a:srgbClr val="7F7F7F"/>
            </a:solidFill>
            <a:prstDash val="solid"/>
            <a:tailEnd type="stealth" w="lg" len="lg"/>
          </a:ln>
        </p:spPr>
      </p:cxnSp>
      <p:sp>
        <p:nvSpPr>
          <p:cNvPr id="35" name="Text 33"/>
          <p:cNvSpPr/>
          <p:nvPr/>
        </p:nvSpPr>
        <p:spPr>
          <a:xfrm>
            <a:off x="5279014" y="5276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否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酒紅精品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548640" y="34747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7A1F2B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結構元件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060704"/>
            <a:ext cx="822960" cy="22860"/>
          </a:xfrm>
          <a:prstGeom prst="rect">
            <a:avLst/>
          </a:prstGeom>
          <a:solidFill>
            <a:srgbClr val="B08D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8640" y="116128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樹狀分支、十字矩陣與半透明寬欄條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79092"/>
            <a:ext cx="100584" cy="100584"/>
          </a:xfrm>
          <a:prstGeom prst="rect">
            <a:avLst/>
          </a:prstGeom>
          <a:solidFill>
            <a:srgbClr val="B08D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49808" y="1783080"/>
            <a:ext cx="501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樹狀分支 Tree</a:t>
            </a:r>
            <a:endParaRPr lang="en-US" sz="1300" dirty="0"/>
          </a:p>
        </p:txBody>
      </p:sp>
      <p:sp>
        <p:nvSpPr>
          <p:cNvPr id="7" name="線條"/>
          <p:cNvSpPr/>
          <p:nvPr/>
        </p:nvSpPr>
        <p:spPr>
          <a:xfrm>
            <a:off x="548640" y="2167128"/>
            <a:ext cx="521208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8" name="處理"/>
          <p:cNvSpPr/>
          <p:nvPr/>
        </p:nvSpPr>
        <p:spPr>
          <a:xfrm>
            <a:off x="548640" y="3794760"/>
            <a:ext cx="74980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起點</a:t>
            </a:r>
            <a:endParaRPr lang="en-US" sz="1300" dirty="0"/>
          </a:p>
        </p:txBody>
      </p:sp>
      <p:sp>
        <p:nvSpPr>
          <p:cNvPr id="9" name="處理"/>
          <p:cNvSpPr/>
          <p:nvPr/>
        </p:nvSpPr>
        <p:spPr>
          <a:xfrm>
            <a:off x="1874520" y="3063240"/>
            <a:ext cx="84124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分支一</a:t>
            </a:r>
            <a:endParaRPr lang="en-US" sz="1200" dirty="0"/>
          </a:p>
        </p:txBody>
      </p:sp>
      <p:sp>
        <p:nvSpPr>
          <p:cNvPr id="10" name="處理"/>
          <p:cNvSpPr/>
          <p:nvPr/>
        </p:nvSpPr>
        <p:spPr>
          <a:xfrm>
            <a:off x="1874520" y="4526280"/>
            <a:ext cx="84124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分支二</a:t>
            </a:r>
            <a:endParaRPr lang="en-US" sz="1200" dirty="0"/>
          </a:p>
        </p:txBody>
      </p:sp>
      <p:sp>
        <p:nvSpPr>
          <p:cNvPr id="11" name="處理"/>
          <p:cNvSpPr/>
          <p:nvPr/>
        </p:nvSpPr>
        <p:spPr>
          <a:xfrm>
            <a:off x="3291840" y="3794760"/>
            <a:ext cx="749808" cy="457200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</a:t>
            </a:r>
            <a:endParaRPr lang="en-US" sz="1300" dirty="0"/>
          </a:p>
        </p:txBody>
      </p:sp>
      <p:sp>
        <p:nvSpPr>
          <p:cNvPr id="12" name="處理"/>
          <p:cNvSpPr/>
          <p:nvPr/>
        </p:nvSpPr>
        <p:spPr>
          <a:xfrm>
            <a:off x="4617720" y="2606040"/>
            <a:ext cx="1143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A</a:t>
            </a:r>
            <a:endParaRPr lang="en-US" sz="1200" dirty="0"/>
          </a:p>
        </p:txBody>
      </p:sp>
      <p:sp>
        <p:nvSpPr>
          <p:cNvPr id="13" name="處理"/>
          <p:cNvSpPr/>
          <p:nvPr/>
        </p:nvSpPr>
        <p:spPr>
          <a:xfrm>
            <a:off x="4617720" y="3794760"/>
            <a:ext cx="1143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B</a:t>
            </a:r>
            <a:endParaRPr lang="en-US" sz="1200" dirty="0"/>
          </a:p>
        </p:txBody>
      </p:sp>
      <p:sp>
        <p:nvSpPr>
          <p:cNvPr id="14" name="處理"/>
          <p:cNvSpPr/>
          <p:nvPr/>
        </p:nvSpPr>
        <p:spPr>
          <a:xfrm>
            <a:off x="4617720" y="4983480"/>
            <a:ext cx="1143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C</a:t>
            </a:r>
            <a:endParaRPr lang="en-US" sz="1200" dirty="0"/>
          </a:p>
        </p:txBody>
      </p:sp>
      <p:sp>
        <p:nvSpPr>
          <p:cNvPr id="15" name="連接線"/>
          <p:cNvSpPr/>
          <p:nvPr/>
        </p:nvSpPr>
        <p:spPr>
          <a:xfrm>
            <a:off x="1353312" y="3291840"/>
            <a:ext cx="466344" cy="731520"/>
          </a:xfrm>
          <a:custGeom>
            <a:avLst/>
            <a:gdLst/>
            <a:ahLst/>
            <a:cxnLst/>
            <a:rect l="l" t="t" r="r" b="b"/>
            <a:pathLst>
              <a:path w="466344" h="731520">
                <a:moveTo>
                  <a:pt x="0" y="731520"/>
                </a:moveTo>
                <a:lnTo>
                  <a:pt x="233172" y="731520"/>
                </a:lnTo>
                <a:lnTo>
                  <a:pt x="233172" y="0"/>
                </a:lnTo>
                <a:lnTo>
                  <a:pt x="466344" y="0"/>
                </a:lnTo>
              </a:path>
            </a:pathLst>
          </a:custGeom>
          <a:ln w="12700">
            <a:solidFill>
              <a:srgbClr val="7F7F7F"/>
            </a:solidFill>
            <a:prstDash val="solid"/>
            <a:tailEnd type="stealth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連接線"/>
          <p:cNvSpPr/>
          <p:nvPr/>
        </p:nvSpPr>
        <p:spPr>
          <a:xfrm>
            <a:off x="1353312" y="4023360"/>
            <a:ext cx="466344" cy="731520"/>
          </a:xfrm>
          <a:custGeom>
            <a:avLst/>
            <a:gdLst/>
            <a:ahLst/>
            <a:cxnLst/>
            <a:rect l="l" t="t" r="r" b="b"/>
            <a:pathLst>
              <a:path w="466344" h="731520">
                <a:moveTo>
                  <a:pt x="0" y="0"/>
                </a:moveTo>
                <a:lnTo>
                  <a:pt x="233172" y="0"/>
                </a:lnTo>
                <a:lnTo>
                  <a:pt x="233172" y="731520"/>
                </a:lnTo>
                <a:lnTo>
                  <a:pt x="466344" y="731520"/>
                </a:lnTo>
              </a:path>
            </a:pathLst>
          </a:custGeom>
          <a:ln w="12700">
            <a:solidFill>
              <a:srgbClr val="7F7F7F"/>
            </a:solidFill>
            <a:prstDash val="solid"/>
            <a:tailEnd type="stealth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連接線"/>
          <p:cNvSpPr/>
          <p:nvPr/>
        </p:nvSpPr>
        <p:spPr>
          <a:xfrm>
            <a:off x="2770632" y="3291840"/>
            <a:ext cx="466344" cy="731520"/>
          </a:xfrm>
          <a:custGeom>
            <a:avLst/>
            <a:gdLst/>
            <a:ahLst/>
            <a:cxnLst/>
            <a:rect l="l" t="t" r="r" b="b"/>
            <a:pathLst>
              <a:path w="466344" h="731520">
                <a:moveTo>
                  <a:pt x="0" y="0"/>
                </a:moveTo>
                <a:lnTo>
                  <a:pt x="233172" y="0"/>
                </a:lnTo>
                <a:lnTo>
                  <a:pt x="233172" y="731520"/>
                </a:lnTo>
                <a:lnTo>
                  <a:pt x="466344" y="731520"/>
                </a:lnTo>
              </a:path>
            </a:pathLst>
          </a:custGeom>
          <a:ln w="12700">
            <a:solidFill>
              <a:srgbClr val="7F7F7F"/>
            </a:solidFill>
            <a:prstDash val="solid"/>
            <a:tailEnd type="stealth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連接線"/>
          <p:cNvSpPr/>
          <p:nvPr/>
        </p:nvSpPr>
        <p:spPr>
          <a:xfrm>
            <a:off x="2770632" y="4023360"/>
            <a:ext cx="466344" cy="731520"/>
          </a:xfrm>
          <a:custGeom>
            <a:avLst/>
            <a:gdLst/>
            <a:ahLst/>
            <a:cxnLst/>
            <a:rect l="l" t="t" r="r" b="b"/>
            <a:pathLst>
              <a:path w="466344" h="731520">
                <a:moveTo>
                  <a:pt x="0" y="731520"/>
                </a:moveTo>
                <a:lnTo>
                  <a:pt x="233172" y="731520"/>
                </a:lnTo>
                <a:lnTo>
                  <a:pt x="233172" y="0"/>
                </a:lnTo>
                <a:lnTo>
                  <a:pt x="466344" y="0"/>
                </a:lnTo>
              </a:path>
            </a:pathLst>
          </a:custGeom>
          <a:ln w="12700">
            <a:solidFill>
              <a:srgbClr val="7F7F7F"/>
            </a:solidFill>
            <a:prstDash val="solid"/>
            <a:tailEnd type="stealth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連接線"/>
          <p:cNvSpPr/>
          <p:nvPr/>
        </p:nvSpPr>
        <p:spPr>
          <a:xfrm>
            <a:off x="4096512" y="2834640"/>
            <a:ext cx="466344" cy="1188720"/>
          </a:xfrm>
          <a:custGeom>
            <a:avLst/>
            <a:gdLst/>
            <a:ahLst/>
            <a:cxnLst/>
            <a:rect l="l" t="t" r="r" b="b"/>
            <a:pathLst>
              <a:path w="466344" h="1188720">
                <a:moveTo>
                  <a:pt x="0" y="1188720"/>
                </a:moveTo>
                <a:lnTo>
                  <a:pt x="233172" y="1188720"/>
                </a:lnTo>
                <a:lnTo>
                  <a:pt x="233172" y="0"/>
                </a:lnTo>
                <a:lnTo>
                  <a:pt x="466344" y="0"/>
                </a:lnTo>
              </a:path>
            </a:pathLst>
          </a:custGeom>
          <a:ln w="12700">
            <a:solidFill>
              <a:srgbClr val="7F7F7F"/>
            </a:solidFill>
            <a:prstDash val="solid"/>
            <a:tailEnd type="stealth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線條"/>
          <p:cNvSpPr/>
          <p:nvPr/>
        </p:nvSpPr>
        <p:spPr>
          <a:xfrm>
            <a:off x="4096512" y="4023360"/>
            <a:ext cx="466344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  <a:tailEnd type="stealth" w="lg" len="lg"/>
          </a:ln>
        </p:spPr>
      </p:sp>
      <p:sp>
        <p:nvSpPr>
          <p:cNvPr id="21" name="連接線"/>
          <p:cNvSpPr/>
          <p:nvPr/>
        </p:nvSpPr>
        <p:spPr>
          <a:xfrm>
            <a:off x="4096512" y="4023360"/>
            <a:ext cx="466344" cy="1188720"/>
          </a:xfrm>
          <a:custGeom>
            <a:avLst/>
            <a:gdLst/>
            <a:ahLst/>
            <a:cxnLst/>
            <a:rect l="l" t="t" r="r" b="b"/>
            <a:pathLst>
              <a:path w="466344" h="1188720">
                <a:moveTo>
                  <a:pt x="0" y="0"/>
                </a:moveTo>
                <a:lnTo>
                  <a:pt x="233172" y="0"/>
                </a:lnTo>
                <a:lnTo>
                  <a:pt x="233172" y="1188720"/>
                </a:lnTo>
                <a:lnTo>
                  <a:pt x="466344" y="1188720"/>
                </a:lnTo>
              </a:path>
            </a:pathLst>
          </a:custGeom>
          <a:ln w="12700">
            <a:solidFill>
              <a:srgbClr val="7F7F7F"/>
            </a:solidFill>
            <a:prstDash val="solid"/>
            <a:tailEnd type="stealth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172200" y="1879092"/>
            <a:ext cx="100584" cy="100584"/>
          </a:xfrm>
          <a:prstGeom prst="rect">
            <a:avLst/>
          </a:prstGeom>
          <a:solidFill>
            <a:srgbClr val="B08D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373368" y="1783080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十字矩陣 2×2</a:t>
            </a:r>
            <a:endParaRPr lang="en-US" sz="1300" dirty="0"/>
          </a:p>
        </p:txBody>
      </p:sp>
      <p:sp>
        <p:nvSpPr>
          <p:cNvPr id="24" name="線條"/>
          <p:cNvSpPr/>
          <p:nvPr/>
        </p:nvSpPr>
        <p:spPr>
          <a:xfrm>
            <a:off x="6172200" y="2167128"/>
            <a:ext cx="269748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5" name="線條"/>
          <p:cNvSpPr/>
          <p:nvPr/>
        </p:nvSpPr>
        <p:spPr>
          <a:xfrm>
            <a:off x="6556248" y="4023360"/>
            <a:ext cx="1929384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26" name="線條"/>
          <p:cNvSpPr/>
          <p:nvPr/>
        </p:nvSpPr>
        <p:spPr>
          <a:xfrm>
            <a:off x="7520940" y="2697480"/>
            <a:ext cx="0" cy="265176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27" name="中心圓"/>
          <p:cNvSpPr/>
          <p:nvPr/>
        </p:nvSpPr>
        <p:spPr>
          <a:xfrm>
            <a:off x="7100316" y="3602736"/>
            <a:ext cx="841248" cy="841248"/>
          </a:xfrm>
          <a:prstGeom prst="ellipse">
            <a:avLst/>
          </a:prstGeom>
          <a:solidFill>
            <a:srgbClr val="7A1F2B"/>
          </a:solidFill>
          <a:ln w="25400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定位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</a:t>
            </a:r>
            <a:endParaRPr lang="en-US" sz="1200" dirty="0"/>
          </a:p>
        </p:txBody>
      </p:sp>
      <p:sp>
        <p:nvSpPr>
          <p:cNvPr id="28" name="標籤"/>
          <p:cNvSpPr/>
          <p:nvPr/>
        </p:nvSpPr>
        <p:spPr>
          <a:xfrm>
            <a:off x="6549136" y="3227832"/>
            <a:ext cx="517144" cy="274320"/>
          </a:xfrm>
          <a:prstGeom prst="rect">
            <a:avLst/>
          </a:prstGeom>
          <a:solidFill>
            <a:srgbClr val="E6E6E6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吸引</a:t>
            </a:r>
            <a:endParaRPr lang="en-US" sz="1100" dirty="0"/>
          </a:p>
        </p:txBody>
      </p:sp>
      <p:sp>
        <p:nvSpPr>
          <p:cNvPr id="29" name="標籤"/>
          <p:cNvSpPr/>
          <p:nvPr/>
        </p:nvSpPr>
        <p:spPr>
          <a:xfrm>
            <a:off x="7975600" y="3227832"/>
            <a:ext cx="517144" cy="274320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實用</a:t>
            </a:r>
            <a:endParaRPr lang="en-US" sz="1100" dirty="0"/>
          </a:p>
        </p:txBody>
      </p:sp>
      <p:sp>
        <p:nvSpPr>
          <p:cNvPr id="30" name="標籤"/>
          <p:cNvSpPr/>
          <p:nvPr/>
        </p:nvSpPr>
        <p:spPr>
          <a:xfrm>
            <a:off x="6549136" y="4544568"/>
            <a:ext cx="517144" cy="274320"/>
          </a:xfrm>
          <a:prstGeom prst="rect">
            <a:avLst/>
          </a:prstGeom>
          <a:solidFill>
            <a:srgbClr val="E6E6E6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好記</a:t>
            </a:r>
            <a:endParaRPr lang="en-US" sz="1100" dirty="0"/>
          </a:p>
        </p:txBody>
      </p:sp>
      <p:sp>
        <p:nvSpPr>
          <p:cNvPr id="31" name="標籤"/>
          <p:cNvSpPr/>
          <p:nvPr/>
        </p:nvSpPr>
        <p:spPr>
          <a:xfrm>
            <a:off x="7975600" y="4544568"/>
            <a:ext cx="517144" cy="274320"/>
          </a:xfrm>
          <a:prstGeom prst="rect">
            <a:avLst/>
          </a:prstGeom>
          <a:solidFill>
            <a:srgbClr val="E6E6E6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可信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72300" y="2377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72300" y="5394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抽象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26480" y="38862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感性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503920" y="38862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理性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35440" y="1879092"/>
            <a:ext cx="100584" cy="100584"/>
          </a:xfrm>
          <a:prstGeom prst="rect">
            <a:avLst/>
          </a:prstGeom>
          <a:solidFill>
            <a:srgbClr val="B08D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9436608" y="1783080"/>
            <a:ext cx="220644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寬欄透明條 Columns</a:t>
            </a:r>
            <a:endParaRPr lang="en-US" sz="1300" dirty="0"/>
          </a:p>
        </p:txBody>
      </p:sp>
      <p:sp>
        <p:nvSpPr>
          <p:cNvPr id="38" name="線條"/>
          <p:cNvSpPr/>
          <p:nvPr/>
        </p:nvSpPr>
        <p:spPr>
          <a:xfrm>
            <a:off x="9235440" y="2167128"/>
            <a:ext cx="240761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966960" y="2286000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744200" y="2286000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100" dirty="0"/>
          </a:p>
        </p:txBody>
      </p:sp>
      <p:sp>
        <p:nvSpPr>
          <p:cNvPr id="41" name="寬欄條"/>
          <p:cNvSpPr/>
          <p:nvPr/>
        </p:nvSpPr>
        <p:spPr>
          <a:xfrm>
            <a:off x="10149840" y="2606040"/>
            <a:ext cx="566928" cy="3108960"/>
          </a:xfrm>
          <a:prstGeom prst="rect">
            <a:avLst/>
          </a:prstGeom>
          <a:solidFill>
            <a:srgbClr val="A6A6A6">
              <a:alpha val="3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寬欄條"/>
          <p:cNvSpPr/>
          <p:nvPr/>
        </p:nvSpPr>
        <p:spPr>
          <a:xfrm>
            <a:off x="10927080" y="2606040"/>
            <a:ext cx="566928" cy="3108960"/>
          </a:xfrm>
          <a:prstGeom prst="rect">
            <a:avLst/>
          </a:prstGeom>
          <a:solidFill>
            <a:srgbClr val="A6A6A6">
              <a:alpha val="3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9235440" y="304495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階段一</a:t>
            </a:r>
            <a:endParaRPr lang="en-US" sz="1100" dirty="0"/>
          </a:p>
        </p:txBody>
      </p:sp>
      <p:sp>
        <p:nvSpPr>
          <p:cNvPr id="44" name="編號"/>
          <p:cNvSpPr/>
          <p:nvPr/>
        </p:nvSpPr>
        <p:spPr>
          <a:xfrm>
            <a:off x="10222992" y="2990088"/>
            <a:ext cx="420624" cy="420624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看</a:t>
            </a:r>
            <a:endParaRPr lang="en-US" sz="1300" dirty="0"/>
          </a:p>
        </p:txBody>
      </p:sp>
      <p:sp>
        <p:nvSpPr>
          <p:cNvPr id="45" name="編號"/>
          <p:cNvSpPr/>
          <p:nvPr/>
        </p:nvSpPr>
        <p:spPr>
          <a:xfrm>
            <a:off x="11000232" y="2990088"/>
            <a:ext cx="420624" cy="420624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練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9235440" y="400507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階段二</a:t>
            </a:r>
            <a:endParaRPr lang="en-US" sz="1100" dirty="0"/>
          </a:p>
        </p:txBody>
      </p:sp>
      <p:sp>
        <p:nvSpPr>
          <p:cNvPr id="47" name="編號"/>
          <p:cNvSpPr/>
          <p:nvPr/>
        </p:nvSpPr>
        <p:spPr>
          <a:xfrm>
            <a:off x="10222992" y="3950208"/>
            <a:ext cx="420624" cy="420624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問</a:t>
            </a:r>
            <a:endParaRPr lang="en-US" sz="1300" dirty="0"/>
          </a:p>
        </p:txBody>
      </p:sp>
      <p:sp>
        <p:nvSpPr>
          <p:cNvPr id="48" name="編號"/>
          <p:cNvSpPr/>
          <p:nvPr/>
        </p:nvSpPr>
        <p:spPr>
          <a:xfrm>
            <a:off x="11000232" y="3950208"/>
            <a:ext cx="420624" cy="420624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談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9235440" y="496519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階段三</a:t>
            </a:r>
            <a:endParaRPr lang="en-US" sz="1100" dirty="0"/>
          </a:p>
        </p:txBody>
      </p:sp>
      <p:sp>
        <p:nvSpPr>
          <p:cNvPr id="50" name="編號"/>
          <p:cNvSpPr/>
          <p:nvPr/>
        </p:nvSpPr>
        <p:spPr>
          <a:xfrm>
            <a:off x="10222992" y="4910328"/>
            <a:ext cx="420624" cy="420624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想</a:t>
            </a:r>
            <a:endParaRPr lang="en-US" sz="1300" dirty="0"/>
          </a:p>
        </p:txBody>
      </p:sp>
      <p:sp>
        <p:nvSpPr>
          <p:cNvPr id="51" name="編號"/>
          <p:cNvSpPr/>
          <p:nvPr/>
        </p:nvSpPr>
        <p:spPr>
          <a:xfrm>
            <a:off x="11000232" y="4910328"/>
            <a:ext cx="420624" cy="420624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寫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酒紅精品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548640" y="34747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7A1F2B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高效溝通：讓想法被看見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060704"/>
            <a:ext cx="822960" cy="22860"/>
          </a:xfrm>
          <a:prstGeom prst="rect">
            <a:avLst/>
          </a:prstGeom>
          <a:solidFill>
            <a:srgbClr val="B08D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8640" y="116128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關鍵在於把資訊整理成對方能理解的結構</a:t>
            </a:r>
            <a:endParaRPr lang="en-US" sz="1400" dirty="0"/>
          </a:p>
        </p:txBody>
      </p:sp>
      <p:sp>
        <p:nvSpPr>
          <p:cNvPr id="5" name="大圓"/>
          <p:cNvSpPr/>
          <p:nvPr/>
        </p:nvSpPr>
        <p:spPr>
          <a:xfrm>
            <a:off x="1208989" y="1828800"/>
            <a:ext cx="2377440" cy="2377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291285" y="1911096"/>
            <a:ext cx="2212848" cy="2212848"/>
          </a:xfrm>
          <a:prstGeom prst="ellipse">
            <a:avLst/>
          </a:prstGeom>
          <a:ln w="9525">
            <a:solidFill>
              <a:srgbClr val="B08D5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208989" y="2137867"/>
            <a:ext cx="2377440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>
                <a:solidFill>
                  <a:srgbClr val="5959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1446733" y="2898648"/>
            <a:ext cx="1901952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5E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為何要重視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5E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溝通品質</a:t>
            </a:r>
            <a:endParaRPr lang="en-US" sz="1500" dirty="0"/>
          </a:p>
        </p:txBody>
      </p:sp>
      <p:sp>
        <p:nvSpPr>
          <p:cNvPr id="9" name="大圓"/>
          <p:cNvSpPr/>
          <p:nvPr/>
        </p:nvSpPr>
        <p:spPr>
          <a:xfrm>
            <a:off x="4907128" y="1828800"/>
            <a:ext cx="2377440" cy="2377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989424" y="1911096"/>
            <a:ext cx="2212848" cy="2212848"/>
          </a:xfrm>
          <a:prstGeom prst="ellipse">
            <a:avLst/>
          </a:prstGeom>
          <a:ln w="9525">
            <a:solidFill>
              <a:srgbClr val="B08D5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907128" y="2137867"/>
            <a:ext cx="2377440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>
                <a:solidFill>
                  <a:srgbClr val="5959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5144872" y="2898648"/>
            <a:ext cx="1901952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5E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溝通的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5E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三個關鍵</a:t>
            </a:r>
            <a:endParaRPr lang="en-US" sz="1500" dirty="0"/>
          </a:p>
        </p:txBody>
      </p:sp>
      <p:sp>
        <p:nvSpPr>
          <p:cNvPr id="13" name="大圓"/>
          <p:cNvSpPr/>
          <p:nvPr/>
        </p:nvSpPr>
        <p:spPr>
          <a:xfrm>
            <a:off x="8605266" y="1828800"/>
            <a:ext cx="2377440" cy="2377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687562" y="1911096"/>
            <a:ext cx="2212848" cy="2212848"/>
          </a:xfrm>
          <a:prstGeom prst="ellipse">
            <a:avLst/>
          </a:prstGeom>
          <a:ln w="9525">
            <a:solidFill>
              <a:srgbClr val="B08D5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605266" y="2137867"/>
            <a:ext cx="2377440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>
                <a:solidFill>
                  <a:srgbClr val="5959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</a:t>
            </a:r>
            <a:endParaRPr lang="en-US" sz="3900" dirty="0"/>
          </a:p>
        </p:txBody>
      </p:sp>
      <p:sp>
        <p:nvSpPr>
          <p:cNvPr id="16" name="Text 14"/>
          <p:cNvSpPr/>
          <p:nvPr/>
        </p:nvSpPr>
        <p:spPr>
          <a:xfrm>
            <a:off x="8843010" y="2898648"/>
            <a:ext cx="1901952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5E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呈現的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5E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三個層次</a:t>
            </a:r>
            <a:endParaRPr lang="en-US" sz="1500" dirty="0"/>
          </a:p>
        </p:txBody>
      </p:sp>
      <p:sp>
        <p:nvSpPr>
          <p:cNvPr id="17" name="線條"/>
          <p:cNvSpPr/>
          <p:nvPr/>
        </p:nvSpPr>
        <p:spPr>
          <a:xfrm>
            <a:off x="3961486" y="3017520"/>
            <a:ext cx="548640" cy="0"/>
          </a:xfrm>
          <a:prstGeom prst="line">
            <a:avLst/>
          </a:prstGeom>
          <a:noFill/>
          <a:ln w="12700">
            <a:solidFill>
              <a:srgbClr val="7A1F2B"/>
            </a:solidFill>
            <a:prstDash val="solid"/>
            <a:tailEnd type="stealth" w="lg" len="lg"/>
          </a:ln>
        </p:spPr>
      </p:sp>
      <p:sp>
        <p:nvSpPr>
          <p:cNvPr id="18" name="線條"/>
          <p:cNvSpPr/>
          <p:nvPr/>
        </p:nvSpPr>
        <p:spPr>
          <a:xfrm>
            <a:off x="7659624" y="3017520"/>
            <a:ext cx="548640" cy="0"/>
          </a:xfrm>
          <a:prstGeom prst="line">
            <a:avLst/>
          </a:prstGeom>
          <a:noFill/>
          <a:ln w="12700">
            <a:solidFill>
              <a:srgbClr val="7A1F2B"/>
            </a:solidFill>
            <a:prstDash val="solid"/>
            <a:tailEnd type="stealth" w="lg" len="lg"/>
          </a:ln>
        </p:spPr>
      </p:sp>
      <p:sp>
        <p:nvSpPr>
          <p:cNvPr id="19" name="小圓"/>
          <p:cNvSpPr/>
          <p:nvPr/>
        </p:nvSpPr>
        <p:spPr>
          <a:xfrm>
            <a:off x="4780734" y="3367150"/>
            <a:ext cx="731520" cy="731520"/>
          </a:xfrm>
          <a:prstGeom prst="ellipse">
            <a:avLst/>
          </a:prstGeom>
          <a:solidFill>
            <a:srgbClr val="7A1F2B"/>
          </a:solidFill>
          <a:ln w="31750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</a:t>
            </a:r>
            <a:endParaRPr lang="en-US" sz="1600" dirty="0"/>
          </a:p>
        </p:txBody>
      </p:sp>
      <p:sp>
        <p:nvSpPr>
          <p:cNvPr id="20" name="小圓"/>
          <p:cNvSpPr/>
          <p:nvPr/>
        </p:nvSpPr>
        <p:spPr>
          <a:xfrm>
            <a:off x="5730088" y="3840480"/>
            <a:ext cx="731520" cy="731520"/>
          </a:xfrm>
          <a:prstGeom prst="ellipse">
            <a:avLst/>
          </a:prstGeom>
          <a:solidFill>
            <a:srgbClr val="7A1F2B"/>
          </a:solidFill>
          <a:ln w="31750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</a:t>
            </a:r>
            <a:endParaRPr lang="en-US" sz="1600" dirty="0"/>
          </a:p>
        </p:txBody>
      </p:sp>
      <p:sp>
        <p:nvSpPr>
          <p:cNvPr id="21" name="小圓"/>
          <p:cNvSpPr/>
          <p:nvPr/>
        </p:nvSpPr>
        <p:spPr>
          <a:xfrm>
            <a:off x="6679442" y="3367150"/>
            <a:ext cx="731520" cy="731520"/>
          </a:xfrm>
          <a:prstGeom prst="ellipse">
            <a:avLst/>
          </a:prstGeom>
          <a:solidFill>
            <a:srgbClr val="7A1F2B"/>
          </a:solidFill>
          <a:ln w="31750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62446" y="4709160"/>
            <a:ext cx="868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蒐集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篩選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歸納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711800" y="4709160"/>
            <a:ext cx="868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比較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拆解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連結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661154" y="4709160"/>
            <a:ext cx="868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聚焦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排序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呈現</a:t>
            </a:r>
            <a:endParaRPr lang="en-US" sz="1150" dirty="0"/>
          </a:p>
        </p:txBody>
      </p:sp>
      <p:sp>
        <p:nvSpPr>
          <p:cNvPr id="25" name="標籤"/>
          <p:cNvSpPr/>
          <p:nvPr/>
        </p:nvSpPr>
        <p:spPr>
          <a:xfrm>
            <a:off x="1346149" y="4572000"/>
            <a:ext cx="2103120" cy="384048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節省理解時間</a:t>
            </a:r>
            <a:endParaRPr lang="en-US" sz="1300" dirty="0"/>
          </a:p>
        </p:txBody>
      </p:sp>
      <p:sp>
        <p:nvSpPr>
          <p:cNvPr id="26" name="標籤"/>
          <p:cNvSpPr/>
          <p:nvPr/>
        </p:nvSpPr>
        <p:spPr>
          <a:xfrm>
            <a:off x="1346149" y="5074920"/>
            <a:ext cx="2103120" cy="384048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對齊彼此認知</a:t>
            </a:r>
            <a:endParaRPr lang="en-US" sz="1300" dirty="0"/>
          </a:p>
        </p:txBody>
      </p:sp>
      <p:sp>
        <p:nvSpPr>
          <p:cNvPr id="27" name="標籤"/>
          <p:cNvSpPr/>
          <p:nvPr/>
        </p:nvSpPr>
        <p:spPr>
          <a:xfrm>
            <a:off x="1346149" y="5577840"/>
            <a:ext cx="2103120" cy="384048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提升決策效率</a:t>
            </a:r>
            <a:endParaRPr lang="en-US" sz="1300" dirty="0"/>
          </a:p>
        </p:txBody>
      </p:sp>
      <p:sp>
        <p:nvSpPr>
          <p:cNvPr id="28" name="標籤"/>
          <p:cNvSpPr/>
          <p:nvPr/>
        </p:nvSpPr>
        <p:spPr>
          <a:xfrm>
            <a:off x="8742426" y="4572000"/>
            <a:ext cx="2103120" cy="384048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</a:t>
            </a:r>
            <a:endParaRPr lang="en-US" sz="1300" dirty="0"/>
          </a:p>
        </p:txBody>
      </p:sp>
      <p:sp>
        <p:nvSpPr>
          <p:cNvPr id="29" name="標籤"/>
          <p:cNvSpPr/>
          <p:nvPr/>
        </p:nvSpPr>
        <p:spPr>
          <a:xfrm>
            <a:off x="8742426" y="5074920"/>
            <a:ext cx="2103120" cy="384048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</a:t>
            </a:r>
            <a:endParaRPr lang="en-US" sz="1300" dirty="0"/>
          </a:p>
        </p:txBody>
      </p:sp>
      <p:sp>
        <p:nvSpPr>
          <p:cNvPr id="30" name="標籤"/>
          <p:cNvSpPr/>
          <p:nvPr/>
        </p:nvSpPr>
        <p:spPr>
          <a:xfrm>
            <a:off x="8742426" y="5577840"/>
            <a:ext cx="2103120" cy="384048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洞見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6016752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三個圓依序回答 Why／How／What，中間的小圓拆出方法，左右兩側以清單補充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酒紅精品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548640" y="34747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7A1F2B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策略規劃框架地圖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060704"/>
            <a:ext cx="822960" cy="22860"/>
          </a:xfrm>
          <a:prstGeom prst="rect">
            <a:avLst/>
          </a:prstGeom>
          <a:solidFill>
            <a:srgbClr val="B08D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8640" y="116128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從現況、課題到行動方案的思考路徑</a:t>
            </a:r>
            <a:endParaRPr lang="en-US" sz="1400" dirty="0"/>
          </a:p>
        </p:txBody>
      </p:sp>
      <p:sp>
        <p:nvSpPr>
          <p:cNvPr id="5" name="卡片"/>
          <p:cNvSpPr/>
          <p:nvPr/>
        </p:nvSpPr>
        <p:spPr>
          <a:xfrm>
            <a:off x="548640" y="3931920"/>
            <a:ext cx="1882384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色條"/>
          <p:cNvSpPr/>
          <p:nvPr/>
        </p:nvSpPr>
        <p:spPr>
          <a:xfrm>
            <a:off x="548640" y="3931920"/>
            <a:ext cx="1882384" cy="64008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48640" y="3968496"/>
            <a:ext cx="18823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5E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願景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Vision</a:t>
            </a:r>
            <a:endParaRPr lang="en-US" sz="1400" dirty="0"/>
          </a:p>
        </p:txBody>
      </p:sp>
      <p:sp>
        <p:nvSpPr>
          <p:cNvPr id="8" name="線條"/>
          <p:cNvSpPr/>
          <p:nvPr/>
        </p:nvSpPr>
        <p:spPr>
          <a:xfrm>
            <a:off x="2403592" y="4352544"/>
            <a:ext cx="457200" cy="0"/>
          </a:xfrm>
          <a:prstGeom prst="line">
            <a:avLst/>
          </a:prstGeom>
          <a:noFill/>
          <a:ln w="12700">
            <a:solidFill>
              <a:srgbClr val="7A1F2B"/>
            </a:solidFill>
            <a:prstDash val="solid"/>
            <a:tailEnd type="stealth" w="lg" len="lg"/>
          </a:ln>
        </p:spPr>
      </p:sp>
      <p:sp>
        <p:nvSpPr>
          <p:cNvPr id="9" name="卡片"/>
          <p:cNvSpPr/>
          <p:nvPr/>
        </p:nvSpPr>
        <p:spPr>
          <a:xfrm>
            <a:off x="2851648" y="3931920"/>
            <a:ext cx="1882384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色條"/>
          <p:cNvSpPr/>
          <p:nvPr/>
        </p:nvSpPr>
        <p:spPr>
          <a:xfrm>
            <a:off x="2851648" y="3931920"/>
            <a:ext cx="1882384" cy="64008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851648" y="3968496"/>
            <a:ext cx="18823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5E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使命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Mission</a:t>
            </a:r>
            <a:endParaRPr lang="en-US" sz="1400" dirty="0"/>
          </a:p>
        </p:txBody>
      </p:sp>
      <p:sp>
        <p:nvSpPr>
          <p:cNvPr id="12" name="線條"/>
          <p:cNvSpPr/>
          <p:nvPr/>
        </p:nvSpPr>
        <p:spPr>
          <a:xfrm>
            <a:off x="4706600" y="4352544"/>
            <a:ext cx="457200" cy="0"/>
          </a:xfrm>
          <a:prstGeom prst="line">
            <a:avLst/>
          </a:prstGeom>
          <a:noFill/>
          <a:ln w="12700">
            <a:solidFill>
              <a:srgbClr val="7A1F2B"/>
            </a:solidFill>
            <a:prstDash val="solid"/>
            <a:tailEnd type="stealth" w="lg" len="lg"/>
          </a:ln>
        </p:spPr>
      </p:sp>
      <p:sp>
        <p:nvSpPr>
          <p:cNvPr id="13" name="重點卡片"/>
          <p:cNvSpPr/>
          <p:nvPr/>
        </p:nvSpPr>
        <p:spPr>
          <a:xfrm>
            <a:off x="5154656" y="3931920"/>
            <a:ext cx="1882384" cy="841248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D7BC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14" name="線條"/>
          <p:cNvSpPr/>
          <p:nvPr/>
        </p:nvSpPr>
        <p:spPr>
          <a:xfrm>
            <a:off x="7009608" y="4352544"/>
            <a:ext cx="457200" cy="0"/>
          </a:xfrm>
          <a:prstGeom prst="line">
            <a:avLst/>
          </a:prstGeom>
          <a:noFill/>
          <a:ln w="12700">
            <a:solidFill>
              <a:srgbClr val="7A1F2B"/>
            </a:solidFill>
            <a:prstDash val="solid"/>
            <a:tailEnd type="stealth" w="lg" len="lg"/>
          </a:ln>
        </p:spPr>
      </p:sp>
      <p:sp>
        <p:nvSpPr>
          <p:cNvPr id="15" name="卡片"/>
          <p:cNvSpPr/>
          <p:nvPr/>
        </p:nvSpPr>
        <p:spPr>
          <a:xfrm>
            <a:off x="7457664" y="3931920"/>
            <a:ext cx="1882384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色條"/>
          <p:cNvSpPr/>
          <p:nvPr/>
        </p:nvSpPr>
        <p:spPr>
          <a:xfrm>
            <a:off x="7457664" y="3931920"/>
            <a:ext cx="1882384" cy="64008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457664" y="3968496"/>
            <a:ext cx="18823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5E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Strategy</a:t>
            </a:r>
            <a:endParaRPr lang="en-US" sz="1400" dirty="0"/>
          </a:p>
        </p:txBody>
      </p:sp>
      <p:sp>
        <p:nvSpPr>
          <p:cNvPr id="18" name="線條"/>
          <p:cNvSpPr/>
          <p:nvPr/>
        </p:nvSpPr>
        <p:spPr>
          <a:xfrm>
            <a:off x="9312615" y="4352544"/>
            <a:ext cx="457200" cy="0"/>
          </a:xfrm>
          <a:prstGeom prst="line">
            <a:avLst/>
          </a:prstGeom>
          <a:noFill/>
          <a:ln w="12700">
            <a:solidFill>
              <a:srgbClr val="7A1F2B"/>
            </a:solidFill>
            <a:prstDash val="solid"/>
            <a:tailEnd type="stealth" w="lg" len="lg"/>
          </a:ln>
        </p:spPr>
      </p:sp>
      <p:sp>
        <p:nvSpPr>
          <p:cNvPr id="19" name="卡片"/>
          <p:cNvSpPr/>
          <p:nvPr/>
        </p:nvSpPr>
        <p:spPr>
          <a:xfrm>
            <a:off x="9760671" y="3931920"/>
            <a:ext cx="1882384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色條"/>
          <p:cNvSpPr/>
          <p:nvPr/>
        </p:nvSpPr>
        <p:spPr>
          <a:xfrm>
            <a:off x="9760671" y="3931920"/>
            <a:ext cx="1882384" cy="64008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9760671" y="3968496"/>
            <a:ext cx="18823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5E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戰術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Tactic</a:t>
            </a:r>
            <a:endParaRPr lang="en-US" sz="1400" dirty="0"/>
          </a:p>
        </p:txBody>
      </p:sp>
      <p:sp>
        <p:nvSpPr>
          <p:cNvPr id="22" name="卡片"/>
          <p:cNvSpPr/>
          <p:nvPr/>
        </p:nvSpPr>
        <p:spPr>
          <a:xfrm>
            <a:off x="5154656" y="1828800"/>
            <a:ext cx="1882384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色條"/>
          <p:cNvSpPr/>
          <p:nvPr/>
        </p:nvSpPr>
        <p:spPr>
          <a:xfrm>
            <a:off x="5154656" y="1828800"/>
            <a:ext cx="1882384" cy="64008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154656" y="1865376"/>
            <a:ext cx="1882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5E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現況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Situation</a:t>
            </a:r>
            <a:endParaRPr lang="en-US" sz="1400" dirty="0"/>
          </a:p>
        </p:txBody>
      </p:sp>
      <p:sp>
        <p:nvSpPr>
          <p:cNvPr id="25" name="卡片"/>
          <p:cNvSpPr/>
          <p:nvPr/>
        </p:nvSpPr>
        <p:spPr>
          <a:xfrm>
            <a:off x="2668768" y="2788920"/>
            <a:ext cx="1543555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色條"/>
          <p:cNvSpPr/>
          <p:nvPr/>
        </p:nvSpPr>
        <p:spPr>
          <a:xfrm>
            <a:off x="2668768" y="2788920"/>
            <a:ext cx="1543555" cy="64008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668768" y="2825496"/>
            <a:ext cx="15435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5E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</a:t>
            </a:r>
            <a:endParaRPr lang="en-US" sz="1400" dirty="0"/>
          </a:p>
        </p:txBody>
      </p:sp>
      <p:sp>
        <p:nvSpPr>
          <p:cNvPr id="28" name="卡片"/>
          <p:cNvSpPr/>
          <p:nvPr/>
        </p:nvSpPr>
        <p:spPr>
          <a:xfrm>
            <a:off x="7979373" y="2788920"/>
            <a:ext cx="1543555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色條"/>
          <p:cNvSpPr/>
          <p:nvPr/>
        </p:nvSpPr>
        <p:spPr>
          <a:xfrm>
            <a:off x="7979373" y="2788920"/>
            <a:ext cx="1543555" cy="64008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979373" y="2825496"/>
            <a:ext cx="15435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5E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課題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</a:t>
            </a:r>
            <a:endParaRPr lang="en-US" sz="1400" dirty="0"/>
          </a:p>
        </p:txBody>
      </p:sp>
      <p:sp>
        <p:nvSpPr>
          <p:cNvPr id="31" name="曲線箭頭"/>
          <p:cNvSpPr/>
          <p:nvPr/>
        </p:nvSpPr>
        <p:spPr>
          <a:xfrm>
            <a:off x="3440545" y="2240280"/>
            <a:ext cx="1640958" cy="493776"/>
          </a:xfrm>
          <a:custGeom>
            <a:avLst/>
            <a:gdLst/>
            <a:ahLst/>
            <a:cxnLst/>
            <a:rect l="l" t="t" r="r" b="b"/>
            <a:pathLst>
              <a:path w="1640958" h="493776">
                <a:moveTo>
                  <a:pt x="0" y="493776"/>
                </a:moveTo>
                <a:cubicBezTo>
                  <a:pt x="0" y="0"/>
                  <a:pt x="274320" y="0"/>
                  <a:pt x="1640958" y="0"/>
                </a:cubicBezTo>
              </a:path>
            </a:pathLst>
          </a:custGeom>
          <a:ln w="12700">
            <a:solidFill>
              <a:srgbClr val="7F7F7F"/>
            </a:solidFill>
            <a:prstDash val="sysDash"/>
            <a:tailEnd type="stealth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曲線箭頭"/>
          <p:cNvSpPr/>
          <p:nvPr/>
        </p:nvSpPr>
        <p:spPr>
          <a:xfrm>
            <a:off x="7110192" y="2240280"/>
            <a:ext cx="1640958" cy="493776"/>
          </a:xfrm>
          <a:custGeom>
            <a:avLst/>
            <a:gdLst/>
            <a:ahLst/>
            <a:cxnLst/>
            <a:rect l="l" t="t" r="r" b="b"/>
            <a:pathLst>
              <a:path w="1640958" h="493776">
                <a:moveTo>
                  <a:pt x="0" y="0"/>
                </a:moveTo>
                <a:cubicBezTo>
                  <a:pt x="1366638" y="0"/>
                  <a:pt x="1640958" y="0"/>
                  <a:pt x="1640958" y="493776"/>
                </a:cubicBezTo>
              </a:path>
            </a:pathLst>
          </a:custGeom>
          <a:ln w="12700">
            <a:solidFill>
              <a:srgbClr val="7F7F7F"/>
            </a:solidFill>
            <a:prstDash val="sysDash"/>
            <a:tailEnd type="stealth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線條"/>
          <p:cNvSpPr/>
          <p:nvPr/>
        </p:nvSpPr>
        <p:spPr>
          <a:xfrm>
            <a:off x="4285475" y="3118104"/>
            <a:ext cx="3620746" cy="0"/>
          </a:xfrm>
          <a:prstGeom prst="line">
            <a:avLst/>
          </a:prstGeom>
          <a:noFill/>
          <a:ln w="12700">
            <a:solidFill>
              <a:srgbClr val="A6A6A6"/>
            </a:solidFill>
            <a:prstDash val="sysDash"/>
            <a:headEnd type="triangle" w="lg" len="lg"/>
            <a:tailEnd type="triangle" w="lg" len="lg"/>
          </a:ln>
        </p:spPr>
      </p:sp>
      <p:sp>
        <p:nvSpPr>
          <p:cNvPr id="34" name="編號"/>
          <p:cNvSpPr/>
          <p:nvPr/>
        </p:nvSpPr>
        <p:spPr>
          <a:xfrm>
            <a:off x="548640" y="1865376"/>
            <a:ext cx="310896" cy="310896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 dirty="0"/>
          </a:p>
        </p:txBody>
      </p:sp>
      <p:sp>
        <p:nvSpPr>
          <p:cNvPr id="35" name="編號"/>
          <p:cNvSpPr/>
          <p:nvPr/>
        </p:nvSpPr>
        <p:spPr>
          <a:xfrm>
            <a:off x="923544" y="1865376"/>
            <a:ext cx="310896" cy="310896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  <p:sp>
        <p:nvSpPr>
          <p:cNvPr id="36" name="標籤"/>
          <p:cNvSpPr/>
          <p:nvPr/>
        </p:nvSpPr>
        <p:spPr>
          <a:xfrm>
            <a:off x="1325880" y="1874520"/>
            <a:ext cx="804591" cy="292608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界定問題</a:t>
            </a:r>
            <a:endParaRPr lang="en-US" sz="1100" dirty="0"/>
          </a:p>
        </p:txBody>
      </p:sp>
      <p:sp>
        <p:nvSpPr>
          <p:cNvPr id="37" name="編號"/>
          <p:cNvSpPr/>
          <p:nvPr/>
        </p:nvSpPr>
        <p:spPr>
          <a:xfrm>
            <a:off x="548640" y="2322576"/>
            <a:ext cx="310896" cy="310896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38" name="編號"/>
          <p:cNvSpPr/>
          <p:nvPr/>
        </p:nvSpPr>
        <p:spPr>
          <a:xfrm>
            <a:off x="923544" y="2322576"/>
            <a:ext cx="310896" cy="310896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100" dirty="0"/>
          </a:p>
        </p:txBody>
      </p:sp>
      <p:sp>
        <p:nvSpPr>
          <p:cNvPr id="39" name="標籤"/>
          <p:cNvSpPr/>
          <p:nvPr/>
        </p:nvSpPr>
        <p:spPr>
          <a:xfrm>
            <a:off x="1325880" y="2331720"/>
            <a:ext cx="804591" cy="292608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排序優先</a:t>
            </a:r>
            <a:endParaRPr lang="en-US" sz="1100" dirty="0"/>
          </a:p>
        </p:txBody>
      </p:sp>
      <p:sp>
        <p:nvSpPr>
          <p:cNvPr id="40" name="編號"/>
          <p:cNvSpPr/>
          <p:nvPr/>
        </p:nvSpPr>
        <p:spPr>
          <a:xfrm>
            <a:off x="9669231" y="1865376"/>
            <a:ext cx="310896" cy="310896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100" dirty="0"/>
          </a:p>
        </p:txBody>
      </p:sp>
      <p:sp>
        <p:nvSpPr>
          <p:cNvPr id="41" name="編號"/>
          <p:cNvSpPr/>
          <p:nvPr/>
        </p:nvSpPr>
        <p:spPr>
          <a:xfrm>
            <a:off x="10044135" y="1865376"/>
            <a:ext cx="310896" cy="310896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100" dirty="0"/>
          </a:p>
        </p:txBody>
      </p:sp>
      <p:sp>
        <p:nvSpPr>
          <p:cNvPr id="42" name="標籤"/>
          <p:cNvSpPr/>
          <p:nvPr/>
        </p:nvSpPr>
        <p:spPr>
          <a:xfrm>
            <a:off x="10446471" y="1874520"/>
            <a:ext cx="804591" cy="292608"/>
          </a:xfrm>
          <a:prstGeom prst="rect">
            <a:avLst/>
          </a:prstGeom>
          <a:solidFill>
            <a:srgbClr val="E6E6E6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設定目標</a:t>
            </a:r>
            <a:endParaRPr lang="en-US" sz="1100" dirty="0"/>
          </a:p>
        </p:txBody>
      </p:sp>
      <p:sp>
        <p:nvSpPr>
          <p:cNvPr id="43" name="編號"/>
          <p:cNvSpPr/>
          <p:nvPr/>
        </p:nvSpPr>
        <p:spPr>
          <a:xfrm>
            <a:off x="9669231" y="2322576"/>
            <a:ext cx="310896" cy="310896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100" dirty="0"/>
          </a:p>
        </p:txBody>
      </p:sp>
      <p:sp>
        <p:nvSpPr>
          <p:cNvPr id="44" name="編號"/>
          <p:cNvSpPr/>
          <p:nvPr/>
        </p:nvSpPr>
        <p:spPr>
          <a:xfrm>
            <a:off x="10044135" y="2322576"/>
            <a:ext cx="310896" cy="310896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100" dirty="0"/>
          </a:p>
        </p:txBody>
      </p:sp>
      <p:sp>
        <p:nvSpPr>
          <p:cNvPr id="45" name="標籤"/>
          <p:cNvSpPr/>
          <p:nvPr/>
        </p:nvSpPr>
        <p:spPr>
          <a:xfrm>
            <a:off x="10446471" y="2331720"/>
            <a:ext cx="804591" cy="292608"/>
          </a:xfrm>
          <a:prstGeom prst="rect">
            <a:avLst/>
          </a:prstGeom>
          <a:solidFill>
            <a:srgbClr val="E6E6E6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規劃路徑</a:t>
            </a:r>
            <a:endParaRPr lang="en-US" sz="1100" dirty="0"/>
          </a:p>
        </p:txBody>
      </p:sp>
      <p:sp>
        <p:nvSpPr>
          <p:cNvPr id="46" name="卡片"/>
          <p:cNvSpPr/>
          <p:nvPr/>
        </p:nvSpPr>
        <p:spPr>
          <a:xfrm>
            <a:off x="548640" y="5074920"/>
            <a:ext cx="11094415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色條"/>
          <p:cNvSpPr/>
          <p:nvPr/>
        </p:nvSpPr>
        <p:spPr>
          <a:xfrm>
            <a:off x="548640" y="5074920"/>
            <a:ext cx="11094415" cy="64008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548640" y="50749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組織</a:t>
            </a:r>
            <a:r>
              <a:rPr lang="en-US" sz="11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Organization</a:t>
            </a:r>
            <a:endParaRPr lang="en-US" sz="1400" dirty="0"/>
          </a:p>
        </p:txBody>
      </p:sp>
      <p:sp>
        <p:nvSpPr>
          <p:cNvPr id="49" name="編號"/>
          <p:cNvSpPr/>
          <p:nvPr/>
        </p:nvSpPr>
        <p:spPr>
          <a:xfrm>
            <a:off x="1144527" y="5815584"/>
            <a:ext cx="310896" cy="310896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100" dirty="0"/>
          </a:p>
        </p:txBody>
      </p:sp>
      <p:sp>
        <p:nvSpPr>
          <p:cNvPr id="50" name="編號"/>
          <p:cNvSpPr/>
          <p:nvPr/>
        </p:nvSpPr>
        <p:spPr>
          <a:xfrm>
            <a:off x="1519431" y="5815584"/>
            <a:ext cx="310896" cy="310896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100" dirty="0"/>
          </a:p>
        </p:txBody>
      </p:sp>
      <p:sp>
        <p:nvSpPr>
          <p:cNvPr id="51" name="標籤"/>
          <p:cNvSpPr/>
          <p:nvPr/>
        </p:nvSpPr>
        <p:spPr>
          <a:xfrm>
            <a:off x="1921767" y="5824728"/>
            <a:ext cx="804591" cy="292608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凝聚共識</a:t>
            </a:r>
            <a:endParaRPr lang="en-US" sz="1100" dirty="0"/>
          </a:p>
        </p:txBody>
      </p:sp>
      <p:sp>
        <p:nvSpPr>
          <p:cNvPr id="52" name="編號"/>
          <p:cNvSpPr/>
          <p:nvPr/>
        </p:nvSpPr>
        <p:spPr>
          <a:xfrm>
            <a:off x="3918130" y="5815584"/>
            <a:ext cx="310896" cy="310896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100" dirty="0"/>
          </a:p>
        </p:txBody>
      </p:sp>
      <p:sp>
        <p:nvSpPr>
          <p:cNvPr id="53" name="編號"/>
          <p:cNvSpPr/>
          <p:nvPr/>
        </p:nvSpPr>
        <p:spPr>
          <a:xfrm>
            <a:off x="4293034" y="5815584"/>
            <a:ext cx="310896" cy="310896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100" dirty="0"/>
          </a:p>
        </p:txBody>
      </p:sp>
      <p:sp>
        <p:nvSpPr>
          <p:cNvPr id="54" name="標籤"/>
          <p:cNvSpPr/>
          <p:nvPr/>
        </p:nvSpPr>
        <p:spPr>
          <a:xfrm>
            <a:off x="4695370" y="5824728"/>
            <a:ext cx="804591" cy="292608"/>
          </a:xfrm>
          <a:prstGeom prst="rect">
            <a:avLst/>
          </a:prstGeom>
          <a:solidFill>
            <a:srgbClr val="E6E6E6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提升能力</a:t>
            </a:r>
            <a:endParaRPr lang="en-US" sz="1100" dirty="0"/>
          </a:p>
        </p:txBody>
      </p:sp>
      <p:sp>
        <p:nvSpPr>
          <p:cNvPr id="55" name="編號"/>
          <p:cNvSpPr/>
          <p:nvPr/>
        </p:nvSpPr>
        <p:spPr>
          <a:xfrm>
            <a:off x="6879186" y="5815584"/>
            <a:ext cx="310896" cy="310896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1100" dirty="0"/>
          </a:p>
        </p:txBody>
      </p:sp>
      <p:sp>
        <p:nvSpPr>
          <p:cNvPr id="56" name="標籤"/>
          <p:cNvSpPr/>
          <p:nvPr/>
        </p:nvSpPr>
        <p:spPr>
          <a:xfrm>
            <a:off x="7281522" y="5824728"/>
            <a:ext cx="804591" cy="292608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資訊透明</a:t>
            </a:r>
            <a:endParaRPr lang="en-US" sz="1100" dirty="0"/>
          </a:p>
        </p:txBody>
      </p:sp>
      <p:sp>
        <p:nvSpPr>
          <p:cNvPr id="57" name="編號"/>
          <p:cNvSpPr/>
          <p:nvPr/>
        </p:nvSpPr>
        <p:spPr>
          <a:xfrm>
            <a:off x="9465338" y="5815584"/>
            <a:ext cx="310896" cy="310896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1100" dirty="0"/>
          </a:p>
        </p:txBody>
      </p:sp>
      <p:sp>
        <p:nvSpPr>
          <p:cNvPr id="58" name="編號"/>
          <p:cNvSpPr/>
          <p:nvPr/>
        </p:nvSpPr>
        <p:spPr>
          <a:xfrm>
            <a:off x="9840242" y="5815584"/>
            <a:ext cx="310896" cy="310896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1100" dirty="0"/>
          </a:p>
        </p:txBody>
      </p:sp>
      <p:sp>
        <p:nvSpPr>
          <p:cNvPr id="59" name="標籤"/>
          <p:cNvSpPr/>
          <p:nvPr/>
        </p:nvSpPr>
        <p:spPr>
          <a:xfrm>
            <a:off x="10242578" y="5824728"/>
            <a:ext cx="804591" cy="292608"/>
          </a:xfrm>
          <a:prstGeom prst="rect">
            <a:avLst/>
          </a:prstGeom>
          <a:solidFill>
            <a:srgbClr val="E6E6E6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激勵動機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酒紅精品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548640" y="34747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7A1F2B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能力成長地圖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060704"/>
            <a:ext cx="822960" cy="22860"/>
          </a:xfrm>
          <a:prstGeom prst="rect">
            <a:avLst/>
          </a:prstGeom>
          <a:solidFill>
            <a:srgbClr val="B08D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8640" y="116128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從個人特質到可遷移能力的三階段路徑</a:t>
            </a:r>
            <a:endParaRPr lang="en-US" sz="1400" dirty="0"/>
          </a:p>
        </p:txBody>
      </p:sp>
      <p:sp>
        <p:nvSpPr>
          <p:cNvPr id="5" name="漸隱箭頭"/>
          <p:cNvSpPr/>
          <p:nvPr/>
        </p:nvSpPr>
        <p:spPr>
          <a:xfrm>
            <a:off x="5737860" y="2331720"/>
            <a:ext cx="356616" cy="3361700"/>
          </a:xfrm>
          <a:prstGeom prst="rect">
            <a:avLst/>
          </a:prstGeom>
          <a:solidFill>
            <a:srgbClr val="B08D57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漸隱箭頭"/>
          <p:cNvSpPr/>
          <p:nvPr/>
        </p:nvSpPr>
        <p:spPr>
          <a:xfrm>
            <a:off x="5737860" y="2890479"/>
            <a:ext cx="356616" cy="2802941"/>
          </a:xfrm>
          <a:prstGeom prst="rect">
            <a:avLst/>
          </a:prstGeom>
          <a:solidFill>
            <a:srgbClr val="B08D57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漸隱箭頭"/>
          <p:cNvSpPr/>
          <p:nvPr/>
        </p:nvSpPr>
        <p:spPr>
          <a:xfrm>
            <a:off x="5737860" y="3449239"/>
            <a:ext cx="356616" cy="2244181"/>
          </a:xfrm>
          <a:prstGeom prst="rect">
            <a:avLst/>
          </a:prstGeom>
          <a:solidFill>
            <a:srgbClr val="B08D57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漸隱箭頭"/>
          <p:cNvSpPr/>
          <p:nvPr/>
        </p:nvSpPr>
        <p:spPr>
          <a:xfrm>
            <a:off x="5737860" y="4007998"/>
            <a:ext cx="356616" cy="1685422"/>
          </a:xfrm>
          <a:prstGeom prst="rect">
            <a:avLst/>
          </a:prstGeom>
          <a:solidFill>
            <a:srgbClr val="B08D57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漸隱箭頭"/>
          <p:cNvSpPr/>
          <p:nvPr/>
        </p:nvSpPr>
        <p:spPr>
          <a:xfrm>
            <a:off x="5737860" y="4566757"/>
            <a:ext cx="356616" cy="1126663"/>
          </a:xfrm>
          <a:prstGeom prst="rect">
            <a:avLst/>
          </a:prstGeom>
          <a:solidFill>
            <a:srgbClr val="B08D57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漸隱箭頭"/>
          <p:cNvSpPr/>
          <p:nvPr/>
        </p:nvSpPr>
        <p:spPr>
          <a:xfrm>
            <a:off x="5737860" y="5125517"/>
            <a:ext cx="356616" cy="567903"/>
          </a:xfrm>
          <a:prstGeom prst="rect">
            <a:avLst/>
          </a:prstGeom>
          <a:solidFill>
            <a:srgbClr val="B08D57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漸隱箭頭"/>
          <p:cNvSpPr/>
          <p:nvPr/>
        </p:nvSpPr>
        <p:spPr>
          <a:xfrm>
            <a:off x="5559552" y="5684276"/>
            <a:ext cx="713232" cy="442204"/>
          </a:xfrm>
          <a:custGeom>
            <a:avLst/>
            <a:gdLst/>
            <a:ahLst/>
            <a:cxnLst/>
            <a:rect l="l" t="t" r="r" b="b"/>
            <a:pathLst>
              <a:path w="713232" h="442204">
                <a:moveTo>
                  <a:pt x="0" y="0"/>
                </a:moveTo>
                <a:lnTo>
                  <a:pt x="713232" y="0"/>
                </a:lnTo>
                <a:lnTo>
                  <a:pt x="356616" y="442204"/>
                </a:lnTo>
                <a:close/>
              </a:path>
            </a:pathLst>
          </a:custGeom>
          <a:solidFill>
            <a:srgbClr val="B08D57">
              <a:alpha val="5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382512" y="576072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成長路徑</a:t>
            </a:r>
            <a:endParaRPr lang="en-US" sz="1200" dirty="0"/>
          </a:p>
        </p:txBody>
      </p:sp>
      <p:sp>
        <p:nvSpPr>
          <p:cNvPr id="13" name="處理"/>
          <p:cNvSpPr/>
          <p:nvPr/>
        </p:nvSpPr>
        <p:spPr>
          <a:xfrm>
            <a:off x="548640" y="3794760"/>
            <a:ext cx="8686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特質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441655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個性、動機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與價值觀</a:t>
            </a:r>
            <a:endParaRPr lang="en-US" sz="1050" dirty="0"/>
          </a:p>
        </p:txBody>
      </p:sp>
      <p:sp>
        <p:nvSpPr>
          <p:cNvPr id="15" name="處理"/>
          <p:cNvSpPr/>
          <p:nvPr/>
        </p:nvSpPr>
        <p:spPr>
          <a:xfrm>
            <a:off x="1874520" y="2999232"/>
            <a:ext cx="91440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</a:t>
            </a:r>
            <a:endParaRPr lang="en-US" sz="1400" dirty="0"/>
          </a:p>
        </p:txBody>
      </p:sp>
      <p:sp>
        <p:nvSpPr>
          <p:cNvPr id="16" name="處理"/>
          <p:cNvSpPr/>
          <p:nvPr/>
        </p:nvSpPr>
        <p:spPr>
          <a:xfrm>
            <a:off x="1874520" y="4645152"/>
            <a:ext cx="91440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828800" y="27432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知道是什麼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828800" y="517550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知道怎麼做</a:t>
            </a:r>
            <a:endParaRPr lang="en-US" sz="1050" dirty="0"/>
          </a:p>
        </p:txBody>
      </p:sp>
      <p:sp>
        <p:nvSpPr>
          <p:cNvPr id="19" name="處理"/>
          <p:cNvSpPr/>
          <p:nvPr/>
        </p:nvSpPr>
        <p:spPr>
          <a:xfrm>
            <a:off x="3246120" y="3794760"/>
            <a:ext cx="868680" cy="548640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154680" y="441655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能產生價值</a:t>
            </a:r>
            <a:endParaRPr lang="en-US" sz="1050" dirty="0"/>
          </a:p>
        </p:txBody>
      </p:sp>
      <p:sp>
        <p:nvSpPr>
          <p:cNvPr id="21" name="連接線"/>
          <p:cNvSpPr/>
          <p:nvPr/>
        </p:nvSpPr>
        <p:spPr>
          <a:xfrm>
            <a:off x="1472184" y="3246120"/>
            <a:ext cx="347472" cy="822960"/>
          </a:xfrm>
          <a:custGeom>
            <a:avLst/>
            <a:gdLst/>
            <a:ahLst/>
            <a:cxnLst/>
            <a:rect l="l" t="t" r="r" b="b"/>
            <a:pathLst>
              <a:path w="347472" h="822960">
                <a:moveTo>
                  <a:pt x="0" y="822960"/>
                </a:moveTo>
                <a:lnTo>
                  <a:pt x="173736" y="822960"/>
                </a:lnTo>
                <a:lnTo>
                  <a:pt x="173736" y="0"/>
                </a:lnTo>
                <a:lnTo>
                  <a:pt x="347472" y="0"/>
                </a:lnTo>
              </a:path>
            </a:pathLst>
          </a:custGeom>
          <a:ln w="12700">
            <a:solidFill>
              <a:srgbClr val="7F7F7F"/>
            </a:solidFill>
            <a:prstDash val="solid"/>
            <a:tailEnd type="stealth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連接線"/>
          <p:cNvSpPr/>
          <p:nvPr/>
        </p:nvSpPr>
        <p:spPr>
          <a:xfrm>
            <a:off x="1472184" y="4069080"/>
            <a:ext cx="347472" cy="822960"/>
          </a:xfrm>
          <a:custGeom>
            <a:avLst/>
            <a:gdLst/>
            <a:ahLst/>
            <a:cxnLst/>
            <a:rect l="l" t="t" r="r" b="b"/>
            <a:pathLst>
              <a:path w="347472" h="822960">
                <a:moveTo>
                  <a:pt x="0" y="0"/>
                </a:moveTo>
                <a:lnTo>
                  <a:pt x="173736" y="0"/>
                </a:lnTo>
                <a:lnTo>
                  <a:pt x="173736" y="822960"/>
                </a:lnTo>
                <a:lnTo>
                  <a:pt x="347472" y="822960"/>
                </a:lnTo>
              </a:path>
            </a:pathLst>
          </a:custGeom>
          <a:ln w="12700">
            <a:solidFill>
              <a:srgbClr val="7F7F7F"/>
            </a:solidFill>
            <a:prstDash val="solid"/>
            <a:tailEnd type="stealth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連接線"/>
          <p:cNvSpPr/>
          <p:nvPr/>
        </p:nvSpPr>
        <p:spPr>
          <a:xfrm>
            <a:off x="2843784" y="3246120"/>
            <a:ext cx="347472" cy="822960"/>
          </a:xfrm>
          <a:custGeom>
            <a:avLst/>
            <a:gdLst/>
            <a:ahLst/>
            <a:cxnLst/>
            <a:rect l="l" t="t" r="r" b="b"/>
            <a:pathLst>
              <a:path w="347472" h="822960">
                <a:moveTo>
                  <a:pt x="0" y="0"/>
                </a:moveTo>
                <a:lnTo>
                  <a:pt x="173736" y="0"/>
                </a:lnTo>
                <a:lnTo>
                  <a:pt x="173736" y="822960"/>
                </a:lnTo>
                <a:lnTo>
                  <a:pt x="347472" y="822960"/>
                </a:lnTo>
              </a:path>
            </a:pathLst>
          </a:custGeom>
          <a:ln w="12700">
            <a:solidFill>
              <a:srgbClr val="7F7F7F"/>
            </a:solidFill>
            <a:prstDash val="solid"/>
            <a:tailEnd type="stealth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連接線"/>
          <p:cNvSpPr/>
          <p:nvPr/>
        </p:nvSpPr>
        <p:spPr>
          <a:xfrm>
            <a:off x="2843784" y="4069080"/>
            <a:ext cx="347472" cy="822960"/>
          </a:xfrm>
          <a:custGeom>
            <a:avLst/>
            <a:gdLst/>
            <a:ahLst/>
            <a:cxnLst/>
            <a:rect l="l" t="t" r="r" b="b"/>
            <a:pathLst>
              <a:path w="347472" h="822960">
                <a:moveTo>
                  <a:pt x="0" y="822960"/>
                </a:moveTo>
                <a:lnTo>
                  <a:pt x="173736" y="822960"/>
                </a:lnTo>
                <a:lnTo>
                  <a:pt x="173736" y="0"/>
                </a:lnTo>
                <a:lnTo>
                  <a:pt x="347472" y="0"/>
                </a:lnTo>
              </a:path>
            </a:pathLst>
          </a:custGeom>
          <a:ln w="12700">
            <a:solidFill>
              <a:srgbClr val="7F7F7F"/>
            </a:solidFill>
            <a:prstDash val="solid"/>
            <a:tailEnd type="stealth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連接線"/>
          <p:cNvSpPr/>
          <p:nvPr/>
        </p:nvSpPr>
        <p:spPr>
          <a:xfrm>
            <a:off x="4169664" y="2743200"/>
            <a:ext cx="576072" cy="1325880"/>
          </a:xfrm>
          <a:custGeom>
            <a:avLst/>
            <a:gdLst/>
            <a:ahLst/>
            <a:cxnLst/>
            <a:rect l="l" t="t" r="r" b="b"/>
            <a:pathLst>
              <a:path w="576072" h="1325880">
                <a:moveTo>
                  <a:pt x="0" y="1325880"/>
                </a:moveTo>
                <a:lnTo>
                  <a:pt x="288036" y="1325880"/>
                </a:lnTo>
                <a:lnTo>
                  <a:pt x="288036" y="0"/>
                </a:lnTo>
                <a:lnTo>
                  <a:pt x="576072" y="0"/>
                </a:lnTo>
              </a:path>
            </a:pathLst>
          </a:custGeom>
          <a:ln w="12700">
            <a:solidFill>
              <a:srgbClr val="7F7F7F"/>
            </a:solidFill>
            <a:prstDash val="solid"/>
            <a:tailEnd type="stealth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線條"/>
          <p:cNvSpPr/>
          <p:nvPr/>
        </p:nvSpPr>
        <p:spPr>
          <a:xfrm>
            <a:off x="4169664" y="4069080"/>
            <a:ext cx="576072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  <a:tailEnd type="stealth" w="lg" len="lg"/>
          </a:ln>
        </p:spPr>
      </p:sp>
      <p:sp>
        <p:nvSpPr>
          <p:cNvPr id="27" name="連接線"/>
          <p:cNvSpPr/>
          <p:nvPr/>
        </p:nvSpPr>
        <p:spPr>
          <a:xfrm>
            <a:off x="4169664" y="4069080"/>
            <a:ext cx="576072" cy="1325880"/>
          </a:xfrm>
          <a:custGeom>
            <a:avLst/>
            <a:gdLst/>
            <a:ahLst/>
            <a:cxnLst/>
            <a:rect l="l" t="t" r="r" b="b"/>
            <a:pathLst>
              <a:path w="576072" h="1325880">
                <a:moveTo>
                  <a:pt x="0" y="0"/>
                </a:moveTo>
                <a:lnTo>
                  <a:pt x="288036" y="0"/>
                </a:lnTo>
                <a:lnTo>
                  <a:pt x="288036" y="1325880"/>
                </a:lnTo>
                <a:lnTo>
                  <a:pt x="576072" y="1325880"/>
                </a:lnTo>
              </a:path>
            </a:pathLst>
          </a:custGeom>
          <a:ln w="12700">
            <a:solidFill>
              <a:srgbClr val="7F7F7F"/>
            </a:solidFill>
            <a:prstDash val="solid"/>
            <a:tailEnd type="stealth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卡片"/>
          <p:cNvSpPr/>
          <p:nvPr/>
        </p:nvSpPr>
        <p:spPr>
          <a:xfrm>
            <a:off x="4800600" y="2414016"/>
            <a:ext cx="18288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色條"/>
          <p:cNvSpPr/>
          <p:nvPr/>
        </p:nvSpPr>
        <p:spPr>
          <a:xfrm>
            <a:off x="4800600" y="2414016"/>
            <a:ext cx="1828800" cy="64008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800600" y="2414016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E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執行實踐</a:t>
            </a:r>
            <a:endParaRPr lang="en-US" sz="1600" dirty="0"/>
          </a:p>
        </p:txBody>
      </p:sp>
      <p:sp>
        <p:nvSpPr>
          <p:cNvPr id="31" name="標籤"/>
          <p:cNvSpPr/>
          <p:nvPr/>
        </p:nvSpPr>
        <p:spPr>
          <a:xfrm>
            <a:off x="6000496" y="2286000"/>
            <a:ext cx="491744" cy="256032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前期</a:t>
            </a:r>
            <a:endParaRPr lang="en-US" sz="1000" dirty="0"/>
          </a:p>
        </p:txBody>
      </p:sp>
      <p:sp>
        <p:nvSpPr>
          <p:cNvPr id="32" name="標籤"/>
          <p:cNvSpPr/>
          <p:nvPr/>
        </p:nvSpPr>
        <p:spPr>
          <a:xfrm>
            <a:off x="4937760" y="2944368"/>
            <a:ext cx="618744" cy="256032"/>
          </a:xfrm>
          <a:prstGeom prst="rect">
            <a:avLst/>
          </a:prstGeom>
          <a:solidFill>
            <a:srgbClr val="E6E6E6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打基礎</a:t>
            </a:r>
            <a:endParaRPr lang="en-US" sz="1000" dirty="0"/>
          </a:p>
        </p:txBody>
      </p:sp>
      <p:sp>
        <p:nvSpPr>
          <p:cNvPr id="33" name="卡片"/>
          <p:cNvSpPr/>
          <p:nvPr/>
        </p:nvSpPr>
        <p:spPr>
          <a:xfrm>
            <a:off x="4800600" y="3739896"/>
            <a:ext cx="18288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色條"/>
          <p:cNvSpPr/>
          <p:nvPr/>
        </p:nvSpPr>
        <p:spPr>
          <a:xfrm>
            <a:off x="4800600" y="3739896"/>
            <a:ext cx="1828800" cy="64008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800600" y="3739896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E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溝通協作</a:t>
            </a:r>
            <a:endParaRPr lang="en-US" sz="1600" dirty="0"/>
          </a:p>
        </p:txBody>
      </p:sp>
      <p:sp>
        <p:nvSpPr>
          <p:cNvPr id="36" name="標籤"/>
          <p:cNvSpPr/>
          <p:nvPr/>
        </p:nvSpPr>
        <p:spPr>
          <a:xfrm>
            <a:off x="6000496" y="3611880"/>
            <a:ext cx="491744" cy="256032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中期</a:t>
            </a:r>
            <a:endParaRPr lang="en-US" sz="1000" dirty="0"/>
          </a:p>
        </p:txBody>
      </p:sp>
      <p:sp>
        <p:nvSpPr>
          <p:cNvPr id="37" name="標籤"/>
          <p:cNvSpPr/>
          <p:nvPr/>
        </p:nvSpPr>
        <p:spPr>
          <a:xfrm>
            <a:off x="4937760" y="4270248"/>
            <a:ext cx="618744" cy="256032"/>
          </a:xfrm>
          <a:prstGeom prst="rect">
            <a:avLst/>
          </a:prstGeom>
          <a:solidFill>
            <a:srgbClr val="E6E6E6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擴影響</a:t>
            </a:r>
            <a:endParaRPr lang="en-US" sz="1000" dirty="0"/>
          </a:p>
        </p:txBody>
      </p:sp>
      <p:sp>
        <p:nvSpPr>
          <p:cNvPr id="38" name="卡片"/>
          <p:cNvSpPr/>
          <p:nvPr/>
        </p:nvSpPr>
        <p:spPr>
          <a:xfrm>
            <a:off x="4800600" y="5065776"/>
            <a:ext cx="18288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色條"/>
          <p:cNvSpPr/>
          <p:nvPr/>
        </p:nvSpPr>
        <p:spPr>
          <a:xfrm>
            <a:off x="4800600" y="5065776"/>
            <a:ext cx="1828800" cy="64008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800600" y="5065776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E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整合創新</a:t>
            </a:r>
            <a:endParaRPr lang="en-US" sz="1600" dirty="0"/>
          </a:p>
        </p:txBody>
      </p:sp>
      <p:sp>
        <p:nvSpPr>
          <p:cNvPr id="41" name="標籤"/>
          <p:cNvSpPr/>
          <p:nvPr/>
        </p:nvSpPr>
        <p:spPr>
          <a:xfrm>
            <a:off x="6000496" y="4937760"/>
            <a:ext cx="491744" cy="256032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後期</a:t>
            </a:r>
            <a:endParaRPr lang="en-US" sz="1000" dirty="0"/>
          </a:p>
        </p:txBody>
      </p:sp>
      <p:sp>
        <p:nvSpPr>
          <p:cNvPr id="42" name="標籤"/>
          <p:cNvSpPr/>
          <p:nvPr/>
        </p:nvSpPr>
        <p:spPr>
          <a:xfrm>
            <a:off x="4937760" y="5596128"/>
            <a:ext cx="618744" cy="256032"/>
          </a:xfrm>
          <a:prstGeom prst="rect">
            <a:avLst/>
          </a:prstGeom>
          <a:solidFill>
            <a:srgbClr val="E6E6E6"/>
          </a:solidFill>
          <a:ln/>
        </p:spPr>
        <p:txBody>
          <a:bodyPr wrap="square" lIns="25400" tIns="0" rIns="2540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建槓桿</a:t>
            </a:r>
            <a:endParaRPr lang="en-US" sz="1000" dirty="0"/>
          </a:p>
        </p:txBody>
      </p:sp>
      <p:sp>
        <p:nvSpPr>
          <p:cNvPr id="43" name="寬欄條"/>
          <p:cNvSpPr/>
          <p:nvPr/>
        </p:nvSpPr>
        <p:spPr>
          <a:xfrm>
            <a:off x="7086600" y="2057400"/>
            <a:ext cx="548640" cy="3886200"/>
          </a:xfrm>
          <a:prstGeom prst="rect">
            <a:avLst/>
          </a:prstGeom>
          <a:solidFill>
            <a:srgbClr val="A6A6A6">
              <a:alpha val="3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寬欄條"/>
          <p:cNvSpPr/>
          <p:nvPr/>
        </p:nvSpPr>
        <p:spPr>
          <a:xfrm>
            <a:off x="7818120" y="2057400"/>
            <a:ext cx="548640" cy="3886200"/>
          </a:xfrm>
          <a:prstGeom prst="rect">
            <a:avLst/>
          </a:prstGeom>
          <a:solidFill>
            <a:srgbClr val="A6A6A6">
              <a:alpha val="3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766560" y="17556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吸收　／　產出</a:t>
            </a:r>
            <a:endParaRPr lang="en-US" sz="1100" dirty="0"/>
          </a:p>
        </p:txBody>
      </p:sp>
      <p:sp>
        <p:nvSpPr>
          <p:cNvPr id="46" name="編號"/>
          <p:cNvSpPr/>
          <p:nvPr/>
        </p:nvSpPr>
        <p:spPr>
          <a:xfrm>
            <a:off x="7141464" y="2523744"/>
            <a:ext cx="438912" cy="438912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看</a:t>
            </a:r>
            <a:endParaRPr lang="en-US" sz="1400" dirty="0"/>
          </a:p>
        </p:txBody>
      </p:sp>
      <p:sp>
        <p:nvSpPr>
          <p:cNvPr id="47" name="編號"/>
          <p:cNvSpPr/>
          <p:nvPr/>
        </p:nvSpPr>
        <p:spPr>
          <a:xfrm>
            <a:off x="7872984" y="2523744"/>
            <a:ext cx="438912" cy="438912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練</a:t>
            </a:r>
            <a:endParaRPr lang="en-US" sz="1400" dirty="0"/>
          </a:p>
        </p:txBody>
      </p:sp>
      <p:sp>
        <p:nvSpPr>
          <p:cNvPr id="48" name="線條"/>
          <p:cNvSpPr/>
          <p:nvPr/>
        </p:nvSpPr>
        <p:spPr>
          <a:xfrm>
            <a:off x="6702552" y="2743200"/>
            <a:ext cx="384048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49" name="編號"/>
          <p:cNvSpPr/>
          <p:nvPr/>
        </p:nvSpPr>
        <p:spPr>
          <a:xfrm>
            <a:off x="7141464" y="3849624"/>
            <a:ext cx="438912" cy="438912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問</a:t>
            </a:r>
            <a:endParaRPr lang="en-US" sz="1400" dirty="0"/>
          </a:p>
        </p:txBody>
      </p:sp>
      <p:sp>
        <p:nvSpPr>
          <p:cNvPr id="50" name="編號"/>
          <p:cNvSpPr/>
          <p:nvPr/>
        </p:nvSpPr>
        <p:spPr>
          <a:xfrm>
            <a:off x="7872984" y="3849624"/>
            <a:ext cx="438912" cy="438912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談</a:t>
            </a:r>
            <a:endParaRPr lang="en-US" sz="1400" dirty="0"/>
          </a:p>
        </p:txBody>
      </p:sp>
      <p:sp>
        <p:nvSpPr>
          <p:cNvPr id="51" name="線條"/>
          <p:cNvSpPr/>
          <p:nvPr/>
        </p:nvSpPr>
        <p:spPr>
          <a:xfrm>
            <a:off x="6702552" y="4069080"/>
            <a:ext cx="384048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52" name="編號"/>
          <p:cNvSpPr/>
          <p:nvPr/>
        </p:nvSpPr>
        <p:spPr>
          <a:xfrm>
            <a:off x="7141464" y="5175504"/>
            <a:ext cx="438912" cy="438912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想</a:t>
            </a:r>
            <a:endParaRPr lang="en-US" sz="1400" dirty="0"/>
          </a:p>
        </p:txBody>
      </p:sp>
      <p:sp>
        <p:nvSpPr>
          <p:cNvPr id="53" name="編號"/>
          <p:cNvSpPr/>
          <p:nvPr/>
        </p:nvSpPr>
        <p:spPr>
          <a:xfrm>
            <a:off x="7872984" y="5175504"/>
            <a:ext cx="438912" cy="438912"/>
          </a:xfrm>
          <a:prstGeom prst="rect">
            <a:avLst/>
          </a:prstGeom>
          <a:solidFill>
            <a:srgbClr val="7A1F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寫</a:t>
            </a:r>
            <a:endParaRPr lang="en-US" sz="1400" dirty="0"/>
          </a:p>
        </p:txBody>
      </p:sp>
      <p:sp>
        <p:nvSpPr>
          <p:cNvPr id="54" name="線條"/>
          <p:cNvSpPr/>
          <p:nvPr/>
        </p:nvSpPr>
        <p:spPr>
          <a:xfrm>
            <a:off x="6702552" y="5394960"/>
            <a:ext cx="384048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55" name="線條"/>
          <p:cNvSpPr/>
          <p:nvPr/>
        </p:nvSpPr>
        <p:spPr>
          <a:xfrm>
            <a:off x="8366760" y="2743200"/>
            <a:ext cx="22860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56" name="連接線"/>
          <p:cNvSpPr/>
          <p:nvPr/>
        </p:nvSpPr>
        <p:spPr>
          <a:xfrm>
            <a:off x="8595360" y="2450592"/>
            <a:ext cx="246888" cy="292608"/>
          </a:xfrm>
          <a:custGeom>
            <a:avLst/>
            <a:gdLst/>
            <a:ahLst/>
            <a:cxnLst/>
            <a:rect l="l" t="t" r="r" b="b"/>
            <a:pathLst>
              <a:path w="246888" h="292608">
                <a:moveTo>
                  <a:pt x="0" y="292608"/>
                </a:moveTo>
                <a:lnTo>
                  <a:pt x="0" y="0"/>
                </a:lnTo>
                <a:lnTo>
                  <a:pt x="246888" y="0"/>
                </a:lnTo>
              </a:path>
            </a:pathLst>
          </a:custGeom>
          <a:ln w="12700">
            <a:solidFill>
              <a:srgbClr val="7F7F7F"/>
            </a:solidFill>
            <a:prstDash val="solid"/>
            <a:tailEnd type="stealth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8915400" y="23134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流程操作、工具使用</a:t>
            </a:r>
            <a:endParaRPr lang="en-US" sz="1100" dirty="0"/>
          </a:p>
        </p:txBody>
      </p:sp>
      <p:sp>
        <p:nvSpPr>
          <p:cNvPr id="58" name="連接線"/>
          <p:cNvSpPr/>
          <p:nvPr/>
        </p:nvSpPr>
        <p:spPr>
          <a:xfrm>
            <a:off x="8595360" y="2743200"/>
            <a:ext cx="246888" cy="292608"/>
          </a:xfrm>
          <a:custGeom>
            <a:avLst/>
            <a:gdLst/>
            <a:ahLst/>
            <a:cxnLst/>
            <a:rect l="l" t="t" r="r" b="b"/>
            <a:pathLst>
              <a:path w="246888" h="292608">
                <a:moveTo>
                  <a:pt x="0" y="0"/>
                </a:moveTo>
                <a:lnTo>
                  <a:pt x="0" y="292608"/>
                </a:lnTo>
                <a:lnTo>
                  <a:pt x="246888" y="292608"/>
                </a:lnTo>
              </a:path>
            </a:pathLst>
          </a:custGeom>
          <a:ln w="12700">
            <a:solidFill>
              <a:srgbClr val="7F7F7F"/>
            </a:solidFill>
            <a:prstDash val="solid"/>
            <a:tailEnd type="stealth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8915400" y="28986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標準作業與規範</a:t>
            </a:r>
            <a:endParaRPr lang="en-US" sz="1100" dirty="0"/>
          </a:p>
        </p:txBody>
      </p:sp>
      <p:sp>
        <p:nvSpPr>
          <p:cNvPr id="60" name="線條"/>
          <p:cNvSpPr/>
          <p:nvPr/>
        </p:nvSpPr>
        <p:spPr>
          <a:xfrm>
            <a:off x="8366760" y="4069080"/>
            <a:ext cx="22860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61" name="連接線"/>
          <p:cNvSpPr/>
          <p:nvPr/>
        </p:nvSpPr>
        <p:spPr>
          <a:xfrm>
            <a:off x="8595360" y="3776472"/>
            <a:ext cx="246888" cy="292608"/>
          </a:xfrm>
          <a:custGeom>
            <a:avLst/>
            <a:gdLst/>
            <a:ahLst/>
            <a:cxnLst/>
            <a:rect l="l" t="t" r="r" b="b"/>
            <a:pathLst>
              <a:path w="246888" h="292608">
                <a:moveTo>
                  <a:pt x="0" y="292608"/>
                </a:moveTo>
                <a:lnTo>
                  <a:pt x="0" y="0"/>
                </a:lnTo>
                <a:lnTo>
                  <a:pt x="246888" y="0"/>
                </a:lnTo>
              </a:path>
            </a:pathLst>
          </a:custGeom>
          <a:ln w="12700">
            <a:solidFill>
              <a:srgbClr val="7F7F7F"/>
            </a:solidFill>
            <a:prstDash val="solid"/>
            <a:tailEnd type="stealth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8915400" y="36393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表達、傾聽、協調</a:t>
            </a:r>
            <a:endParaRPr lang="en-US" sz="1100" dirty="0"/>
          </a:p>
        </p:txBody>
      </p:sp>
      <p:sp>
        <p:nvSpPr>
          <p:cNvPr id="63" name="連接線"/>
          <p:cNvSpPr/>
          <p:nvPr/>
        </p:nvSpPr>
        <p:spPr>
          <a:xfrm>
            <a:off x="8595360" y="4069080"/>
            <a:ext cx="246888" cy="292608"/>
          </a:xfrm>
          <a:custGeom>
            <a:avLst/>
            <a:gdLst/>
            <a:ahLst/>
            <a:cxnLst/>
            <a:rect l="l" t="t" r="r" b="b"/>
            <a:pathLst>
              <a:path w="246888" h="292608">
                <a:moveTo>
                  <a:pt x="0" y="0"/>
                </a:moveTo>
                <a:lnTo>
                  <a:pt x="0" y="292608"/>
                </a:lnTo>
                <a:lnTo>
                  <a:pt x="246888" y="292608"/>
                </a:lnTo>
              </a:path>
            </a:pathLst>
          </a:custGeom>
          <a:ln w="12700">
            <a:solidFill>
              <a:srgbClr val="7F7F7F"/>
            </a:solidFill>
            <a:prstDash val="solid"/>
            <a:tailEnd type="stealth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8915400" y="42245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提案、談判、領導</a:t>
            </a:r>
            <a:endParaRPr lang="en-US" sz="1100" dirty="0"/>
          </a:p>
        </p:txBody>
      </p:sp>
      <p:sp>
        <p:nvSpPr>
          <p:cNvPr id="65" name="線條"/>
          <p:cNvSpPr/>
          <p:nvPr/>
        </p:nvSpPr>
        <p:spPr>
          <a:xfrm>
            <a:off x="8366760" y="5394960"/>
            <a:ext cx="22860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66" name="連接線"/>
          <p:cNvSpPr/>
          <p:nvPr/>
        </p:nvSpPr>
        <p:spPr>
          <a:xfrm>
            <a:off x="8595360" y="5102352"/>
            <a:ext cx="246888" cy="292608"/>
          </a:xfrm>
          <a:custGeom>
            <a:avLst/>
            <a:gdLst/>
            <a:ahLst/>
            <a:cxnLst/>
            <a:rect l="l" t="t" r="r" b="b"/>
            <a:pathLst>
              <a:path w="246888" h="292608">
                <a:moveTo>
                  <a:pt x="0" y="292608"/>
                </a:moveTo>
                <a:lnTo>
                  <a:pt x="0" y="0"/>
                </a:lnTo>
                <a:lnTo>
                  <a:pt x="246888" y="0"/>
                </a:lnTo>
              </a:path>
            </a:pathLst>
          </a:custGeom>
          <a:ln w="12700">
            <a:solidFill>
              <a:srgbClr val="7F7F7F"/>
            </a:solidFill>
            <a:prstDash val="solid"/>
            <a:tailEnd type="stealth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8915400" y="49651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結構思考、問題解決</a:t>
            </a:r>
            <a:endParaRPr lang="en-US" sz="1100" dirty="0"/>
          </a:p>
        </p:txBody>
      </p:sp>
      <p:sp>
        <p:nvSpPr>
          <p:cNvPr id="68" name="連接線"/>
          <p:cNvSpPr/>
          <p:nvPr/>
        </p:nvSpPr>
        <p:spPr>
          <a:xfrm>
            <a:off x="8595360" y="5394960"/>
            <a:ext cx="246888" cy="292608"/>
          </a:xfrm>
          <a:custGeom>
            <a:avLst/>
            <a:gdLst/>
            <a:ahLst/>
            <a:cxnLst/>
            <a:rect l="l" t="t" r="r" b="b"/>
            <a:pathLst>
              <a:path w="246888" h="292608">
                <a:moveTo>
                  <a:pt x="0" y="0"/>
                </a:moveTo>
                <a:lnTo>
                  <a:pt x="0" y="292608"/>
                </a:lnTo>
                <a:lnTo>
                  <a:pt x="246888" y="292608"/>
                </a:lnTo>
              </a:path>
            </a:pathLst>
          </a:custGeom>
          <a:ln w="12700">
            <a:solidFill>
              <a:srgbClr val="7F7F7F"/>
            </a:solidFill>
            <a:prstDash val="solid"/>
            <a:tailEnd type="stealth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8915400" y="55504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資源整合、創新</a:t>
            </a:r>
            <a:endParaRPr lang="en-US" sz="1100" dirty="0"/>
          </a:p>
        </p:txBody>
      </p:sp>
      <p:sp>
        <p:nvSpPr>
          <p:cNvPr id="70" name="漸隱直條"/>
          <p:cNvSpPr/>
          <p:nvPr/>
        </p:nvSpPr>
        <p:spPr>
          <a:xfrm>
            <a:off x="11333988" y="2248510"/>
            <a:ext cx="173736" cy="3513125"/>
          </a:xfrm>
          <a:prstGeom prst="rect">
            <a:avLst/>
          </a:prstGeom>
          <a:solidFill>
            <a:srgbClr val="A6A6A6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漸隱直條"/>
          <p:cNvSpPr/>
          <p:nvPr/>
        </p:nvSpPr>
        <p:spPr>
          <a:xfrm>
            <a:off x="11333988" y="2540508"/>
            <a:ext cx="173736" cy="2929128"/>
          </a:xfrm>
          <a:prstGeom prst="rect">
            <a:avLst/>
          </a:prstGeom>
          <a:solidFill>
            <a:srgbClr val="A6A6A6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漸隱直條"/>
          <p:cNvSpPr/>
          <p:nvPr/>
        </p:nvSpPr>
        <p:spPr>
          <a:xfrm>
            <a:off x="11333988" y="2832506"/>
            <a:ext cx="173736" cy="2345131"/>
          </a:xfrm>
          <a:prstGeom prst="rect">
            <a:avLst/>
          </a:prstGeom>
          <a:solidFill>
            <a:srgbClr val="A6A6A6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漸隱直條"/>
          <p:cNvSpPr/>
          <p:nvPr/>
        </p:nvSpPr>
        <p:spPr>
          <a:xfrm>
            <a:off x="11333988" y="3124505"/>
            <a:ext cx="173736" cy="1761134"/>
          </a:xfrm>
          <a:prstGeom prst="rect">
            <a:avLst/>
          </a:prstGeom>
          <a:solidFill>
            <a:srgbClr val="A6A6A6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漸隱直條"/>
          <p:cNvSpPr/>
          <p:nvPr/>
        </p:nvSpPr>
        <p:spPr>
          <a:xfrm>
            <a:off x="11333988" y="3416503"/>
            <a:ext cx="173736" cy="1177138"/>
          </a:xfrm>
          <a:prstGeom prst="rect">
            <a:avLst/>
          </a:prstGeom>
          <a:solidFill>
            <a:srgbClr val="A6A6A6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漸隱直條"/>
          <p:cNvSpPr/>
          <p:nvPr/>
        </p:nvSpPr>
        <p:spPr>
          <a:xfrm>
            <a:off x="11333988" y="3708502"/>
            <a:ext cx="173736" cy="593141"/>
          </a:xfrm>
          <a:prstGeom prst="rect">
            <a:avLst/>
          </a:prstGeom>
          <a:solidFill>
            <a:srgbClr val="A6A6A6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74"/>
          <p:cNvSpPr/>
          <p:nvPr/>
        </p:nvSpPr>
        <p:spPr>
          <a:xfrm>
            <a:off x="11247120" y="2057400"/>
            <a:ext cx="347472" cy="191110"/>
          </a:xfrm>
          <a:custGeom>
            <a:avLst/>
            <a:gdLst/>
            <a:ahLst/>
            <a:cxnLst/>
            <a:rect l="l" t="t" r="r" b="b"/>
            <a:pathLst>
              <a:path w="347472" h="191110">
                <a:moveTo>
                  <a:pt x="0" y="191110"/>
                </a:moveTo>
                <a:lnTo>
                  <a:pt x="173736" y="0"/>
                </a:lnTo>
                <a:lnTo>
                  <a:pt x="347472" y="191110"/>
                </a:lnTo>
                <a:close/>
              </a:path>
            </a:pathLst>
          </a:custGeom>
          <a:solidFill>
            <a:srgbClr val="A6A6A6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75"/>
          <p:cNvSpPr/>
          <p:nvPr/>
        </p:nvSpPr>
        <p:spPr>
          <a:xfrm>
            <a:off x="11247120" y="5752490"/>
            <a:ext cx="347472" cy="191110"/>
          </a:xfrm>
          <a:custGeom>
            <a:avLst/>
            <a:gdLst/>
            <a:ahLst/>
            <a:cxnLst/>
            <a:rect l="l" t="t" r="r" b="b"/>
            <a:pathLst>
              <a:path w="347472" h="191110">
                <a:moveTo>
                  <a:pt x="0" y="0"/>
                </a:moveTo>
                <a:lnTo>
                  <a:pt x="347472" y="0"/>
                </a:lnTo>
                <a:lnTo>
                  <a:pt x="173736" y="191110"/>
                </a:lnTo>
                <a:close/>
              </a:path>
            </a:pathLst>
          </a:custGeom>
          <a:solidFill>
            <a:srgbClr val="A6A6A6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Text 76"/>
          <p:cNvSpPr/>
          <p:nvPr/>
        </p:nvSpPr>
        <p:spPr>
          <a:xfrm>
            <a:off x="10378440" y="17556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情境限定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10378440" y="5989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08D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跨域通用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548640" y="640080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酒紅精品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10271455" y="64008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 / 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精緻圖解元件庫 · 酒紅精品</dc:title>
  <dc:subject>PptxGenJS Presentation</dc:subject>
  <dc:creator>PPT Style Studio</dc:creator>
  <cp:lastModifiedBy>PPT Style Studio</cp:lastModifiedBy>
  <cp:revision>1</cp:revision>
  <dcterms:created xsi:type="dcterms:W3CDTF">2026-10-09T02:33:49Z</dcterms:created>
  <dcterms:modified xsi:type="dcterms:W3CDTF">2026-10-09T02:33:49Z</dcterms:modified>
</cp:coreProperties>
</file>