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元件總表 Element Catalog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2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5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0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89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4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1</a:t>
              </a:r>
              <a:endParaRPr lang="zh-TW" altLang="en-US" sz="10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95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2</a:t>
              </a:r>
              <a:endParaRPr lang="zh-TW" altLang="en-US" sz="10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96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3</a:t>
              </a:r>
              <a:endParaRPr lang="zh-TW" altLang="en-US" sz="10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</p:grp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0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3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09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4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常見組合 Common Patterns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1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2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3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7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20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22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3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25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6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8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5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7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0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2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4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5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7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1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8" name="處理"/>
            <p:cNvSpPr/>
            <p:nvPr/>
          </p:nvSpPr>
          <p:spPr>
            <a:xfrm>
              <a:off x="3372536" y="4983480"/>
              <a:ext cx="45720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4309796" y="4562856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處理"/>
            <p:cNvSpPr/>
            <p:nvPr/>
          </p:nvSpPr>
          <p:spPr>
            <a:xfrm>
              <a:off x="4309796" y="5404104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83200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8" name="連接線"/>
            <p:cNvCxnSpPr>
              <a:stCxn id="58" idx="3"/>
              <a:endCxn id="60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69" name="連接線"/>
            <p:cNvCxnSpPr>
              <a:stCxn id="59" idx="3"/>
              <a:endCxn id="62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0" name="連接線"/>
            <p:cNvCxnSpPr>
              <a:stCxn id="61" idx="3"/>
              <a:endCxn id="63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1" name="連接線"/>
            <p:cNvCxnSpPr>
              <a:stCxn id="62" idx="3"/>
              <a:endCxn id="64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2" name="連接線"/>
            <p:cNvCxnSpPr>
              <a:stCxn id="63" idx="3"/>
              <a:endCxn id="66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73" name="連接線"/>
            <p:cNvCxnSpPr>
              <a:stCxn id="65" idx="3"/>
              <a:endCxn id="67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74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6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2" name="連接線"/>
            <p:cNvCxnSpPr>
              <a:stCxn id="76" idx="2"/>
              <a:endCxn id="78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83" name="連接線"/>
            <p:cNvCxnSpPr>
              <a:stCxn id="78" idx="3"/>
              <a:endCxn id="80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84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6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線條"/>
            <p:cNvSpPr/>
            <p:nvPr/>
          </p:nvSpPr>
          <p:spPr>
            <a:xfrm>
              <a:off x="10093947" y="5184648"/>
              <a:ext cx="475488" cy="0"/>
            </a:xfrm>
            <a:prstGeom prst="line">
              <a:avLst/>
            </a:prstGeom>
            <a:noFill/>
            <a:ln w="9525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90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3" name="Text 9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常見組合（二）Common Patterns II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4F5BD5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8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ACEF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5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8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0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1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ACEF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3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5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0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2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1" name="Text 9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Text 9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可調數量 Adjustable Patterns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步驟、泳道、原因的數量 2–6 可調：左側「數量」，或選取元件後按工具列的 − ＋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110944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93776" y="2295144"/>
            <a:ext cx="7827264" cy="576072"/>
            <a:chOff x="493776" y="2295144"/>
            <a:chExt cx="7827264" cy="576072"/>
          </a:xfrm>
        </p:grpSpPr>
        <p:sp>
          <p:nvSpPr>
            <p:cNvPr id="7" name="處理"/>
            <p:cNvSpPr/>
            <p:nvPr/>
          </p:nvSpPr>
          <p:spPr>
            <a:xfrm>
              <a:off x="594360" y="2395728"/>
              <a:ext cx="1554480" cy="47548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編號"/>
            <p:cNvSpPr/>
            <p:nvPr/>
          </p:nvSpPr>
          <p:spPr>
            <a:xfrm>
              <a:off x="493776" y="229514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1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2651760" y="2395728"/>
              <a:ext cx="1554480" cy="47548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2551176" y="229514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2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4709160" y="2395728"/>
              <a:ext cx="1554480" cy="47548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4608576" y="229514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3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6766560" y="2395728"/>
              <a:ext cx="1554480" cy="47548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6665976" y="2295144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0"/>
                  <a:cs typeface="Microsoft JhengHei Light" pitchFamily="34" charset="-120"/>
                </a:rPr>
                <a:t>4</a:t>
              </a:r>
              <a:endParaRPr lang="zh-TW" altLang="en-US" sz="9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endParaRPr>
            </a:p>
          </p:txBody>
        </p:sp>
        <p:cxnSp>
          <p:nvCxnSpPr>
            <p:cNvPr id="15" name="連接線"/>
            <p:cNvCxnSpPr>
              <a:stCxn id="7" idx="3"/>
              <a:endCxn id="9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16" name="連接線"/>
            <p:cNvCxnSpPr>
              <a:stCxn id="9" idx="3"/>
              <a:endCxn id="11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17" name="連接線"/>
            <p:cNvCxnSpPr>
              <a:stCxn id="11" idx="3"/>
              <a:endCxn id="13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18" name="組合名稱"/>
          <p:cNvSpPr/>
          <p:nvPr/>
        </p:nvSpPr>
        <p:spPr>
          <a:xfrm>
            <a:off x="548640" y="3017520"/>
            <a:ext cx="5989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0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1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2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3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4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1408176" y="3566160"/>
              <a:ext cx="93268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7" name="處理"/>
            <p:cNvSpPr/>
            <p:nvPr/>
          </p:nvSpPr>
          <p:spPr>
            <a:xfrm>
              <a:off x="2779776" y="4334256"/>
              <a:ext cx="93268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8" name="處理"/>
            <p:cNvSpPr/>
            <p:nvPr/>
          </p:nvSpPr>
          <p:spPr>
            <a:xfrm>
              <a:off x="4151376" y="5102352"/>
              <a:ext cx="93268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9" name="連接線"/>
            <p:cNvCxnSpPr>
              <a:stCxn id="26" idx="3"/>
              <a:endCxn id="27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30" name="連接線"/>
            <p:cNvCxnSpPr>
              <a:stCxn id="27" idx="3"/>
              <a:endCxn id="28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31" name="組合名稱"/>
          <p:cNvSpPr/>
          <p:nvPr/>
        </p:nvSpPr>
        <p:spPr>
          <a:xfrm>
            <a:off x="6867144" y="3017520"/>
            <a:ext cx="477591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3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問題"/>
            <p:cNvSpPr/>
            <p:nvPr/>
          </p:nvSpPr>
          <p:spPr>
            <a:xfrm>
              <a:off x="6867144" y="3675888"/>
              <a:ext cx="1078992" cy="1719072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原因"/>
            <p:cNvSpPr/>
            <p:nvPr/>
          </p:nvSpPr>
          <p:spPr>
            <a:xfrm>
              <a:off x="8257032" y="3675888"/>
              <a:ext cx="1537564" cy="51206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對策"/>
            <p:cNvSpPr/>
            <p:nvPr/>
          </p:nvSpPr>
          <p:spPr>
            <a:xfrm>
              <a:off x="10105492" y="3675888"/>
              <a:ext cx="1537564" cy="51206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39" name="連接線"/>
            <p:cNvCxnSpPr>
              <a:stCxn id="36" idx="3"/>
              <a:endCxn id="37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0" name="原因"/>
            <p:cNvSpPr/>
            <p:nvPr/>
          </p:nvSpPr>
          <p:spPr>
            <a:xfrm>
              <a:off x="8257032" y="4279392"/>
              <a:ext cx="1537564" cy="51206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對策"/>
            <p:cNvSpPr/>
            <p:nvPr/>
          </p:nvSpPr>
          <p:spPr>
            <a:xfrm>
              <a:off x="10105492" y="4279392"/>
              <a:ext cx="1537564" cy="51206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5" idx="3"/>
              <a:endCxn id="40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4" name="原因"/>
            <p:cNvSpPr/>
            <p:nvPr/>
          </p:nvSpPr>
          <p:spPr>
            <a:xfrm>
              <a:off x="8257032" y="4882896"/>
              <a:ext cx="1537564" cy="51206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5" name="對策"/>
            <p:cNvSpPr/>
            <p:nvPr/>
          </p:nvSpPr>
          <p:spPr>
            <a:xfrm>
              <a:off x="10105492" y="4882896"/>
              <a:ext cx="1537564" cy="51206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35" idx="3"/>
              <a:endCxn id="44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47" name="連接線"/>
            <p:cNvCxnSpPr>
              <a:stCxn id="44" idx="3"/>
              <a:endCxn id="45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48" name="Text 4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原因分析 Root Cause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5 Why 追問與多因 → 問題：數量可調；確認／排除標籤可直接改字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7" name="問題"/>
            <p:cNvSpPr/>
            <p:nvPr/>
          </p:nvSpPr>
          <p:spPr>
            <a:xfrm>
              <a:off x="1280160" y="2212848"/>
              <a:ext cx="3154680" cy="384048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EF0F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1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1280160" y="2816352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EF0F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2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280160" y="3419856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EF0F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3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1280160" y="4023360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EF0F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4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1280160" y="4626864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EF0FB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5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處理"/>
            <p:cNvSpPr/>
            <p:nvPr/>
          </p:nvSpPr>
          <p:spPr>
            <a:xfrm>
              <a:off x="1280160" y="5230368"/>
              <a:ext cx="31546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處理"/>
            <p:cNvSpPr/>
            <p:nvPr/>
          </p:nvSpPr>
          <p:spPr>
            <a:xfrm>
              <a:off x="1280160" y="5833872"/>
              <a:ext cx="31546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0" name="連接線"/>
            <p:cNvCxnSpPr>
              <a:stCxn id="7" idx="2"/>
              <a:endCxn id="9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21" name="連接線"/>
            <p:cNvCxnSpPr>
              <a:stCxn id="9" idx="2"/>
              <a:endCxn id="11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22" name="連接線"/>
            <p:cNvCxnSpPr>
              <a:stCxn id="11" idx="2"/>
              <a:endCxn id="13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23" name="連接線"/>
            <p:cNvCxnSpPr>
              <a:stCxn id="13" idx="2"/>
              <a:endCxn id="15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24" name="連接線"/>
            <p:cNvCxnSpPr>
              <a:stCxn id="15" idx="2"/>
              <a:endCxn id="17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25" name="連接線"/>
            <p:cNvCxnSpPr>
              <a:stCxn id="17" idx="2"/>
              <a:endCxn id="19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26" name="組合名稱"/>
          <p:cNvSpPr/>
          <p:nvPr/>
        </p:nvSpPr>
        <p:spPr>
          <a:xfrm>
            <a:off x="4937760" y="1737360"/>
            <a:ext cx="6705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28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原因"/>
            <p:cNvSpPr/>
            <p:nvPr/>
          </p:nvSpPr>
          <p:spPr>
            <a:xfrm>
              <a:off x="5632704" y="2738628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原因"/>
            <p:cNvSpPr/>
            <p:nvPr/>
          </p:nvSpPr>
          <p:spPr>
            <a:xfrm>
              <a:off x="5632704" y="3433572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原因"/>
            <p:cNvSpPr/>
            <p:nvPr/>
          </p:nvSpPr>
          <p:spPr>
            <a:xfrm>
              <a:off x="5632704" y="4128516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原因"/>
            <p:cNvSpPr/>
            <p:nvPr/>
          </p:nvSpPr>
          <p:spPr>
            <a:xfrm>
              <a:off x="5632704" y="4823460"/>
              <a:ext cx="3108960" cy="548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問題"/>
            <p:cNvSpPr/>
            <p:nvPr/>
          </p:nvSpPr>
          <p:spPr>
            <a:xfrm>
              <a:off x="9859975" y="3552444"/>
              <a:ext cx="1737360" cy="100584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7" name="連接線"/>
            <p:cNvCxnSpPr>
              <a:stCxn id="33" idx="3"/>
              <a:endCxn id="36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BFBFBF"/>
              </a:solidFill>
              <a:prstDash val="sysDash"/>
              <a:tailEnd type="arrow"/>
            </a:ln>
          </p:spPr>
        </p:cxnSp>
        <p:cxnSp>
          <p:nvCxnSpPr>
            <p:cNvPr id="38" name="連接線"/>
            <p:cNvCxnSpPr>
              <a:stCxn id="29" idx="3"/>
              <a:endCxn id="36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39" name="連接線"/>
            <p:cNvCxnSpPr>
              <a:stCxn id="31" idx="3"/>
              <a:endCxn id="36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40" name="連接線"/>
            <p:cNvCxnSpPr>
              <a:stCxn id="35" idx="3"/>
              <a:endCxn id="36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sp>
          <p:nvSpPr>
            <p:cNvPr id="41" name="Text 39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圖示庫 Icon Library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小節"/>
          <p:cNvSpPr/>
          <p:nvPr/>
        </p:nvSpPr>
        <p:spPr>
          <a:xfrm>
            <a:off x="548640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3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6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49" name="卡片"/>
            <p:cNvSpPr/>
            <p:nvPr/>
          </p:nvSpPr>
          <p:spPr>
            <a:xfrm>
              <a:off x="4773168" y="5202936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3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7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/>
            </a:ln>
          </p:spPr>
        </p:cxnSp>
      </p:grpSp>
      <p:sp>
        <p:nvSpPr>
          <p:cNvPr id="268" name="Text 26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9" name="Text 26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風格規範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色彩、字級與元件語言一覽：全部 0.75pt 髮絲線、無填色無陰影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#4F5BD5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#2B2B2B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#EEF0FB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40pt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0.75pt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空心線框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空心細圓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</a:t>
            </a:r>
            <a:endParaRPr lang="zh-TW" altLang="en-US" sz="12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2</a:t>
            </a:r>
            <a:endParaRPr lang="zh-TW" altLang="en-US" sz="12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3</a:t>
            </a:r>
            <a:endParaRPr lang="zh-TW" altLang="en-US" sz="12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0.75pt 實線＋開放箭頭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空心線框 V 形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卡片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標籤與編號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2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3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4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2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3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圓形與流程鏈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How</a:t>
            </a:r>
            <a:endParaRPr lang="zh-TW" altLang="en-US" sz="41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連接線與箭頭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arrow"/>
          </a:ln>
        </p:spPr>
      </p:cxn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51" name="Text 4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流程圖符號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2" name="連接線"/>
          <p:cNvCxnSpPr>
            <a:stCxn id="22" idx="2"/>
            <a:endCxn id="31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9525">
            <a:solidFill>
              <a:srgbClr val="7F7F7F"/>
            </a:solidFill>
            <a:prstDash val="sysDash"/>
            <a:headEnd type="triangle"/>
            <a:tailEnd type="arrow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9525">
            <a:solidFill>
              <a:srgbClr val="7F7F7F"/>
            </a:solidFill>
            <a:prstDash val="solid"/>
            <a:tailEnd type="arrow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結構元件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看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練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問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談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想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寫</a:t>
            </a:r>
            <a:endParaRPr lang="zh-TW" altLang="en-US" sz="13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高效溝通：讓想法被看見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Why</a:t>
            </a:r>
            <a:endParaRPr lang="zh-TW" altLang="en-US" sz="39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How</a:t>
            </a:r>
            <a:endParaRPr lang="zh-TW" altLang="en-US" sz="39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What</a:t>
            </a:r>
            <a:endParaRPr lang="zh-TW" altLang="en-US" sz="39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策略規劃框架地圖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01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02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03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04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05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06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07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08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09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10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11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12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13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14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15</a:t>
            </a:r>
            <a:endParaRPr lang="zh-TW" altLang="en-US" sz="11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能力成長地圖</a:t>
            </a:r>
            <a:endParaRPr lang="zh-TW" altLang="en-US" sz="4000" dirty="0">
              <a:solidFill>
                <a:srgbClr val="2B2B2B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400" dirty="0">
              <a:solidFill>
                <a:srgbClr val="8C8C8C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看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練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問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談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想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寫</a:t>
            </a:r>
            <a:endParaRPr lang="zh-TW" altLang="en-US" sz="1400" dirty="0">
              <a:solidFill>
                <a:srgbClr val="4F5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4F5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極簡線框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 Light"/>
        <a:ea typeface="Microsoft JhengHei Light"/>
        <a:cs typeface=""/>
        <a:font script="Jpan" typeface="游ゴシック Light"/>
        <a:font script="Hang" typeface="맑은 고딕"/>
        <a:font script="Hans" typeface="等线 Light"/>
        <a:font script="Hant" typeface="Microsoft JhengHei Light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2026-10-09T05:15:32Z</dcterms:created>
  <dcterms:modified xsi:type="dcterms:W3CDTF">2026-10-09T05:15:32Z</dcterms:modified>
</cp:coreProperties>
</file>