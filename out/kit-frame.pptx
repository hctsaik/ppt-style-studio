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65760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《元件總表 Element Catalog》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一頁看完本風格的所有元件變化：挑好樣式，直接複製圖形使用</a:t>
            </a:r>
            <a:endParaRPr lang="en-US" sz="1500" dirty="0"/>
          </a:p>
        </p:txBody>
      </p:sp>
      <p:sp>
        <p:nvSpPr>
          <p:cNvPr id="4" name="線條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58468"/>
            <a:ext cx="1005840" cy="45720"/>
          </a:xfrm>
          <a:prstGeom prst="rect">
            <a:avLst/>
          </a:prstGeom>
          <a:solidFill>
            <a:srgbClr val="2F4B6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類別"/>
          <p:cNvSpPr/>
          <p:nvPr/>
        </p:nvSpPr>
        <p:spPr>
          <a:xfrm>
            <a:off x="548640" y="1741932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400" dirty="0"/>
          </a:p>
        </p:txBody>
      </p:sp>
      <p:sp>
        <p:nvSpPr>
          <p:cNvPr id="7" name="流程方塊"/>
          <p:cNvSpPr/>
          <p:nvPr/>
        </p:nvSpPr>
        <p:spPr>
          <a:xfrm>
            <a:off x="1998160" y="167335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8" name="圖說"/>
          <p:cNvSpPr/>
          <p:nvPr/>
        </p:nvSpPr>
        <p:spPr>
          <a:xfrm>
            <a:off x="1874520" y="20894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850" dirty="0"/>
          </a:p>
        </p:txBody>
      </p:sp>
      <p:sp>
        <p:nvSpPr>
          <p:cNvPr id="9" name="流程方塊"/>
          <p:cNvSpPr/>
          <p:nvPr/>
        </p:nvSpPr>
        <p:spPr>
          <a:xfrm>
            <a:off x="3397584" y="167335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84836" dist="24257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0" name="圖說"/>
          <p:cNvSpPr/>
          <p:nvPr/>
        </p:nvSpPr>
        <p:spPr>
          <a:xfrm>
            <a:off x="3273944" y="20894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11" name="流程方塊"/>
          <p:cNvSpPr/>
          <p:nvPr/>
        </p:nvSpPr>
        <p:spPr>
          <a:xfrm>
            <a:off x="4797008" y="167335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E3E8EF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2" name="圖說"/>
          <p:cNvSpPr/>
          <p:nvPr/>
        </p:nvSpPr>
        <p:spPr>
          <a:xfrm>
            <a:off x="4673368" y="20894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13" name="流程方塊"/>
          <p:cNvSpPr/>
          <p:nvPr/>
        </p:nvSpPr>
        <p:spPr>
          <a:xfrm>
            <a:off x="6196432" y="167335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4" name="圖說"/>
          <p:cNvSpPr/>
          <p:nvPr/>
        </p:nvSpPr>
        <p:spPr>
          <a:xfrm>
            <a:off x="6072792" y="20894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850" dirty="0"/>
          </a:p>
        </p:txBody>
      </p:sp>
      <p:sp>
        <p:nvSpPr>
          <p:cNvPr id="15" name="流程方塊"/>
          <p:cNvSpPr/>
          <p:nvPr/>
        </p:nvSpPr>
        <p:spPr>
          <a:xfrm>
            <a:off x="7595855" y="167335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22225">
            <a:solidFill>
              <a:srgbClr val="2F4B6E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6" name="圖說"/>
          <p:cNvSpPr/>
          <p:nvPr/>
        </p:nvSpPr>
        <p:spPr>
          <a:xfrm>
            <a:off x="7472216" y="20894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850" dirty="0"/>
          </a:p>
        </p:txBody>
      </p:sp>
      <p:sp>
        <p:nvSpPr>
          <p:cNvPr id="17" name="流程方塊"/>
          <p:cNvSpPr/>
          <p:nvPr/>
        </p:nvSpPr>
        <p:spPr>
          <a:xfrm>
            <a:off x="8995279" y="167335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1150" dirty="0"/>
          </a:p>
        </p:txBody>
      </p:sp>
      <p:sp>
        <p:nvSpPr>
          <p:cNvPr id="18" name="圖說"/>
          <p:cNvSpPr/>
          <p:nvPr/>
        </p:nvSpPr>
        <p:spPr>
          <a:xfrm>
            <a:off x="8871639" y="20894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19" name="流程方塊"/>
          <p:cNvSpPr/>
          <p:nvPr/>
        </p:nvSpPr>
        <p:spPr>
          <a:xfrm>
            <a:off x="10394703" y="167335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1150" dirty="0"/>
          </a:p>
        </p:txBody>
      </p:sp>
      <p:sp>
        <p:nvSpPr>
          <p:cNvPr id="20" name="圖說"/>
          <p:cNvSpPr/>
          <p:nvPr/>
        </p:nvSpPr>
        <p:spPr>
          <a:xfrm>
            <a:off x="10271063" y="20894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850" dirty="0"/>
          </a:p>
        </p:txBody>
      </p:sp>
      <p:sp>
        <p:nvSpPr>
          <p:cNvPr id="21" name="線條"/>
          <p:cNvSpPr/>
          <p:nvPr/>
        </p:nvSpPr>
        <p:spPr>
          <a:xfrm>
            <a:off x="548640" y="2263140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22" name="類別"/>
          <p:cNvSpPr/>
          <p:nvPr/>
        </p:nvSpPr>
        <p:spPr>
          <a:xfrm>
            <a:off x="548640" y="2427732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3" name="判斷菱形"/>
          <p:cNvSpPr/>
          <p:nvPr/>
        </p:nvSpPr>
        <p:spPr>
          <a:xfrm>
            <a:off x="2066740" y="2313432"/>
            <a:ext cx="960120" cy="4754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4" name="圖說"/>
          <p:cNvSpPr/>
          <p:nvPr/>
        </p:nvSpPr>
        <p:spPr>
          <a:xfrm>
            <a:off x="1874520" y="282092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850" dirty="0"/>
          </a:p>
        </p:txBody>
      </p:sp>
      <p:sp>
        <p:nvSpPr>
          <p:cNvPr id="25" name="判斷菱形"/>
          <p:cNvSpPr/>
          <p:nvPr/>
        </p:nvSpPr>
        <p:spPr>
          <a:xfrm>
            <a:off x="3466164" y="2313432"/>
            <a:ext cx="960120" cy="475488"/>
          </a:xfrm>
          <a:prstGeom prst="diamond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6" name="圖說"/>
          <p:cNvSpPr/>
          <p:nvPr/>
        </p:nvSpPr>
        <p:spPr>
          <a:xfrm>
            <a:off x="3273944" y="282092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27" name="判斷菱形"/>
          <p:cNvSpPr/>
          <p:nvPr/>
        </p:nvSpPr>
        <p:spPr>
          <a:xfrm>
            <a:off x="4865588" y="2313432"/>
            <a:ext cx="960120" cy="475488"/>
          </a:xfrm>
          <a:prstGeom prst="diamond">
            <a:avLst/>
          </a:prstGeom>
          <a:solidFill>
            <a:srgbClr val="E3E8E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8" name="圖說"/>
          <p:cNvSpPr/>
          <p:nvPr/>
        </p:nvSpPr>
        <p:spPr>
          <a:xfrm>
            <a:off x="4673368" y="282092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29" name="判斷菱形"/>
          <p:cNvSpPr/>
          <p:nvPr/>
        </p:nvSpPr>
        <p:spPr>
          <a:xfrm>
            <a:off x="6265012" y="2313432"/>
            <a:ext cx="960120" cy="47548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F4B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0" name="圖說"/>
          <p:cNvSpPr/>
          <p:nvPr/>
        </p:nvSpPr>
        <p:spPr>
          <a:xfrm>
            <a:off x="6072792" y="282092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850" dirty="0"/>
          </a:p>
        </p:txBody>
      </p:sp>
      <p:sp>
        <p:nvSpPr>
          <p:cNvPr id="31" name="判斷菱形"/>
          <p:cNvSpPr/>
          <p:nvPr/>
        </p:nvSpPr>
        <p:spPr>
          <a:xfrm>
            <a:off x="7664435" y="2313432"/>
            <a:ext cx="960120" cy="475488"/>
          </a:xfrm>
          <a:prstGeom prst="diamond">
            <a:avLst/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2" name="圖說"/>
          <p:cNvSpPr/>
          <p:nvPr/>
        </p:nvSpPr>
        <p:spPr>
          <a:xfrm>
            <a:off x="7472216" y="282092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33" name="判斷菱形"/>
          <p:cNvSpPr/>
          <p:nvPr/>
        </p:nvSpPr>
        <p:spPr>
          <a:xfrm>
            <a:off x="9063859" y="2313432"/>
            <a:ext cx="960120" cy="4754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4" name="圖說"/>
          <p:cNvSpPr/>
          <p:nvPr/>
        </p:nvSpPr>
        <p:spPr>
          <a:xfrm>
            <a:off x="8871639" y="282092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85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10330695" y="2313432"/>
            <a:ext cx="1115568" cy="475488"/>
            <a:chOff x="10330695" y="2313432"/>
            <a:chExt cx="1115568" cy="475488"/>
          </a:xfrm>
        </p:grpSpPr>
        <p:sp>
          <p:nvSpPr>
            <p:cNvPr id="35" name="判斷菱形"/>
            <p:cNvSpPr/>
            <p:nvPr/>
          </p:nvSpPr>
          <p:spPr>
            <a:xfrm>
              <a:off x="10330695" y="2313432"/>
              <a:ext cx="566928" cy="475488"/>
            </a:xfrm>
            <a:prstGeom prst="diamond">
              <a:avLst/>
            </a:prstGeom>
            <a:solidFill>
              <a:srgbClr val="FFFFFF"/>
            </a:solidFill>
            <a:ln w="15875">
              <a:solidFill>
                <a:srgbClr val="2F4B6E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6" name="線條"/>
            <p:cNvSpPr/>
            <p:nvPr/>
          </p:nvSpPr>
          <p:spPr>
            <a:xfrm>
              <a:off x="10897623" y="2551176"/>
              <a:ext cx="548640" cy="0"/>
            </a:xfrm>
            <a:prstGeom prst="line">
              <a:avLst/>
            </a:prstGeom>
            <a:noFill/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sp>
        <p:sp>
          <p:nvSpPr>
            <p:cNvPr id="37" name="標註"/>
            <p:cNvSpPr/>
            <p:nvPr/>
          </p:nvSpPr>
          <p:spPr>
            <a:xfrm>
              <a:off x="10915911" y="2368296"/>
              <a:ext cx="27432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800" dirty="0"/>
            </a:p>
          </p:txBody>
        </p:sp>
      </p:grpSp>
      <p:sp>
        <p:nvSpPr>
          <p:cNvPr id="38" name="圖說"/>
          <p:cNvSpPr/>
          <p:nvPr/>
        </p:nvSpPr>
        <p:spPr>
          <a:xfrm>
            <a:off x="10271063" y="282092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850" dirty="0"/>
          </a:p>
        </p:txBody>
      </p:sp>
      <p:sp>
        <p:nvSpPr>
          <p:cNvPr id="39" name="線條"/>
          <p:cNvSpPr/>
          <p:nvPr/>
        </p:nvSpPr>
        <p:spPr>
          <a:xfrm>
            <a:off x="548640" y="2994660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40" name="類別"/>
          <p:cNvSpPr/>
          <p:nvPr/>
        </p:nvSpPr>
        <p:spPr>
          <a:xfrm>
            <a:off x="548640" y="3095244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 / End</a:t>
            </a:r>
            <a:endParaRPr lang="en-US" sz="1400" dirty="0"/>
          </a:p>
        </p:txBody>
      </p:sp>
      <p:sp>
        <p:nvSpPr>
          <p:cNvPr id="41" name="開始／結束"/>
          <p:cNvSpPr/>
          <p:nvPr/>
        </p:nvSpPr>
        <p:spPr>
          <a:xfrm>
            <a:off x="1998160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F4B6E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2" name="圖說"/>
          <p:cNvSpPr/>
          <p:nvPr/>
        </p:nvSpPr>
        <p:spPr>
          <a:xfrm>
            <a:off x="1874520" y="342442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850" dirty="0"/>
          </a:p>
        </p:txBody>
      </p:sp>
      <p:sp>
        <p:nvSpPr>
          <p:cNvPr id="43" name="開始／結束"/>
          <p:cNvSpPr/>
          <p:nvPr/>
        </p:nvSpPr>
        <p:spPr>
          <a:xfrm>
            <a:off x="3397584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4" name="圖說"/>
          <p:cNvSpPr/>
          <p:nvPr/>
        </p:nvSpPr>
        <p:spPr>
          <a:xfrm>
            <a:off x="3273944" y="342442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45" name="開始／結束"/>
          <p:cNvSpPr/>
          <p:nvPr/>
        </p:nvSpPr>
        <p:spPr>
          <a:xfrm>
            <a:off x="4797008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6" name="圖說"/>
          <p:cNvSpPr/>
          <p:nvPr/>
        </p:nvSpPr>
        <p:spPr>
          <a:xfrm>
            <a:off x="4673368" y="342442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850" dirty="0"/>
          </a:p>
        </p:txBody>
      </p:sp>
      <p:sp>
        <p:nvSpPr>
          <p:cNvPr id="47" name="開始／結束"/>
          <p:cNvSpPr/>
          <p:nvPr/>
        </p:nvSpPr>
        <p:spPr>
          <a:xfrm>
            <a:off x="6196432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76835" dist="21971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8" name="圖說"/>
          <p:cNvSpPr/>
          <p:nvPr/>
        </p:nvSpPr>
        <p:spPr>
          <a:xfrm>
            <a:off x="6072792" y="342442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49" name="開始／結束"/>
          <p:cNvSpPr/>
          <p:nvPr/>
        </p:nvSpPr>
        <p:spPr>
          <a:xfrm>
            <a:off x="7595855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50" dirty="0"/>
          </a:p>
        </p:txBody>
      </p:sp>
      <p:sp>
        <p:nvSpPr>
          <p:cNvPr id="50" name="圖說"/>
          <p:cNvSpPr/>
          <p:nvPr/>
        </p:nvSpPr>
        <p:spPr>
          <a:xfrm>
            <a:off x="7472216" y="342442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51" name="線條"/>
          <p:cNvSpPr/>
          <p:nvPr/>
        </p:nvSpPr>
        <p:spPr>
          <a:xfrm>
            <a:off x="548640" y="359816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52" name="類別"/>
          <p:cNvSpPr/>
          <p:nvPr/>
        </p:nvSpPr>
        <p:spPr>
          <a:xfrm>
            <a:off x="548640" y="3707892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Arrows</a:t>
            </a:r>
            <a:endParaRPr lang="en-US" sz="1400" dirty="0"/>
          </a:p>
        </p:txBody>
      </p:sp>
      <p:sp>
        <p:nvSpPr>
          <p:cNvPr id="53" name="線條"/>
          <p:cNvSpPr/>
          <p:nvPr/>
        </p:nvSpPr>
        <p:spPr>
          <a:xfrm>
            <a:off x="2016448" y="3831336"/>
            <a:ext cx="1060704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</p:sp>
      <p:sp>
        <p:nvSpPr>
          <p:cNvPr id="54" name="圖說"/>
          <p:cNvSpPr/>
          <p:nvPr/>
        </p:nvSpPr>
        <p:spPr>
          <a:xfrm>
            <a:off x="1874520" y="404622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850" dirty="0"/>
          </a:p>
        </p:txBody>
      </p:sp>
      <p:sp>
        <p:nvSpPr>
          <p:cNvPr id="55" name="線條"/>
          <p:cNvSpPr/>
          <p:nvPr/>
        </p:nvSpPr>
        <p:spPr>
          <a:xfrm>
            <a:off x="3415872" y="3831336"/>
            <a:ext cx="1060704" cy="0"/>
          </a:xfrm>
          <a:prstGeom prst="line">
            <a:avLst/>
          </a:prstGeom>
          <a:noFill/>
          <a:ln w="28575">
            <a:solidFill>
              <a:srgbClr val="2F4B6E"/>
            </a:solidFill>
            <a:prstDash val="solid"/>
            <a:tailEnd type="triangle"/>
          </a:ln>
        </p:spPr>
      </p:sp>
      <p:sp>
        <p:nvSpPr>
          <p:cNvPr id="56" name="圖說"/>
          <p:cNvSpPr/>
          <p:nvPr/>
        </p:nvSpPr>
        <p:spPr>
          <a:xfrm>
            <a:off x="3273944" y="404622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850" dirty="0"/>
          </a:p>
        </p:txBody>
      </p:sp>
      <p:sp>
        <p:nvSpPr>
          <p:cNvPr id="57" name="連接線"/>
          <p:cNvSpPr/>
          <p:nvPr/>
        </p:nvSpPr>
        <p:spPr>
          <a:xfrm>
            <a:off x="4815296" y="3694176"/>
            <a:ext cx="1060704" cy="274320"/>
          </a:xfrm>
          <a:custGeom>
            <a:avLst/>
            <a:gdLst/>
            <a:ahLst/>
            <a:cxnLst/>
            <a:rect l="l" t="t" r="r" b="b"/>
            <a:pathLst>
              <a:path w="1060704" h="274320">
                <a:moveTo>
                  <a:pt x="0" y="0"/>
                </a:moveTo>
                <a:lnTo>
                  <a:pt x="530352" y="0"/>
                </a:lnTo>
                <a:lnTo>
                  <a:pt x="530352" y="274320"/>
                </a:lnTo>
                <a:lnTo>
                  <a:pt x="1060704" y="274320"/>
                </a:ln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圖說"/>
          <p:cNvSpPr/>
          <p:nvPr/>
        </p:nvSpPr>
        <p:spPr>
          <a:xfrm>
            <a:off x="4673368" y="404622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850" dirty="0"/>
          </a:p>
        </p:txBody>
      </p:sp>
      <p:sp>
        <p:nvSpPr>
          <p:cNvPr id="59" name="線條"/>
          <p:cNvSpPr/>
          <p:nvPr/>
        </p:nvSpPr>
        <p:spPr>
          <a:xfrm>
            <a:off x="6214720" y="3831336"/>
            <a:ext cx="1060704" cy="0"/>
          </a:xfrm>
          <a:prstGeom prst="line">
            <a:avLst/>
          </a:prstGeom>
          <a:noFill/>
          <a:ln w="15875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0" name="圖說"/>
          <p:cNvSpPr/>
          <p:nvPr/>
        </p:nvSpPr>
        <p:spPr>
          <a:xfrm>
            <a:off x="6072792" y="404622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850" dirty="0"/>
          </a:p>
        </p:txBody>
      </p:sp>
      <p:sp>
        <p:nvSpPr>
          <p:cNvPr id="61" name="線條"/>
          <p:cNvSpPr/>
          <p:nvPr/>
        </p:nvSpPr>
        <p:spPr>
          <a:xfrm>
            <a:off x="7614143" y="3831336"/>
            <a:ext cx="1060704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62" name="圖說"/>
          <p:cNvSpPr/>
          <p:nvPr/>
        </p:nvSpPr>
        <p:spPr>
          <a:xfrm>
            <a:off x="7472216" y="404622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85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9214735" y="3703320"/>
            <a:ext cx="640080" cy="256032"/>
            <a:chOff x="9214735" y="3703320"/>
            <a:chExt cx="640080" cy="256032"/>
          </a:xfrm>
        </p:grpSpPr>
        <p:sp>
          <p:nvSpPr>
            <p:cNvPr id="63" name="三角分隔"/>
            <p:cNvSpPr/>
            <p:nvPr/>
          </p:nvSpPr>
          <p:spPr>
            <a:xfrm>
              <a:off x="9214735" y="3730752"/>
              <a:ext cx="155448" cy="201168"/>
            </a:xfrm>
            <a:custGeom>
              <a:avLst/>
              <a:gdLst/>
              <a:ahLst/>
              <a:cxnLst/>
              <a:rect l="l" t="t" r="r" b="b"/>
              <a:pathLst>
                <a:path w="155448" h="201168">
                  <a:moveTo>
                    <a:pt x="0" y="0"/>
                  </a:moveTo>
                  <a:lnTo>
                    <a:pt x="155448" y="100584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4" name="V 形分隔"/>
            <p:cNvSpPr/>
            <p:nvPr/>
          </p:nvSpPr>
          <p:spPr>
            <a:xfrm>
              <a:off x="9708511" y="3703320"/>
              <a:ext cx="146304" cy="256032"/>
            </a:xfrm>
            <a:prstGeom prst="chevron">
              <a:avLst>
                <a:gd name="adj" fmla="val 62500"/>
              </a:avLst>
            </a:prstGeom>
            <a:solidFill>
              <a:srgbClr val="2F4B6E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5" name="圖說"/>
          <p:cNvSpPr/>
          <p:nvPr/>
        </p:nvSpPr>
        <p:spPr>
          <a:xfrm>
            <a:off x="8871639" y="404622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850" dirty="0"/>
          </a:p>
        </p:txBody>
      </p:sp>
      <p:sp>
        <p:nvSpPr>
          <p:cNvPr id="66" name="區塊箭頭"/>
          <p:cNvSpPr/>
          <p:nvPr/>
        </p:nvSpPr>
        <p:spPr>
          <a:xfrm>
            <a:off x="10440423" y="3648456"/>
            <a:ext cx="1005840" cy="365760"/>
          </a:xfrm>
          <a:custGeom>
            <a:avLst/>
            <a:gdLst/>
            <a:ahLst/>
            <a:cxnLst/>
            <a:rect l="l" t="t" r="r" b="b"/>
            <a:pathLst>
              <a:path w="1005840" h="365760">
                <a:moveTo>
                  <a:pt x="0" y="109728"/>
                </a:moveTo>
                <a:lnTo>
                  <a:pt x="786384" y="109728"/>
                </a:lnTo>
                <a:lnTo>
                  <a:pt x="786384" y="0"/>
                </a:lnTo>
                <a:lnTo>
                  <a:pt x="1005840" y="182880"/>
                </a:lnTo>
                <a:lnTo>
                  <a:pt x="786384" y="365760"/>
                </a:lnTo>
                <a:lnTo>
                  <a:pt x="786384" y="256032"/>
                </a:lnTo>
                <a:lnTo>
                  <a:pt x="0" y="256032"/>
                </a:lnTo>
                <a:close/>
              </a:path>
            </a:pathLst>
          </a:custGeom>
          <a:solidFill>
            <a:srgbClr val="2F4B6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圖說"/>
          <p:cNvSpPr/>
          <p:nvPr/>
        </p:nvSpPr>
        <p:spPr>
          <a:xfrm>
            <a:off x="10271063" y="404622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850" dirty="0"/>
          </a:p>
        </p:txBody>
      </p:sp>
      <p:sp>
        <p:nvSpPr>
          <p:cNvPr id="68" name="線條"/>
          <p:cNvSpPr/>
          <p:nvPr/>
        </p:nvSpPr>
        <p:spPr>
          <a:xfrm>
            <a:off x="548640" y="4219956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69" name="類別"/>
          <p:cNvSpPr/>
          <p:nvPr/>
        </p:nvSpPr>
        <p:spPr>
          <a:xfrm>
            <a:off x="548640" y="4347972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Exception</a:t>
            </a:r>
            <a:endParaRPr lang="en-US" sz="1400" dirty="0"/>
          </a:p>
        </p:txBody>
      </p:sp>
      <p:sp>
        <p:nvSpPr>
          <p:cNvPr id="70" name="警示方塊"/>
          <p:cNvSpPr/>
          <p:nvPr/>
        </p:nvSpPr>
        <p:spPr>
          <a:xfrm>
            <a:off x="1998160" y="4270248"/>
            <a:ext cx="10972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9050">
            <a:solidFill>
              <a:srgbClr val="C0504D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1150" dirty="0"/>
          </a:p>
        </p:txBody>
      </p:sp>
      <p:sp>
        <p:nvSpPr>
          <p:cNvPr id="71" name="圖說"/>
          <p:cNvSpPr/>
          <p:nvPr/>
        </p:nvSpPr>
        <p:spPr>
          <a:xfrm>
            <a:off x="1874520" y="47045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850" dirty="0"/>
          </a:p>
        </p:txBody>
      </p:sp>
      <p:sp>
        <p:nvSpPr>
          <p:cNvPr id="72" name="警示方塊"/>
          <p:cNvSpPr/>
          <p:nvPr/>
        </p:nvSpPr>
        <p:spPr>
          <a:xfrm>
            <a:off x="3397584" y="4270248"/>
            <a:ext cx="1097280" cy="402336"/>
          </a:xfrm>
          <a:prstGeom prst="roundRect">
            <a:avLst>
              <a:gd name="adj" fmla="val 22727"/>
            </a:avLst>
          </a:prstGeom>
          <a:solidFill>
            <a:srgbClr val="F6E6E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1150" dirty="0"/>
          </a:p>
        </p:txBody>
      </p:sp>
      <p:sp>
        <p:nvSpPr>
          <p:cNvPr id="73" name="圖說"/>
          <p:cNvSpPr/>
          <p:nvPr/>
        </p:nvSpPr>
        <p:spPr>
          <a:xfrm>
            <a:off x="3273944" y="47045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850" dirty="0"/>
          </a:p>
        </p:txBody>
      </p:sp>
      <p:sp>
        <p:nvSpPr>
          <p:cNvPr id="74" name="警示方塊"/>
          <p:cNvSpPr/>
          <p:nvPr/>
        </p:nvSpPr>
        <p:spPr>
          <a:xfrm>
            <a:off x="4797008" y="4270248"/>
            <a:ext cx="1097280" cy="402336"/>
          </a:xfrm>
          <a:prstGeom prst="roundRect">
            <a:avLst>
              <a:gd name="adj" fmla="val 22727"/>
            </a:avLst>
          </a:prstGeom>
          <a:solidFill>
            <a:srgbClr val="C0504D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1150" dirty="0"/>
          </a:p>
        </p:txBody>
      </p:sp>
      <p:sp>
        <p:nvSpPr>
          <p:cNvPr id="75" name="圖說"/>
          <p:cNvSpPr/>
          <p:nvPr/>
        </p:nvSpPr>
        <p:spPr>
          <a:xfrm>
            <a:off x="4673368" y="47045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85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6507050" y="4266225"/>
            <a:ext cx="476044" cy="410383"/>
            <a:chOff x="6507050" y="4266225"/>
            <a:chExt cx="476044" cy="410383"/>
          </a:xfrm>
        </p:grpSpPr>
        <p:sp>
          <p:nvSpPr>
            <p:cNvPr id="76" name="警告三角"/>
            <p:cNvSpPr/>
            <p:nvPr/>
          </p:nvSpPr>
          <p:spPr>
            <a:xfrm>
              <a:off x="6507050" y="4266225"/>
              <a:ext cx="476044" cy="410383"/>
            </a:xfrm>
            <a:custGeom>
              <a:avLst/>
              <a:gdLst/>
              <a:ahLst/>
              <a:cxnLst/>
              <a:rect l="l" t="t" r="r" b="b"/>
              <a:pathLst>
                <a:path w="476044" h="410383">
                  <a:moveTo>
                    <a:pt x="0" y="410383"/>
                  </a:moveTo>
                  <a:lnTo>
                    <a:pt x="238022" y="0"/>
                  </a:lnTo>
                  <a:lnTo>
                    <a:pt x="476044" y="410383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7" name="驚嘆號"/>
            <p:cNvSpPr/>
            <p:nvPr/>
          </p:nvSpPr>
          <p:spPr>
            <a:xfrm>
              <a:off x="6507050" y="4389339"/>
              <a:ext cx="476044" cy="27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1700" dirty="0"/>
            </a:p>
          </p:txBody>
        </p:sp>
      </p:grpSp>
      <p:sp>
        <p:nvSpPr>
          <p:cNvPr id="78" name="圖說"/>
          <p:cNvSpPr/>
          <p:nvPr/>
        </p:nvSpPr>
        <p:spPr>
          <a:xfrm>
            <a:off x="6072792" y="47045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850" dirty="0"/>
          </a:p>
        </p:txBody>
      </p:sp>
      <p:sp>
        <p:nvSpPr>
          <p:cNvPr id="79" name="錯誤標記"/>
          <p:cNvSpPr/>
          <p:nvPr/>
        </p:nvSpPr>
        <p:spPr>
          <a:xfrm>
            <a:off x="7979538" y="4306458"/>
            <a:ext cx="329916" cy="329916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80" name="圖說"/>
          <p:cNvSpPr/>
          <p:nvPr/>
        </p:nvSpPr>
        <p:spPr>
          <a:xfrm>
            <a:off x="7472216" y="47045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85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8995279" y="4210812"/>
            <a:ext cx="1156716" cy="461772"/>
            <a:chOff x="8995279" y="4210812"/>
            <a:chExt cx="1156716" cy="461772"/>
          </a:xfrm>
        </p:grpSpPr>
        <p:sp>
          <p:nvSpPr>
            <p:cNvPr id="81" name="流程方塊"/>
            <p:cNvSpPr/>
            <p:nvPr/>
          </p:nvSpPr>
          <p:spPr>
            <a:xfrm>
              <a:off x="8995279" y="4270248"/>
              <a:ext cx="1097280" cy="402336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2700">
              <a:solidFill>
                <a:srgbClr val="BFBFBF"/>
              </a:solidFill>
              <a:prstDash val="solid"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1150" dirty="0"/>
            </a:p>
          </p:txBody>
        </p:sp>
        <p:sp>
          <p:nvSpPr>
            <p:cNvPr id="82" name="提示紅點"/>
            <p:cNvSpPr/>
            <p:nvPr/>
          </p:nvSpPr>
          <p:spPr>
            <a:xfrm>
              <a:off x="9996547" y="4210812"/>
              <a:ext cx="155448" cy="155448"/>
            </a:xfrm>
            <a:prstGeom prst="ellipse">
              <a:avLst/>
            </a:prstGeom>
            <a:solidFill>
              <a:srgbClr val="C0504D"/>
            </a:solidFill>
            <a:ln w="15875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3" name="圖說"/>
          <p:cNvSpPr/>
          <p:nvPr/>
        </p:nvSpPr>
        <p:spPr>
          <a:xfrm>
            <a:off x="8871639" y="47045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850" dirty="0"/>
          </a:p>
        </p:txBody>
      </p:sp>
      <p:sp>
        <p:nvSpPr>
          <p:cNvPr id="84" name="連接線"/>
          <p:cNvSpPr/>
          <p:nvPr/>
        </p:nvSpPr>
        <p:spPr>
          <a:xfrm>
            <a:off x="10412991" y="4325112"/>
            <a:ext cx="1060704" cy="292608"/>
          </a:xfrm>
          <a:custGeom>
            <a:avLst/>
            <a:gdLst/>
            <a:ahLst/>
            <a:cxnLst/>
            <a:rect l="l" t="t" r="r" b="b"/>
            <a:pathLst>
              <a:path w="1060704" h="292608">
                <a:moveTo>
                  <a:pt x="0" y="0"/>
                </a:moveTo>
                <a:lnTo>
                  <a:pt x="438912" y="0"/>
                </a:lnTo>
                <a:lnTo>
                  <a:pt x="438912" y="292608"/>
                </a:lnTo>
                <a:lnTo>
                  <a:pt x="1060704" y="292608"/>
                </a:lnTo>
              </a:path>
            </a:pathLst>
          </a:custGeom>
          <a:noFill/>
          <a:ln w="15875">
            <a:solidFill>
              <a:srgbClr val="C0504D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圖說"/>
          <p:cNvSpPr/>
          <p:nvPr/>
        </p:nvSpPr>
        <p:spPr>
          <a:xfrm>
            <a:off x="10271063" y="47045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850" dirty="0"/>
          </a:p>
        </p:txBody>
      </p:sp>
      <p:sp>
        <p:nvSpPr>
          <p:cNvPr id="86" name="線條"/>
          <p:cNvSpPr/>
          <p:nvPr/>
        </p:nvSpPr>
        <p:spPr>
          <a:xfrm>
            <a:off x="548640" y="487832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87" name="類別"/>
          <p:cNvSpPr/>
          <p:nvPr/>
        </p:nvSpPr>
        <p:spPr>
          <a:xfrm>
            <a:off x="548640" y="5088636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Circle / Badge / Tag</a:t>
            </a:r>
            <a:endParaRPr lang="en-US" sz="1400" dirty="0"/>
          </a:p>
        </p:txBody>
      </p:sp>
      <p:sp>
        <p:nvSpPr>
          <p:cNvPr id="88" name="光暈大圓"/>
          <p:cNvSpPr/>
          <p:nvPr/>
        </p:nvSpPr>
        <p:spPr>
          <a:xfrm>
            <a:off x="2263336" y="4928616"/>
            <a:ext cx="566928" cy="566928"/>
          </a:xfrm>
          <a:prstGeom prst="ellipse">
            <a:avLst/>
          </a:prstGeom>
          <a:solidFill>
            <a:srgbClr val="F2F2F2"/>
          </a:solidFill>
          <a:ln>
            <a:noFill/>
          </a:ln>
          <a:effectLst>
            <a:outerShdw blurRad="85344" dist="15240" dir="5400000" sx="100840" sy="10084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圖說"/>
          <p:cNvSpPr/>
          <p:nvPr/>
        </p:nvSpPr>
        <p:spPr>
          <a:xfrm>
            <a:off x="1874520" y="55275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85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3607896" y="4873752"/>
            <a:ext cx="676656" cy="676656"/>
            <a:chOff x="3607896" y="4873752"/>
            <a:chExt cx="676656" cy="676656"/>
          </a:xfrm>
        </p:grpSpPr>
        <p:sp>
          <p:nvSpPr>
            <p:cNvPr id="90" name="外圈細環"/>
            <p:cNvSpPr/>
            <p:nvPr/>
          </p:nvSpPr>
          <p:spPr>
            <a:xfrm>
              <a:off x="3607896" y="4873752"/>
              <a:ext cx="676656" cy="676656"/>
            </a:xfrm>
            <a:prstGeom prst="ellipse">
              <a:avLst/>
            </a:prstGeom>
            <a:noFill/>
            <a:ln w="9525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1" name="光暈大圓"/>
            <p:cNvSpPr/>
            <p:nvPr/>
          </p:nvSpPr>
          <p:spPr>
            <a:xfrm>
              <a:off x="3662760" y="4928616"/>
              <a:ext cx="566928" cy="56692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>
              <a:outerShdw blurRad="85344" dist="15240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2" name="圖說"/>
          <p:cNvSpPr/>
          <p:nvPr/>
        </p:nvSpPr>
        <p:spPr>
          <a:xfrm>
            <a:off x="3273944" y="55275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850" dirty="0"/>
          </a:p>
        </p:txBody>
      </p:sp>
      <p:sp>
        <p:nvSpPr>
          <p:cNvPr id="93" name="外框圓"/>
          <p:cNvSpPr/>
          <p:nvPr/>
        </p:nvSpPr>
        <p:spPr>
          <a:xfrm>
            <a:off x="5062184" y="4928616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圖說"/>
          <p:cNvSpPr/>
          <p:nvPr/>
        </p:nvSpPr>
        <p:spPr>
          <a:xfrm>
            <a:off x="4673368" y="55275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85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6166714" y="5106375"/>
            <a:ext cx="1156716" cy="211409"/>
            <a:chOff x="6166714" y="5106375"/>
            <a:chExt cx="1156716" cy="211409"/>
          </a:xfrm>
        </p:grpSpPr>
        <p:sp>
          <p:nvSpPr>
            <p:cNvPr id="95" name="編號"/>
            <p:cNvSpPr/>
            <p:nvPr/>
          </p:nvSpPr>
          <p:spPr>
            <a:xfrm>
              <a:off x="6166714" y="5106375"/>
              <a:ext cx="388620" cy="211409"/>
            </a:xfrm>
            <a:prstGeom prst="roundRect">
              <a:avLst>
                <a:gd name="adj" fmla="val 50000"/>
              </a:avLst>
            </a:prstGeom>
            <a:solidFill>
              <a:srgbClr val="2F4B6E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01</a:t>
              </a:r>
              <a:endParaRPr lang="en-US" sz="800" dirty="0"/>
            </a:p>
          </p:txBody>
        </p:sp>
        <p:sp>
          <p:nvSpPr>
            <p:cNvPr id="96" name="編號"/>
            <p:cNvSpPr/>
            <p:nvPr/>
          </p:nvSpPr>
          <p:spPr>
            <a:xfrm>
              <a:off x="6550762" y="5106375"/>
              <a:ext cx="388620" cy="211409"/>
            </a:xfrm>
            <a:prstGeom prst="roundRect">
              <a:avLst>
                <a:gd name="adj" fmla="val 50000"/>
              </a:avLst>
            </a:prstGeom>
            <a:solidFill>
              <a:srgbClr val="2F4B6E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02</a:t>
              </a:r>
              <a:endParaRPr lang="en-US" sz="800" dirty="0"/>
            </a:p>
          </p:txBody>
        </p:sp>
        <p:sp>
          <p:nvSpPr>
            <p:cNvPr id="97" name="編號"/>
            <p:cNvSpPr/>
            <p:nvPr/>
          </p:nvSpPr>
          <p:spPr>
            <a:xfrm>
              <a:off x="6934810" y="5106375"/>
              <a:ext cx="388620" cy="211409"/>
            </a:xfrm>
            <a:prstGeom prst="roundRect">
              <a:avLst>
                <a:gd name="adj" fmla="val 50000"/>
              </a:avLst>
            </a:prstGeom>
            <a:solidFill>
              <a:srgbClr val="E3E8EF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03</a:t>
              </a:r>
              <a:endParaRPr lang="en-US" sz="800" dirty="0"/>
            </a:p>
          </p:txBody>
        </p:sp>
      </p:grpSp>
      <p:sp>
        <p:nvSpPr>
          <p:cNvPr id="98" name="圖說"/>
          <p:cNvSpPr/>
          <p:nvPr/>
        </p:nvSpPr>
        <p:spPr>
          <a:xfrm>
            <a:off x="6072792" y="55275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850" dirty="0"/>
          </a:p>
        </p:txBody>
      </p:sp>
      <p:sp>
        <p:nvSpPr>
          <p:cNvPr id="99" name="標籤"/>
          <p:cNvSpPr/>
          <p:nvPr/>
        </p:nvSpPr>
        <p:spPr>
          <a:xfrm>
            <a:off x="7742200" y="5065776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100" dirty="0"/>
          </a:p>
        </p:txBody>
      </p:sp>
      <p:sp>
        <p:nvSpPr>
          <p:cNvPr id="100" name="圖說"/>
          <p:cNvSpPr/>
          <p:nvPr/>
        </p:nvSpPr>
        <p:spPr>
          <a:xfrm>
            <a:off x="7472216" y="55275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850" dirty="0"/>
          </a:p>
        </p:txBody>
      </p:sp>
      <p:grpSp>
        <p:nvGrpSpPr>
          <p:cNvPr id="5006" name="淺色／灰階標籤"/>
          <p:cNvGrpSpPr/>
          <p:nvPr/>
        </p:nvGrpSpPr>
        <p:grpSpPr>
          <a:xfrm>
            <a:off x="8990199" y="5074920"/>
            <a:ext cx="1107440" cy="274320"/>
            <a:chOff x="8990199" y="5074920"/>
            <a:chExt cx="1107440" cy="274320"/>
          </a:xfrm>
        </p:grpSpPr>
        <p:sp>
          <p:nvSpPr>
            <p:cNvPr id="101" name="標籤"/>
            <p:cNvSpPr/>
            <p:nvPr/>
          </p:nvSpPr>
          <p:spPr>
            <a:xfrm>
              <a:off x="8990199" y="5074920"/>
              <a:ext cx="517144" cy="274320"/>
            </a:xfrm>
            <a:prstGeom prst="roundRect">
              <a:avLst>
                <a:gd name="adj" fmla="val 50000"/>
              </a:avLst>
            </a:prstGeom>
            <a:solidFill>
              <a:srgbClr val="E3E8EF"/>
            </a:solidFill>
            <a:ln>
              <a:noFill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1100" dirty="0"/>
            </a:p>
          </p:txBody>
        </p:sp>
        <p:sp>
          <p:nvSpPr>
            <p:cNvPr id="102" name="標籤"/>
            <p:cNvSpPr/>
            <p:nvPr/>
          </p:nvSpPr>
          <p:spPr>
            <a:xfrm>
              <a:off x="9580495" y="5074920"/>
              <a:ext cx="517144" cy="274320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1100" dirty="0"/>
            </a:p>
          </p:txBody>
        </p:sp>
      </p:grpSp>
      <p:sp>
        <p:nvSpPr>
          <p:cNvPr id="103" name="圖說"/>
          <p:cNvSpPr/>
          <p:nvPr/>
        </p:nvSpPr>
        <p:spPr>
          <a:xfrm>
            <a:off x="8871639" y="55275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850" dirty="0"/>
          </a:p>
        </p:txBody>
      </p:sp>
      <p:grpSp>
        <p:nvGrpSpPr>
          <p:cNvPr id="5007" name="小圓點"/>
          <p:cNvGrpSpPr/>
          <p:nvPr/>
        </p:nvGrpSpPr>
        <p:grpSpPr>
          <a:xfrm>
            <a:off x="10600443" y="5143500"/>
            <a:ext cx="685800" cy="137160"/>
            <a:chOff x="10600443" y="5143500"/>
            <a:chExt cx="685800" cy="137160"/>
          </a:xfrm>
        </p:grpSpPr>
        <p:sp>
          <p:nvSpPr>
            <p:cNvPr id="104" name="圓點"/>
            <p:cNvSpPr/>
            <p:nvPr/>
          </p:nvSpPr>
          <p:spPr>
            <a:xfrm>
              <a:off x="10600443" y="5143500"/>
              <a:ext cx="137160" cy="137160"/>
            </a:xfrm>
            <a:prstGeom prst="ellipse">
              <a:avLst/>
            </a:prstGeom>
            <a:solidFill>
              <a:srgbClr val="2F4B6E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5" name="圓點"/>
            <p:cNvSpPr/>
            <p:nvPr/>
          </p:nvSpPr>
          <p:spPr>
            <a:xfrm>
              <a:off x="10874763" y="5143500"/>
              <a:ext cx="137160" cy="137160"/>
            </a:xfrm>
            <a:prstGeom prst="ellipse">
              <a:avLst/>
            </a:prstGeom>
            <a:solidFill>
              <a:srgbClr val="2F4B6E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6" name="圓點"/>
            <p:cNvSpPr/>
            <p:nvPr/>
          </p:nvSpPr>
          <p:spPr>
            <a:xfrm>
              <a:off x="11149083" y="5143500"/>
              <a:ext cx="137160" cy="13716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7" name="圖說"/>
          <p:cNvSpPr/>
          <p:nvPr/>
        </p:nvSpPr>
        <p:spPr>
          <a:xfrm>
            <a:off x="10271063" y="55275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850" dirty="0"/>
          </a:p>
        </p:txBody>
      </p:sp>
      <p:sp>
        <p:nvSpPr>
          <p:cNvPr id="108" name="線條"/>
          <p:cNvSpPr/>
          <p:nvPr/>
        </p:nvSpPr>
        <p:spPr>
          <a:xfrm>
            <a:off x="548640" y="570128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109" name="類別"/>
          <p:cNvSpPr/>
          <p:nvPr/>
        </p:nvSpPr>
        <p:spPr>
          <a:xfrm>
            <a:off x="548640" y="5838444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</a:t>
            </a:r>
            <a:endParaRPr lang="en-US" sz="1400" dirty="0"/>
          </a:p>
        </p:txBody>
      </p:sp>
      <p:grpSp>
        <p:nvGrpSpPr>
          <p:cNvPr id="5008" name="虛線群組框"/>
          <p:cNvGrpSpPr/>
          <p:nvPr/>
        </p:nvGrpSpPr>
        <p:grpSpPr>
          <a:xfrm>
            <a:off x="1998160" y="5724144"/>
            <a:ext cx="1097280" cy="448056"/>
            <a:chOff x="1998160" y="5724144"/>
            <a:chExt cx="1097280" cy="448056"/>
          </a:xfrm>
        </p:grpSpPr>
        <p:sp>
          <p:nvSpPr>
            <p:cNvPr id="110" name="群組框"/>
            <p:cNvSpPr/>
            <p:nvPr/>
          </p:nvSpPr>
          <p:spPr>
            <a:xfrm>
              <a:off x="1998160" y="5806440"/>
              <a:ext cx="1097280" cy="365760"/>
            </a:xfrm>
            <a:prstGeom prst="roundRect">
              <a:avLst>
                <a:gd name="adj" fmla="val 25000"/>
              </a:avLst>
            </a:prstGeom>
            <a:noFill/>
            <a:ln w="9525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1" name="群組名稱"/>
            <p:cNvSpPr/>
            <p:nvPr/>
          </p:nvSpPr>
          <p:spPr>
            <a:xfrm>
              <a:off x="2089600" y="5724144"/>
              <a:ext cx="566928" cy="1645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800" dirty="0"/>
            </a:p>
          </p:txBody>
        </p:sp>
      </p:grpSp>
      <p:sp>
        <p:nvSpPr>
          <p:cNvPr id="112" name="圖說"/>
          <p:cNvSpPr/>
          <p:nvPr/>
        </p:nvSpPr>
        <p:spPr>
          <a:xfrm>
            <a:off x="1874520" y="62042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850" dirty="0"/>
          </a:p>
        </p:txBody>
      </p:sp>
      <p:sp>
        <p:nvSpPr>
          <p:cNvPr id="113" name="淺灰面板"/>
          <p:cNvSpPr/>
          <p:nvPr/>
        </p:nvSpPr>
        <p:spPr>
          <a:xfrm>
            <a:off x="3397584" y="5751576"/>
            <a:ext cx="1097280" cy="420624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圖說"/>
          <p:cNvSpPr/>
          <p:nvPr/>
        </p:nvSpPr>
        <p:spPr>
          <a:xfrm>
            <a:off x="3273944" y="62042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850" dirty="0"/>
          </a:p>
        </p:txBody>
      </p:sp>
      <p:sp>
        <p:nvSpPr>
          <p:cNvPr id="115" name="卡片"/>
          <p:cNvSpPr/>
          <p:nvPr/>
        </p:nvSpPr>
        <p:spPr>
          <a:xfrm>
            <a:off x="4797008" y="5751576"/>
            <a:ext cx="1097280" cy="420624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4673368" y="62042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850" dirty="0"/>
          </a:p>
        </p:txBody>
      </p:sp>
      <p:sp>
        <p:nvSpPr>
          <p:cNvPr id="117" name="卡片"/>
          <p:cNvSpPr/>
          <p:nvPr/>
        </p:nvSpPr>
        <p:spPr>
          <a:xfrm>
            <a:off x="6196432" y="5751576"/>
            <a:ext cx="1097280" cy="420624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6072792" y="62042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850" dirty="0"/>
          </a:p>
        </p:txBody>
      </p:sp>
      <p:grpSp>
        <p:nvGrpSpPr>
          <p:cNvPr id="5009" name="表頭色帶卡"/>
          <p:cNvGrpSpPr/>
          <p:nvPr/>
        </p:nvGrpSpPr>
        <p:grpSpPr>
          <a:xfrm>
            <a:off x="7595855" y="5751576"/>
            <a:ext cx="1097280" cy="420624"/>
            <a:chOff x="7595855" y="5751576"/>
            <a:chExt cx="1097280" cy="420624"/>
          </a:xfrm>
        </p:grpSpPr>
        <p:sp>
          <p:nvSpPr>
            <p:cNvPr id="119" name="卡片"/>
            <p:cNvSpPr/>
            <p:nvPr/>
          </p:nvSpPr>
          <p:spPr>
            <a:xfrm>
              <a:off x="7595855" y="5751576"/>
              <a:ext cx="1097280" cy="420624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0" name="表頭"/>
            <p:cNvSpPr/>
            <p:nvPr/>
          </p:nvSpPr>
          <p:spPr>
            <a:xfrm>
              <a:off x="7595855" y="5751576"/>
              <a:ext cx="1097280" cy="146304"/>
            </a:xfrm>
            <a:custGeom>
              <a:avLst/>
              <a:gdLst/>
              <a:ahLst/>
              <a:cxnLst/>
              <a:rect l="l" t="t" r="r" b="b"/>
              <a:pathLst>
                <a:path w="1097280" h="146304">
                  <a:moveTo>
                    <a:pt x="0" y="146304"/>
                  </a:moveTo>
                  <a:lnTo>
                    <a:pt x="0" y="91440"/>
                  </a:lnTo>
                  <a:arcTo hR="91440" wR="91440" stAng="10800000" swAng="5400000"/>
                  <a:lnTo>
                    <a:pt x="1005840" y="0"/>
                  </a:lnTo>
                  <a:arcTo hR="91440" wR="91440" stAng="16200000" swAng="5400000"/>
                  <a:lnTo>
                    <a:pt x="1097280" y="146304"/>
                  </a:lnTo>
                  <a:close/>
                </a:path>
              </a:pathLst>
            </a:custGeom>
            <a:solidFill>
              <a:srgbClr val="2F4B6E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1" name="圖說"/>
          <p:cNvSpPr/>
          <p:nvPr/>
        </p:nvSpPr>
        <p:spPr>
          <a:xfrm>
            <a:off x="7472216" y="62042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850" dirty="0"/>
          </a:p>
        </p:txBody>
      </p:sp>
      <p:grpSp>
        <p:nvGrpSpPr>
          <p:cNvPr id="5010" name="頂邊／側邊色條"/>
          <p:cNvGrpSpPr/>
          <p:nvPr/>
        </p:nvGrpSpPr>
        <p:grpSpPr>
          <a:xfrm>
            <a:off x="8995279" y="5751576"/>
            <a:ext cx="1097280" cy="420624"/>
            <a:chOff x="8995279" y="5751576"/>
            <a:chExt cx="1097280" cy="420624"/>
          </a:xfrm>
        </p:grpSpPr>
        <p:sp>
          <p:nvSpPr>
            <p:cNvPr id="122" name="卡片"/>
            <p:cNvSpPr/>
            <p:nvPr/>
          </p:nvSpPr>
          <p:spPr>
            <a:xfrm>
              <a:off x="8995279" y="5751576"/>
              <a:ext cx="1097280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3" name="側邊色條"/>
            <p:cNvSpPr/>
            <p:nvPr/>
          </p:nvSpPr>
          <p:spPr>
            <a:xfrm>
              <a:off x="8995279" y="5751576"/>
              <a:ext cx="54864" cy="420624"/>
            </a:xfrm>
            <a:prstGeom prst="rect">
              <a:avLst/>
            </a:prstGeom>
            <a:solidFill>
              <a:srgbClr val="2F4B6E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4" name="圖說"/>
          <p:cNvSpPr/>
          <p:nvPr/>
        </p:nvSpPr>
        <p:spPr>
          <a:xfrm>
            <a:off x="8871639" y="62042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850" dirty="0"/>
          </a:p>
        </p:txBody>
      </p:sp>
      <p:grpSp>
        <p:nvGrpSpPr>
          <p:cNvPr id="5011" name="半透明寬欄條"/>
          <p:cNvGrpSpPr/>
          <p:nvPr/>
        </p:nvGrpSpPr>
        <p:grpSpPr>
          <a:xfrm>
            <a:off x="10577583" y="5751576"/>
            <a:ext cx="731520" cy="420624"/>
            <a:chOff x="10577583" y="5751576"/>
            <a:chExt cx="731520" cy="420624"/>
          </a:xfrm>
        </p:grpSpPr>
        <p:sp>
          <p:nvSpPr>
            <p:cNvPr id="125" name="寬欄條"/>
            <p:cNvSpPr/>
            <p:nvPr/>
          </p:nvSpPr>
          <p:spPr>
            <a:xfrm>
              <a:off x="10577583" y="5751576"/>
              <a:ext cx="310896" cy="420624"/>
            </a:xfrm>
            <a:prstGeom prst="roundRect">
              <a:avLst>
                <a:gd name="adj" fmla="val 29412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6" name="寬欄條"/>
            <p:cNvSpPr/>
            <p:nvPr/>
          </p:nvSpPr>
          <p:spPr>
            <a:xfrm>
              <a:off x="10998207" y="5751576"/>
              <a:ext cx="310896" cy="420624"/>
            </a:xfrm>
            <a:prstGeom prst="roundRect">
              <a:avLst>
                <a:gd name="adj" fmla="val 29412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7" name="圖說"/>
          <p:cNvSpPr/>
          <p:nvPr/>
        </p:nvSpPr>
        <p:spPr>
          <a:xfrm>
            <a:off x="10271063" y="62042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850" dirty="0"/>
          </a:p>
        </p:txBody>
      </p:sp>
      <p:sp>
        <p:nvSpPr>
          <p:cNvPr id="128" name="線條"/>
          <p:cNvSpPr/>
          <p:nvPr/>
        </p:nvSpPr>
        <p:spPr>
          <a:xfrm>
            <a:off x="1737360" y="1700784"/>
            <a:ext cx="0" cy="4626864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65760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《常見組合 Common Patterns》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已排好、已連線的流程小組合：整組複製即可使用（純流程圖語意）</a:t>
            </a:r>
            <a:endParaRPr lang="en-US" sz="1500" dirty="0"/>
          </a:p>
        </p:txBody>
      </p:sp>
      <p:sp>
        <p:nvSpPr>
          <p:cNvPr id="4" name="線條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58468"/>
            <a:ext cx="1005840" cy="45720"/>
          </a:xfrm>
          <a:prstGeom prst="rect">
            <a:avLst/>
          </a:prstGeom>
          <a:solidFill>
            <a:srgbClr val="2F4B6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組合名稱"/>
          <p:cNvSpPr/>
          <p:nvPr/>
        </p:nvSpPr>
        <p:spPr>
          <a:xfrm>
            <a:off x="548640" y="1737360"/>
            <a:ext cx="262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Linear Process</a:t>
            </a:r>
            <a:endParaRPr lang="en-US" sz="1400" dirty="0"/>
          </a:p>
        </p:txBody>
      </p:sp>
      <p:sp>
        <p:nvSpPr>
          <p:cNvPr id="7" name="線條"/>
          <p:cNvSpPr/>
          <p:nvPr/>
        </p:nvSpPr>
        <p:spPr>
          <a:xfrm>
            <a:off x="548640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548640" y="2314895"/>
            <a:ext cx="2622728" cy="739201"/>
            <a:chOff x="548640" y="2314895"/>
            <a:chExt cx="2622728" cy="739201"/>
          </a:xfrm>
        </p:grpSpPr>
        <p:sp>
          <p:nvSpPr>
            <p:cNvPr id="8" name="處理"/>
            <p:cNvSpPr/>
            <p:nvPr/>
          </p:nvSpPr>
          <p:spPr>
            <a:xfrm>
              <a:off x="548640" y="2670048"/>
              <a:ext cx="676656" cy="38404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1050" dirty="0"/>
            </a:p>
          </p:txBody>
        </p:sp>
        <p:sp>
          <p:nvSpPr>
            <p:cNvPr id="9" name="編號"/>
            <p:cNvSpPr/>
            <p:nvPr/>
          </p:nvSpPr>
          <p:spPr>
            <a:xfrm>
              <a:off x="738378" y="2314895"/>
              <a:ext cx="297180" cy="161666"/>
            </a:xfrm>
            <a:prstGeom prst="roundRect">
              <a:avLst>
                <a:gd name="adj" fmla="val 50000"/>
              </a:avLst>
            </a:prstGeom>
            <a:solidFill>
              <a:srgbClr val="2F4B6E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01</a:t>
              </a:r>
              <a:endParaRPr lang="en-US" sz="700" dirty="0"/>
            </a:p>
          </p:txBody>
        </p:sp>
        <p:sp>
          <p:nvSpPr>
            <p:cNvPr id="10" name="處理"/>
            <p:cNvSpPr/>
            <p:nvPr/>
          </p:nvSpPr>
          <p:spPr>
            <a:xfrm>
              <a:off x="1521676" y="2670048"/>
              <a:ext cx="676656" cy="38404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1050" dirty="0"/>
            </a:p>
          </p:txBody>
        </p:sp>
        <p:sp>
          <p:nvSpPr>
            <p:cNvPr id="11" name="編號"/>
            <p:cNvSpPr/>
            <p:nvPr/>
          </p:nvSpPr>
          <p:spPr>
            <a:xfrm>
              <a:off x="1711414" y="2314895"/>
              <a:ext cx="297180" cy="161666"/>
            </a:xfrm>
            <a:prstGeom prst="roundRect">
              <a:avLst>
                <a:gd name="adj" fmla="val 50000"/>
              </a:avLst>
            </a:prstGeom>
            <a:solidFill>
              <a:srgbClr val="2F4B6E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02</a:t>
              </a:r>
              <a:endParaRPr lang="en-US" sz="700" dirty="0"/>
            </a:p>
          </p:txBody>
        </p:sp>
        <p:sp>
          <p:nvSpPr>
            <p:cNvPr id="12" name="處理"/>
            <p:cNvSpPr/>
            <p:nvPr/>
          </p:nvSpPr>
          <p:spPr>
            <a:xfrm>
              <a:off x="2494712" y="2670048"/>
              <a:ext cx="676656" cy="384048"/>
            </a:xfrm>
            <a:prstGeom prst="roundRect">
              <a:avLst>
                <a:gd name="adj" fmla="val 23810"/>
              </a:avLst>
            </a:prstGeom>
            <a:solidFill>
              <a:srgbClr val="2F4B6E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1050" dirty="0"/>
            </a:p>
          </p:txBody>
        </p:sp>
        <p:sp>
          <p:nvSpPr>
            <p:cNvPr id="13" name="編號"/>
            <p:cNvSpPr/>
            <p:nvPr/>
          </p:nvSpPr>
          <p:spPr>
            <a:xfrm>
              <a:off x="2684450" y="2314895"/>
              <a:ext cx="297180" cy="161666"/>
            </a:xfrm>
            <a:prstGeom prst="roundRect">
              <a:avLst>
                <a:gd name="adj" fmla="val 50000"/>
              </a:avLst>
            </a:prstGeom>
            <a:solidFill>
              <a:srgbClr val="2F4B6E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03</a:t>
              </a:r>
              <a:endParaRPr lang="en-US" sz="700" dirty="0"/>
            </a:p>
          </p:txBody>
        </p:sp>
        <p:cxnSp>
          <p:nvCxnSpPr>
            <p:cNvPr id="14" name="連接線"/>
            <p:cNvCxnSpPr>
              <a:stCxn id="8" idx="3"/>
              <a:endCxn id="10" idx="1"/>
            </p:cNvCxnSpPr>
            <p:nvPr/>
          </p:nvCxnSpPr>
          <p:spPr>
            <a:xfrm>
              <a:off x="1225296" y="2862072"/>
              <a:ext cx="29638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15" name="連接線"/>
            <p:cNvCxnSpPr>
              <a:stCxn id="10" idx="3"/>
              <a:endCxn id="12" idx="1"/>
            </p:cNvCxnSpPr>
            <p:nvPr/>
          </p:nvCxnSpPr>
          <p:spPr>
            <a:xfrm>
              <a:off x="2198332" y="2862072"/>
              <a:ext cx="29638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</p:grpSp>
      <p:sp>
        <p:nvSpPr>
          <p:cNvPr id="16" name="組合名稱"/>
          <p:cNvSpPr/>
          <p:nvPr/>
        </p:nvSpPr>
        <p:spPr>
          <a:xfrm>
            <a:off x="3372536" y="1737360"/>
            <a:ext cx="262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Decision Branch</a:t>
            </a:r>
            <a:endParaRPr lang="en-US" sz="1400" dirty="0"/>
          </a:p>
        </p:txBody>
      </p:sp>
      <p:sp>
        <p:nvSpPr>
          <p:cNvPr id="17" name="線條"/>
          <p:cNvSpPr/>
          <p:nvPr/>
        </p:nvSpPr>
        <p:spPr>
          <a:xfrm>
            <a:off x="3372536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3372536" y="2221992"/>
            <a:ext cx="2622728" cy="1417320"/>
            <a:chOff x="3372536" y="2221992"/>
            <a:chExt cx="2622728" cy="1417320"/>
          </a:xfrm>
        </p:grpSpPr>
        <p:sp>
          <p:nvSpPr>
            <p:cNvPr id="18" name="處理"/>
            <p:cNvSpPr/>
            <p:nvPr/>
          </p:nvSpPr>
          <p:spPr>
            <a:xfrm>
              <a:off x="3372536" y="2322576"/>
              <a:ext cx="658368" cy="38404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1050" dirty="0"/>
            </a:p>
          </p:txBody>
        </p:sp>
        <p:sp>
          <p:nvSpPr>
            <p:cNvPr id="19" name="判斷"/>
            <p:cNvSpPr/>
            <p:nvPr/>
          </p:nvSpPr>
          <p:spPr>
            <a:xfrm>
              <a:off x="4268648" y="2221992"/>
              <a:ext cx="768096" cy="585216"/>
            </a:xfrm>
            <a:prstGeom prst="diamond">
              <a:avLst/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950" dirty="0"/>
            </a:p>
          </p:txBody>
        </p:sp>
        <p:cxnSp>
          <p:nvCxnSpPr>
            <p:cNvPr id="20" name="連接線"/>
            <p:cNvCxnSpPr>
              <a:stCxn id="18" idx="3"/>
              <a:endCxn id="19" idx="1"/>
            </p:cNvCxnSpPr>
            <p:nvPr/>
          </p:nvCxnSpPr>
          <p:spPr>
            <a:xfrm>
              <a:off x="4030904" y="2514600"/>
              <a:ext cx="237744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sp>
          <p:nvSpPr>
            <p:cNvPr id="21" name="處理"/>
            <p:cNvSpPr/>
            <p:nvPr/>
          </p:nvSpPr>
          <p:spPr>
            <a:xfrm>
              <a:off x="5318608" y="2322576"/>
              <a:ext cx="676656" cy="384048"/>
            </a:xfrm>
            <a:prstGeom prst="roundRect">
              <a:avLst>
                <a:gd name="adj" fmla="val 23810"/>
              </a:avLst>
            </a:prstGeom>
            <a:solidFill>
              <a:srgbClr val="2F4B6E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1050" dirty="0"/>
            </a:p>
          </p:txBody>
        </p:sp>
        <p:cxnSp>
          <p:nvCxnSpPr>
            <p:cNvPr id="22" name="連接線"/>
            <p:cNvCxnSpPr>
              <a:stCxn id="19" idx="3"/>
              <a:endCxn id="21" idx="1"/>
            </p:cNvCxnSpPr>
            <p:nvPr/>
          </p:nvCxnSpPr>
          <p:spPr>
            <a:xfrm>
              <a:off x="5036744" y="2514600"/>
              <a:ext cx="281864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sp>
          <p:nvSpPr>
            <p:cNvPr id="23" name="標註"/>
            <p:cNvSpPr/>
            <p:nvPr/>
          </p:nvSpPr>
          <p:spPr>
            <a:xfrm>
              <a:off x="5036744" y="2295144"/>
              <a:ext cx="3657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850" dirty="0"/>
            </a:p>
          </p:txBody>
        </p:sp>
        <p:sp>
          <p:nvSpPr>
            <p:cNvPr id="24" name="處理"/>
            <p:cNvSpPr/>
            <p:nvPr/>
          </p:nvSpPr>
          <p:spPr>
            <a:xfrm>
              <a:off x="4314368" y="3255264"/>
              <a:ext cx="676656" cy="38404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1050" dirty="0"/>
            </a:p>
          </p:txBody>
        </p:sp>
        <p:cxnSp>
          <p:nvCxnSpPr>
            <p:cNvPr id="25" name="連接線"/>
            <p:cNvCxnSpPr>
              <a:stCxn id="19" idx="2"/>
              <a:endCxn id="24" idx="0"/>
            </p:cNvCxnSpPr>
            <p:nvPr/>
          </p:nvCxnSpPr>
          <p:spPr>
            <a:xfrm>
              <a:off x="4652696" y="2807208"/>
              <a:ext cx="0" cy="448056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sp>
          <p:nvSpPr>
            <p:cNvPr id="26" name="標註"/>
            <p:cNvSpPr/>
            <p:nvPr/>
          </p:nvSpPr>
          <p:spPr>
            <a:xfrm>
              <a:off x="4670984" y="2843784"/>
              <a:ext cx="2743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850" dirty="0"/>
            </a:p>
          </p:txBody>
        </p:sp>
      </p:grpSp>
      <p:sp>
        <p:nvSpPr>
          <p:cNvPr id="27" name="組合名稱"/>
          <p:cNvSpPr/>
          <p:nvPr/>
        </p:nvSpPr>
        <p:spPr>
          <a:xfrm>
            <a:off x="6196432" y="1737360"/>
            <a:ext cx="262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Exception Return</a:t>
            </a:r>
            <a:endParaRPr lang="en-US" sz="1400" dirty="0"/>
          </a:p>
        </p:txBody>
      </p:sp>
      <p:sp>
        <p:nvSpPr>
          <p:cNvPr id="28" name="線條"/>
          <p:cNvSpPr/>
          <p:nvPr/>
        </p:nvSpPr>
        <p:spPr>
          <a:xfrm>
            <a:off x="6196432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6196432" y="2432304"/>
            <a:ext cx="2622728" cy="987552"/>
            <a:chOff x="6196432" y="2432304"/>
            <a:chExt cx="2622728" cy="987552"/>
          </a:xfrm>
        </p:grpSpPr>
        <p:sp>
          <p:nvSpPr>
            <p:cNvPr id="29" name="處理"/>
            <p:cNvSpPr/>
            <p:nvPr/>
          </p:nvSpPr>
          <p:spPr>
            <a:xfrm>
              <a:off x="6196432" y="2432304"/>
              <a:ext cx="676656" cy="38404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1050" dirty="0"/>
            </a:p>
          </p:txBody>
        </p:sp>
        <p:sp>
          <p:nvSpPr>
            <p:cNvPr id="30" name="處理"/>
            <p:cNvSpPr/>
            <p:nvPr/>
          </p:nvSpPr>
          <p:spPr>
            <a:xfrm>
              <a:off x="7169468" y="2432304"/>
              <a:ext cx="676656" cy="38404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1050" dirty="0"/>
            </a:p>
          </p:txBody>
        </p:sp>
        <p:sp>
          <p:nvSpPr>
            <p:cNvPr id="31" name="處理"/>
            <p:cNvSpPr/>
            <p:nvPr/>
          </p:nvSpPr>
          <p:spPr>
            <a:xfrm>
              <a:off x="8142503" y="2432304"/>
              <a:ext cx="676656" cy="384048"/>
            </a:xfrm>
            <a:prstGeom prst="roundRect">
              <a:avLst>
                <a:gd name="adj" fmla="val 23810"/>
              </a:avLst>
            </a:prstGeom>
            <a:solidFill>
              <a:srgbClr val="2F4B6E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1050" dirty="0"/>
            </a:p>
          </p:txBody>
        </p:sp>
        <p:cxnSp>
          <p:nvCxnSpPr>
            <p:cNvPr id="32" name="連接線"/>
            <p:cNvCxnSpPr>
              <a:stCxn id="29" idx="3"/>
              <a:endCxn id="30" idx="1"/>
            </p:cNvCxnSpPr>
            <p:nvPr/>
          </p:nvCxnSpPr>
          <p:spPr>
            <a:xfrm>
              <a:off x="6873088" y="2624328"/>
              <a:ext cx="29638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33" name="連接線"/>
            <p:cNvCxnSpPr>
              <a:stCxn id="30" idx="3"/>
              <a:endCxn id="31" idx="1"/>
            </p:cNvCxnSpPr>
            <p:nvPr/>
          </p:nvCxnSpPr>
          <p:spPr>
            <a:xfrm>
              <a:off x="7846124" y="2624328"/>
              <a:ext cx="29638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34" name="連接線"/>
            <p:cNvCxnSpPr>
              <a:stCxn id="30" idx="2"/>
              <a:endCxn id="29" idx="2"/>
            </p:cNvCxnSpPr>
            <p:nvPr/>
          </p:nvCxnSpPr>
          <p:spPr>
            <a:xfrm rot="5400000">
              <a:off x="7018534" y="2332577"/>
              <a:ext cx="5486" cy="973036"/>
            </a:xfrm>
            <a:prstGeom prst="bentConnector3">
              <a:avLst>
                <a:gd name="adj1" fmla="val 7000000"/>
              </a:avLst>
            </a:prstGeom>
            <a:ln w="15875">
              <a:solidFill>
                <a:srgbClr val="C0504D"/>
              </a:solidFill>
              <a:prstDash val="sysDash"/>
              <a:tailEnd type="triangle"/>
            </a:ln>
          </p:spPr>
        </p:cxnSp>
        <p:sp>
          <p:nvSpPr>
            <p:cNvPr id="35" name="標註"/>
            <p:cNvSpPr/>
            <p:nvPr/>
          </p:nvSpPr>
          <p:spPr>
            <a:xfrm>
              <a:off x="6534760" y="3236976"/>
              <a:ext cx="9730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850" dirty="0"/>
            </a:p>
          </p:txBody>
        </p:sp>
      </p:grpSp>
      <p:sp>
        <p:nvSpPr>
          <p:cNvPr id="36" name="組合名稱"/>
          <p:cNvSpPr/>
          <p:nvPr/>
        </p:nvSpPr>
        <p:spPr>
          <a:xfrm>
            <a:off x="9020327" y="1737360"/>
            <a:ext cx="262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Approval Loop</a:t>
            </a:r>
            <a:endParaRPr lang="en-US" sz="1400" dirty="0"/>
          </a:p>
        </p:txBody>
      </p:sp>
      <p:sp>
        <p:nvSpPr>
          <p:cNvPr id="37" name="線條"/>
          <p:cNvSpPr/>
          <p:nvPr/>
        </p:nvSpPr>
        <p:spPr>
          <a:xfrm>
            <a:off x="9020327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9020327" y="2121408"/>
            <a:ext cx="2622728" cy="1161288"/>
            <a:chOff x="9020327" y="2121408"/>
            <a:chExt cx="2622728" cy="1161288"/>
          </a:xfrm>
        </p:grpSpPr>
        <p:sp>
          <p:nvSpPr>
            <p:cNvPr id="38" name="處理"/>
            <p:cNvSpPr/>
            <p:nvPr/>
          </p:nvSpPr>
          <p:spPr>
            <a:xfrm>
              <a:off x="9020327" y="2816352"/>
              <a:ext cx="731520" cy="38404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1050" dirty="0"/>
            </a:p>
          </p:txBody>
        </p:sp>
        <p:sp>
          <p:nvSpPr>
            <p:cNvPr id="39" name="判斷"/>
            <p:cNvSpPr/>
            <p:nvPr/>
          </p:nvSpPr>
          <p:spPr>
            <a:xfrm>
              <a:off x="9934727" y="2734056"/>
              <a:ext cx="676656" cy="548640"/>
            </a:xfrm>
            <a:prstGeom prst="diamond">
              <a:avLst/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950" dirty="0"/>
            </a:p>
          </p:txBody>
        </p:sp>
        <p:cxnSp>
          <p:nvCxnSpPr>
            <p:cNvPr id="40" name="連接線"/>
            <p:cNvCxnSpPr>
              <a:stCxn id="38" idx="3"/>
              <a:endCxn id="39" idx="1"/>
            </p:cNvCxnSpPr>
            <p:nvPr/>
          </p:nvCxnSpPr>
          <p:spPr>
            <a:xfrm>
              <a:off x="9751847" y="3008376"/>
              <a:ext cx="18288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sp>
          <p:nvSpPr>
            <p:cNvPr id="41" name="處理"/>
            <p:cNvSpPr/>
            <p:nvPr/>
          </p:nvSpPr>
          <p:spPr>
            <a:xfrm>
              <a:off x="11076127" y="2816352"/>
              <a:ext cx="566928" cy="384048"/>
            </a:xfrm>
            <a:prstGeom prst="roundRect">
              <a:avLst>
                <a:gd name="adj" fmla="val 23810"/>
              </a:avLst>
            </a:prstGeom>
            <a:solidFill>
              <a:srgbClr val="2F4B6E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1050" dirty="0"/>
            </a:p>
          </p:txBody>
        </p:sp>
        <p:cxnSp>
          <p:nvCxnSpPr>
            <p:cNvPr id="42" name="連接線"/>
            <p:cNvCxnSpPr>
              <a:stCxn id="39" idx="3"/>
              <a:endCxn id="41" idx="1"/>
            </p:cNvCxnSpPr>
            <p:nvPr/>
          </p:nvCxnSpPr>
          <p:spPr>
            <a:xfrm>
              <a:off x="10611383" y="3008376"/>
              <a:ext cx="464744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sp>
          <p:nvSpPr>
            <p:cNvPr id="43" name="標註"/>
            <p:cNvSpPr/>
            <p:nvPr/>
          </p:nvSpPr>
          <p:spPr>
            <a:xfrm>
              <a:off x="10611383" y="2788920"/>
              <a:ext cx="464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850" dirty="0"/>
            </a:p>
          </p:txBody>
        </p:sp>
        <p:cxnSp>
          <p:nvCxnSpPr>
            <p:cNvPr id="44" name="連接線"/>
            <p:cNvCxnSpPr>
              <a:stCxn id="39" idx="0"/>
              <a:endCxn id="38" idx="0"/>
            </p:cNvCxnSpPr>
            <p:nvPr/>
          </p:nvCxnSpPr>
          <p:spPr>
            <a:xfrm rot="5400000">
              <a:off x="9788423" y="2331720"/>
              <a:ext cx="82296" cy="886968"/>
            </a:xfrm>
            <a:prstGeom prst="bentConnector3">
              <a:avLst>
                <a:gd name="adj1" fmla="val -500000"/>
              </a:avLst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sp>
          <p:nvSpPr>
            <p:cNvPr id="45" name="標註"/>
            <p:cNvSpPr/>
            <p:nvPr/>
          </p:nvSpPr>
          <p:spPr>
            <a:xfrm>
              <a:off x="9404375" y="2121408"/>
              <a:ext cx="8686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850" dirty="0"/>
            </a:p>
          </p:txBody>
        </p:sp>
      </p:grpSp>
      <p:sp>
        <p:nvSpPr>
          <p:cNvPr id="46" name="組合名稱"/>
          <p:cNvSpPr/>
          <p:nvPr/>
        </p:nvSpPr>
        <p:spPr>
          <a:xfrm>
            <a:off x="548640" y="4041648"/>
            <a:ext cx="262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Swimlane</a:t>
            </a:r>
            <a:endParaRPr lang="en-US" sz="1400" dirty="0"/>
          </a:p>
        </p:txBody>
      </p:sp>
      <p:sp>
        <p:nvSpPr>
          <p:cNvPr id="47" name="線條"/>
          <p:cNvSpPr/>
          <p:nvPr/>
        </p:nvSpPr>
        <p:spPr>
          <a:xfrm>
            <a:off x="548640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548640" y="4443984"/>
            <a:ext cx="2622728" cy="1517904"/>
            <a:chOff x="548640" y="4443984"/>
            <a:chExt cx="2622728" cy="1517904"/>
          </a:xfrm>
        </p:grpSpPr>
        <p:sp>
          <p:nvSpPr>
            <p:cNvPr id="48" name="泳道"/>
            <p:cNvSpPr/>
            <p:nvPr/>
          </p:nvSpPr>
          <p:spPr>
            <a:xfrm>
              <a:off x="548640" y="4443984"/>
              <a:ext cx="2622728" cy="731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9" name="泳道標題"/>
            <p:cNvSpPr/>
            <p:nvPr/>
          </p:nvSpPr>
          <p:spPr>
            <a:xfrm>
              <a:off x="548640" y="4443984"/>
              <a:ext cx="420624" cy="73152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850" dirty="0"/>
            </a:p>
          </p:txBody>
        </p:sp>
        <p:sp>
          <p:nvSpPr>
            <p:cNvPr id="50" name="泳道"/>
            <p:cNvSpPr/>
            <p:nvPr/>
          </p:nvSpPr>
          <p:spPr>
            <a:xfrm>
              <a:off x="548640" y="5230368"/>
              <a:ext cx="2622728" cy="731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1" name="泳道標題"/>
            <p:cNvSpPr/>
            <p:nvPr/>
          </p:nvSpPr>
          <p:spPr>
            <a:xfrm>
              <a:off x="548640" y="5230368"/>
              <a:ext cx="420624" cy="73152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850" dirty="0"/>
            </a:p>
          </p:txBody>
        </p:sp>
        <p:sp>
          <p:nvSpPr>
            <p:cNvPr id="52" name="處理"/>
            <p:cNvSpPr/>
            <p:nvPr/>
          </p:nvSpPr>
          <p:spPr>
            <a:xfrm>
              <a:off x="1097280" y="4617720"/>
              <a:ext cx="640080" cy="38404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1050" dirty="0"/>
            </a:p>
          </p:txBody>
        </p:sp>
        <p:sp>
          <p:nvSpPr>
            <p:cNvPr id="53" name="處理"/>
            <p:cNvSpPr/>
            <p:nvPr/>
          </p:nvSpPr>
          <p:spPr>
            <a:xfrm>
              <a:off x="2011680" y="5404104"/>
              <a:ext cx="640080" cy="38404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050" dirty="0"/>
            </a:p>
          </p:txBody>
        </p:sp>
        <p:sp>
          <p:nvSpPr>
            <p:cNvPr id="54" name="處理"/>
            <p:cNvSpPr/>
            <p:nvPr/>
          </p:nvSpPr>
          <p:spPr>
            <a:xfrm>
              <a:off x="2458136" y="4617720"/>
              <a:ext cx="640080" cy="384048"/>
            </a:xfrm>
            <a:prstGeom prst="roundRect">
              <a:avLst>
                <a:gd name="adj" fmla="val 23810"/>
              </a:avLst>
            </a:prstGeom>
            <a:solidFill>
              <a:srgbClr val="2F4B6E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1050" dirty="0"/>
            </a:p>
          </p:txBody>
        </p:sp>
        <p:cxnSp>
          <p:nvCxnSpPr>
            <p:cNvPr id="55" name="連接線"/>
            <p:cNvCxnSpPr>
              <a:stCxn id="52" idx="3"/>
              <a:endCxn id="53" idx="0"/>
            </p:cNvCxnSpPr>
            <p:nvPr/>
          </p:nvCxnSpPr>
          <p:spPr>
            <a:xfrm>
              <a:off x="1737360" y="4809744"/>
              <a:ext cx="594360" cy="594360"/>
            </a:xfrm>
            <a:prstGeom prst="bentConnector2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56" name="連接線"/>
            <p:cNvCxnSpPr>
              <a:stCxn id="53" idx="3"/>
              <a:endCxn id="54" idx="2"/>
            </p:cNvCxnSpPr>
            <p:nvPr/>
          </p:nvCxnSpPr>
          <p:spPr>
            <a:xfrm flipV="1">
              <a:off x="2651760" y="5001768"/>
              <a:ext cx="126416" cy="594360"/>
            </a:xfrm>
            <a:prstGeom prst="bentConnector2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</p:grpSp>
      <p:sp>
        <p:nvSpPr>
          <p:cNvPr id="57" name="組合名稱"/>
          <p:cNvSpPr/>
          <p:nvPr/>
        </p:nvSpPr>
        <p:spPr>
          <a:xfrm>
            <a:off x="3372536" y="4041648"/>
            <a:ext cx="262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Parallel Split / Merge</a:t>
            </a:r>
            <a:endParaRPr lang="en-US" sz="1400" dirty="0"/>
          </a:p>
        </p:txBody>
      </p:sp>
      <p:sp>
        <p:nvSpPr>
          <p:cNvPr id="58" name="線條"/>
          <p:cNvSpPr/>
          <p:nvPr/>
        </p:nvSpPr>
        <p:spPr>
          <a:xfrm>
            <a:off x="3372536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3372536" y="4498848"/>
            <a:ext cx="2622728" cy="1353312"/>
            <a:chOff x="3372536" y="4498848"/>
            <a:chExt cx="2622728" cy="1353312"/>
          </a:xfrm>
        </p:grpSpPr>
        <p:sp>
          <p:nvSpPr>
            <p:cNvPr id="59" name="處理"/>
            <p:cNvSpPr/>
            <p:nvPr/>
          </p:nvSpPr>
          <p:spPr>
            <a:xfrm>
              <a:off x="3372536" y="4983480"/>
              <a:ext cx="512064" cy="38404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1050" dirty="0"/>
            </a:p>
          </p:txBody>
        </p:sp>
        <p:sp>
          <p:nvSpPr>
            <p:cNvPr id="60" name="分流"/>
            <p:cNvSpPr/>
            <p:nvPr/>
          </p:nvSpPr>
          <p:spPr>
            <a:xfrm>
              <a:off x="4067480" y="4498848"/>
              <a:ext cx="64008" cy="1353312"/>
            </a:xfrm>
            <a:prstGeom prst="rect">
              <a:avLst/>
            </a:prstGeom>
            <a:solidFill>
              <a:srgbClr val="2F4B6E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1" name="處理"/>
            <p:cNvSpPr/>
            <p:nvPr/>
          </p:nvSpPr>
          <p:spPr>
            <a:xfrm>
              <a:off x="4323512" y="4562856"/>
              <a:ext cx="676656" cy="38404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1050" dirty="0"/>
            </a:p>
          </p:txBody>
        </p:sp>
        <p:sp>
          <p:nvSpPr>
            <p:cNvPr id="62" name="處理"/>
            <p:cNvSpPr/>
            <p:nvPr/>
          </p:nvSpPr>
          <p:spPr>
            <a:xfrm>
              <a:off x="4323512" y="5404104"/>
              <a:ext cx="676656" cy="38404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1050" dirty="0"/>
            </a:p>
          </p:txBody>
        </p:sp>
        <p:sp>
          <p:nvSpPr>
            <p:cNvPr id="63" name="合流"/>
            <p:cNvSpPr/>
            <p:nvPr/>
          </p:nvSpPr>
          <p:spPr>
            <a:xfrm>
              <a:off x="5026000" y="4498848"/>
              <a:ext cx="64008" cy="1353312"/>
            </a:xfrm>
            <a:prstGeom prst="rect">
              <a:avLst/>
            </a:prstGeom>
            <a:solidFill>
              <a:srgbClr val="2F4B6E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4" name="處理"/>
            <p:cNvSpPr/>
            <p:nvPr/>
          </p:nvSpPr>
          <p:spPr>
            <a:xfrm>
              <a:off x="5428336" y="4983480"/>
              <a:ext cx="566928" cy="384048"/>
            </a:xfrm>
            <a:prstGeom prst="roundRect">
              <a:avLst>
                <a:gd name="adj" fmla="val 23810"/>
              </a:avLst>
            </a:prstGeom>
            <a:solidFill>
              <a:srgbClr val="2F4B6E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1050" dirty="0"/>
            </a:p>
          </p:txBody>
        </p:sp>
        <p:cxnSp>
          <p:nvCxnSpPr>
            <p:cNvPr id="65" name="連接線"/>
            <p:cNvCxnSpPr>
              <a:stCxn id="59" idx="3"/>
              <a:endCxn id="60" idx="1"/>
            </p:cNvCxnSpPr>
            <p:nvPr/>
          </p:nvCxnSpPr>
          <p:spPr>
            <a:xfrm>
              <a:off x="3884600" y="5175504"/>
              <a:ext cx="18288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66" name="連接線"/>
            <p:cNvCxnSpPr>
              <a:endCxn id="61" idx="1"/>
            </p:cNvCxnSpPr>
            <p:nvPr/>
          </p:nvCxnSpPr>
          <p:spPr>
            <a:xfrm>
              <a:off x="4131488" y="4754880"/>
              <a:ext cx="192024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67" name="連接線"/>
            <p:cNvCxnSpPr>
              <a:endCxn id="62" idx="1"/>
            </p:cNvCxnSpPr>
            <p:nvPr/>
          </p:nvCxnSpPr>
          <p:spPr>
            <a:xfrm>
              <a:off x="4131488" y="5596128"/>
              <a:ext cx="192024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68" name="連接線"/>
            <p:cNvCxnSpPr>
              <a:stCxn id="61" idx="3"/>
            </p:cNvCxnSpPr>
            <p:nvPr/>
          </p:nvCxnSpPr>
          <p:spPr>
            <a:xfrm>
              <a:off x="5000168" y="4754880"/>
              <a:ext cx="25832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69" name="連接線"/>
            <p:cNvCxnSpPr>
              <a:stCxn id="62" idx="3"/>
            </p:cNvCxnSpPr>
            <p:nvPr/>
          </p:nvCxnSpPr>
          <p:spPr>
            <a:xfrm>
              <a:off x="5000168" y="5596128"/>
              <a:ext cx="25832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70" name="連接線"/>
            <p:cNvCxnSpPr>
              <a:stCxn id="63" idx="3"/>
              <a:endCxn id="64" idx="1"/>
            </p:cNvCxnSpPr>
            <p:nvPr/>
          </p:nvCxnSpPr>
          <p:spPr>
            <a:xfrm>
              <a:off x="5090008" y="5175504"/>
              <a:ext cx="338328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</p:grpSp>
      <p:sp>
        <p:nvSpPr>
          <p:cNvPr id="71" name="組合名稱"/>
          <p:cNvSpPr/>
          <p:nvPr/>
        </p:nvSpPr>
        <p:spPr>
          <a:xfrm>
            <a:off x="6196432" y="4041648"/>
            <a:ext cx="262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Input / Process / Output</a:t>
            </a:r>
            <a:endParaRPr lang="en-US" sz="1400" dirty="0"/>
          </a:p>
        </p:txBody>
      </p:sp>
      <p:sp>
        <p:nvSpPr>
          <p:cNvPr id="72" name="線條"/>
          <p:cNvSpPr/>
          <p:nvPr/>
        </p:nvSpPr>
        <p:spPr>
          <a:xfrm>
            <a:off x="6196432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6150712" y="4818888"/>
            <a:ext cx="2714168" cy="777240"/>
            <a:chOff x="6150712" y="4818888"/>
            <a:chExt cx="2714168" cy="777240"/>
          </a:xfrm>
        </p:grpSpPr>
        <p:sp>
          <p:nvSpPr>
            <p:cNvPr id="73" name="輸入輸出"/>
            <p:cNvSpPr/>
            <p:nvPr/>
          </p:nvSpPr>
          <p:spPr>
            <a:xfrm>
              <a:off x="6196432" y="4864608"/>
              <a:ext cx="749808" cy="384048"/>
            </a:xfrm>
            <a:prstGeom prst="parallelogram">
              <a:avLst>
                <a:gd name="adj" fmla="val 42000"/>
              </a:avLst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1050" dirty="0"/>
            </a:p>
          </p:txBody>
        </p:sp>
        <p:sp>
          <p:nvSpPr>
            <p:cNvPr id="74" name="標註"/>
            <p:cNvSpPr/>
            <p:nvPr/>
          </p:nvSpPr>
          <p:spPr>
            <a:xfrm>
              <a:off x="6150712" y="5413248"/>
              <a:ext cx="8412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850" dirty="0"/>
            </a:p>
          </p:txBody>
        </p:sp>
        <p:sp>
          <p:nvSpPr>
            <p:cNvPr id="75" name="處理"/>
            <p:cNvSpPr/>
            <p:nvPr/>
          </p:nvSpPr>
          <p:spPr>
            <a:xfrm>
              <a:off x="7187756" y="4864608"/>
              <a:ext cx="640080" cy="384048"/>
            </a:xfrm>
            <a:prstGeom prst="roundRect">
              <a:avLst>
                <a:gd name="adj" fmla="val 23810"/>
              </a:avLst>
            </a:prstGeom>
            <a:solidFill>
              <a:srgbClr val="2F4B6E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1050" dirty="0"/>
            </a:p>
          </p:txBody>
        </p:sp>
        <p:sp>
          <p:nvSpPr>
            <p:cNvPr id="76" name="標註"/>
            <p:cNvSpPr/>
            <p:nvPr/>
          </p:nvSpPr>
          <p:spPr>
            <a:xfrm>
              <a:off x="7142036" y="541324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850" dirty="0"/>
            </a:p>
          </p:txBody>
        </p:sp>
        <p:sp>
          <p:nvSpPr>
            <p:cNvPr id="77" name="文件"/>
            <p:cNvSpPr/>
            <p:nvPr/>
          </p:nvSpPr>
          <p:spPr>
            <a:xfrm>
              <a:off x="8069351" y="4818888"/>
              <a:ext cx="749808" cy="475488"/>
            </a:xfrm>
            <a:prstGeom prst="flowChartDocument">
              <a:avLst/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0" rIns="38100" bIns="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1050" dirty="0"/>
            </a:p>
          </p:txBody>
        </p:sp>
        <p:sp>
          <p:nvSpPr>
            <p:cNvPr id="78" name="標註"/>
            <p:cNvSpPr/>
            <p:nvPr/>
          </p:nvSpPr>
          <p:spPr>
            <a:xfrm>
              <a:off x="8023631" y="5413248"/>
              <a:ext cx="8412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850" dirty="0"/>
            </a:p>
          </p:txBody>
        </p:sp>
        <p:cxnSp>
          <p:nvCxnSpPr>
            <p:cNvPr id="79" name="連接線"/>
            <p:cNvCxnSpPr>
              <a:stCxn id="73" idx="2"/>
              <a:endCxn id="75" idx="1"/>
            </p:cNvCxnSpPr>
            <p:nvPr/>
          </p:nvCxnSpPr>
          <p:spPr>
            <a:xfrm>
              <a:off x="6865590" y="5056632"/>
              <a:ext cx="322166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80" name="連接線"/>
            <p:cNvCxnSpPr>
              <a:stCxn id="75" idx="3"/>
              <a:endCxn id="77" idx="1"/>
            </p:cNvCxnSpPr>
            <p:nvPr/>
          </p:nvCxnSpPr>
          <p:spPr>
            <a:xfrm>
              <a:off x="7827836" y="5056632"/>
              <a:ext cx="241516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</p:grpSp>
      <p:sp>
        <p:nvSpPr>
          <p:cNvPr id="81" name="組合名稱"/>
          <p:cNvSpPr/>
          <p:nvPr/>
        </p:nvSpPr>
        <p:spPr>
          <a:xfrm>
            <a:off x="9020327" y="4041648"/>
            <a:ext cx="262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</a:t>
            </a:r>
            <a:endParaRPr lang="en-US" sz="1400" dirty="0"/>
          </a:p>
        </p:txBody>
      </p:sp>
      <p:sp>
        <p:nvSpPr>
          <p:cNvPr id="82" name="線條"/>
          <p:cNvSpPr/>
          <p:nvPr/>
        </p:nvSpPr>
        <p:spPr>
          <a:xfrm>
            <a:off x="9020327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9020327" y="4590288"/>
            <a:ext cx="2622728" cy="1188720"/>
            <a:chOff x="9020327" y="4590288"/>
            <a:chExt cx="2622728" cy="1188720"/>
          </a:xfrm>
        </p:grpSpPr>
        <p:sp>
          <p:nvSpPr>
            <p:cNvPr id="83" name="卡片"/>
            <p:cNvSpPr/>
            <p:nvPr/>
          </p:nvSpPr>
          <p:spPr>
            <a:xfrm>
              <a:off x="9020327" y="4590288"/>
              <a:ext cx="1078992" cy="1188720"/>
            </a:xfrm>
            <a:prstGeom prst="roundRect">
              <a:avLst>
                <a:gd name="adj" fmla="val 8475"/>
              </a:avLst>
            </a:prstGeom>
            <a:solidFill>
              <a:srgbClr val="F2F2F2"/>
            </a:solidFill>
            <a:ln>
              <a:noFill/>
            </a:ln>
            <a:effectLst>
              <a:outerShdw blurRad="88900" dist="2540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4" name="卡片標題"/>
            <p:cNvSpPr/>
            <p:nvPr/>
          </p:nvSpPr>
          <p:spPr>
            <a:xfrm>
              <a:off x="9148343" y="4700016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8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Before</a:t>
              </a:r>
              <a:endParaRPr lang="en-US" sz="1100" dirty="0"/>
            </a:p>
          </p:txBody>
        </p:sp>
        <p:sp>
          <p:nvSpPr>
            <p:cNvPr id="85" name="卡片內文"/>
            <p:cNvSpPr/>
            <p:nvPr/>
          </p:nvSpPr>
          <p:spPr>
            <a:xfrm>
              <a:off x="9148343" y="5029200"/>
              <a:ext cx="82296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9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950" dirty="0"/>
            </a:p>
          </p:txBody>
        </p:sp>
        <p:sp>
          <p:nvSpPr>
            <p:cNvPr id="86" name="三角形"/>
            <p:cNvSpPr/>
            <p:nvPr/>
          </p:nvSpPr>
          <p:spPr>
            <a:xfrm>
              <a:off x="10263111" y="5093208"/>
              <a:ext cx="137160" cy="182880"/>
            </a:xfrm>
            <a:custGeom>
              <a:avLst/>
              <a:gdLst/>
              <a:ahLst/>
              <a:cxnLst/>
              <a:rect l="l" t="t" r="r" b="b"/>
              <a:pathLst>
                <a:path w="137160" h="182880">
                  <a:moveTo>
                    <a:pt x="0" y="0"/>
                  </a:moveTo>
                  <a:lnTo>
                    <a:pt x="137160" y="9144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強調卡片"/>
            <p:cNvSpPr/>
            <p:nvPr/>
          </p:nvSpPr>
          <p:spPr>
            <a:xfrm>
              <a:off x="10564063" y="4590288"/>
              <a:ext cx="1078992" cy="1188720"/>
            </a:xfrm>
            <a:prstGeom prst="roundRect">
              <a:avLst>
                <a:gd name="adj" fmla="val 8475"/>
              </a:avLst>
            </a:prstGeom>
            <a:solidFill>
              <a:srgbClr val="FFFFFF"/>
            </a:solidFill>
            <a:ln w="22225">
              <a:solidFill>
                <a:srgbClr val="2F4B6E"/>
              </a:solidFill>
              <a:prstDash val="solid"/>
            </a:ln>
            <a:effectLst>
              <a:outerShdw blurRad="88900" dist="2540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8" name="卡片標題"/>
            <p:cNvSpPr/>
            <p:nvPr/>
          </p:nvSpPr>
          <p:spPr>
            <a:xfrm>
              <a:off x="10692079" y="4700016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8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After</a:t>
              </a:r>
              <a:endParaRPr lang="en-US" sz="1100" dirty="0"/>
            </a:p>
          </p:txBody>
        </p:sp>
        <p:sp>
          <p:nvSpPr>
            <p:cNvPr id="89" name="卡片內文"/>
            <p:cNvSpPr/>
            <p:nvPr/>
          </p:nvSpPr>
          <p:spPr>
            <a:xfrm>
              <a:off x="10692079" y="5029200"/>
              <a:ext cx="82296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9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950" dirty="0"/>
            </a:p>
          </p:txBody>
        </p:sp>
      </p:grpSp>
      <p:sp>
        <p:nvSpPr>
          <p:cNvPr id="90" name="Text 88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65760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《常見組合（二）Common Patterns II》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分工表、前後對照、問題對策、方案比較、KPI 數字卡與 PDCA：整組複製即可使用</a:t>
            </a:r>
            <a:endParaRPr lang="en-US" sz="1500" dirty="0"/>
          </a:p>
        </p:txBody>
      </p:sp>
      <p:sp>
        <p:nvSpPr>
          <p:cNvPr id="4" name="線條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58468"/>
            <a:ext cx="1005840" cy="45720"/>
          </a:xfrm>
          <a:prstGeom prst="rect">
            <a:avLst/>
          </a:prstGeom>
          <a:solidFill>
            <a:srgbClr val="2F4B6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組合名稱"/>
          <p:cNvSpPr/>
          <p:nvPr/>
        </p:nvSpPr>
        <p:spPr>
          <a:xfrm>
            <a:off x="548640" y="1737360"/>
            <a:ext cx="349087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RACI Matrix</a:t>
            </a:r>
            <a:endParaRPr lang="en-US" sz="1400" dirty="0"/>
          </a:p>
        </p:txBody>
      </p:sp>
      <p:sp>
        <p:nvSpPr>
          <p:cNvPr id="7" name="線條"/>
          <p:cNvSpPr/>
          <p:nvPr/>
        </p:nvSpPr>
        <p:spPr>
          <a:xfrm>
            <a:off x="548640" y="2048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490874" cy="914400"/>
        </p:xfrm>
        <a:graphic>
          <a:graphicData uri="http://schemas.openxmlformats.org/drawingml/2006/table">
            <a:tbl>
              <a:tblPr/>
              <a:tblGrid>
                <a:gridCol w="1060704"/>
                <a:gridCol w="607543"/>
                <a:gridCol w="607543"/>
                <a:gridCol w="607543"/>
                <a:gridCol w="607543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F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F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F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F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F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ACI 標記"/>
          <p:cNvSpPr/>
          <p:nvPr/>
        </p:nvSpPr>
        <p:spPr>
          <a:xfrm>
            <a:off x="1757667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243A5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10" name="RACI 標記"/>
          <p:cNvSpPr/>
          <p:nvPr/>
        </p:nvSpPr>
        <p:spPr>
          <a:xfrm>
            <a:off x="2365210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11" name="RACI 標記"/>
          <p:cNvSpPr/>
          <p:nvPr/>
        </p:nvSpPr>
        <p:spPr>
          <a:xfrm>
            <a:off x="2972753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12" name="RACI 標記"/>
          <p:cNvSpPr/>
          <p:nvPr/>
        </p:nvSpPr>
        <p:spPr>
          <a:xfrm>
            <a:off x="3580295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13" name="RACI 標記"/>
          <p:cNvSpPr/>
          <p:nvPr/>
        </p:nvSpPr>
        <p:spPr>
          <a:xfrm>
            <a:off x="1757667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243A5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14" name="RACI 標記"/>
          <p:cNvSpPr/>
          <p:nvPr/>
        </p:nvSpPr>
        <p:spPr>
          <a:xfrm>
            <a:off x="2365210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15" name="RACI 標記"/>
          <p:cNvSpPr/>
          <p:nvPr/>
        </p:nvSpPr>
        <p:spPr>
          <a:xfrm>
            <a:off x="2972753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16" name="RACI 標記"/>
          <p:cNvSpPr/>
          <p:nvPr/>
        </p:nvSpPr>
        <p:spPr>
          <a:xfrm>
            <a:off x="3580295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17" name="RACI 標記"/>
          <p:cNvSpPr/>
          <p:nvPr/>
        </p:nvSpPr>
        <p:spPr>
          <a:xfrm>
            <a:off x="1757667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243A5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18" name="RACI 標記"/>
          <p:cNvSpPr/>
          <p:nvPr/>
        </p:nvSpPr>
        <p:spPr>
          <a:xfrm>
            <a:off x="2365210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19" name="RACI 標記"/>
          <p:cNvSpPr/>
          <p:nvPr/>
        </p:nvSpPr>
        <p:spPr>
          <a:xfrm>
            <a:off x="2972753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20" name="RACI 標記"/>
          <p:cNvSpPr/>
          <p:nvPr/>
        </p:nvSpPr>
        <p:spPr>
          <a:xfrm>
            <a:off x="3580295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21" name="RACI 標記"/>
          <p:cNvSpPr/>
          <p:nvPr/>
        </p:nvSpPr>
        <p:spPr>
          <a:xfrm>
            <a:off x="1757667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243A5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22" name="RACI 標記"/>
          <p:cNvSpPr/>
          <p:nvPr/>
        </p:nvSpPr>
        <p:spPr>
          <a:xfrm>
            <a:off x="2365210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23" name="RACI 標記"/>
          <p:cNvSpPr/>
          <p:nvPr/>
        </p:nvSpPr>
        <p:spPr>
          <a:xfrm>
            <a:off x="2972753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24" name="RACI 標記"/>
          <p:cNvSpPr/>
          <p:nvPr/>
        </p:nvSpPr>
        <p:spPr>
          <a:xfrm>
            <a:off x="3580295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25" name="圖例"/>
          <p:cNvSpPr/>
          <p:nvPr/>
        </p:nvSpPr>
        <p:spPr>
          <a:xfrm>
            <a:off x="548640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26" name="圖例"/>
          <p:cNvSpPr/>
          <p:nvPr/>
        </p:nvSpPr>
        <p:spPr>
          <a:xfrm>
            <a:off x="786384" y="37124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800" dirty="0"/>
          </a:p>
        </p:txBody>
      </p:sp>
      <p:sp>
        <p:nvSpPr>
          <p:cNvPr id="27" name="圖例"/>
          <p:cNvSpPr/>
          <p:nvPr/>
        </p:nvSpPr>
        <p:spPr>
          <a:xfrm>
            <a:off x="1335024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243A5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28" name="圖例"/>
          <p:cNvSpPr/>
          <p:nvPr/>
        </p:nvSpPr>
        <p:spPr>
          <a:xfrm>
            <a:off x="1572768" y="37124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800" dirty="0"/>
          </a:p>
        </p:txBody>
      </p:sp>
      <p:sp>
        <p:nvSpPr>
          <p:cNvPr id="29" name="圖例"/>
          <p:cNvSpPr/>
          <p:nvPr/>
        </p:nvSpPr>
        <p:spPr>
          <a:xfrm>
            <a:off x="2121408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30" name="圖例"/>
          <p:cNvSpPr/>
          <p:nvPr/>
        </p:nvSpPr>
        <p:spPr>
          <a:xfrm>
            <a:off x="2359152" y="37124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800" dirty="0"/>
          </a:p>
        </p:txBody>
      </p:sp>
      <p:sp>
        <p:nvSpPr>
          <p:cNvPr id="31" name="圖例"/>
          <p:cNvSpPr/>
          <p:nvPr/>
        </p:nvSpPr>
        <p:spPr>
          <a:xfrm>
            <a:off x="2907792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32" name="圖例"/>
          <p:cNvSpPr/>
          <p:nvPr/>
        </p:nvSpPr>
        <p:spPr>
          <a:xfrm>
            <a:off x="3145536" y="37124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800" dirty="0"/>
          </a:p>
        </p:txBody>
      </p:sp>
      <p:sp>
        <p:nvSpPr>
          <p:cNvPr id="33" name="組合名稱"/>
          <p:cNvSpPr/>
          <p:nvPr/>
        </p:nvSpPr>
        <p:spPr>
          <a:xfrm>
            <a:off x="4350410" y="1737360"/>
            <a:ext cx="349087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 Table</a:t>
            </a:r>
            <a:endParaRPr lang="en-US" sz="1400" dirty="0"/>
          </a:p>
        </p:txBody>
      </p:sp>
      <p:sp>
        <p:nvSpPr>
          <p:cNvPr id="34" name="線條"/>
          <p:cNvSpPr/>
          <p:nvPr/>
        </p:nvSpPr>
        <p:spPr>
          <a:xfrm>
            <a:off x="4350410" y="2048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50410" y="2103120"/>
          <a:ext cx="3490874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8237"/>
                <a:gridCol w="1288237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F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F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B6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4B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4B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4B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4B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Text 32"/>
          <p:cNvSpPr/>
          <p:nvPr/>
        </p:nvSpPr>
        <p:spPr>
          <a:xfrm>
            <a:off x="4350410" y="3785616"/>
            <a:ext cx="349087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800" dirty="0"/>
          </a:p>
        </p:txBody>
      </p:sp>
      <p:sp>
        <p:nvSpPr>
          <p:cNvPr id="37" name="組合名稱"/>
          <p:cNvSpPr/>
          <p:nvPr/>
        </p:nvSpPr>
        <p:spPr>
          <a:xfrm>
            <a:off x="8152181" y="1737360"/>
            <a:ext cx="349087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Problem / Cause / Countermeasure</a:t>
            </a:r>
            <a:endParaRPr lang="en-US" sz="1400" dirty="0"/>
          </a:p>
        </p:txBody>
      </p:sp>
      <p:sp>
        <p:nvSpPr>
          <p:cNvPr id="38" name="線條"/>
          <p:cNvSpPr/>
          <p:nvPr/>
        </p:nvSpPr>
        <p:spPr>
          <a:xfrm>
            <a:off x="8152181" y="2048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8152181" y="2304288"/>
            <a:ext cx="3490874" cy="1060704"/>
            <a:chOff x="8152181" y="2304288"/>
            <a:chExt cx="3490874" cy="1060704"/>
          </a:xfrm>
        </p:grpSpPr>
        <p:sp>
          <p:nvSpPr>
            <p:cNvPr id="39" name="問題"/>
            <p:cNvSpPr/>
            <p:nvPr/>
          </p:nvSpPr>
          <p:spPr>
            <a:xfrm>
              <a:off x="8152181" y="2304288"/>
              <a:ext cx="932688" cy="1060704"/>
            </a:xfrm>
            <a:prstGeom prst="roundRect">
              <a:avLst>
                <a:gd name="adj" fmla="val 9804"/>
              </a:avLst>
            </a:prstGeom>
            <a:solidFill>
              <a:srgbClr val="FFFFFF"/>
            </a:solidFill>
            <a:ln w="19050">
              <a:solidFill>
                <a:srgbClr val="C0504D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88900" tIns="101600" rIns="63500" bIns="508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150" b="1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Problem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850" dirty="0"/>
            </a:p>
          </p:txBody>
        </p:sp>
        <p:sp>
          <p:nvSpPr>
            <p:cNvPr id="40" name="原因"/>
            <p:cNvSpPr/>
            <p:nvPr/>
          </p:nvSpPr>
          <p:spPr>
            <a:xfrm>
              <a:off x="9431274" y="2304288"/>
              <a:ext cx="932688" cy="1060704"/>
            </a:xfrm>
            <a:prstGeom prst="roundRect">
              <a:avLst>
                <a:gd name="adj" fmla="val 9804"/>
              </a:avLst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88900" tIns="101600" rIns="63500" bIns="508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1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Cause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850" dirty="0"/>
            </a:p>
          </p:txBody>
        </p:sp>
        <p:sp>
          <p:nvSpPr>
            <p:cNvPr id="41" name="對策"/>
            <p:cNvSpPr/>
            <p:nvPr/>
          </p:nvSpPr>
          <p:spPr>
            <a:xfrm>
              <a:off x="10710367" y="2304288"/>
              <a:ext cx="932688" cy="1060704"/>
            </a:xfrm>
            <a:prstGeom prst="roundRect">
              <a:avLst>
                <a:gd name="adj" fmla="val 9804"/>
              </a:avLst>
            </a:prstGeom>
            <a:solidFill>
              <a:srgbClr val="2F4B6E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88900" tIns="101600" rIns="63500" bIns="508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C1C9D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Countermeasure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850" dirty="0"/>
            </a:p>
          </p:txBody>
        </p:sp>
        <p:cxnSp>
          <p:nvCxnSpPr>
            <p:cNvPr id="42" name="連接線"/>
            <p:cNvCxnSpPr>
              <a:stCxn id="39" idx="3"/>
              <a:endCxn id="40" idx="1"/>
            </p:cNvCxnSpPr>
            <p:nvPr/>
          </p:nvCxnSpPr>
          <p:spPr>
            <a:xfrm>
              <a:off x="9084869" y="2834640"/>
              <a:ext cx="346405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43" name="連接線"/>
            <p:cNvCxnSpPr>
              <a:stCxn id="40" idx="3"/>
              <a:endCxn id="41" idx="1"/>
            </p:cNvCxnSpPr>
            <p:nvPr/>
          </p:nvCxnSpPr>
          <p:spPr>
            <a:xfrm>
              <a:off x="10363962" y="2834640"/>
              <a:ext cx="346405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</p:grpSp>
      <p:sp>
        <p:nvSpPr>
          <p:cNvPr id="44" name="組合名稱"/>
          <p:cNvSpPr/>
          <p:nvPr/>
        </p:nvSpPr>
        <p:spPr>
          <a:xfrm>
            <a:off x="548640" y="4023360"/>
            <a:ext cx="349087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3-Column Comparison</a:t>
            </a:r>
            <a:endParaRPr lang="en-US" sz="1400" dirty="0"/>
          </a:p>
        </p:txBody>
      </p:sp>
      <p:sp>
        <p:nvSpPr>
          <p:cNvPr id="45" name="線條"/>
          <p:cNvSpPr/>
          <p:nvPr/>
        </p:nvSpPr>
        <p:spPr>
          <a:xfrm>
            <a:off x="548640" y="4334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548640" y="4443984"/>
            <a:ext cx="3490874" cy="1773936"/>
            <a:chOff x="548640" y="4443984"/>
            <a:chExt cx="3490874" cy="1773936"/>
          </a:xfrm>
        </p:grpSpPr>
        <p:sp>
          <p:nvSpPr>
            <p:cNvPr id="46" name="方案"/>
            <p:cNvSpPr/>
            <p:nvPr/>
          </p:nvSpPr>
          <p:spPr>
            <a:xfrm>
              <a:off x="548640" y="4443984"/>
              <a:ext cx="1090473" cy="1645920"/>
            </a:xfrm>
            <a:prstGeom prst="roundRect">
              <a:avLst>
                <a:gd name="adj" fmla="val 8385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7" name="表頭底"/>
            <p:cNvSpPr/>
            <p:nvPr/>
          </p:nvSpPr>
          <p:spPr>
            <a:xfrm>
              <a:off x="549554" y="4444898"/>
              <a:ext cx="1088644" cy="36576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8" name="方案名稱"/>
            <p:cNvSpPr/>
            <p:nvPr/>
          </p:nvSpPr>
          <p:spPr>
            <a:xfrm>
              <a:off x="548640" y="4443984"/>
              <a:ext cx="109047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4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A</a:t>
              </a:r>
              <a:endParaRPr lang="en-US" sz="1400" dirty="0"/>
            </a:p>
          </p:txBody>
        </p:sp>
        <p:sp>
          <p:nvSpPr>
            <p:cNvPr id="49" name="項目"/>
            <p:cNvSpPr/>
            <p:nvPr/>
          </p:nvSpPr>
          <p:spPr>
            <a:xfrm>
              <a:off x="658368" y="4937760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750" dirty="0"/>
            </a:p>
          </p:txBody>
        </p:sp>
        <p:sp>
          <p:nvSpPr>
            <p:cNvPr id="50" name="內容"/>
            <p:cNvSpPr/>
            <p:nvPr/>
          </p:nvSpPr>
          <p:spPr>
            <a:xfrm>
              <a:off x="658368" y="5074920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950" dirty="0"/>
            </a:p>
          </p:txBody>
        </p:sp>
        <p:sp>
          <p:nvSpPr>
            <p:cNvPr id="51" name="項目"/>
            <p:cNvSpPr/>
            <p:nvPr/>
          </p:nvSpPr>
          <p:spPr>
            <a:xfrm>
              <a:off x="658368" y="5266944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750" dirty="0"/>
            </a:p>
          </p:txBody>
        </p:sp>
        <p:sp>
          <p:nvSpPr>
            <p:cNvPr id="52" name="內容"/>
            <p:cNvSpPr/>
            <p:nvPr/>
          </p:nvSpPr>
          <p:spPr>
            <a:xfrm>
              <a:off x="658368" y="5404104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950" dirty="0"/>
            </a:p>
          </p:txBody>
        </p:sp>
        <p:sp>
          <p:nvSpPr>
            <p:cNvPr id="53" name="項目"/>
            <p:cNvSpPr/>
            <p:nvPr/>
          </p:nvSpPr>
          <p:spPr>
            <a:xfrm>
              <a:off x="658368" y="5596128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750" dirty="0"/>
            </a:p>
          </p:txBody>
        </p:sp>
        <p:sp>
          <p:nvSpPr>
            <p:cNvPr id="54" name="內容"/>
            <p:cNvSpPr/>
            <p:nvPr/>
          </p:nvSpPr>
          <p:spPr>
            <a:xfrm>
              <a:off x="658368" y="5733288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950" dirty="0"/>
            </a:p>
          </p:txBody>
        </p:sp>
        <p:sp>
          <p:nvSpPr>
            <p:cNvPr id="55" name="推薦方案"/>
            <p:cNvSpPr/>
            <p:nvPr/>
          </p:nvSpPr>
          <p:spPr>
            <a:xfrm>
              <a:off x="1748841" y="4443984"/>
              <a:ext cx="1090473" cy="1645920"/>
            </a:xfrm>
            <a:prstGeom prst="roundRect">
              <a:avLst>
                <a:gd name="adj" fmla="val 8385"/>
              </a:avLst>
            </a:prstGeom>
            <a:solidFill>
              <a:srgbClr val="FFFFFF"/>
            </a:solidFill>
            <a:ln w="22225">
              <a:solidFill>
                <a:srgbClr val="2F4B6E"/>
              </a:solidFill>
              <a:prstDash val="solid"/>
            </a:ln>
            <a:effectLst>
              <a:outerShdw blurRad="88900" dist="2540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6" name="表頭"/>
            <p:cNvSpPr/>
            <p:nvPr/>
          </p:nvSpPr>
          <p:spPr>
            <a:xfrm>
              <a:off x="1748841" y="4443984"/>
              <a:ext cx="1090473" cy="365760"/>
            </a:xfrm>
            <a:custGeom>
              <a:avLst/>
              <a:gdLst/>
              <a:ahLst/>
              <a:cxnLst/>
              <a:rect l="l" t="t" r="r" b="b"/>
              <a:pathLst>
                <a:path w="1090473" h="365760">
                  <a:moveTo>
                    <a:pt x="0" y="365760"/>
                  </a:moveTo>
                  <a:lnTo>
                    <a:pt x="0" y="91440"/>
                  </a:lnTo>
                  <a:arcTo hR="91440" wR="91440" stAng="10800000" swAng="5400000"/>
                  <a:lnTo>
                    <a:pt x="999033" y="0"/>
                  </a:lnTo>
                  <a:arcTo hR="91440" wR="91440" stAng="16200000" swAng="5400000"/>
                  <a:lnTo>
                    <a:pt x="1090473" y="365760"/>
                  </a:lnTo>
                  <a:close/>
                </a:path>
              </a:pathLst>
            </a:custGeom>
            <a:solidFill>
              <a:srgbClr val="2F4B6E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7" name="方案名稱"/>
            <p:cNvSpPr/>
            <p:nvPr/>
          </p:nvSpPr>
          <p:spPr>
            <a:xfrm>
              <a:off x="1748841" y="4443984"/>
              <a:ext cx="109047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4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dirty="0">
                  <a:solidFill>
                    <a:srgbClr val="C1C9D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B</a:t>
              </a:r>
              <a:endParaRPr lang="en-US" sz="1400" dirty="0"/>
            </a:p>
          </p:txBody>
        </p:sp>
        <p:sp>
          <p:nvSpPr>
            <p:cNvPr id="58" name="項目"/>
            <p:cNvSpPr/>
            <p:nvPr/>
          </p:nvSpPr>
          <p:spPr>
            <a:xfrm>
              <a:off x="1858569" y="4937760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750" dirty="0"/>
            </a:p>
          </p:txBody>
        </p:sp>
        <p:sp>
          <p:nvSpPr>
            <p:cNvPr id="59" name="內容"/>
            <p:cNvSpPr/>
            <p:nvPr/>
          </p:nvSpPr>
          <p:spPr>
            <a:xfrm>
              <a:off x="1858569" y="5074920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950" dirty="0"/>
            </a:p>
          </p:txBody>
        </p:sp>
        <p:sp>
          <p:nvSpPr>
            <p:cNvPr id="60" name="項目"/>
            <p:cNvSpPr/>
            <p:nvPr/>
          </p:nvSpPr>
          <p:spPr>
            <a:xfrm>
              <a:off x="1858569" y="5266944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750" dirty="0"/>
            </a:p>
          </p:txBody>
        </p:sp>
        <p:sp>
          <p:nvSpPr>
            <p:cNvPr id="61" name="內容"/>
            <p:cNvSpPr/>
            <p:nvPr/>
          </p:nvSpPr>
          <p:spPr>
            <a:xfrm>
              <a:off x="1858569" y="5404104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950" dirty="0"/>
            </a:p>
          </p:txBody>
        </p:sp>
        <p:sp>
          <p:nvSpPr>
            <p:cNvPr id="62" name="項目"/>
            <p:cNvSpPr/>
            <p:nvPr/>
          </p:nvSpPr>
          <p:spPr>
            <a:xfrm>
              <a:off x="1858569" y="5596128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750" dirty="0"/>
            </a:p>
          </p:txBody>
        </p:sp>
        <p:sp>
          <p:nvSpPr>
            <p:cNvPr id="63" name="內容"/>
            <p:cNvSpPr/>
            <p:nvPr/>
          </p:nvSpPr>
          <p:spPr>
            <a:xfrm>
              <a:off x="1858569" y="5733288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950" dirty="0"/>
            </a:p>
          </p:txBody>
        </p:sp>
        <p:sp>
          <p:nvSpPr>
            <p:cNvPr id="64" name="標籤"/>
            <p:cNvSpPr/>
            <p:nvPr/>
          </p:nvSpPr>
          <p:spPr>
            <a:xfrm>
              <a:off x="2073605" y="6016752"/>
              <a:ext cx="440944" cy="201168"/>
            </a:xfrm>
            <a:prstGeom prst="roundRect">
              <a:avLst>
                <a:gd name="adj" fmla="val 50000"/>
              </a:avLst>
            </a:prstGeom>
            <a:solidFill>
              <a:srgbClr val="E3E8EF"/>
            </a:solidFill>
            <a:ln>
              <a:noFill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800" dirty="0"/>
            </a:p>
          </p:txBody>
        </p:sp>
        <p:sp>
          <p:nvSpPr>
            <p:cNvPr id="65" name="方案"/>
            <p:cNvSpPr/>
            <p:nvPr/>
          </p:nvSpPr>
          <p:spPr>
            <a:xfrm>
              <a:off x="2949042" y="4443984"/>
              <a:ext cx="1090473" cy="1645920"/>
            </a:xfrm>
            <a:prstGeom prst="roundRect">
              <a:avLst>
                <a:gd name="adj" fmla="val 8385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6" name="表頭底"/>
            <p:cNvSpPr/>
            <p:nvPr/>
          </p:nvSpPr>
          <p:spPr>
            <a:xfrm>
              <a:off x="2949956" y="4444898"/>
              <a:ext cx="1088644" cy="36576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7" name="方案名稱"/>
            <p:cNvSpPr/>
            <p:nvPr/>
          </p:nvSpPr>
          <p:spPr>
            <a:xfrm>
              <a:off x="2949042" y="4443984"/>
              <a:ext cx="109047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4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C</a:t>
              </a:r>
              <a:endParaRPr lang="en-US" sz="1400" dirty="0"/>
            </a:p>
          </p:txBody>
        </p:sp>
        <p:sp>
          <p:nvSpPr>
            <p:cNvPr id="68" name="項目"/>
            <p:cNvSpPr/>
            <p:nvPr/>
          </p:nvSpPr>
          <p:spPr>
            <a:xfrm>
              <a:off x="3058770" y="4937760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750" dirty="0"/>
            </a:p>
          </p:txBody>
        </p:sp>
        <p:sp>
          <p:nvSpPr>
            <p:cNvPr id="69" name="內容"/>
            <p:cNvSpPr/>
            <p:nvPr/>
          </p:nvSpPr>
          <p:spPr>
            <a:xfrm>
              <a:off x="3058770" y="5074920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950" dirty="0"/>
            </a:p>
          </p:txBody>
        </p:sp>
        <p:sp>
          <p:nvSpPr>
            <p:cNvPr id="70" name="項目"/>
            <p:cNvSpPr/>
            <p:nvPr/>
          </p:nvSpPr>
          <p:spPr>
            <a:xfrm>
              <a:off x="3058770" y="5266944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750" dirty="0"/>
            </a:p>
          </p:txBody>
        </p:sp>
        <p:sp>
          <p:nvSpPr>
            <p:cNvPr id="71" name="內容"/>
            <p:cNvSpPr/>
            <p:nvPr/>
          </p:nvSpPr>
          <p:spPr>
            <a:xfrm>
              <a:off x="3058770" y="5404104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950" dirty="0"/>
            </a:p>
          </p:txBody>
        </p:sp>
        <p:sp>
          <p:nvSpPr>
            <p:cNvPr id="72" name="項目"/>
            <p:cNvSpPr/>
            <p:nvPr/>
          </p:nvSpPr>
          <p:spPr>
            <a:xfrm>
              <a:off x="3058770" y="5596128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750" dirty="0"/>
            </a:p>
          </p:txBody>
        </p:sp>
        <p:sp>
          <p:nvSpPr>
            <p:cNvPr id="73" name="內容"/>
            <p:cNvSpPr/>
            <p:nvPr/>
          </p:nvSpPr>
          <p:spPr>
            <a:xfrm>
              <a:off x="3058770" y="5733288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950" dirty="0"/>
            </a:p>
          </p:txBody>
        </p:sp>
      </p:grpSp>
      <p:sp>
        <p:nvSpPr>
          <p:cNvPr id="74" name="組合名稱"/>
          <p:cNvSpPr/>
          <p:nvPr/>
        </p:nvSpPr>
        <p:spPr>
          <a:xfrm>
            <a:off x="4350410" y="4023360"/>
            <a:ext cx="349087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KPI Cards</a:t>
            </a:r>
            <a:endParaRPr lang="en-US" sz="1400" dirty="0"/>
          </a:p>
        </p:txBody>
      </p:sp>
      <p:sp>
        <p:nvSpPr>
          <p:cNvPr id="75" name="線條"/>
          <p:cNvSpPr/>
          <p:nvPr/>
        </p:nvSpPr>
        <p:spPr>
          <a:xfrm>
            <a:off x="4350410" y="4334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4350410" y="4590288"/>
            <a:ext cx="3490874" cy="1243584"/>
            <a:chOff x="4350410" y="4590288"/>
            <a:chExt cx="3490874" cy="1243584"/>
          </a:xfrm>
        </p:grpSpPr>
        <p:sp>
          <p:nvSpPr>
            <p:cNvPr id="76" name="卡片"/>
            <p:cNvSpPr/>
            <p:nvPr/>
          </p:nvSpPr>
          <p:spPr>
            <a:xfrm>
              <a:off x="4350410" y="4590288"/>
              <a:ext cx="1078281" cy="1243584"/>
            </a:xfrm>
            <a:prstGeom prst="roundRect">
              <a:avLst>
                <a:gd name="adj" fmla="val 8480"/>
              </a:avLst>
            </a:prstGeom>
            <a:solidFill>
              <a:srgbClr val="F2F2F2"/>
            </a:solidFill>
            <a:ln>
              <a:noFill/>
            </a:ln>
            <a:effectLst>
              <a:outerShdw blurRad="88900" dist="2540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7" name="色條"/>
            <p:cNvSpPr/>
            <p:nvPr/>
          </p:nvSpPr>
          <p:spPr>
            <a:xfrm>
              <a:off x="4478426" y="4736592"/>
              <a:ext cx="219456" cy="36576"/>
            </a:xfrm>
            <a:prstGeom prst="rect">
              <a:avLst/>
            </a:prstGeom>
            <a:solidFill>
              <a:srgbClr val="2F4B6E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8" name="指標名稱"/>
            <p:cNvSpPr/>
            <p:nvPr/>
          </p:nvSpPr>
          <p:spPr>
            <a:xfrm>
              <a:off x="4478426" y="4828032"/>
              <a:ext cx="895401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850" dirty="0"/>
            </a:p>
          </p:txBody>
        </p:sp>
        <p:sp>
          <p:nvSpPr>
            <p:cNvPr id="79" name="數值"/>
            <p:cNvSpPr/>
            <p:nvPr/>
          </p:nvSpPr>
          <p:spPr>
            <a:xfrm>
              <a:off x="4460138" y="5047488"/>
              <a:ext cx="913689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4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400" dirty="0"/>
            </a:p>
          </p:txBody>
        </p:sp>
        <p:sp>
          <p:nvSpPr>
            <p:cNvPr id="80" name="變化"/>
            <p:cNvSpPr/>
            <p:nvPr/>
          </p:nvSpPr>
          <p:spPr>
            <a:xfrm>
              <a:off x="4478426" y="5504688"/>
              <a:ext cx="8954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400" dirty="0"/>
            </a:p>
          </p:txBody>
        </p:sp>
        <p:sp>
          <p:nvSpPr>
            <p:cNvPr id="81" name="卡片"/>
            <p:cNvSpPr/>
            <p:nvPr/>
          </p:nvSpPr>
          <p:spPr>
            <a:xfrm>
              <a:off x="5556707" y="4590288"/>
              <a:ext cx="1078281" cy="1243584"/>
            </a:xfrm>
            <a:prstGeom prst="roundRect">
              <a:avLst>
                <a:gd name="adj" fmla="val 8480"/>
              </a:avLst>
            </a:prstGeom>
            <a:solidFill>
              <a:srgbClr val="F2F2F2"/>
            </a:solidFill>
            <a:ln>
              <a:noFill/>
            </a:ln>
            <a:effectLst>
              <a:outerShdw blurRad="88900" dist="2540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2" name="色條"/>
            <p:cNvSpPr/>
            <p:nvPr/>
          </p:nvSpPr>
          <p:spPr>
            <a:xfrm>
              <a:off x="5684723" y="4736592"/>
              <a:ext cx="219456" cy="36576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3" name="指標名稱"/>
            <p:cNvSpPr/>
            <p:nvPr/>
          </p:nvSpPr>
          <p:spPr>
            <a:xfrm>
              <a:off x="5684723" y="4828032"/>
              <a:ext cx="895401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850" dirty="0"/>
            </a:p>
          </p:txBody>
        </p:sp>
        <p:sp>
          <p:nvSpPr>
            <p:cNvPr id="84" name="數值"/>
            <p:cNvSpPr/>
            <p:nvPr/>
          </p:nvSpPr>
          <p:spPr>
            <a:xfrm>
              <a:off x="5666435" y="5047488"/>
              <a:ext cx="913689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4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6.2</a:t>
              </a: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400" dirty="0"/>
            </a:p>
          </p:txBody>
        </p:sp>
        <p:sp>
          <p:nvSpPr>
            <p:cNvPr id="85" name="變化"/>
            <p:cNvSpPr/>
            <p:nvPr/>
          </p:nvSpPr>
          <p:spPr>
            <a:xfrm>
              <a:off x="5684723" y="5504688"/>
              <a:ext cx="8954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400" dirty="0"/>
            </a:p>
          </p:txBody>
        </p:sp>
        <p:sp>
          <p:nvSpPr>
            <p:cNvPr id="86" name="卡片"/>
            <p:cNvSpPr/>
            <p:nvPr/>
          </p:nvSpPr>
          <p:spPr>
            <a:xfrm>
              <a:off x="6763004" y="4590288"/>
              <a:ext cx="1078281" cy="1243584"/>
            </a:xfrm>
            <a:prstGeom prst="roundRect">
              <a:avLst>
                <a:gd name="adj" fmla="val 8480"/>
              </a:avLst>
            </a:prstGeom>
            <a:solidFill>
              <a:srgbClr val="F2F2F2"/>
            </a:solidFill>
            <a:ln>
              <a:noFill/>
            </a:ln>
            <a:effectLst>
              <a:outerShdw blurRad="88900" dist="2540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色條"/>
            <p:cNvSpPr/>
            <p:nvPr/>
          </p:nvSpPr>
          <p:spPr>
            <a:xfrm>
              <a:off x="6891020" y="4736592"/>
              <a:ext cx="219456" cy="36576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8" name="指標名稱"/>
            <p:cNvSpPr/>
            <p:nvPr/>
          </p:nvSpPr>
          <p:spPr>
            <a:xfrm>
              <a:off x="6891020" y="4828032"/>
              <a:ext cx="895401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850" dirty="0"/>
            </a:p>
          </p:txBody>
        </p:sp>
        <p:sp>
          <p:nvSpPr>
            <p:cNvPr id="89" name="數值"/>
            <p:cNvSpPr/>
            <p:nvPr/>
          </p:nvSpPr>
          <p:spPr>
            <a:xfrm>
              <a:off x="6872732" y="5047488"/>
              <a:ext cx="913689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4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400" dirty="0"/>
            </a:p>
          </p:txBody>
        </p:sp>
        <p:sp>
          <p:nvSpPr>
            <p:cNvPr id="90" name="變化"/>
            <p:cNvSpPr/>
            <p:nvPr/>
          </p:nvSpPr>
          <p:spPr>
            <a:xfrm>
              <a:off x="6891020" y="5504688"/>
              <a:ext cx="8954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400" dirty="0"/>
            </a:p>
          </p:txBody>
        </p:sp>
      </p:grpSp>
      <p:sp>
        <p:nvSpPr>
          <p:cNvPr id="91" name="組合名稱"/>
          <p:cNvSpPr/>
          <p:nvPr/>
        </p:nvSpPr>
        <p:spPr>
          <a:xfrm>
            <a:off x="8152181" y="4023360"/>
            <a:ext cx="349087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PDCA Cycle</a:t>
            </a:r>
            <a:endParaRPr lang="en-US" sz="1400" dirty="0"/>
          </a:p>
        </p:txBody>
      </p:sp>
      <p:sp>
        <p:nvSpPr>
          <p:cNvPr id="92" name="線條"/>
          <p:cNvSpPr/>
          <p:nvPr/>
        </p:nvSpPr>
        <p:spPr>
          <a:xfrm>
            <a:off x="8152181" y="4334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8152181" y="4443984"/>
            <a:ext cx="3490874" cy="1645920"/>
            <a:chOff x="8152181" y="4443984"/>
            <a:chExt cx="3490874" cy="1645920"/>
          </a:xfrm>
        </p:grpSpPr>
        <p:sp>
          <p:nvSpPr>
            <p:cNvPr id="93" name="PDCA Plan"/>
            <p:cNvSpPr/>
            <p:nvPr/>
          </p:nvSpPr>
          <p:spPr>
            <a:xfrm>
              <a:off x="8152181" y="4443984"/>
              <a:ext cx="1316736" cy="621792"/>
            </a:xfrm>
            <a:prstGeom prst="roundRect">
              <a:avLst>
                <a:gd name="adj" fmla="val 14706"/>
              </a:avLst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Plan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850" dirty="0"/>
            </a:p>
          </p:txBody>
        </p:sp>
        <p:sp>
          <p:nvSpPr>
            <p:cNvPr id="94" name="PDCA Do"/>
            <p:cNvSpPr/>
            <p:nvPr/>
          </p:nvSpPr>
          <p:spPr>
            <a:xfrm>
              <a:off x="10326319" y="4443984"/>
              <a:ext cx="1316736" cy="621792"/>
            </a:xfrm>
            <a:prstGeom prst="roundRect">
              <a:avLst>
                <a:gd name="adj" fmla="val 14706"/>
              </a:avLst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Do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850" dirty="0"/>
            </a:p>
          </p:txBody>
        </p:sp>
        <p:sp>
          <p:nvSpPr>
            <p:cNvPr id="95" name="PDCA Check"/>
            <p:cNvSpPr/>
            <p:nvPr/>
          </p:nvSpPr>
          <p:spPr>
            <a:xfrm>
              <a:off x="10326319" y="5468112"/>
              <a:ext cx="1316736" cy="621792"/>
            </a:xfrm>
            <a:prstGeom prst="roundRect">
              <a:avLst>
                <a:gd name="adj" fmla="val 14706"/>
              </a:avLst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Check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850" dirty="0"/>
            </a:p>
          </p:txBody>
        </p:sp>
        <p:sp>
          <p:nvSpPr>
            <p:cNvPr id="96" name="PDCA Act"/>
            <p:cNvSpPr/>
            <p:nvPr/>
          </p:nvSpPr>
          <p:spPr>
            <a:xfrm>
              <a:off x="8152181" y="5468112"/>
              <a:ext cx="1316736" cy="621792"/>
            </a:xfrm>
            <a:prstGeom prst="roundRect">
              <a:avLst>
                <a:gd name="adj" fmla="val 14706"/>
              </a:avLst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Act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850" dirty="0"/>
            </a:p>
          </p:txBody>
        </p:sp>
        <p:cxnSp>
          <p:nvCxnSpPr>
            <p:cNvPr id="97" name="連接線"/>
            <p:cNvCxnSpPr>
              <a:stCxn id="93" idx="3"/>
              <a:endCxn id="94" idx="1"/>
            </p:cNvCxnSpPr>
            <p:nvPr/>
          </p:nvCxnSpPr>
          <p:spPr>
            <a:xfrm>
              <a:off x="9468917" y="4754880"/>
              <a:ext cx="857402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98" name="連接線"/>
            <p:cNvCxnSpPr>
              <a:stCxn id="94" idx="2"/>
              <a:endCxn id="95" idx="0"/>
            </p:cNvCxnSpPr>
            <p:nvPr/>
          </p:nvCxnSpPr>
          <p:spPr>
            <a:xfrm>
              <a:off x="10984687" y="5065776"/>
              <a:ext cx="0" cy="402336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99" name="連接線"/>
            <p:cNvCxnSpPr>
              <a:stCxn id="95" idx="1"/>
              <a:endCxn id="96" idx="3"/>
            </p:cNvCxnSpPr>
            <p:nvPr/>
          </p:nvCxnSpPr>
          <p:spPr>
            <a:xfrm flipH="1">
              <a:off x="9468917" y="5779008"/>
              <a:ext cx="857402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100" name="連接線"/>
            <p:cNvCxnSpPr>
              <a:stCxn id="96" idx="0"/>
              <a:endCxn id="93" idx="2"/>
            </p:cNvCxnSpPr>
            <p:nvPr/>
          </p:nvCxnSpPr>
          <p:spPr>
            <a:xfrm flipV="1">
              <a:off x="8810549" y="5065776"/>
              <a:ext cx="0" cy="402336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sp>
          <p:nvSpPr>
            <p:cNvPr id="101" name="中心標籤"/>
            <p:cNvSpPr/>
            <p:nvPr/>
          </p:nvSpPr>
          <p:spPr>
            <a:xfrm>
              <a:off x="9440418" y="5148072"/>
              <a:ext cx="914400" cy="23774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PDCA</a:t>
              </a: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800" dirty="0"/>
            </a:p>
          </p:txBody>
        </p:sp>
      </p:grpSp>
      <p:sp>
        <p:nvSpPr>
          <p:cNvPr id="102" name="Text 98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103" name="Text 99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65760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《圖示庫 Icon Library》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 個線條圖示：顏色、線寬跟著風格；每個都是可編輯的 PowerPoint 圖案，點一下即可複製</a:t>
            </a:r>
            <a:endParaRPr lang="en-US" sz="1500" dirty="0"/>
          </a:p>
        </p:txBody>
      </p:sp>
      <p:sp>
        <p:nvSpPr>
          <p:cNvPr id="4" name="線條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58468"/>
            <a:ext cx="1005840" cy="45720"/>
          </a:xfrm>
          <a:prstGeom prst="rect">
            <a:avLst/>
          </a:prstGeom>
          <a:solidFill>
            <a:srgbClr val="2F4B6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圖示 人員"/>
          <p:cNvSpPr/>
          <p:nvPr/>
        </p:nvSpPr>
        <p:spPr>
          <a:xfrm>
            <a:off x="828027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89563" y="320040"/>
                </a:moveTo>
                <a:lnTo>
                  <a:pt x="289563" y="289563"/>
                </a:lnTo>
                <a:cubicBezTo>
                  <a:pt x="289563" y="255895"/>
                  <a:pt x="262268" y="228600"/>
                  <a:pt x="228600" y="228600"/>
                </a:cubicBezTo>
                <a:lnTo>
                  <a:pt x="137160" y="228600"/>
                </a:lnTo>
                <a:cubicBezTo>
                  <a:pt x="103492" y="228600"/>
                  <a:pt x="76197" y="255895"/>
                  <a:pt x="76197" y="289563"/>
                </a:cubicBezTo>
                <a:lnTo>
                  <a:pt x="76197" y="320040"/>
                </a:lnTo>
                <a:moveTo>
                  <a:pt x="243843" y="106683"/>
                </a:moveTo>
                <a:cubicBezTo>
                  <a:pt x="243843" y="140351"/>
                  <a:pt x="216548" y="167637"/>
                  <a:pt x="182880" y="167637"/>
                </a:cubicBezTo>
                <a:cubicBezTo>
                  <a:pt x="149212" y="167637"/>
                  <a:pt x="121917" y="140351"/>
                  <a:pt x="121917" y="106683"/>
                </a:cubicBezTo>
                <a:cubicBezTo>
                  <a:pt x="121917" y="73015"/>
                  <a:pt x="149212" y="45720"/>
                  <a:pt x="182880" y="45720"/>
                </a:cubicBezTo>
                <a:cubicBezTo>
                  <a:pt x="216548" y="45720"/>
                  <a:pt x="243843" y="73015"/>
                  <a:pt x="243843" y="106683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圖說"/>
          <p:cNvSpPr/>
          <p:nvPr/>
        </p:nvSpPr>
        <p:spPr>
          <a:xfrm>
            <a:off x="548640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</a:t>
            </a:r>
            <a:endParaRPr lang="en-US" sz="800" dirty="0"/>
          </a:p>
        </p:txBody>
      </p:sp>
      <p:sp>
        <p:nvSpPr>
          <p:cNvPr id="8" name="圖示 團隊"/>
          <p:cNvSpPr/>
          <p:nvPr/>
        </p:nvSpPr>
        <p:spPr>
          <a:xfrm>
            <a:off x="1752562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43843" y="320040"/>
                </a:moveTo>
                <a:lnTo>
                  <a:pt x="243843" y="289563"/>
                </a:lnTo>
                <a:cubicBezTo>
                  <a:pt x="243843" y="255895"/>
                  <a:pt x="216548" y="228600"/>
                  <a:pt x="182880" y="228600"/>
                </a:cubicBezTo>
                <a:lnTo>
                  <a:pt x="91440" y="228600"/>
                </a:lnTo>
                <a:cubicBezTo>
                  <a:pt x="57772" y="228600"/>
                  <a:pt x="30477" y="255895"/>
                  <a:pt x="30477" y="289563"/>
                </a:cubicBezTo>
                <a:lnTo>
                  <a:pt x="30477" y="320040"/>
                </a:lnTo>
                <a:moveTo>
                  <a:pt x="243843" y="47668"/>
                </a:moveTo>
                <a:cubicBezTo>
                  <a:pt x="270726" y="54645"/>
                  <a:pt x="289499" y="78904"/>
                  <a:pt x="289499" y="106683"/>
                </a:cubicBezTo>
                <a:cubicBezTo>
                  <a:pt x="289499" y="134453"/>
                  <a:pt x="270726" y="158722"/>
                  <a:pt x="243843" y="165689"/>
                </a:cubicBezTo>
                <a:moveTo>
                  <a:pt x="335283" y="320040"/>
                </a:moveTo>
                <a:lnTo>
                  <a:pt x="335283" y="289563"/>
                </a:lnTo>
                <a:cubicBezTo>
                  <a:pt x="335256" y="261784"/>
                  <a:pt x="316456" y="237525"/>
                  <a:pt x="289563" y="230584"/>
                </a:cubicBezTo>
                <a:moveTo>
                  <a:pt x="198123" y="106683"/>
                </a:moveTo>
                <a:cubicBezTo>
                  <a:pt x="198123" y="140351"/>
                  <a:pt x="170828" y="167637"/>
                  <a:pt x="137160" y="167637"/>
                </a:cubicBezTo>
                <a:cubicBezTo>
                  <a:pt x="103492" y="167637"/>
                  <a:pt x="76197" y="140351"/>
                  <a:pt x="76197" y="106683"/>
                </a:cubicBezTo>
                <a:cubicBezTo>
                  <a:pt x="76197" y="73015"/>
                  <a:pt x="103492" y="45720"/>
                  <a:pt x="137160" y="45720"/>
                </a:cubicBezTo>
                <a:cubicBezTo>
                  <a:pt x="170828" y="45720"/>
                  <a:pt x="198123" y="73015"/>
                  <a:pt x="198123" y="106683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圖說"/>
          <p:cNvSpPr/>
          <p:nvPr/>
        </p:nvSpPr>
        <p:spPr>
          <a:xfrm>
            <a:off x="1473175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</a:t>
            </a:r>
            <a:endParaRPr lang="en-US" sz="800" dirty="0"/>
          </a:p>
        </p:txBody>
      </p:sp>
      <p:sp>
        <p:nvSpPr>
          <p:cNvPr id="10" name="圖示 負責人"/>
          <p:cNvSpPr/>
          <p:nvPr/>
        </p:nvSpPr>
        <p:spPr>
          <a:xfrm>
            <a:off x="2677097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43843" y="167637"/>
                </a:moveTo>
                <a:lnTo>
                  <a:pt x="274320" y="198123"/>
                </a:lnTo>
                <a:lnTo>
                  <a:pt x="335283" y="137160"/>
                </a:lnTo>
                <a:moveTo>
                  <a:pt x="243843" y="320040"/>
                </a:moveTo>
                <a:lnTo>
                  <a:pt x="243843" y="289563"/>
                </a:lnTo>
                <a:cubicBezTo>
                  <a:pt x="243843" y="255895"/>
                  <a:pt x="216548" y="228600"/>
                  <a:pt x="182880" y="228600"/>
                </a:cubicBezTo>
                <a:lnTo>
                  <a:pt x="91440" y="228600"/>
                </a:lnTo>
                <a:cubicBezTo>
                  <a:pt x="57772" y="228600"/>
                  <a:pt x="30477" y="255895"/>
                  <a:pt x="30477" y="289563"/>
                </a:cubicBezTo>
                <a:lnTo>
                  <a:pt x="30477" y="320040"/>
                </a:lnTo>
                <a:moveTo>
                  <a:pt x="198123" y="106683"/>
                </a:moveTo>
                <a:cubicBezTo>
                  <a:pt x="198123" y="140351"/>
                  <a:pt x="170828" y="167637"/>
                  <a:pt x="137160" y="167637"/>
                </a:cubicBezTo>
                <a:cubicBezTo>
                  <a:pt x="103492" y="167637"/>
                  <a:pt x="76197" y="140351"/>
                  <a:pt x="76197" y="106683"/>
                </a:cubicBezTo>
                <a:cubicBezTo>
                  <a:pt x="76197" y="73015"/>
                  <a:pt x="103492" y="45720"/>
                  <a:pt x="137160" y="45720"/>
                </a:cubicBezTo>
                <a:cubicBezTo>
                  <a:pt x="170828" y="45720"/>
                  <a:pt x="198123" y="73015"/>
                  <a:pt x="198123" y="106683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圖說"/>
          <p:cNvSpPr/>
          <p:nvPr/>
        </p:nvSpPr>
        <p:spPr>
          <a:xfrm>
            <a:off x="2397709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負責人</a:t>
            </a:r>
            <a:endParaRPr lang="en-US" sz="800" dirty="0"/>
          </a:p>
        </p:txBody>
      </p:sp>
      <p:sp>
        <p:nvSpPr>
          <p:cNvPr id="12" name="圖示 合作"/>
          <p:cNvSpPr/>
          <p:nvPr/>
        </p:nvSpPr>
        <p:spPr>
          <a:xfrm>
            <a:off x="3601631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67637" y="259077"/>
                </a:moveTo>
                <a:lnTo>
                  <a:pt x="198123" y="289563"/>
                </a:lnTo>
                <a:cubicBezTo>
                  <a:pt x="210742" y="302182"/>
                  <a:pt x="231215" y="302182"/>
                  <a:pt x="243843" y="289563"/>
                </a:cubicBezTo>
                <a:cubicBezTo>
                  <a:pt x="256462" y="276935"/>
                  <a:pt x="256462" y="256462"/>
                  <a:pt x="243843" y="243843"/>
                </a:cubicBezTo>
                <a:moveTo>
                  <a:pt x="213357" y="213357"/>
                </a:moveTo>
                <a:lnTo>
                  <a:pt x="251460" y="251460"/>
                </a:lnTo>
                <a:cubicBezTo>
                  <a:pt x="264088" y="264088"/>
                  <a:pt x="284552" y="264088"/>
                  <a:pt x="297180" y="251460"/>
                </a:cubicBezTo>
                <a:cubicBezTo>
                  <a:pt x="309808" y="238832"/>
                  <a:pt x="309808" y="218368"/>
                  <a:pt x="297180" y="205740"/>
                </a:cubicBezTo>
                <a:lnTo>
                  <a:pt x="238046" y="146606"/>
                </a:lnTo>
                <a:cubicBezTo>
                  <a:pt x="220197" y="128784"/>
                  <a:pt x="191283" y="128784"/>
                  <a:pt x="173434" y="146606"/>
                </a:cubicBezTo>
                <a:lnTo>
                  <a:pt x="160020" y="160020"/>
                </a:lnTo>
                <a:cubicBezTo>
                  <a:pt x="147392" y="172648"/>
                  <a:pt x="126928" y="172648"/>
                  <a:pt x="114300" y="160020"/>
                </a:cubicBezTo>
                <a:cubicBezTo>
                  <a:pt x="101672" y="147392"/>
                  <a:pt x="101672" y="126928"/>
                  <a:pt x="114300" y="114300"/>
                </a:cubicBezTo>
                <a:lnTo>
                  <a:pt x="157121" y="71479"/>
                </a:lnTo>
                <a:cubicBezTo>
                  <a:pt x="185724" y="42949"/>
                  <a:pt x="230045" y="37490"/>
                  <a:pt x="264719" y="58220"/>
                </a:cubicBezTo>
                <a:lnTo>
                  <a:pt x="271879" y="62481"/>
                </a:lnTo>
                <a:cubicBezTo>
                  <a:pt x="278371" y="66404"/>
                  <a:pt x="286088" y="67757"/>
                  <a:pt x="293522" y="66294"/>
                </a:cubicBezTo>
                <a:lnTo>
                  <a:pt x="320040" y="60963"/>
                </a:lnTo>
                <a:moveTo>
                  <a:pt x="320040" y="45720"/>
                </a:moveTo>
                <a:lnTo>
                  <a:pt x="335283" y="213357"/>
                </a:lnTo>
                <a:lnTo>
                  <a:pt x="304797" y="213357"/>
                </a:lnTo>
                <a:moveTo>
                  <a:pt x="45720" y="45720"/>
                </a:moveTo>
                <a:lnTo>
                  <a:pt x="30477" y="213357"/>
                </a:lnTo>
                <a:lnTo>
                  <a:pt x="129543" y="312423"/>
                </a:lnTo>
                <a:cubicBezTo>
                  <a:pt x="142162" y="325042"/>
                  <a:pt x="162635" y="325042"/>
                  <a:pt x="175263" y="312423"/>
                </a:cubicBezTo>
                <a:cubicBezTo>
                  <a:pt x="187882" y="299795"/>
                  <a:pt x="187882" y="279322"/>
                  <a:pt x="175263" y="266703"/>
                </a:cubicBezTo>
                <a:moveTo>
                  <a:pt x="45720" y="60963"/>
                </a:moveTo>
                <a:lnTo>
                  <a:pt x="167637" y="60963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圖說"/>
          <p:cNvSpPr/>
          <p:nvPr/>
        </p:nvSpPr>
        <p:spPr>
          <a:xfrm>
            <a:off x="3322244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</a:t>
            </a:r>
            <a:endParaRPr lang="en-US" sz="800" dirty="0"/>
          </a:p>
        </p:txBody>
      </p:sp>
      <p:sp>
        <p:nvSpPr>
          <p:cNvPr id="14" name="圖示 機台"/>
          <p:cNvSpPr/>
          <p:nvPr/>
        </p:nvSpPr>
        <p:spPr>
          <a:xfrm>
            <a:off x="4526166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76197" y="91440"/>
                </a:moveTo>
                <a:lnTo>
                  <a:pt x="289563" y="91440"/>
                </a:lnTo>
                <a:cubicBezTo>
                  <a:pt x="306397" y="91440"/>
                  <a:pt x="320040" y="105083"/>
                  <a:pt x="320040" y="121917"/>
                </a:cubicBezTo>
                <a:lnTo>
                  <a:pt x="320040" y="259077"/>
                </a:lnTo>
                <a:cubicBezTo>
                  <a:pt x="320040" y="275911"/>
                  <a:pt x="306397" y="289563"/>
                  <a:pt x="289563" y="289563"/>
                </a:cubicBezTo>
                <a:lnTo>
                  <a:pt x="76197" y="289563"/>
                </a:lnTo>
                <a:cubicBezTo>
                  <a:pt x="59363" y="289563"/>
                  <a:pt x="45720" y="275911"/>
                  <a:pt x="45720" y="259077"/>
                </a:cubicBezTo>
                <a:lnTo>
                  <a:pt x="45720" y="121917"/>
                </a:lnTo>
                <a:cubicBezTo>
                  <a:pt x="45720" y="105083"/>
                  <a:pt x="59363" y="91440"/>
                  <a:pt x="76197" y="91440"/>
                </a:cubicBezTo>
                <a:close/>
                <a:moveTo>
                  <a:pt x="106683" y="137160"/>
                </a:moveTo>
                <a:lnTo>
                  <a:pt x="182880" y="137160"/>
                </a:lnTo>
                <a:cubicBezTo>
                  <a:pt x="191292" y="137160"/>
                  <a:pt x="198123" y="143981"/>
                  <a:pt x="198123" y="152403"/>
                </a:cubicBezTo>
                <a:lnTo>
                  <a:pt x="198123" y="213357"/>
                </a:lnTo>
                <a:cubicBezTo>
                  <a:pt x="198123" y="221779"/>
                  <a:pt x="191292" y="228600"/>
                  <a:pt x="182880" y="228600"/>
                </a:cubicBezTo>
                <a:lnTo>
                  <a:pt x="106683" y="228600"/>
                </a:lnTo>
                <a:cubicBezTo>
                  <a:pt x="98261" y="228600"/>
                  <a:pt x="91440" y="221779"/>
                  <a:pt x="91440" y="213357"/>
                </a:cubicBezTo>
                <a:lnTo>
                  <a:pt x="91440" y="152403"/>
                </a:lnTo>
                <a:cubicBezTo>
                  <a:pt x="91440" y="143981"/>
                  <a:pt x="98261" y="137160"/>
                  <a:pt x="106683" y="137160"/>
                </a:cubicBezTo>
                <a:close/>
                <a:moveTo>
                  <a:pt x="251460" y="152403"/>
                </a:moveTo>
                <a:lnTo>
                  <a:pt x="274320" y="152403"/>
                </a:lnTo>
                <a:moveTo>
                  <a:pt x="251460" y="198123"/>
                </a:moveTo>
                <a:lnTo>
                  <a:pt x="274320" y="198123"/>
                </a:lnTo>
                <a:moveTo>
                  <a:pt x="106683" y="289563"/>
                </a:moveTo>
                <a:lnTo>
                  <a:pt x="106683" y="320040"/>
                </a:lnTo>
                <a:moveTo>
                  <a:pt x="259077" y="289563"/>
                </a:moveTo>
                <a:lnTo>
                  <a:pt x="259077" y="320040"/>
                </a:lnTo>
                <a:moveTo>
                  <a:pt x="121917" y="91440"/>
                </a:moveTo>
                <a:lnTo>
                  <a:pt x="121917" y="53337"/>
                </a:lnTo>
                <a:lnTo>
                  <a:pt x="182880" y="53337"/>
                </a:lnTo>
                <a:lnTo>
                  <a:pt x="182880" y="91440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圖說"/>
          <p:cNvSpPr/>
          <p:nvPr/>
        </p:nvSpPr>
        <p:spPr>
          <a:xfrm>
            <a:off x="4246778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</a:t>
            </a:r>
            <a:endParaRPr lang="en-US" sz="800" dirty="0"/>
          </a:p>
        </p:txBody>
      </p:sp>
      <p:sp>
        <p:nvSpPr>
          <p:cNvPr id="16" name="圖示 晶圓"/>
          <p:cNvSpPr/>
          <p:nvPr/>
        </p:nvSpPr>
        <p:spPr>
          <a:xfrm>
            <a:off x="5450700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20088" y="304797"/>
                </a:moveTo>
                <a:cubicBezTo>
                  <a:pt x="63807" y="275820"/>
                  <a:pt x="34665" y="212077"/>
                  <a:pt x="49579" y="150556"/>
                </a:cubicBezTo>
                <a:cubicBezTo>
                  <a:pt x="64493" y="89026"/>
                  <a:pt x="119576" y="45693"/>
                  <a:pt x="182880" y="45693"/>
                </a:cubicBezTo>
                <a:cubicBezTo>
                  <a:pt x="246184" y="45693"/>
                  <a:pt x="301267" y="89026"/>
                  <a:pt x="316181" y="150556"/>
                </a:cubicBezTo>
                <a:cubicBezTo>
                  <a:pt x="331095" y="212077"/>
                  <a:pt x="301953" y="275820"/>
                  <a:pt x="245672" y="304797"/>
                </a:cubicBezTo>
                <a:close/>
                <a:moveTo>
                  <a:pt x="137160" y="76197"/>
                </a:moveTo>
                <a:lnTo>
                  <a:pt x="137160" y="274320"/>
                </a:lnTo>
                <a:moveTo>
                  <a:pt x="228600" y="76197"/>
                </a:moveTo>
                <a:lnTo>
                  <a:pt x="228600" y="274320"/>
                </a:lnTo>
                <a:moveTo>
                  <a:pt x="76197" y="137160"/>
                </a:moveTo>
                <a:lnTo>
                  <a:pt x="289563" y="137160"/>
                </a:lnTo>
                <a:moveTo>
                  <a:pt x="76197" y="228600"/>
                </a:moveTo>
                <a:lnTo>
                  <a:pt x="289563" y="228600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圖說"/>
          <p:cNvSpPr/>
          <p:nvPr/>
        </p:nvSpPr>
        <p:spPr>
          <a:xfrm>
            <a:off x="5171313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晶圓</a:t>
            </a:r>
            <a:endParaRPr lang="en-US" sz="800" dirty="0"/>
          </a:p>
        </p:txBody>
      </p:sp>
      <p:sp>
        <p:nvSpPr>
          <p:cNvPr id="18" name="圖示 晶片"/>
          <p:cNvSpPr/>
          <p:nvPr/>
        </p:nvSpPr>
        <p:spPr>
          <a:xfrm>
            <a:off x="6375235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304797"/>
                </a:moveTo>
                <a:lnTo>
                  <a:pt x="182880" y="335283"/>
                </a:lnTo>
                <a:moveTo>
                  <a:pt x="182880" y="30477"/>
                </a:moveTo>
                <a:lnTo>
                  <a:pt x="182880" y="60963"/>
                </a:lnTo>
                <a:moveTo>
                  <a:pt x="259077" y="304797"/>
                </a:moveTo>
                <a:lnTo>
                  <a:pt x="259077" y="335283"/>
                </a:lnTo>
                <a:moveTo>
                  <a:pt x="259077" y="30477"/>
                </a:moveTo>
                <a:lnTo>
                  <a:pt x="259077" y="60963"/>
                </a:lnTo>
                <a:moveTo>
                  <a:pt x="30477" y="182880"/>
                </a:moveTo>
                <a:lnTo>
                  <a:pt x="60963" y="182880"/>
                </a:lnTo>
                <a:moveTo>
                  <a:pt x="30477" y="259077"/>
                </a:moveTo>
                <a:lnTo>
                  <a:pt x="60963" y="259077"/>
                </a:lnTo>
                <a:moveTo>
                  <a:pt x="30477" y="106683"/>
                </a:moveTo>
                <a:lnTo>
                  <a:pt x="60963" y="106683"/>
                </a:lnTo>
                <a:moveTo>
                  <a:pt x="304797" y="182880"/>
                </a:moveTo>
                <a:lnTo>
                  <a:pt x="335283" y="182880"/>
                </a:lnTo>
                <a:moveTo>
                  <a:pt x="304797" y="259077"/>
                </a:moveTo>
                <a:lnTo>
                  <a:pt x="335283" y="259077"/>
                </a:lnTo>
                <a:moveTo>
                  <a:pt x="304797" y="106683"/>
                </a:moveTo>
                <a:lnTo>
                  <a:pt x="335283" y="106683"/>
                </a:lnTo>
                <a:moveTo>
                  <a:pt x="106683" y="304797"/>
                </a:moveTo>
                <a:lnTo>
                  <a:pt x="106683" y="335283"/>
                </a:lnTo>
                <a:moveTo>
                  <a:pt x="106683" y="30477"/>
                </a:moveTo>
                <a:lnTo>
                  <a:pt x="106683" y="60963"/>
                </a:lnTo>
                <a:moveTo>
                  <a:pt x="91440" y="60963"/>
                </a:moveTo>
                <a:lnTo>
                  <a:pt x="274320" y="60963"/>
                </a:lnTo>
                <a:cubicBezTo>
                  <a:pt x="291154" y="60963"/>
                  <a:pt x="304797" y="74606"/>
                  <a:pt x="304797" y="91440"/>
                </a:cubicBezTo>
                <a:lnTo>
                  <a:pt x="304797" y="274320"/>
                </a:lnTo>
                <a:cubicBezTo>
                  <a:pt x="304797" y="291154"/>
                  <a:pt x="291154" y="304797"/>
                  <a:pt x="274320" y="304797"/>
                </a:cubicBezTo>
                <a:lnTo>
                  <a:pt x="91440" y="304797"/>
                </a:lnTo>
                <a:cubicBezTo>
                  <a:pt x="74606" y="304797"/>
                  <a:pt x="60963" y="291154"/>
                  <a:pt x="60963" y="274320"/>
                </a:cubicBezTo>
                <a:lnTo>
                  <a:pt x="60963" y="91440"/>
                </a:lnTo>
                <a:cubicBezTo>
                  <a:pt x="60963" y="74606"/>
                  <a:pt x="74606" y="60963"/>
                  <a:pt x="91440" y="60963"/>
                </a:cubicBezTo>
                <a:close/>
                <a:moveTo>
                  <a:pt x="137160" y="121917"/>
                </a:moveTo>
                <a:lnTo>
                  <a:pt x="228600" y="121917"/>
                </a:lnTo>
                <a:cubicBezTo>
                  <a:pt x="237012" y="121917"/>
                  <a:pt x="243843" y="128748"/>
                  <a:pt x="243843" y="137160"/>
                </a:cubicBezTo>
                <a:lnTo>
                  <a:pt x="243843" y="228600"/>
                </a:lnTo>
                <a:cubicBezTo>
                  <a:pt x="243843" y="237012"/>
                  <a:pt x="237012" y="243843"/>
                  <a:pt x="228600" y="243843"/>
                </a:cubicBezTo>
                <a:lnTo>
                  <a:pt x="137160" y="243843"/>
                </a:lnTo>
                <a:cubicBezTo>
                  <a:pt x="128748" y="243843"/>
                  <a:pt x="121917" y="237012"/>
                  <a:pt x="121917" y="228600"/>
                </a:cubicBezTo>
                <a:lnTo>
                  <a:pt x="121917" y="137160"/>
                </a:lnTo>
                <a:cubicBezTo>
                  <a:pt x="121917" y="128748"/>
                  <a:pt x="128748" y="121917"/>
                  <a:pt x="137160" y="121917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圖說"/>
          <p:cNvSpPr/>
          <p:nvPr/>
        </p:nvSpPr>
        <p:spPr>
          <a:xfrm>
            <a:off x="6095848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晶片</a:t>
            </a:r>
            <a:endParaRPr lang="en-US" sz="800" dirty="0"/>
          </a:p>
        </p:txBody>
      </p:sp>
      <p:sp>
        <p:nvSpPr>
          <p:cNvPr id="20" name="圖示 工廠"/>
          <p:cNvSpPr/>
          <p:nvPr/>
        </p:nvSpPr>
        <p:spPr>
          <a:xfrm>
            <a:off x="7299770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243843"/>
                </a:moveTo>
                <a:lnTo>
                  <a:pt x="183035" y="243843"/>
                </a:lnTo>
                <a:moveTo>
                  <a:pt x="243843" y="243843"/>
                </a:moveTo>
                <a:lnTo>
                  <a:pt x="243989" y="243843"/>
                </a:lnTo>
                <a:moveTo>
                  <a:pt x="45720" y="289563"/>
                </a:moveTo>
                <a:cubicBezTo>
                  <a:pt x="45720" y="306397"/>
                  <a:pt x="59363" y="320040"/>
                  <a:pt x="76197" y="320040"/>
                </a:cubicBezTo>
                <a:lnTo>
                  <a:pt x="289563" y="320040"/>
                </a:lnTo>
                <a:cubicBezTo>
                  <a:pt x="306397" y="320040"/>
                  <a:pt x="320040" y="306397"/>
                  <a:pt x="320040" y="289563"/>
                </a:cubicBezTo>
                <a:lnTo>
                  <a:pt x="320040" y="129543"/>
                </a:lnTo>
                <a:cubicBezTo>
                  <a:pt x="320040" y="126754"/>
                  <a:pt x="318531" y="124194"/>
                  <a:pt x="316090" y="122850"/>
                </a:cubicBezTo>
                <a:cubicBezTo>
                  <a:pt x="313648" y="121515"/>
                  <a:pt x="310667" y="121615"/>
                  <a:pt x="308317" y="123106"/>
                </a:cubicBezTo>
                <a:lnTo>
                  <a:pt x="240323" y="166448"/>
                </a:lnTo>
                <a:cubicBezTo>
                  <a:pt x="237973" y="167948"/>
                  <a:pt x="234992" y="168048"/>
                  <a:pt x="232550" y="166704"/>
                </a:cubicBezTo>
                <a:cubicBezTo>
                  <a:pt x="230109" y="165369"/>
                  <a:pt x="228600" y="162809"/>
                  <a:pt x="228600" y="160020"/>
                </a:cubicBezTo>
                <a:lnTo>
                  <a:pt x="228600" y="129543"/>
                </a:lnTo>
                <a:cubicBezTo>
                  <a:pt x="228600" y="126754"/>
                  <a:pt x="227091" y="124194"/>
                  <a:pt x="224650" y="122850"/>
                </a:cubicBezTo>
                <a:cubicBezTo>
                  <a:pt x="222208" y="121515"/>
                  <a:pt x="219227" y="121615"/>
                  <a:pt x="216877" y="123106"/>
                </a:cubicBezTo>
                <a:lnTo>
                  <a:pt x="148892" y="166448"/>
                </a:lnTo>
                <a:cubicBezTo>
                  <a:pt x="146551" y="167957"/>
                  <a:pt x="143561" y="168058"/>
                  <a:pt x="141119" y="166723"/>
                </a:cubicBezTo>
                <a:cubicBezTo>
                  <a:pt x="138669" y="165378"/>
                  <a:pt x="137151" y="162809"/>
                  <a:pt x="137160" y="160020"/>
                </a:cubicBezTo>
                <a:lnTo>
                  <a:pt x="137160" y="76197"/>
                </a:lnTo>
                <a:cubicBezTo>
                  <a:pt x="137160" y="59363"/>
                  <a:pt x="123517" y="45720"/>
                  <a:pt x="106683" y="45720"/>
                </a:cubicBezTo>
                <a:lnTo>
                  <a:pt x="76197" y="45720"/>
                </a:lnTo>
                <a:cubicBezTo>
                  <a:pt x="59363" y="45720"/>
                  <a:pt x="45720" y="59363"/>
                  <a:pt x="45720" y="76197"/>
                </a:cubicBezTo>
                <a:close/>
                <a:moveTo>
                  <a:pt x="121917" y="243843"/>
                </a:moveTo>
                <a:lnTo>
                  <a:pt x="122072" y="243843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圖說"/>
          <p:cNvSpPr/>
          <p:nvPr/>
        </p:nvSpPr>
        <p:spPr>
          <a:xfrm>
            <a:off x="7020382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</a:t>
            </a:r>
            <a:endParaRPr lang="en-US" sz="800" dirty="0"/>
          </a:p>
        </p:txBody>
      </p:sp>
      <p:sp>
        <p:nvSpPr>
          <p:cNvPr id="22" name="圖示 伺服器"/>
          <p:cNvSpPr/>
          <p:nvPr/>
        </p:nvSpPr>
        <p:spPr>
          <a:xfrm>
            <a:off x="8224304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60963" y="30477"/>
                </a:moveTo>
                <a:lnTo>
                  <a:pt x="304797" y="30477"/>
                </a:lnTo>
                <a:cubicBezTo>
                  <a:pt x="321631" y="30477"/>
                  <a:pt x="335283" y="44129"/>
                  <a:pt x="335283" y="60963"/>
                </a:cubicBezTo>
                <a:lnTo>
                  <a:pt x="335283" y="121917"/>
                </a:lnTo>
                <a:cubicBezTo>
                  <a:pt x="335283" y="138751"/>
                  <a:pt x="321631" y="152403"/>
                  <a:pt x="304797" y="152403"/>
                </a:cubicBezTo>
                <a:lnTo>
                  <a:pt x="60963" y="152403"/>
                </a:lnTo>
                <a:cubicBezTo>
                  <a:pt x="44129" y="152403"/>
                  <a:pt x="30477" y="138751"/>
                  <a:pt x="30477" y="121917"/>
                </a:cubicBezTo>
                <a:lnTo>
                  <a:pt x="30477" y="60963"/>
                </a:lnTo>
                <a:cubicBezTo>
                  <a:pt x="30477" y="44129"/>
                  <a:pt x="44129" y="30477"/>
                  <a:pt x="60963" y="30477"/>
                </a:cubicBezTo>
                <a:close/>
                <a:moveTo>
                  <a:pt x="60963" y="213357"/>
                </a:moveTo>
                <a:lnTo>
                  <a:pt x="304797" y="213357"/>
                </a:lnTo>
                <a:cubicBezTo>
                  <a:pt x="321631" y="213357"/>
                  <a:pt x="335283" y="227009"/>
                  <a:pt x="335283" y="243843"/>
                </a:cubicBezTo>
                <a:lnTo>
                  <a:pt x="335283" y="304797"/>
                </a:lnTo>
                <a:cubicBezTo>
                  <a:pt x="335283" y="321631"/>
                  <a:pt x="321631" y="335283"/>
                  <a:pt x="304797" y="335283"/>
                </a:cubicBezTo>
                <a:lnTo>
                  <a:pt x="60963" y="335283"/>
                </a:lnTo>
                <a:cubicBezTo>
                  <a:pt x="44129" y="335283"/>
                  <a:pt x="30477" y="321631"/>
                  <a:pt x="30477" y="304797"/>
                </a:cubicBezTo>
                <a:lnTo>
                  <a:pt x="30477" y="243843"/>
                </a:lnTo>
                <a:cubicBezTo>
                  <a:pt x="30477" y="227009"/>
                  <a:pt x="44129" y="213357"/>
                  <a:pt x="60963" y="213357"/>
                </a:cubicBezTo>
                <a:close/>
                <a:moveTo>
                  <a:pt x="91440" y="91440"/>
                </a:moveTo>
                <a:lnTo>
                  <a:pt x="91595" y="91440"/>
                </a:lnTo>
                <a:moveTo>
                  <a:pt x="91440" y="274320"/>
                </a:moveTo>
                <a:lnTo>
                  <a:pt x="91595" y="274320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圖說"/>
          <p:cNvSpPr/>
          <p:nvPr/>
        </p:nvSpPr>
        <p:spPr>
          <a:xfrm>
            <a:off x="7944917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</a:t>
            </a:r>
            <a:endParaRPr lang="en-US" sz="800" dirty="0"/>
          </a:p>
        </p:txBody>
      </p:sp>
      <p:sp>
        <p:nvSpPr>
          <p:cNvPr id="24" name="圖示 資料庫"/>
          <p:cNvSpPr/>
          <p:nvPr/>
        </p:nvSpPr>
        <p:spPr>
          <a:xfrm>
            <a:off x="9148839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20040" y="76197"/>
                </a:moveTo>
                <a:cubicBezTo>
                  <a:pt x="320040" y="101453"/>
                  <a:pt x="258629" y="121917"/>
                  <a:pt x="182880" y="121917"/>
                </a:cubicBezTo>
                <a:cubicBezTo>
                  <a:pt x="107131" y="121917"/>
                  <a:pt x="45720" y="101453"/>
                  <a:pt x="45720" y="76197"/>
                </a:cubicBezTo>
                <a:cubicBezTo>
                  <a:pt x="45720" y="50950"/>
                  <a:pt x="107131" y="30477"/>
                  <a:pt x="182880" y="30477"/>
                </a:cubicBezTo>
                <a:cubicBezTo>
                  <a:pt x="258629" y="30477"/>
                  <a:pt x="320040" y="50950"/>
                  <a:pt x="320040" y="76197"/>
                </a:cubicBezTo>
                <a:close/>
                <a:moveTo>
                  <a:pt x="45720" y="76197"/>
                </a:moveTo>
                <a:lnTo>
                  <a:pt x="45720" y="289563"/>
                </a:lnTo>
                <a:cubicBezTo>
                  <a:pt x="45720" y="314810"/>
                  <a:pt x="107131" y="335283"/>
                  <a:pt x="182880" y="335283"/>
                </a:cubicBezTo>
                <a:cubicBezTo>
                  <a:pt x="258629" y="335283"/>
                  <a:pt x="320040" y="314810"/>
                  <a:pt x="320040" y="289563"/>
                </a:cubicBezTo>
                <a:lnTo>
                  <a:pt x="320040" y="76197"/>
                </a:lnTo>
                <a:moveTo>
                  <a:pt x="45720" y="182880"/>
                </a:moveTo>
                <a:cubicBezTo>
                  <a:pt x="45720" y="208127"/>
                  <a:pt x="107131" y="228600"/>
                  <a:pt x="182880" y="228600"/>
                </a:cubicBezTo>
                <a:cubicBezTo>
                  <a:pt x="258629" y="228600"/>
                  <a:pt x="320040" y="208127"/>
                  <a:pt x="320040" y="182880"/>
                </a:cubicBez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圖說"/>
          <p:cNvSpPr/>
          <p:nvPr/>
        </p:nvSpPr>
        <p:spPr>
          <a:xfrm>
            <a:off x="8869451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800" dirty="0"/>
          </a:p>
        </p:txBody>
      </p:sp>
      <p:sp>
        <p:nvSpPr>
          <p:cNvPr id="26" name="圖示 雲端"/>
          <p:cNvSpPr/>
          <p:nvPr/>
        </p:nvSpPr>
        <p:spPr>
          <a:xfrm>
            <a:off x="10073373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66703" y="289563"/>
                </a:moveTo>
                <a:lnTo>
                  <a:pt x="137160" y="289563"/>
                </a:lnTo>
                <a:cubicBezTo>
                  <a:pt x="82232" y="289545"/>
                  <a:pt x="36293" y="247821"/>
                  <a:pt x="31007" y="193149"/>
                </a:cubicBezTo>
                <a:cubicBezTo>
                  <a:pt x="25713" y="138477"/>
                  <a:pt x="62810" y="88724"/>
                  <a:pt x="116714" y="78181"/>
                </a:cubicBezTo>
                <a:cubicBezTo>
                  <a:pt x="170627" y="67638"/>
                  <a:pt x="223726" y="99761"/>
                  <a:pt x="239417" y="152403"/>
                </a:cubicBezTo>
                <a:lnTo>
                  <a:pt x="266703" y="152403"/>
                </a:lnTo>
                <a:cubicBezTo>
                  <a:pt x="304577" y="152403"/>
                  <a:pt x="335283" y="183109"/>
                  <a:pt x="335283" y="220983"/>
                </a:cubicBezTo>
                <a:cubicBezTo>
                  <a:pt x="335283" y="258857"/>
                  <a:pt x="304577" y="289563"/>
                  <a:pt x="266703" y="289563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圖說"/>
          <p:cNvSpPr/>
          <p:nvPr/>
        </p:nvSpPr>
        <p:spPr>
          <a:xfrm>
            <a:off x="9793986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</a:t>
            </a:r>
            <a:endParaRPr lang="en-US" sz="800" dirty="0"/>
          </a:p>
        </p:txBody>
      </p:sp>
      <p:sp>
        <p:nvSpPr>
          <p:cNvPr id="28" name="圖示 電腦"/>
          <p:cNvSpPr/>
          <p:nvPr/>
        </p:nvSpPr>
        <p:spPr>
          <a:xfrm>
            <a:off x="10997908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60963" y="45720"/>
                </a:moveTo>
                <a:lnTo>
                  <a:pt x="304797" y="45720"/>
                </a:lnTo>
                <a:cubicBezTo>
                  <a:pt x="321631" y="45720"/>
                  <a:pt x="335283" y="59363"/>
                  <a:pt x="335283" y="76197"/>
                </a:cubicBezTo>
                <a:lnTo>
                  <a:pt x="335283" y="228600"/>
                </a:lnTo>
                <a:cubicBezTo>
                  <a:pt x="335283" y="245434"/>
                  <a:pt x="321631" y="259077"/>
                  <a:pt x="304797" y="259077"/>
                </a:cubicBezTo>
                <a:lnTo>
                  <a:pt x="60963" y="259077"/>
                </a:lnTo>
                <a:cubicBezTo>
                  <a:pt x="44129" y="259077"/>
                  <a:pt x="30477" y="245434"/>
                  <a:pt x="30477" y="228600"/>
                </a:cubicBezTo>
                <a:lnTo>
                  <a:pt x="30477" y="76197"/>
                </a:lnTo>
                <a:cubicBezTo>
                  <a:pt x="30477" y="59363"/>
                  <a:pt x="44129" y="45720"/>
                  <a:pt x="60963" y="45720"/>
                </a:cubicBezTo>
                <a:close/>
                <a:moveTo>
                  <a:pt x="121917" y="320040"/>
                </a:moveTo>
                <a:lnTo>
                  <a:pt x="243843" y="320040"/>
                </a:lnTo>
                <a:moveTo>
                  <a:pt x="182880" y="259077"/>
                </a:moveTo>
                <a:lnTo>
                  <a:pt x="182880" y="320040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圖說"/>
          <p:cNvSpPr/>
          <p:nvPr/>
        </p:nvSpPr>
        <p:spPr>
          <a:xfrm>
            <a:off x="10718521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</a:t>
            </a:r>
            <a:endParaRPr lang="en-US" sz="800" dirty="0"/>
          </a:p>
        </p:txBody>
      </p:sp>
      <p:sp>
        <p:nvSpPr>
          <p:cNvPr id="30" name="圖示 物料"/>
          <p:cNvSpPr/>
          <p:nvPr/>
        </p:nvSpPr>
        <p:spPr>
          <a:xfrm>
            <a:off x="828027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67637" y="331168"/>
                </a:moveTo>
                <a:cubicBezTo>
                  <a:pt x="177074" y="336609"/>
                  <a:pt x="188686" y="336609"/>
                  <a:pt x="198123" y="331168"/>
                </a:cubicBezTo>
                <a:lnTo>
                  <a:pt x="304797" y="270205"/>
                </a:lnTo>
                <a:cubicBezTo>
                  <a:pt x="314224" y="264765"/>
                  <a:pt x="320031" y="254715"/>
                  <a:pt x="320040" y="243843"/>
                </a:cubicBezTo>
                <a:lnTo>
                  <a:pt x="320040" y="121917"/>
                </a:lnTo>
                <a:cubicBezTo>
                  <a:pt x="320031" y="111045"/>
                  <a:pt x="314224" y="100995"/>
                  <a:pt x="304797" y="95555"/>
                </a:cubicBezTo>
                <a:lnTo>
                  <a:pt x="198123" y="34592"/>
                </a:lnTo>
                <a:cubicBezTo>
                  <a:pt x="188686" y="29151"/>
                  <a:pt x="177074" y="29151"/>
                  <a:pt x="167637" y="34592"/>
                </a:cubicBezTo>
                <a:lnTo>
                  <a:pt x="60963" y="95555"/>
                </a:lnTo>
                <a:cubicBezTo>
                  <a:pt x="51536" y="100995"/>
                  <a:pt x="45729" y="111045"/>
                  <a:pt x="45720" y="121917"/>
                </a:cubicBezTo>
                <a:lnTo>
                  <a:pt x="45720" y="243843"/>
                </a:lnTo>
                <a:cubicBezTo>
                  <a:pt x="45729" y="254715"/>
                  <a:pt x="51536" y="264765"/>
                  <a:pt x="60963" y="270205"/>
                </a:cubicBezTo>
                <a:close/>
                <a:moveTo>
                  <a:pt x="182880" y="335283"/>
                </a:moveTo>
                <a:lnTo>
                  <a:pt x="182880" y="182880"/>
                </a:lnTo>
                <a:moveTo>
                  <a:pt x="50137" y="106683"/>
                </a:moveTo>
                <a:lnTo>
                  <a:pt x="182880" y="182880"/>
                </a:lnTo>
                <a:lnTo>
                  <a:pt x="315623" y="106683"/>
                </a:lnTo>
                <a:moveTo>
                  <a:pt x="114300" y="65078"/>
                </a:moveTo>
                <a:lnTo>
                  <a:pt x="251460" y="143561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圖說"/>
          <p:cNvSpPr/>
          <p:nvPr/>
        </p:nvSpPr>
        <p:spPr>
          <a:xfrm>
            <a:off x="548640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物料</a:t>
            </a:r>
            <a:endParaRPr lang="en-US" sz="800" dirty="0"/>
          </a:p>
        </p:txBody>
      </p:sp>
      <p:sp>
        <p:nvSpPr>
          <p:cNvPr id="32" name="圖示 警示"/>
          <p:cNvSpPr/>
          <p:nvPr/>
        </p:nvSpPr>
        <p:spPr>
          <a:xfrm>
            <a:off x="1752562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1168" y="274320"/>
                </a:moveTo>
                <a:lnTo>
                  <a:pt x="209242" y="60963"/>
                </a:lnTo>
                <a:cubicBezTo>
                  <a:pt x="203829" y="51408"/>
                  <a:pt x="193706" y="45510"/>
                  <a:pt x="182725" y="45510"/>
                </a:cubicBezTo>
                <a:cubicBezTo>
                  <a:pt x="171752" y="45510"/>
                  <a:pt x="161620" y="51408"/>
                  <a:pt x="156207" y="60963"/>
                </a:cubicBezTo>
                <a:lnTo>
                  <a:pt x="34290" y="274320"/>
                </a:lnTo>
                <a:cubicBezTo>
                  <a:pt x="28822" y="283793"/>
                  <a:pt x="28849" y="295470"/>
                  <a:pt x="34354" y="304916"/>
                </a:cubicBezTo>
                <a:cubicBezTo>
                  <a:pt x="39868" y="314371"/>
                  <a:pt x="50018" y="320141"/>
                  <a:pt x="60963" y="320040"/>
                </a:cubicBezTo>
                <a:lnTo>
                  <a:pt x="304797" y="320040"/>
                </a:lnTo>
                <a:cubicBezTo>
                  <a:pt x="315687" y="320031"/>
                  <a:pt x="325737" y="314215"/>
                  <a:pt x="331177" y="304788"/>
                </a:cubicBezTo>
                <a:cubicBezTo>
                  <a:pt x="336609" y="295360"/>
                  <a:pt x="336609" y="283747"/>
                  <a:pt x="331168" y="274320"/>
                </a:cubicBezTo>
                <a:moveTo>
                  <a:pt x="182880" y="137160"/>
                </a:moveTo>
                <a:lnTo>
                  <a:pt x="182880" y="198123"/>
                </a:lnTo>
                <a:moveTo>
                  <a:pt x="182880" y="259077"/>
                </a:moveTo>
                <a:lnTo>
                  <a:pt x="183035" y="259077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圖說"/>
          <p:cNvSpPr/>
          <p:nvPr/>
        </p:nvSpPr>
        <p:spPr>
          <a:xfrm>
            <a:off x="1473175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</a:t>
            </a:r>
            <a:endParaRPr lang="en-US" sz="800" dirty="0"/>
          </a:p>
        </p:txBody>
      </p:sp>
      <p:sp>
        <p:nvSpPr>
          <p:cNvPr id="34" name="圖示 完成"/>
          <p:cNvSpPr/>
          <p:nvPr/>
        </p:nvSpPr>
        <p:spPr>
          <a:xfrm>
            <a:off x="2677097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5283" y="182880"/>
                </a:moveTo>
                <a:cubicBezTo>
                  <a:pt x="335283" y="267051"/>
                  <a:pt x="267051" y="335283"/>
                  <a:pt x="182880" y="335283"/>
                </a:cubicBezTo>
                <a:cubicBezTo>
                  <a:pt x="98709" y="335283"/>
                  <a:pt x="30477" y="267051"/>
                  <a:pt x="30477" y="182880"/>
                </a:cubicBezTo>
                <a:cubicBezTo>
                  <a:pt x="30477" y="98709"/>
                  <a:pt x="98709" y="30477"/>
                  <a:pt x="182880" y="30477"/>
                </a:cubicBezTo>
                <a:cubicBezTo>
                  <a:pt x="267051" y="30477"/>
                  <a:pt x="335283" y="98709"/>
                  <a:pt x="335283" y="182880"/>
                </a:cubicBezTo>
                <a:close/>
                <a:moveTo>
                  <a:pt x="243843" y="137160"/>
                </a:moveTo>
                <a:lnTo>
                  <a:pt x="160020" y="220983"/>
                </a:lnTo>
                <a:lnTo>
                  <a:pt x="121917" y="182880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圖說"/>
          <p:cNvSpPr/>
          <p:nvPr/>
        </p:nvSpPr>
        <p:spPr>
          <a:xfrm>
            <a:off x="2397709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800" dirty="0"/>
          </a:p>
        </p:txBody>
      </p:sp>
      <p:sp>
        <p:nvSpPr>
          <p:cNvPr id="36" name="圖示 錯誤"/>
          <p:cNvSpPr/>
          <p:nvPr/>
        </p:nvSpPr>
        <p:spPr>
          <a:xfrm>
            <a:off x="3601631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5283" y="182880"/>
                </a:moveTo>
                <a:cubicBezTo>
                  <a:pt x="335283" y="267051"/>
                  <a:pt x="267051" y="335283"/>
                  <a:pt x="182880" y="335283"/>
                </a:cubicBezTo>
                <a:cubicBezTo>
                  <a:pt x="98709" y="335283"/>
                  <a:pt x="30477" y="267051"/>
                  <a:pt x="30477" y="182880"/>
                </a:cubicBezTo>
                <a:cubicBezTo>
                  <a:pt x="30477" y="98709"/>
                  <a:pt x="98709" y="30477"/>
                  <a:pt x="182880" y="30477"/>
                </a:cubicBezTo>
                <a:cubicBezTo>
                  <a:pt x="267051" y="30477"/>
                  <a:pt x="335283" y="98709"/>
                  <a:pt x="335283" y="182880"/>
                </a:cubicBezTo>
                <a:close/>
                <a:moveTo>
                  <a:pt x="228600" y="137160"/>
                </a:moveTo>
                <a:lnTo>
                  <a:pt x="137160" y="228600"/>
                </a:lnTo>
                <a:moveTo>
                  <a:pt x="137160" y="137160"/>
                </a:moveTo>
                <a:lnTo>
                  <a:pt x="228600" y="228600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圖說"/>
          <p:cNvSpPr/>
          <p:nvPr/>
        </p:nvSpPr>
        <p:spPr>
          <a:xfrm>
            <a:off x="3322244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</a:t>
            </a:r>
            <a:endParaRPr lang="en-US" sz="800" dirty="0"/>
          </a:p>
        </p:txBody>
      </p:sp>
      <p:sp>
        <p:nvSpPr>
          <p:cNvPr id="38" name="圖示 時間"/>
          <p:cNvSpPr/>
          <p:nvPr/>
        </p:nvSpPr>
        <p:spPr>
          <a:xfrm>
            <a:off x="4526166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5283" y="182880"/>
                </a:moveTo>
                <a:cubicBezTo>
                  <a:pt x="335283" y="267051"/>
                  <a:pt x="267051" y="335283"/>
                  <a:pt x="182880" y="335283"/>
                </a:cubicBezTo>
                <a:cubicBezTo>
                  <a:pt x="98709" y="335283"/>
                  <a:pt x="30477" y="267051"/>
                  <a:pt x="30477" y="182880"/>
                </a:cubicBezTo>
                <a:cubicBezTo>
                  <a:pt x="30477" y="98709"/>
                  <a:pt x="98709" y="30477"/>
                  <a:pt x="182880" y="30477"/>
                </a:cubicBezTo>
                <a:cubicBezTo>
                  <a:pt x="267051" y="30477"/>
                  <a:pt x="335283" y="98709"/>
                  <a:pt x="335283" y="182880"/>
                </a:cubicBezTo>
                <a:close/>
                <a:moveTo>
                  <a:pt x="182880" y="91440"/>
                </a:moveTo>
                <a:lnTo>
                  <a:pt x="182880" y="182880"/>
                </a:lnTo>
                <a:lnTo>
                  <a:pt x="243843" y="213357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圖說"/>
          <p:cNvSpPr/>
          <p:nvPr/>
        </p:nvSpPr>
        <p:spPr>
          <a:xfrm>
            <a:off x="4246778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</a:t>
            </a:r>
            <a:endParaRPr lang="en-US" sz="800" dirty="0"/>
          </a:p>
        </p:txBody>
      </p:sp>
      <p:sp>
        <p:nvSpPr>
          <p:cNvPr id="40" name="圖示 日期"/>
          <p:cNvSpPr/>
          <p:nvPr/>
        </p:nvSpPr>
        <p:spPr>
          <a:xfrm>
            <a:off x="5450700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21917" y="30477"/>
                </a:moveTo>
                <a:lnTo>
                  <a:pt x="121917" y="76197"/>
                </a:lnTo>
                <a:moveTo>
                  <a:pt x="243843" y="30477"/>
                </a:moveTo>
                <a:lnTo>
                  <a:pt x="243843" y="76197"/>
                </a:lnTo>
                <a:moveTo>
                  <a:pt x="76197" y="45720"/>
                </a:moveTo>
                <a:lnTo>
                  <a:pt x="289563" y="45720"/>
                </a:lnTo>
                <a:cubicBezTo>
                  <a:pt x="306397" y="45720"/>
                  <a:pt x="320040" y="59363"/>
                  <a:pt x="320040" y="76197"/>
                </a:cubicBezTo>
                <a:lnTo>
                  <a:pt x="320040" y="289563"/>
                </a:lnTo>
                <a:cubicBezTo>
                  <a:pt x="320040" y="306397"/>
                  <a:pt x="306397" y="320040"/>
                  <a:pt x="289563" y="320040"/>
                </a:cubicBezTo>
                <a:lnTo>
                  <a:pt x="76197" y="320040"/>
                </a:lnTo>
                <a:cubicBezTo>
                  <a:pt x="59363" y="320040"/>
                  <a:pt x="45720" y="306397"/>
                  <a:pt x="45720" y="289563"/>
                </a:cubicBezTo>
                <a:lnTo>
                  <a:pt x="45720" y="76197"/>
                </a:lnTo>
                <a:cubicBezTo>
                  <a:pt x="45720" y="59363"/>
                  <a:pt x="59363" y="45720"/>
                  <a:pt x="76197" y="45720"/>
                </a:cubicBezTo>
                <a:close/>
                <a:moveTo>
                  <a:pt x="45720" y="137160"/>
                </a:moveTo>
                <a:lnTo>
                  <a:pt x="320040" y="137160"/>
                </a:lnTo>
                <a:moveTo>
                  <a:pt x="121917" y="198123"/>
                </a:moveTo>
                <a:lnTo>
                  <a:pt x="122072" y="198123"/>
                </a:lnTo>
                <a:moveTo>
                  <a:pt x="182880" y="198123"/>
                </a:moveTo>
                <a:lnTo>
                  <a:pt x="183035" y="198123"/>
                </a:lnTo>
                <a:moveTo>
                  <a:pt x="243843" y="198123"/>
                </a:moveTo>
                <a:lnTo>
                  <a:pt x="243989" y="198123"/>
                </a:lnTo>
                <a:moveTo>
                  <a:pt x="121917" y="259077"/>
                </a:moveTo>
                <a:lnTo>
                  <a:pt x="122072" y="259077"/>
                </a:lnTo>
                <a:moveTo>
                  <a:pt x="182880" y="259077"/>
                </a:moveTo>
                <a:lnTo>
                  <a:pt x="183035" y="259077"/>
                </a:lnTo>
                <a:moveTo>
                  <a:pt x="243843" y="259077"/>
                </a:moveTo>
                <a:lnTo>
                  <a:pt x="243989" y="259077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圖說"/>
          <p:cNvSpPr/>
          <p:nvPr/>
        </p:nvSpPr>
        <p:spPr>
          <a:xfrm>
            <a:off x="5171313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</a:t>
            </a:r>
            <a:endParaRPr lang="en-US" sz="800" dirty="0"/>
          </a:p>
        </p:txBody>
      </p:sp>
      <p:sp>
        <p:nvSpPr>
          <p:cNvPr id="42" name="圖示 等待"/>
          <p:cNvSpPr/>
          <p:nvPr/>
        </p:nvSpPr>
        <p:spPr>
          <a:xfrm>
            <a:off x="6375235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76197" y="335283"/>
                </a:moveTo>
                <a:lnTo>
                  <a:pt x="289563" y="335283"/>
                </a:lnTo>
                <a:moveTo>
                  <a:pt x="76197" y="30477"/>
                </a:moveTo>
                <a:lnTo>
                  <a:pt x="289563" y="30477"/>
                </a:lnTo>
                <a:moveTo>
                  <a:pt x="259077" y="335283"/>
                </a:moveTo>
                <a:lnTo>
                  <a:pt x="259077" y="271696"/>
                </a:lnTo>
                <a:cubicBezTo>
                  <a:pt x="259077" y="263612"/>
                  <a:pt x="255867" y="255867"/>
                  <a:pt x="250152" y="250152"/>
                </a:cubicBezTo>
                <a:lnTo>
                  <a:pt x="182880" y="182880"/>
                </a:lnTo>
                <a:lnTo>
                  <a:pt x="115608" y="250152"/>
                </a:lnTo>
                <a:cubicBezTo>
                  <a:pt x="109893" y="255867"/>
                  <a:pt x="106683" y="263612"/>
                  <a:pt x="106683" y="271696"/>
                </a:cubicBezTo>
                <a:lnTo>
                  <a:pt x="106683" y="335283"/>
                </a:lnTo>
                <a:moveTo>
                  <a:pt x="106683" y="30477"/>
                </a:moveTo>
                <a:lnTo>
                  <a:pt x="106683" y="94064"/>
                </a:lnTo>
                <a:cubicBezTo>
                  <a:pt x="106683" y="102148"/>
                  <a:pt x="109893" y="109893"/>
                  <a:pt x="115608" y="115608"/>
                </a:cubicBezTo>
                <a:lnTo>
                  <a:pt x="182880" y="182880"/>
                </a:lnTo>
                <a:lnTo>
                  <a:pt x="250152" y="115608"/>
                </a:lnTo>
                <a:cubicBezTo>
                  <a:pt x="255867" y="109893"/>
                  <a:pt x="259077" y="102148"/>
                  <a:pt x="259077" y="94064"/>
                </a:cubicBezTo>
                <a:lnTo>
                  <a:pt x="259077" y="30477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圖說"/>
          <p:cNvSpPr/>
          <p:nvPr/>
        </p:nvSpPr>
        <p:spPr>
          <a:xfrm>
            <a:off x="6095848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</a:t>
            </a:r>
            <a:endParaRPr lang="en-US" sz="800" dirty="0"/>
          </a:p>
        </p:txBody>
      </p:sp>
      <p:sp>
        <p:nvSpPr>
          <p:cNvPr id="44" name="圖示 效能"/>
          <p:cNvSpPr/>
          <p:nvPr/>
        </p:nvSpPr>
        <p:spPr>
          <a:xfrm>
            <a:off x="7299770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213357"/>
                </a:moveTo>
                <a:lnTo>
                  <a:pt x="243843" y="152403"/>
                </a:lnTo>
                <a:moveTo>
                  <a:pt x="50905" y="289563"/>
                </a:moveTo>
                <a:cubicBezTo>
                  <a:pt x="13917" y="225509"/>
                  <a:pt x="28264" y="144155"/>
                  <a:pt x="84920" y="96606"/>
                </a:cubicBezTo>
                <a:cubicBezTo>
                  <a:pt x="141577" y="49067"/>
                  <a:pt x="224183" y="49067"/>
                  <a:pt x="280840" y="96606"/>
                </a:cubicBezTo>
                <a:cubicBezTo>
                  <a:pt x="337496" y="144155"/>
                  <a:pt x="351843" y="225509"/>
                  <a:pt x="314855" y="289563"/>
                </a:cubicBez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圖說"/>
          <p:cNvSpPr/>
          <p:nvPr/>
        </p:nvSpPr>
        <p:spPr>
          <a:xfrm>
            <a:off x="7020382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</a:t>
            </a:r>
            <a:endParaRPr lang="en-US" sz="800" dirty="0"/>
          </a:p>
        </p:txBody>
      </p:sp>
      <p:sp>
        <p:nvSpPr>
          <p:cNvPr id="46" name="圖示 文件"/>
          <p:cNvSpPr/>
          <p:nvPr/>
        </p:nvSpPr>
        <p:spPr>
          <a:xfrm>
            <a:off x="8224304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91440" y="335283"/>
                </a:moveTo>
                <a:cubicBezTo>
                  <a:pt x="74606" y="335283"/>
                  <a:pt x="60963" y="321631"/>
                  <a:pt x="60963" y="304797"/>
                </a:cubicBezTo>
                <a:lnTo>
                  <a:pt x="60963" y="60963"/>
                </a:lnTo>
                <a:cubicBezTo>
                  <a:pt x="60963" y="44129"/>
                  <a:pt x="74606" y="30477"/>
                  <a:pt x="91440" y="30477"/>
                </a:cubicBezTo>
                <a:lnTo>
                  <a:pt x="213357" y="30477"/>
                </a:lnTo>
                <a:cubicBezTo>
                  <a:pt x="223104" y="30468"/>
                  <a:pt x="232450" y="34336"/>
                  <a:pt x="239326" y="41239"/>
                </a:cubicBezTo>
                <a:lnTo>
                  <a:pt x="294007" y="95921"/>
                </a:lnTo>
                <a:cubicBezTo>
                  <a:pt x="300929" y="102797"/>
                  <a:pt x="304815" y="112160"/>
                  <a:pt x="304797" y="121917"/>
                </a:cubicBezTo>
                <a:lnTo>
                  <a:pt x="304797" y="304797"/>
                </a:lnTo>
                <a:cubicBezTo>
                  <a:pt x="304797" y="321631"/>
                  <a:pt x="291154" y="335283"/>
                  <a:pt x="274320" y="335283"/>
                </a:cubicBezTo>
                <a:close/>
                <a:moveTo>
                  <a:pt x="213357" y="30477"/>
                </a:moveTo>
                <a:lnTo>
                  <a:pt x="213357" y="106683"/>
                </a:lnTo>
                <a:cubicBezTo>
                  <a:pt x="213357" y="115096"/>
                  <a:pt x="220188" y="121917"/>
                  <a:pt x="228600" y="121917"/>
                </a:cubicBezTo>
                <a:lnTo>
                  <a:pt x="304797" y="121917"/>
                </a:lnTo>
                <a:moveTo>
                  <a:pt x="152403" y="137160"/>
                </a:moveTo>
                <a:lnTo>
                  <a:pt x="121917" y="137160"/>
                </a:lnTo>
                <a:moveTo>
                  <a:pt x="243843" y="198123"/>
                </a:moveTo>
                <a:lnTo>
                  <a:pt x="121917" y="198123"/>
                </a:lnTo>
                <a:moveTo>
                  <a:pt x="243843" y="259077"/>
                </a:moveTo>
                <a:lnTo>
                  <a:pt x="121917" y="259077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圖說"/>
          <p:cNvSpPr/>
          <p:nvPr/>
        </p:nvSpPr>
        <p:spPr>
          <a:xfrm>
            <a:off x="7944917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800" dirty="0"/>
          </a:p>
        </p:txBody>
      </p:sp>
      <p:sp>
        <p:nvSpPr>
          <p:cNvPr id="48" name="圖示 檢核表"/>
          <p:cNvSpPr/>
          <p:nvPr/>
        </p:nvSpPr>
        <p:spPr>
          <a:xfrm>
            <a:off x="9148839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37160" y="30477"/>
                </a:moveTo>
                <a:lnTo>
                  <a:pt x="228600" y="30477"/>
                </a:lnTo>
                <a:cubicBezTo>
                  <a:pt x="237012" y="30477"/>
                  <a:pt x="243843" y="37308"/>
                  <a:pt x="243843" y="45720"/>
                </a:cubicBezTo>
                <a:lnTo>
                  <a:pt x="243843" y="76197"/>
                </a:lnTo>
                <a:cubicBezTo>
                  <a:pt x="243843" y="84619"/>
                  <a:pt x="237012" y="91440"/>
                  <a:pt x="228600" y="91440"/>
                </a:cubicBezTo>
                <a:lnTo>
                  <a:pt x="137160" y="91440"/>
                </a:lnTo>
                <a:cubicBezTo>
                  <a:pt x="128748" y="91440"/>
                  <a:pt x="121917" y="84619"/>
                  <a:pt x="121917" y="76197"/>
                </a:cubicBezTo>
                <a:lnTo>
                  <a:pt x="121917" y="45720"/>
                </a:lnTo>
                <a:cubicBezTo>
                  <a:pt x="121917" y="37308"/>
                  <a:pt x="128748" y="30477"/>
                  <a:pt x="137160" y="30477"/>
                </a:cubicBezTo>
                <a:close/>
                <a:moveTo>
                  <a:pt x="243843" y="60963"/>
                </a:moveTo>
                <a:lnTo>
                  <a:pt x="274320" y="60963"/>
                </a:lnTo>
                <a:cubicBezTo>
                  <a:pt x="291154" y="60963"/>
                  <a:pt x="304797" y="74606"/>
                  <a:pt x="304797" y="91440"/>
                </a:cubicBezTo>
                <a:lnTo>
                  <a:pt x="304797" y="304797"/>
                </a:lnTo>
                <a:cubicBezTo>
                  <a:pt x="304797" y="321631"/>
                  <a:pt x="291154" y="335283"/>
                  <a:pt x="274320" y="335283"/>
                </a:cubicBezTo>
                <a:lnTo>
                  <a:pt x="91440" y="335283"/>
                </a:lnTo>
                <a:cubicBezTo>
                  <a:pt x="74606" y="335283"/>
                  <a:pt x="60963" y="321631"/>
                  <a:pt x="60963" y="304797"/>
                </a:cubicBezTo>
                <a:lnTo>
                  <a:pt x="60963" y="91440"/>
                </a:lnTo>
                <a:cubicBezTo>
                  <a:pt x="60963" y="74606"/>
                  <a:pt x="74606" y="60963"/>
                  <a:pt x="91440" y="60963"/>
                </a:cubicBezTo>
                <a:lnTo>
                  <a:pt x="121917" y="60963"/>
                </a:lnTo>
                <a:moveTo>
                  <a:pt x="182880" y="167637"/>
                </a:moveTo>
                <a:lnTo>
                  <a:pt x="243843" y="167637"/>
                </a:lnTo>
                <a:moveTo>
                  <a:pt x="182880" y="243843"/>
                </a:moveTo>
                <a:lnTo>
                  <a:pt x="243843" y="243843"/>
                </a:lnTo>
                <a:moveTo>
                  <a:pt x="121917" y="167637"/>
                </a:moveTo>
                <a:lnTo>
                  <a:pt x="122072" y="167637"/>
                </a:lnTo>
                <a:moveTo>
                  <a:pt x="121917" y="243843"/>
                </a:moveTo>
                <a:lnTo>
                  <a:pt x="122072" y="243843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圖說"/>
          <p:cNvSpPr/>
          <p:nvPr/>
        </p:nvSpPr>
        <p:spPr>
          <a:xfrm>
            <a:off x="8869451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檢核表</a:t>
            </a:r>
            <a:endParaRPr lang="en-US" sz="800" dirty="0"/>
          </a:p>
        </p:txBody>
      </p:sp>
      <p:sp>
        <p:nvSpPr>
          <p:cNvPr id="50" name="圖示 報表"/>
          <p:cNvSpPr/>
          <p:nvPr/>
        </p:nvSpPr>
        <p:spPr>
          <a:xfrm>
            <a:off x="10073373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45720" y="45720"/>
                </a:moveTo>
                <a:lnTo>
                  <a:pt x="45720" y="289563"/>
                </a:lnTo>
                <a:cubicBezTo>
                  <a:pt x="45720" y="306397"/>
                  <a:pt x="59363" y="320040"/>
                  <a:pt x="76197" y="320040"/>
                </a:cubicBezTo>
                <a:lnTo>
                  <a:pt x="320040" y="320040"/>
                </a:lnTo>
                <a:moveTo>
                  <a:pt x="274320" y="259077"/>
                </a:moveTo>
                <a:lnTo>
                  <a:pt x="274320" y="137160"/>
                </a:lnTo>
                <a:moveTo>
                  <a:pt x="198123" y="259077"/>
                </a:moveTo>
                <a:lnTo>
                  <a:pt x="198123" y="76197"/>
                </a:lnTo>
                <a:moveTo>
                  <a:pt x="121917" y="259077"/>
                </a:moveTo>
                <a:lnTo>
                  <a:pt x="121917" y="213357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圖說"/>
          <p:cNvSpPr/>
          <p:nvPr/>
        </p:nvSpPr>
        <p:spPr>
          <a:xfrm>
            <a:off x="9793986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</a:t>
            </a:r>
            <a:endParaRPr lang="en-US" sz="800" dirty="0"/>
          </a:p>
        </p:txBody>
      </p:sp>
      <p:sp>
        <p:nvSpPr>
          <p:cNvPr id="52" name="圖示 上升"/>
          <p:cNvSpPr/>
          <p:nvPr/>
        </p:nvSpPr>
        <p:spPr>
          <a:xfrm>
            <a:off x="10997908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43843" y="106683"/>
                </a:moveTo>
                <a:lnTo>
                  <a:pt x="335283" y="106683"/>
                </a:lnTo>
                <a:lnTo>
                  <a:pt x="335283" y="198123"/>
                </a:lnTo>
                <a:moveTo>
                  <a:pt x="335283" y="106683"/>
                </a:moveTo>
                <a:lnTo>
                  <a:pt x="205740" y="236217"/>
                </a:lnTo>
                <a:lnTo>
                  <a:pt x="129543" y="160020"/>
                </a:lnTo>
                <a:lnTo>
                  <a:pt x="30477" y="259077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圖說"/>
          <p:cNvSpPr/>
          <p:nvPr/>
        </p:nvSpPr>
        <p:spPr>
          <a:xfrm>
            <a:off x="10718521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</a:t>
            </a:r>
            <a:endParaRPr lang="en-US" sz="800" dirty="0"/>
          </a:p>
        </p:txBody>
      </p:sp>
      <p:sp>
        <p:nvSpPr>
          <p:cNvPr id="54" name="圖示 下降"/>
          <p:cNvSpPr/>
          <p:nvPr/>
        </p:nvSpPr>
        <p:spPr>
          <a:xfrm>
            <a:off x="828027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43843" y="259077"/>
                </a:moveTo>
                <a:lnTo>
                  <a:pt x="335283" y="259077"/>
                </a:lnTo>
                <a:lnTo>
                  <a:pt x="335283" y="167637"/>
                </a:lnTo>
                <a:moveTo>
                  <a:pt x="335283" y="259077"/>
                </a:moveTo>
                <a:lnTo>
                  <a:pt x="205740" y="129543"/>
                </a:lnTo>
                <a:lnTo>
                  <a:pt x="129543" y="205740"/>
                </a:lnTo>
                <a:lnTo>
                  <a:pt x="30477" y="106683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圖說"/>
          <p:cNvSpPr/>
          <p:nvPr/>
        </p:nvSpPr>
        <p:spPr>
          <a:xfrm>
            <a:off x="548640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下降</a:t>
            </a:r>
            <a:endParaRPr lang="en-US" sz="800" dirty="0"/>
          </a:p>
        </p:txBody>
      </p:sp>
      <p:sp>
        <p:nvSpPr>
          <p:cNvPr id="56" name="圖示 占比"/>
          <p:cNvSpPr/>
          <p:nvPr/>
        </p:nvSpPr>
        <p:spPr>
          <a:xfrm>
            <a:off x="1752562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20040" y="182880"/>
                </a:moveTo>
                <a:cubicBezTo>
                  <a:pt x="328452" y="182880"/>
                  <a:pt x="335356" y="176040"/>
                  <a:pt x="334515" y="167674"/>
                </a:cubicBezTo>
                <a:cubicBezTo>
                  <a:pt x="327273" y="95537"/>
                  <a:pt x="270214" y="38487"/>
                  <a:pt x="198077" y="31254"/>
                </a:cubicBezTo>
                <a:cubicBezTo>
                  <a:pt x="189692" y="30422"/>
                  <a:pt x="182862" y="37326"/>
                  <a:pt x="182862" y="45738"/>
                </a:cubicBezTo>
                <a:lnTo>
                  <a:pt x="182862" y="167655"/>
                </a:lnTo>
                <a:cubicBezTo>
                  <a:pt x="182862" y="176068"/>
                  <a:pt x="189692" y="182898"/>
                  <a:pt x="198105" y="182898"/>
                </a:cubicBezTo>
                <a:close/>
                <a:moveTo>
                  <a:pt x="323240" y="242161"/>
                </a:moveTo>
                <a:cubicBezTo>
                  <a:pt x="296567" y="305236"/>
                  <a:pt x="231096" y="342781"/>
                  <a:pt x="163184" y="333930"/>
                </a:cubicBezTo>
                <a:cubicBezTo>
                  <a:pt x="95280" y="325087"/>
                  <a:pt x="41605" y="272025"/>
                  <a:pt x="31986" y="204222"/>
                </a:cubicBezTo>
                <a:cubicBezTo>
                  <a:pt x="22366" y="136419"/>
                  <a:pt x="59153" y="70519"/>
                  <a:pt x="121917" y="43132"/>
                </a:cubicBez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圖說"/>
          <p:cNvSpPr/>
          <p:nvPr/>
        </p:nvSpPr>
        <p:spPr>
          <a:xfrm>
            <a:off x="1473175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占比</a:t>
            </a:r>
            <a:endParaRPr lang="en-US" sz="800" dirty="0"/>
          </a:p>
        </p:txBody>
      </p:sp>
      <p:sp>
        <p:nvSpPr>
          <p:cNvPr id="58" name="圖示 監控"/>
          <p:cNvSpPr/>
          <p:nvPr/>
        </p:nvSpPr>
        <p:spPr>
          <a:xfrm>
            <a:off x="2677097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5283" y="182880"/>
                </a:moveTo>
                <a:lnTo>
                  <a:pt x="297482" y="182880"/>
                </a:lnTo>
                <a:cubicBezTo>
                  <a:pt x="283793" y="182853"/>
                  <a:pt x="271769" y="191951"/>
                  <a:pt x="268075" y="205127"/>
                </a:cubicBezTo>
                <a:lnTo>
                  <a:pt x="232258" y="332540"/>
                </a:lnTo>
                <a:cubicBezTo>
                  <a:pt x="231782" y="334158"/>
                  <a:pt x="230292" y="335283"/>
                  <a:pt x="228600" y="335283"/>
                </a:cubicBezTo>
                <a:cubicBezTo>
                  <a:pt x="226908" y="335283"/>
                  <a:pt x="225418" y="334158"/>
                  <a:pt x="224942" y="332540"/>
                </a:cubicBezTo>
                <a:lnTo>
                  <a:pt x="140818" y="33220"/>
                </a:lnTo>
                <a:cubicBezTo>
                  <a:pt x="140342" y="31602"/>
                  <a:pt x="138852" y="30477"/>
                  <a:pt x="137160" y="30477"/>
                </a:cubicBezTo>
                <a:cubicBezTo>
                  <a:pt x="135468" y="30477"/>
                  <a:pt x="133978" y="31602"/>
                  <a:pt x="133502" y="33220"/>
                </a:cubicBezTo>
                <a:lnTo>
                  <a:pt x="97685" y="160633"/>
                </a:lnTo>
                <a:cubicBezTo>
                  <a:pt x="94009" y="173754"/>
                  <a:pt x="82058" y="182843"/>
                  <a:pt x="68425" y="182880"/>
                </a:cubicBezTo>
                <a:lnTo>
                  <a:pt x="30477" y="182880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圖說"/>
          <p:cNvSpPr/>
          <p:nvPr/>
        </p:nvSpPr>
        <p:spPr>
          <a:xfrm>
            <a:off x="2397709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</a:t>
            </a:r>
            <a:endParaRPr lang="en-US" sz="800" dirty="0"/>
          </a:p>
        </p:txBody>
      </p:sp>
      <p:sp>
        <p:nvSpPr>
          <p:cNvPr id="60" name="圖示 設定"/>
          <p:cNvSpPr/>
          <p:nvPr/>
        </p:nvSpPr>
        <p:spPr>
          <a:xfrm>
            <a:off x="3601631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47383" y="63030"/>
                </a:moveTo>
                <a:cubicBezTo>
                  <a:pt x="149129" y="44723"/>
                  <a:pt x="164501" y="30742"/>
                  <a:pt x="182889" y="30742"/>
                </a:cubicBezTo>
                <a:cubicBezTo>
                  <a:pt x="201278" y="30742"/>
                  <a:pt x="216649" y="44723"/>
                  <a:pt x="218386" y="63030"/>
                </a:cubicBezTo>
                <a:cubicBezTo>
                  <a:pt x="219410" y="74615"/>
                  <a:pt x="226021" y="84966"/>
                  <a:pt x="236089" y="90782"/>
                </a:cubicBezTo>
                <a:cubicBezTo>
                  <a:pt x="246156" y="96588"/>
                  <a:pt x="258428" y="97128"/>
                  <a:pt x="268971" y="92217"/>
                </a:cubicBezTo>
                <a:cubicBezTo>
                  <a:pt x="285677" y="84628"/>
                  <a:pt x="305410" y="90965"/>
                  <a:pt x="314590" y="106848"/>
                </a:cubicBezTo>
                <a:cubicBezTo>
                  <a:pt x="323771" y="122740"/>
                  <a:pt x="319400" y="142994"/>
                  <a:pt x="304477" y="153683"/>
                </a:cubicBezTo>
                <a:cubicBezTo>
                  <a:pt x="294967" y="160358"/>
                  <a:pt x="289298" y="171249"/>
                  <a:pt x="289298" y="182871"/>
                </a:cubicBezTo>
                <a:cubicBezTo>
                  <a:pt x="289298" y="194493"/>
                  <a:pt x="294967" y="205393"/>
                  <a:pt x="304477" y="212068"/>
                </a:cubicBezTo>
                <a:cubicBezTo>
                  <a:pt x="319400" y="222748"/>
                  <a:pt x="323771" y="243011"/>
                  <a:pt x="314590" y="258894"/>
                </a:cubicBezTo>
                <a:cubicBezTo>
                  <a:pt x="305410" y="274786"/>
                  <a:pt x="285677" y="281114"/>
                  <a:pt x="268971" y="273524"/>
                </a:cubicBezTo>
                <a:cubicBezTo>
                  <a:pt x="258428" y="268614"/>
                  <a:pt x="246156" y="269154"/>
                  <a:pt x="236089" y="274969"/>
                </a:cubicBezTo>
                <a:cubicBezTo>
                  <a:pt x="226021" y="280776"/>
                  <a:pt x="219410" y="291127"/>
                  <a:pt x="218386" y="302712"/>
                </a:cubicBezTo>
                <a:cubicBezTo>
                  <a:pt x="216649" y="321018"/>
                  <a:pt x="201278" y="335000"/>
                  <a:pt x="182889" y="335000"/>
                </a:cubicBezTo>
                <a:cubicBezTo>
                  <a:pt x="164501" y="335000"/>
                  <a:pt x="149129" y="321018"/>
                  <a:pt x="147383" y="302712"/>
                </a:cubicBezTo>
                <a:cubicBezTo>
                  <a:pt x="146368" y="291127"/>
                  <a:pt x="139757" y="280767"/>
                  <a:pt x="129680" y="274960"/>
                </a:cubicBezTo>
                <a:cubicBezTo>
                  <a:pt x="119604" y="269144"/>
                  <a:pt x="107332" y="268614"/>
                  <a:pt x="96789" y="273524"/>
                </a:cubicBezTo>
                <a:cubicBezTo>
                  <a:pt x="80083" y="281114"/>
                  <a:pt x="60350" y="274786"/>
                  <a:pt x="51170" y="258894"/>
                </a:cubicBezTo>
                <a:cubicBezTo>
                  <a:pt x="41989" y="243011"/>
                  <a:pt x="46360" y="222748"/>
                  <a:pt x="61283" y="212068"/>
                </a:cubicBezTo>
                <a:cubicBezTo>
                  <a:pt x="70793" y="205393"/>
                  <a:pt x="76462" y="194493"/>
                  <a:pt x="76462" y="182871"/>
                </a:cubicBezTo>
                <a:cubicBezTo>
                  <a:pt x="76462" y="171249"/>
                  <a:pt x="70793" y="160358"/>
                  <a:pt x="61283" y="153683"/>
                </a:cubicBezTo>
                <a:cubicBezTo>
                  <a:pt x="46388" y="142994"/>
                  <a:pt x="42026" y="122749"/>
                  <a:pt x="51188" y="106875"/>
                </a:cubicBezTo>
                <a:cubicBezTo>
                  <a:pt x="60360" y="91001"/>
                  <a:pt x="80074" y="84655"/>
                  <a:pt x="96771" y="92217"/>
                </a:cubicBezTo>
                <a:cubicBezTo>
                  <a:pt x="107314" y="97128"/>
                  <a:pt x="119585" y="96588"/>
                  <a:pt x="129653" y="90782"/>
                </a:cubicBezTo>
                <a:cubicBezTo>
                  <a:pt x="139729" y="84966"/>
                  <a:pt x="146331" y="74615"/>
                  <a:pt x="147356" y="63030"/>
                </a:cubicBezTo>
                <a:moveTo>
                  <a:pt x="228600" y="182880"/>
                </a:moveTo>
                <a:cubicBezTo>
                  <a:pt x="228600" y="208127"/>
                  <a:pt x="208127" y="228600"/>
                  <a:pt x="182880" y="228600"/>
                </a:cubicBezTo>
                <a:cubicBezTo>
                  <a:pt x="157633" y="228600"/>
                  <a:pt x="137160" y="208127"/>
                  <a:pt x="137160" y="182880"/>
                </a:cubicBezTo>
                <a:cubicBezTo>
                  <a:pt x="137160" y="157633"/>
                  <a:pt x="157633" y="137160"/>
                  <a:pt x="182880" y="137160"/>
                </a:cubicBezTo>
                <a:cubicBezTo>
                  <a:pt x="208127" y="137160"/>
                  <a:pt x="228600" y="157633"/>
                  <a:pt x="228600" y="182880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圖說"/>
          <p:cNvSpPr/>
          <p:nvPr/>
        </p:nvSpPr>
        <p:spPr>
          <a:xfrm>
            <a:off x="3322244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800" dirty="0"/>
          </a:p>
        </p:txBody>
      </p:sp>
      <p:sp>
        <p:nvSpPr>
          <p:cNvPr id="62" name="圖示 維修"/>
          <p:cNvSpPr/>
          <p:nvPr/>
        </p:nvSpPr>
        <p:spPr>
          <a:xfrm>
            <a:off x="4526166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24028" y="96012"/>
                </a:moveTo>
                <a:cubicBezTo>
                  <a:pt x="218222" y="101937"/>
                  <a:pt x="218222" y="111420"/>
                  <a:pt x="224028" y="117345"/>
                </a:cubicBezTo>
                <a:lnTo>
                  <a:pt x="248415" y="141732"/>
                </a:lnTo>
                <a:cubicBezTo>
                  <a:pt x="254340" y="147538"/>
                  <a:pt x="263823" y="147538"/>
                  <a:pt x="269748" y="141732"/>
                </a:cubicBezTo>
                <a:lnTo>
                  <a:pt x="317086" y="94412"/>
                </a:lnTo>
                <a:cubicBezTo>
                  <a:pt x="321960" y="89501"/>
                  <a:pt x="330236" y="91056"/>
                  <a:pt x="332064" y="97731"/>
                </a:cubicBezTo>
                <a:cubicBezTo>
                  <a:pt x="341464" y="131920"/>
                  <a:pt x="330254" y="168460"/>
                  <a:pt x="303297" y="191494"/>
                </a:cubicBezTo>
                <a:cubicBezTo>
                  <a:pt x="276341" y="214527"/>
                  <a:pt x="238503" y="219904"/>
                  <a:pt x="206197" y="205283"/>
                </a:cubicBezTo>
                <a:lnTo>
                  <a:pt x="85652" y="325828"/>
                </a:lnTo>
                <a:cubicBezTo>
                  <a:pt x="73024" y="338456"/>
                  <a:pt x="52560" y="338447"/>
                  <a:pt x="39941" y="325819"/>
                </a:cubicBezTo>
                <a:cubicBezTo>
                  <a:pt x="27313" y="313200"/>
                  <a:pt x="27322" y="292736"/>
                  <a:pt x="39941" y="280108"/>
                </a:cubicBezTo>
                <a:lnTo>
                  <a:pt x="160495" y="159563"/>
                </a:lnTo>
                <a:cubicBezTo>
                  <a:pt x="145874" y="127257"/>
                  <a:pt x="151251" y="89419"/>
                  <a:pt x="174285" y="62463"/>
                </a:cubicBezTo>
                <a:cubicBezTo>
                  <a:pt x="197318" y="35506"/>
                  <a:pt x="233858" y="24296"/>
                  <a:pt x="268038" y="33696"/>
                </a:cubicBezTo>
                <a:cubicBezTo>
                  <a:pt x="274713" y="35524"/>
                  <a:pt x="276268" y="43781"/>
                  <a:pt x="271376" y="48692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圖說"/>
          <p:cNvSpPr/>
          <p:nvPr/>
        </p:nvSpPr>
        <p:spPr>
          <a:xfrm>
            <a:off x="4246778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</a:t>
            </a:r>
            <a:endParaRPr lang="en-US" sz="800" dirty="0"/>
          </a:p>
        </p:txBody>
      </p:sp>
      <p:sp>
        <p:nvSpPr>
          <p:cNvPr id="64" name="圖示 搜尋"/>
          <p:cNvSpPr/>
          <p:nvPr/>
        </p:nvSpPr>
        <p:spPr>
          <a:xfrm>
            <a:off x="5450700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20040" y="320040"/>
                </a:moveTo>
                <a:lnTo>
                  <a:pt x="253901" y="253901"/>
                </a:lnTo>
                <a:moveTo>
                  <a:pt x="289563" y="167637"/>
                </a:moveTo>
                <a:cubicBezTo>
                  <a:pt x="289563" y="234973"/>
                  <a:pt x="234973" y="289563"/>
                  <a:pt x="167637" y="289563"/>
                </a:cubicBezTo>
                <a:cubicBezTo>
                  <a:pt x="100310" y="289563"/>
                  <a:pt x="45720" y="234973"/>
                  <a:pt x="45720" y="167637"/>
                </a:cubicBezTo>
                <a:cubicBezTo>
                  <a:pt x="45720" y="100310"/>
                  <a:pt x="100310" y="45720"/>
                  <a:pt x="167637" y="45720"/>
                </a:cubicBezTo>
                <a:cubicBezTo>
                  <a:pt x="234973" y="45720"/>
                  <a:pt x="289563" y="100310"/>
                  <a:pt x="289563" y="167637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圖說"/>
          <p:cNvSpPr/>
          <p:nvPr/>
        </p:nvSpPr>
        <p:spPr>
          <a:xfrm>
            <a:off x="5171313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</a:t>
            </a:r>
            <a:endParaRPr lang="en-US" sz="800" dirty="0"/>
          </a:p>
        </p:txBody>
      </p:sp>
      <p:sp>
        <p:nvSpPr>
          <p:cNvPr id="66" name="圖示 篩選"/>
          <p:cNvSpPr/>
          <p:nvPr/>
        </p:nvSpPr>
        <p:spPr>
          <a:xfrm>
            <a:off x="6375235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0477" y="76197"/>
                </a:moveTo>
                <a:lnTo>
                  <a:pt x="335283" y="76197"/>
                </a:lnTo>
                <a:moveTo>
                  <a:pt x="91440" y="182880"/>
                </a:moveTo>
                <a:lnTo>
                  <a:pt x="274320" y="182880"/>
                </a:lnTo>
                <a:moveTo>
                  <a:pt x="137160" y="289563"/>
                </a:moveTo>
                <a:lnTo>
                  <a:pt x="228600" y="289563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圖說"/>
          <p:cNvSpPr/>
          <p:nvPr/>
        </p:nvSpPr>
        <p:spPr>
          <a:xfrm>
            <a:off x="6095848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</a:t>
            </a:r>
            <a:endParaRPr lang="en-US" sz="800" dirty="0"/>
          </a:p>
        </p:txBody>
      </p:sp>
      <p:sp>
        <p:nvSpPr>
          <p:cNvPr id="68" name="圖示 想法"/>
          <p:cNvSpPr/>
          <p:nvPr/>
        </p:nvSpPr>
        <p:spPr>
          <a:xfrm>
            <a:off x="7299770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28600" y="213357"/>
                </a:moveTo>
                <a:cubicBezTo>
                  <a:pt x="231645" y="198123"/>
                  <a:pt x="239271" y="187452"/>
                  <a:pt x="251460" y="175263"/>
                </a:cubicBezTo>
                <a:cubicBezTo>
                  <a:pt x="266703" y="161547"/>
                  <a:pt x="274320" y="141732"/>
                  <a:pt x="274320" y="121917"/>
                </a:cubicBezTo>
                <a:cubicBezTo>
                  <a:pt x="274320" y="71415"/>
                  <a:pt x="233382" y="30477"/>
                  <a:pt x="182880" y="30477"/>
                </a:cubicBezTo>
                <a:cubicBezTo>
                  <a:pt x="132378" y="30477"/>
                  <a:pt x="91440" y="71415"/>
                  <a:pt x="91440" y="121917"/>
                </a:cubicBezTo>
                <a:cubicBezTo>
                  <a:pt x="91440" y="137160"/>
                  <a:pt x="94485" y="155448"/>
                  <a:pt x="114300" y="175263"/>
                </a:cubicBezTo>
                <a:cubicBezTo>
                  <a:pt x="124971" y="185925"/>
                  <a:pt x="134115" y="198123"/>
                  <a:pt x="137160" y="213357"/>
                </a:cubicBezTo>
                <a:moveTo>
                  <a:pt x="137160" y="274320"/>
                </a:moveTo>
                <a:lnTo>
                  <a:pt x="228600" y="274320"/>
                </a:lnTo>
                <a:moveTo>
                  <a:pt x="152403" y="335283"/>
                </a:moveTo>
                <a:lnTo>
                  <a:pt x="213357" y="335283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7020382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想法</a:t>
            </a:r>
            <a:endParaRPr lang="en-US" sz="800" dirty="0"/>
          </a:p>
        </p:txBody>
      </p:sp>
      <p:sp>
        <p:nvSpPr>
          <p:cNvPr id="70" name="圖示 目標"/>
          <p:cNvSpPr/>
          <p:nvPr/>
        </p:nvSpPr>
        <p:spPr>
          <a:xfrm>
            <a:off x="8224304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5283" y="182880"/>
                </a:moveTo>
                <a:cubicBezTo>
                  <a:pt x="335283" y="267051"/>
                  <a:pt x="267051" y="335283"/>
                  <a:pt x="182880" y="335283"/>
                </a:cubicBezTo>
                <a:cubicBezTo>
                  <a:pt x="98709" y="335283"/>
                  <a:pt x="30477" y="267051"/>
                  <a:pt x="30477" y="182880"/>
                </a:cubicBezTo>
                <a:cubicBezTo>
                  <a:pt x="30477" y="98709"/>
                  <a:pt x="98709" y="30477"/>
                  <a:pt x="182880" y="30477"/>
                </a:cubicBezTo>
                <a:cubicBezTo>
                  <a:pt x="267051" y="30477"/>
                  <a:pt x="335283" y="98709"/>
                  <a:pt x="335283" y="182880"/>
                </a:cubicBezTo>
                <a:close/>
                <a:moveTo>
                  <a:pt x="274320" y="182880"/>
                </a:moveTo>
                <a:cubicBezTo>
                  <a:pt x="274320" y="233382"/>
                  <a:pt x="233382" y="274320"/>
                  <a:pt x="182880" y="274320"/>
                </a:cubicBezTo>
                <a:cubicBezTo>
                  <a:pt x="132378" y="274320"/>
                  <a:pt x="91440" y="233382"/>
                  <a:pt x="91440" y="182880"/>
                </a:cubicBezTo>
                <a:cubicBezTo>
                  <a:pt x="91440" y="132378"/>
                  <a:pt x="132378" y="91440"/>
                  <a:pt x="182880" y="91440"/>
                </a:cubicBezTo>
                <a:cubicBezTo>
                  <a:pt x="233382" y="91440"/>
                  <a:pt x="274320" y="132378"/>
                  <a:pt x="274320" y="182880"/>
                </a:cubicBezTo>
                <a:close/>
                <a:moveTo>
                  <a:pt x="213357" y="182880"/>
                </a:moveTo>
                <a:cubicBezTo>
                  <a:pt x="213357" y="199714"/>
                  <a:pt x="199714" y="213357"/>
                  <a:pt x="182880" y="213357"/>
                </a:cubicBezTo>
                <a:cubicBezTo>
                  <a:pt x="166046" y="213357"/>
                  <a:pt x="152403" y="199714"/>
                  <a:pt x="152403" y="182880"/>
                </a:cubicBezTo>
                <a:cubicBezTo>
                  <a:pt x="152403" y="166046"/>
                  <a:pt x="166046" y="152403"/>
                  <a:pt x="182880" y="152403"/>
                </a:cubicBezTo>
                <a:cubicBezTo>
                  <a:pt x="199714" y="152403"/>
                  <a:pt x="213357" y="166046"/>
                  <a:pt x="213357" y="182880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圖說"/>
          <p:cNvSpPr/>
          <p:nvPr/>
        </p:nvSpPr>
        <p:spPr>
          <a:xfrm>
            <a:off x="7944917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800" dirty="0"/>
          </a:p>
        </p:txBody>
      </p:sp>
      <p:sp>
        <p:nvSpPr>
          <p:cNvPr id="72" name="圖示 參數"/>
          <p:cNvSpPr/>
          <p:nvPr/>
        </p:nvSpPr>
        <p:spPr>
          <a:xfrm>
            <a:off x="9148839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52403" y="76197"/>
                </a:moveTo>
                <a:lnTo>
                  <a:pt x="45720" y="76197"/>
                </a:lnTo>
                <a:moveTo>
                  <a:pt x="182880" y="289563"/>
                </a:moveTo>
                <a:lnTo>
                  <a:pt x="45720" y="289563"/>
                </a:lnTo>
                <a:moveTo>
                  <a:pt x="213357" y="45720"/>
                </a:moveTo>
                <a:lnTo>
                  <a:pt x="213357" y="106683"/>
                </a:lnTo>
                <a:moveTo>
                  <a:pt x="243843" y="259077"/>
                </a:moveTo>
                <a:lnTo>
                  <a:pt x="243843" y="320040"/>
                </a:lnTo>
                <a:moveTo>
                  <a:pt x="320040" y="182880"/>
                </a:moveTo>
                <a:lnTo>
                  <a:pt x="182880" y="182880"/>
                </a:lnTo>
                <a:moveTo>
                  <a:pt x="320040" y="289563"/>
                </a:moveTo>
                <a:lnTo>
                  <a:pt x="243843" y="289563"/>
                </a:lnTo>
                <a:moveTo>
                  <a:pt x="320040" y="76197"/>
                </a:moveTo>
                <a:lnTo>
                  <a:pt x="213357" y="76197"/>
                </a:lnTo>
                <a:moveTo>
                  <a:pt x="121917" y="152403"/>
                </a:moveTo>
                <a:lnTo>
                  <a:pt x="121917" y="213357"/>
                </a:lnTo>
                <a:moveTo>
                  <a:pt x="121917" y="182880"/>
                </a:moveTo>
                <a:lnTo>
                  <a:pt x="45720" y="182880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圖說"/>
          <p:cNvSpPr/>
          <p:nvPr/>
        </p:nvSpPr>
        <p:spPr>
          <a:xfrm>
            <a:off x="8869451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</a:t>
            </a:r>
            <a:endParaRPr lang="en-US" sz="800" dirty="0"/>
          </a:p>
        </p:txBody>
      </p:sp>
      <p:sp>
        <p:nvSpPr>
          <p:cNvPr id="74" name="圖示 整合"/>
          <p:cNvSpPr/>
          <p:nvPr/>
        </p:nvSpPr>
        <p:spPr>
          <a:xfrm>
            <a:off x="10073373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34544" y="66907"/>
                </a:moveTo>
                <a:cubicBezTo>
                  <a:pt x="238448" y="70811"/>
                  <a:pt x="244154" y="72302"/>
                  <a:pt x="249467" y="70802"/>
                </a:cubicBezTo>
                <a:cubicBezTo>
                  <a:pt x="254779" y="69302"/>
                  <a:pt x="258867" y="65050"/>
                  <a:pt x="260147" y="59683"/>
                </a:cubicBezTo>
                <a:cubicBezTo>
                  <a:pt x="264527" y="41459"/>
                  <a:pt x="281507" y="29124"/>
                  <a:pt x="300188" y="30596"/>
                </a:cubicBezTo>
                <a:cubicBezTo>
                  <a:pt x="318870" y="32068"/>
                  <a:pt x="333710" y="46909"/>
                  <a:pt x="335173" y="65599"/>
                </a:cubicBezTo>
                <a:cubicBezTo>
                  <a:pt x="336646" y="84280"/>
                  <a:pt x="324301" y="101261"/>
                  <a:pt x="306077" y="105631"/>
                </a:cubicBezTo>
                <a:cubicBezTo>
                  <a:pt x="300710" y="106912"/>
                  <a:pt x="296458" y="110999"/>
                  <a:pt x="294958" y="116312"/>
                </a:cubicBezTo>
                <a:cubicBezTo>
                  <a:pt x="293458" y="121624"/>
                  <a:pt x="294949" y="127330"/>
                  <a:pt x="298853" y="131235"/>
                </a:cubicBezTo>
                <a:lnTo>
                  <a:pt x="324502" y="156865"/>
                </a:lnTo>
                <a:cubicBezTo>
                  <a:pt x="331406" y="163769"/>
                  <a:pt x="335283" y="173123"/>
                  <a:pt x="335283" y="182880"/>
                </a:cubicBezTo>
                <a:cubicBezTo>
                  <a:pt x="335283" y="192637"/>
                  <a:pt x="331406" y="201991"/>
                  <a:pt x="324502" y="208895"/>
                </a:cubicBezTo>
                <a:lnTo>
                  <a:pt x="298853" y="234544"/>
                </a:lnTo>
                <a:cubicBezTo>
                  <a:pt x="294958" y="238448"/>
                  <a:pt x="289252" y="239939"/>
                  <a:pt x="283939" y="238439"/>
                </a:cubicBezTo>
                <a:cubicBezTo>
                  <a:pt x="278627" y="236939"/>
                  <a:pt x="274539" y="232687"/>
                  <a:pt x="273250" y="227320"/>
                </a:cubicBezTo>
                <a:cubicBezTo>
                  <a:pt x="268879" y="209096"/>
                  <a:pt x="251899" y="196761"/>
                  <a:pt x="233209" y="198242"/>
                </a:cubicBezTo>
                <a:cubicBezTo>
                  <a:pt x="214527" y="199714"/>
                  <a:pt x="199696" y="214555"/>
                  <a:pt x="198224" y="233236"/>
                </a:cubicBezTo>
                <a:cubicBezTo>
                  <a:pt x="196761" y="251917"/>
                  <a:pt x="209096" y="268898"/>
                  <a:pt x="227320" y="273268"/>
                </a:cubicBezTo>
                <a:cubicBezTo>
                  <a:pt x="232687" y="274549"/>
                  <a:pt x="236939" y="278636"/>
                  <a:pt x="238439" y="283949"/>
                </a:cubicBezTo>
                <a:cubicBezTo>
                  <a:pt x="239939" y="289261"/>
                  <a:pt x="238448" y="294967"/>
                  <a:pt x="234544" y="298872"/>
                </a:cubicBezTo>
                <a:lnTo>
                  <a:pt x="208895" y="324502"/>
                </a:lnTo>
                <a:cubicBezTo>
                  <a:pt x="201991" y="331406"/>
                  <a:pt x="192637" y="335283"/>
                  <a:pt x="182880" y="335283"/>
                </a:cubicBezTo>
                <a:cubicBezTo>
                  <a:pt x="173123" y="335283"/>
                  <a:pt x="163769" y="331406"/>
                  <a:pt x="156865" y="324502"/>
                </a:cubicBezTo>
                <a:lnTo>
                  <a:pt x="131216" y="298853"/>
                </a:lnTo>
                <a:cubicBezTo>
                  <a:pt x="127312" y="294949"/>
                  <a:pt x="121606" y="293458"/>
                  <a:pt x="116293" y="294958"/>
                </a:cubicBezTo>
                <a:cubicBezTo>
                  <a:pt x="110981" y="296458"/>
                  <a:pt x="106893" y="300710"/>
                  <a:pt x="105613" y="306077"/>
                </a:cubicBezTo>
                <a:cubicBezTo>
                  <a:pt x="101233" y="324301"/>
                  <a:pt x="84253" y="336636"/>
                  <a:pt x="65572" y="335164"/>
                </a:cubicBezTo>
                <a:cubicBezTo>
                  <a:pt x="46890" y="333692"/>
                  <a:pt x="32050" y="318851"/>
                  <a:pt x="30587" y="300161"/>
                </a:cubicBezTo>
                <a:cubicBezTo>
                  <a:pt x="29114" y="281480"/>
                  <a:pt x="41459" y="264499"/>
                  <a:pt x="59683" y="260129"/>
                </a:cubicBezTo>
                <a:cubicBezTo>
                  <a:pt x="65050" y="258848"/>
                  <a:pt x="69302" y="254761"/>
                  <a:pt x="70802" y="249448"/>
                </a:cubicBezTo>
                <a:cubicBezTo>
                  <a:pt x="72302" y="244136"/>
                  <a:pt x="70811" y="238430"/>
                  <a:pt x="66907" y="234525"/>
                </a:cubicBezTo>
                <a:lnTo>
                  <a:pt x="41258" y="208895"/>
                </a:lnTo>
                <a:cubicBezTo>
                  <a:pt x="34354" y="201991"/>
                  <a:pt x="30477" y="192637"/>
                  <a:pt x="30477" y="182880"/>
                </a:cubicBezTo>
                <a:cubicBezTo>
                  <a:pt x="30477" y="173123"/>
                  <a:pt x="34354" y="163769"/>
                  <a:pt x="41258" y="156865"/>
                </a:cubicBezTo>
                <a:lnTo>
                  <a:pt x="66907" y="131216"/>
                </a:lnTo>
                <a:cubicBezTo>
                  <a:pt x="70802" y="127312"/>
                  <a:pt x="76508" y="125821"/>
                  <a:pt x="81821" y="127321"/>
                </a:cubicBezTo>
                <a:cubicBezTo>
                  <a:pt x="87133" y="128821"/>
                  <a:pt x="91221" y="133073"/>
                  <a:pt x="92510" y="138440"/>
                </a:cubicBezTo>
                <a:cubicBezTo>
                  <a:pt x="96881" y="156664"/>
                  <a:pt x="113861" y="168999"/>
                  <a:pt x="132551" y="167518"/>
                </a:cubicBezTo>
                <a:cubicBezTo>
                  <a:pt x="151233" y="166046"/>
                  <a:pt x="166064" y="151205"/>
                  <a:pt x="167536" y="132524"/>
                </a:cubicBezTo>
                <a:cubicBezTo>
                  <a:pt x="168999" y="113843"/>
                  <a:pt x="156664" y="96862"/>
                  <a:pt x="138440" y="92492"/>
                </a:cubicBezTo>
                <a:cubicBezTo>
                  <a:pt x="133073" y="91211"/>
                  <a:pt x="128821" y="87124"/>
                  <a:pt x="127321" y="81811"/>
                </a:cubicBezTo>
                <a:cubicBezTo>
                  <a:pt x="125821" y="76499"/>
                  <a:pt x="127312" y="70793"/>
                  <a:pt x="131216" y="66888"/>
                </a:cubicBezTo>
                <a:lnTo>
                  <a:pt x="156865" y="41258"/>
                </a:lnTo>
                <a:cubicBezTo>
                  <a:pt x="163769" y="34354"/>
                  <a:pt x="173123" y="30477"/>
                  <a:pt x="182880" y="30477"/>
                </a:cubicBezTo>
                <a:cubicBezTo>
                  <a:pt x="192637" y="30477"/>
                  <a:pt x="201991" y="34354"/>
                  <a:pt x="208895" y="41258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圖說"/>
          <p:cNvSpPr/>
          <p:nvPr/>
        </p:nvSpPr>
        <p:spPr>
          <a:xfrm>
            <a:off x="9793986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800" dirty="0"/>
          </a:p>
        </p:txBody>
      </p:sp>
      <p:sp>
        <p:nvSpPr>
          <p:cNvPr id="76" name="圖示 安全"/>
          <p:cNvSpPr/>
          <p:nvPr/>
        </p:nvSpPr>
        <p:spPr>
          <a:xfrm>
            <a:off x="10997908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04797" y="198123"/>
                </a:moveTo>
                <a:cubicBezTo>
                  <a:pt x="304797" y="274320"/>
                  <a:pt x="251460" y="312423"/>
                  <a:pt x="188065" y="334515"/>
                </a:cubicBezTo>
                <a:cubicBezTo>
                  <a:pt x="184745" y="335640"/>
                  <a:pt x="181133" y="335585"/>
                  <a:pt x="177851" y="334369"/>
                </a:cubicBezTo>
                <a:cubicBezTo>
                  <a:pt x="114300" y="312423"/>
                  <a:pt x="60963" y="274320"/>
                  <a:pt x="60963" y="198123"/>
                </a:cubicBezTo>
                <a:lnTo>
                  <a:pt x="60963" y="91440"/>
                </a:lnTo>
                <a:cubicBezTo>
                  <a:pt x="60963" y="83028"/>
                  <a:pt x="67784" y="76197"/>
                  <a:pt x="76197" y="76197"/>
                </a:cubicBezTo>
                <a:cubicBezTo>
                  <a:pt x="106683" y="76197"/>
                  <a:pt x="144777" y="57909"/>
                  <a:pt x="171295" y="34747"/>
                </a:cubicBezTo>
                <a:cubicBezTo>
                  <a:pt x="177970" y="29050"/>
                  <a:pt x="187790" y="29050"/>
                  <a:pt x="194465" y="34747"/>
                </a:cubicBezTo>
                <a:cubicBezTo>
                  <a:pt x="221129" y="58064"/>
                  <a:pt x="259077" y="76197"/>
                  <a:pt x="289563" y="76197"/>
                </a:cubicBezTo>
                <a:cubicBezTo>
                  <a:pt x="297976" y="76197"/>
                  <a:pt x="304797" y="83028"/>
                  <a:pt x="304797" y="91440"/>
                </a:cubicBezTo>
                <a:close/>
                <a:moveTo>
                  <a:pt x="137160" y="182880"/>
                </a:moveTo>
                <a:lnTo>
                  <a:pt x="167637" y="213357"/>
                </a:lnTo>
                <a:lnTo>
                  <a:pt x="228600" y="152403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圖說"/>
          <p:cNvSpPr/>
          <p:nvPr/>
        </p:nvSpPr>
        <p:spPr>
          <a:xfrm>
            <a:off x="10718521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</a:t>
            </a:r>
            <a:endParaRPr lang="en-US" sz="800" dirty="0"/>
          </a:p>
        </p:txBody>
      </p:sp>
      <p:sp>
        <p:nvSpPr>
          <p:cNvPr id="78" name="圖示 權限"/>
          <p:cNvSpPr/>
          <p:nvPr/>
        </p:nvSpPr>
        <p:spPr>
          <a:xfrm>
            <a:off x="828027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76197" y="167637"/>
                </a:moveTo>
                <a:lnTo>
                  <a:pt x="289563" y="167637"/>
                </a:lnTo>
                <a:cubicBezTo>
                  <a:pt x="306397" y="167637"/>
                  <a:pt x="320040" y="181289"/>
                  <a:pt x="320040" y="198123"/>
                </a:cubicBezTo>
                <a:lnTo>
                  <a:pt x="320040" y="304797"/>
                </a:lnTo>
                <a:cubicBezTo>
                  <a:pt x="320040" y="321631"/>
                  <a:pt x="306397" y="335283"/>
                  <a:pt x="289563" y="335283"/>
                </a:cubicBezTo>
                <a:lnTo>
                  <a:pt x="76197" y="335283"/>
                </a:lnTo>
                <a:cubicBezTo>
                  <a:pt x="59363" y="335283"/>
                  <a:pt x="45720" y="321631"/>
                  <a:pt x="45720" y="304797"/>
                </a:cubicBezTo>
                <a:lnTo>
                  <a:pt x="45720" y="198123"/>
                </a:lnTo>
                <a:cubicBezTo>
                  <a:pt x="45720" y="181289"/>
                  <a:pt x="59363" y="167637"/>
                  <a:pt x="76197" y="167637"/>
                </a:cubicBezTo>
                <a:close/>
                <a:moveTo>
                  <a:pt x="106683" y="167637"/>
                </a:moveTo>
                <a:lnTo>
                  <a:pt x="106683" y="106683"/>
                </a:lnTo>
                <a:cubicBezTo>
                  <a:pt x="106683" y="64593"/>
                  <a:pt x="140799" y="30477"/>
                  <a:pt x="182880" y="30477"/>
                </a:cubicBezTo>
                <a:cubicBezTo>
                  <a:pt x="224961" y="30477"/>
                  <a:pt x="259077" y="64593"/>
                  <a:pt x="259077" y="106683"/>
                </a:cubicBezTo>
                <a:lnTo>
                  <a:pt x="259077" y="167637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圖說"/>
          <p:cNvSpPr/>
          <p:nvPr/>
        </p:nvSpPr>
        <p:spPr>
          <a:xfrm>
            <a:off x="548640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</a:t>
            </a:r>
            <a:endParaRPr lang="en-US" sz="800" dirty="0"/>
          </a:p>
        </p:txBody>
      </p:sp>
      <p:sp>
        <p:nvSpPr>
          <p:cNvPr id="80" name="圖示 郵件"/>
          <p:cNvSpPr/>
          <p:nvPr/>
        </p:nvSpPr>
        <p:spPr>
          <a:xfrm>
            <a:off x="1752562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5283" y="106683"/>
                </a:moveTo>
                <a:lnTo>
                  <a:pt x="198260" y="193963"/>
                </a:lnTo>
                <a:cubicBezTo>
                  <a:pt x="188796" y="199458"/>
                  <a:pt x="177101" y="199458"/>
                  <a:pt x="167637" y="193963"/>
                </a:cubicBezTo>
                <a:lnTo>
                  <a:pt x="30477" y="106683"/>
                </a:lnTo>
                <a:moveTo>
                  <a:pt x="60963" y="60963"/>
                </a:moveTo>
                <a:lnTo>
                  <a:pt x="304797" y="60963"/>
                </a:lnTo>
                <a:cubicBezTo>
                  <a:pt x="321631" y="60963"/>
                  <a:pt x="335283" y="74606"/>
                  <a:pt x="335283" y="91440"/>
                </a:cubicBezTo>
                <a:lnTo>
                  <a:pt x="335283" y="274320"/>
                </a:lnTo>
                <a:cubicBezTo>
                  <a:pt x="335283" y="291154"/>
                  <a:pt x="321631" y="304797"/>
                  <a:pt x="304797" y="304797"/>
                </a:cubicBezTo>
                <a:lnTo>
                  <a:pt x="60963" y="304797"/>
                </a:lnTo>
                <a:cubicBezTo>
                  <a:pt x="44129" y="304797"/>
                  <a:pt x="30477" y="291154"/>
                  <a:pt x="30477" y="274320"/>
                </a:cubicBezTo>
                <a:lnTo>
                  <a:pt x="30477" y="91440"/>
                </a:lnTo>
                <a:cubicBezTo>
                  <a:pt x="30477" y="74606"/>
                  <a:pt x="44129" y="60963"/>
                  <a:pt x="60963" y="60963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圖說"/>
          <p:cNvSpPr/>
          <p:nvPr/>
        </p:nvSpPr>
        <p:spPr>
          <a:xfrm>
            <a:off x="1473175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郵件</a:t>
            </a:r>
            <a:endParaRPr lang="en-US" sz="800" dirty="0"/>
          </a:p>
        </p:txBody>
      </p:sp>
      <p:sp>
        <p:nvSpPr>
          <p:cNvPr id="82" name="圖示 電話"/>
          <p:cNvSpPr/>
          <p:nvPr/>
        </p:nvSpPr>
        <p:spPr>
          <a:xfrm>
            <a:off x="2677097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10797" y="252493"/>
                </a:moveTo>
                <a:cubicBezTo>
                  <a:pt x="217280" y="255474"/>
                  <a:pt x="224961" y="253554"/>
                  <a:pt x="229286" y="247876"/>
                </a:cubicBezTo>
                <a:lnTo>
                  <a:pt x="234699" y="240789"/>
                </a:lnTo>
                <a:cubicBezTo>
                  <a:pt x="240451" y="233117"/>
                  <a:pt x="249485" y="228600"/>
                  <a:pt x="259077" y="228600"/>
                </a:cubicBezTo>
                <a:lnTo>
                  <a:pt x="304797" y="228600"/>
                </a:lnTo>
                <a:cubicBezTo>
                  <a:pt x="321631" y="228600"/>
                  <a:pt x="335283" y="242243"/>
                  <a:pt x="335283" y="259077"/>
                </a:cubicBezTo>
                <a:lnTo>
                  <a:pt x="335283" y="304797"/>
                </a:lnTo>
                <a:cubicBezTo>
                  <a:pt x="335283" y="321631"/>
                  <a:pt x="321631" y="335283"/>
                  <a:pt x="304797" y="335283"/>
                </a:cubicBezTo>
                <a:cubicBezTo>
                  <a:pt x="153299" y="335283"/>
                  <a:pt x="30477" y="212461"/>
                  <a:pt x="30477" y="60963"/>
                </a:cubicBezTo>
                <a:cubicBezTo>
                  <a:pt x="30477" y="44129"/>
                  <a:pt x="44129" y="30477"/>
                  <a:pt x="60963" y="30477"/>
                </a:cubicBezTo>
                <a:lnTo>
                  <a:pt x="106683" y="30477"/>
                </a:lnTo>
                <a:cubicBezTo>
                  <a:pt x="123517" y="30477"/>
                  <a:pt x="137160" y="44129"/>
                  <a:pt x="137160" y="60963"/>
                </a:cubicBezTo>
                <a:lnTo>
                  <a:pt x="137160" y="106683"/>
                </a:lnTo>
                <a:cubicBezTo>
                  <a:pt x="137160" y="116275"/>
                  <a:pt x="132643" y="125309"/>
                  <a:pt x="124971" y="131061"/>
                </a:cubicBezTo>
                <a:lnTo>
                  <a:pt x="117839" y="136410"/>
                </a:lnTo>
                <a:cubicBezTo>
                  <a:pt x="112069" y="140818"/>
                  <a:pt x="110203" y="148681"/>
                  <a:pt x="113386" y="155201"/>
                </a:cubicBezTo>
                <a:cubicBezTo>
                  <a:pt x="134216" y="197510"/>
                  <a:pt x="168469" y="231718"/>
                  <a:pt x="210797" y="252493"/>
                </a:cubicBez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圖說"/>
          <p:cNvSpPr/>
          <p:nvPr/>
        </p:nvSpPr>
        <p:spPr>
          <a:xfrm>
            <a:off x="2397709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電話</a:t>
            </a:r>
            <a:endParaRPr lang="en-US" sz="800" dirty="0"/>
          </a:p>
        </p:txBody>
      </p:sp>
      <p:sp>
        <p:nvSpPr>
          <p:cNvPr id="84" name="圖示 連結"/>
          <p:cNvSpPr/>
          <p:nvPr/>
        </p:nvSpPr>
        <p:spPr>
          <a:xfrm>
            <a:off x="3601631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52403" y="198123"/>
                </a:moveTo>
                <a:cubicBezTo>
                  <a:pt x="165644" y="215826"/>
                  <a:pt x="185925" y="226908"/>
                  <a:pt x="207971" y="228481"/>
                </a:cubicBezTo>
                <a:cubicBezTo>
                  <a:pt x="230026" y="230063"/>
                  <a:pt x="251679" y="221989"/>
                  <a:pt x="267307" y="206353"/>
                </a:cubicBezTo>
                <a:lnTo>
                  <a:pt x="313027" y="160633"/>
                </a:lnTo>
                <a:cubicBezTo>
                  <a:pt x="341903" y="130732"/>
                  <a:pt x="341492" y="83201"/>
                  <a:pt x="312103" y="53812"/>
                </a:cubicBezTo>
                <a:cubicBezTo>
                  <a:pt x="282705" y="24414"/>
                  <a:pt x="235184" y="24003"/>
                  <a:pt x="205283" y="52880"/>
                </a:cubicBezTo>
                <a:lnTo>
                  <a:pt x="179067" y="78940"/>
                </a:lnTo>
                <a:moveTo>
                  <a:pt x="213357" y="167637"/>
                </a:moveTo>
                <a:cubicBezTo>
                  <a:pt x="200116" y="149934"/>
                  <a:pt x="179835" y="138852"/>
                  <a:pt x="157789" y="137279"/>
                </a:cubicBezTo>
                <a:cubicBezTo>
                  <a:pt x="135734" y="135697"/>
                  <a:pt x="114081" y="143771"/>
                  <a:pt x="98453" y="159407"/>
                </a:cubicBezTo>
                <a:lnTo>
                  <a:pt x="52733" y="205127"/>
                </a:lnTo>
                <a:cubicBezTo>
                  <a:pt x="23857" y="235028"/>
                  <a:pt x="24268" y="282559"/>
                  <a:pt x="53657" y="311948"/>
                </a:cubicBezTo>
                <a:cubicBezTo>
                  <a:pt x="83055" y="341346"/>
                  <a:pt x="130576" y="341757"/>
                  <a:pt x="160477" y="312880"/>
                </a:cubicBezTo>
                <a:lnTo>
                  <a:pt x="186538" y="286820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圖說"/>
          <p:cNvSpPr/>
          <p:nvPr/>
        </p:nvSpPr>
        <p:spPr>
          <a:xfrm>
            <a:off x="3322244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連結</a:t>
            </a:r>
            <a:endParaRPr lang="en-US" sz="800" dirty="0"/>
          </a:p>
        </p:txBody>
      </p:sp>
      <p:sp>
        <p:nvSpPr>
          <p:cNvPr id="86" name="圖示 分支"/>
          <p:cNvSpPr/>
          <p:nvPr/>
        </p:nvSpPr>
        <p:spPr>
          <a:xfrm>
            <a:off x="4526166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28600" y="91440"/>
                </a:moveTo>
                <a:cubicBezTo>
                  <a:pt x="152851" y="91440"/>
                  <a:pt x="91440" y="152851"/>
                  <a:pt x="91440" y="228600"/>
                </a:cubicBezTo>
                <a:lnTo>
                  <a:pt x="91440" y="45720"/>
                </a:lnTo>
                <a:moveTo>
                  <a:pt x="320040" y="91440"/>
                </a:moveTo>
                <a:cubicBezTo>
                  <a:pt x="320040" y="116687"/>
                  <a:pt x="299567" y="137160"/>
                  <a:pt x="274320" y="137160"/>
                </a:cubicBezTo>
                <a:cubicBezTo>
                  <a:pt x="249073" y="137160"/>
                  <a:pt x="228600" y="116687"/>
                  <a:pt x="228600" y="91440"/>
                </a:cubicBezTo>
                <a:cubicBezTo>
                  <a:pt x="228600" y="66193"/>
                  <a:pt x="249073" y="45720"/>
                  <a:pt x="274320" y="45720"/>
                </a:cubicBezTo>
                <a:cubicBezTo>
                  <a:pt x="299567" y="45720"/>
                  <a:pt x="320040" y="66193"/>
                  <a:pt x="320040" y="91440"/>
                </a:cubicBezTo>
                <a:close/>
                <a:moveTo>
                  <a:pt x="137160" y="274320"/>
                </a:moveTo>
                <a:cubicBezTo>
                  <a:pt x="137160" y="299567"/>
                  <a:pt x="116687" y="320040"/>
                  <a:pt x="91440" y="320040"/>
                </a:cubicBezTo>
                <a:cubicBezTo>
                  <a:pt x="66193" y="320040"/>
                  <a:pt x="45720" y="299567"/>
                  <a:pt x="45720" y="274320"/>
                </a:cubicBezTo>
                <a:cubicBezTo>
                  <a:pt x="45720" y="249073"/>
                  <a:pt x="66193" y="228600"/>
                  <a:pt x="91440" y="228600"/>
                </a:cubicBezTo>
                <a:cubicBezTo>
                  <a:pt x="116687" y="228600"/>
                  <a:pt x="137160" y="249073"/>
                  <a:pt x="137160" y="274320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4246778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</a:t>
            </a:r>
            <a:endParaRPr lang="en-US" sz="800" dirty="0"/>
          </a:p>
        </p:txBody>
      </p:sp>
      <p:sp>
        <p:nvSpPr>
          <p:cNvPr id="88" name="圖示 流程"/>
          <p:cNvSpPr/>
          <p:nvPr/>
        </p:nvSpPr>
        <p:spPr>
          <a:xfrm>
            <a:off x="5450700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76197" y="45720"/>
                </a:moveTo>
                <a:lnTo>
                  <a:pt x="137160" y="45720"/>
                </a:lnTo>
                <a:cubicBezTo>
                  <a:pt x="153994" y="45720"/>
                  <a:pt x="167637" y="59363"/>
                  <a:pt x="167637" y="76197"/>
                </a:cubicBezTo>
                <a:lnTo>
                  <a:pt x="167637" y="137160"/>
                </a:lnTo>
                <a:cubicBezTo>
                  <a:pt x="167637" y="153994"/>
                  <a:pt x="153994" y="167637"/>
                  <a:pt x="137160" y="167637"/>
                </a:cubicBezTo>
                <a:lnTo>
                  <a:pt x="76197" y="167637"/>
                </a:lnTo>
                <a:cubicBezTo>
                  <a:pt x="59363" y="167637"/>
                  <a:pt x="45720" y="153994"/>
                  <a:pt x="45720" y="137160"/>
                </a:cubicBezTo>
                <a:lnTo>
                  <a:pt x="45720" y="76197"/>
                </a:lnTo>
                <a:cubicBezTo>
                  <a:pt x="45720" y="59363"/>
                  <a:pt x="59363" y="45720"/>
                  <a:pt x="76197" y="45720"/>
                </a:cubicBezTo>
                <a:close/>
                <a:moveTo>
                  <a:pt x="106683" y="167637"/>
                </a:moveTo>
                <a:lnTo>
                  <a:pt x="106683" y="228600"/>
                </a:lnTo>
                <a:cubicBezTo>
                  <a:pt x="106683" y="245434"/>
                  <a:pt x="120326" y="259077"/>
                  <a:pt x="137160" y="259077"/>
                </a:cubicBezTo>
                <a:lnTo>
                  <a:pt x="198123" y="259077"/>
                </a:lnTo>
                <a:moveTo>
                  <a:pt x="228600" y="198123"/>
                </a:moveTo>
                <a:lnTo>
                  <a:pt x="289563" y="198123"/>
                </a:lnTo>
                <a:cubicBezTo>
                  <a:pt x="306397" y="198123"/>
                  <a:pt x="320040" y="211766"/>
                  <a:pt x="320040" y="228600"/>
                </a:cubicBezTo>
                <a:lnTo>
                  <a:pt x="320040" y="289563"/>
                </a:lnTo>
                <a:cubicBezTo>
                  <a:pt x="320040" y="306397"/>
                  <a:pt x="306397" y="320040"/>
                  <a:pt x="289563" y="320040"/>
                </a:cubicBezTo>
                <a:lnTo>
                  <a:pt x="228600" y="320040"/>
                </a:lnTo>
                <a:cubicBezTo>
                  <a:pt x="211766" y="320040"/>
                  <a:pt x="198123" y="306397"/>
                  <a:pt x="198123" y="289563"/>
                </a:cubicBezTo>
                <a:lnTo>
                  <a:pt x="198123" y="228600"/>
                </a:lnTo>
                <a:cubicBezTo>
                  <a:pt x="198123" y="211766"/>
                  <a:pt x="211766" y="198123"/>
                  <a:pt x="228600" y="198123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圖說"/>
          <p:cNvSpPr/>
          <p:nvPr/>
        </p:nvSpPr>
        <p:spPr>
          <a:xfrm>
            <a:off x="5171313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</a:t>
            </a:r>
            <a:endParaRPr lang="en-US" sz="800" dirty="0"/>
          </a:p>
        </p:txBody>
      </p:sp>
      <p:sp>
        <p:nvSpPr>
          <p:cNvPr id="90" name="圖示 討論"/>
          <p:cNvSpPr/>
          <p:nvPr/>
        </p:nvSpPr>
        <p:spPr>
          <a:xfrm>
            <a:off x="6375235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5283" y="259077"/>
                </a:moveTo>
                <a:cubicBezTo>
                  <a:pt x="335283" y="275911"/>
                  <a:pt x="321631" y="289563"/>
                  <a:pt x="304797" y="289563"/>
                </a:cubicBezTo>
                <a:lnTo>
                  <a:pt x="104059" y="289563"/>
                </a:lnTo>
                <a:cubicBezTo>
                  <a:pt x="95975" y="289563"/>
                  <a:pt x="88221" y="292773"/>
                  <a:pt x="82506" y="298488"/>
                </a:cubicBezTo>
                <a:lnTo>
                  <a:pt x="48948" y="332046"/>
                </a:lnTo>
                <a:cubicBezTo>
                  <a:pt x="45857" y="335146"/>
                  <a:pt x="41203" y="336069"/>
                  <a:pt x="37161" y="334396"/>
                </a:cubicBezTo>
                <a:cubicBezTo>
                  <a:pt x="33120" y="332723"/>
                  <a:pt x="30477" y="328773"/>
                  <a:pt x="30477" y="324402"/>
                </a:cubicBezTo>
                <a:lnTo>
                  <a:pt x="30477" y="76197"/>
                </a:lnTo>
                <a:cubicBezTo>
                  <a:pt x="30477" y="59363"/>
                  <a:pt x="44129" y="45720"/>
                  <a:pt x="60963" y="45720"/>
                </a:cubicBezTo>
                <a:lnTo>
                  <a:pt x="304797" y="45720"/>
                </a:lnTo>
                <a:cubicBezTo>
                  <a:pt x="321631" y="45720"/>
                  <a:pt x="335283" y="59363"/>
                  <a:pt x="335283" y="76197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6095848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800" dirty="0"/>
          </a:p>
        </p:txBody>
      </p:sp>
      <p:sp>
        <p:nvSpPr>
          <p:cNvPr id="92" name="圖示 顯微檢測"/>
          <p:cNvSpPr/>
          <p:nvPr/>
        </p:nvSpPr>
        <p:spPr>
          <a:xfrm>
            <a:off x="7299770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91440" y="274320"/>
                </a:moveTo>
                <a:lnTo>
                  <a:pt x="213357" y="274320"/>
                </a:lnTo>
                <a:moveTo>
                  <a:pt x="45720" y="335283"/>
                </a:moveTo>
                <a:lnTo>
                  <a:pt x="320040" y="335283"/>
                </a:lnTo>
                <a:moveTo>
                  <a:pt x="213357" y="335283"/>
                </a:moveTo>
                <a:cubicBezTo>
                  <a:pt x="272281" y="335283"/>
                  <a:pt x="320040" y="287515"/>
                  <a:pt x="320040" y="228600"/>
                </a:cubicBezTo>
                <a:cubicBezTo>
                  <a:pt x="320040" y="169685"/>
                  <a:pt x="272281" y="121917"/>
                  <a:pt x="213357" y="121917"/>
                </a:cubicBezTo>
                <a:lnTo>
                  <a:pt x="198123" y="121917"/>
                </a:lnTo>
                <a:moveTo>
                  <a:pt x="137160" y="213357"/>
                </a:moveTo>
                <a:lnTo>
                  <a:pt x="167637" y="213357"/>
                </a:lnTo>
                <a:moveTo>
                  <a:pt x="137160" y="182880"/>
                </a:moveTo>
                <a:cubicBezTo>
                  <a:pt x="120326" y="182880"/>
                  <a:pt x="106683" y="169237"/>
                  <a:pt x="106683" y="152403"/>
                </a:cubicBezTo>
                <a:lnTo>
                  <a:pt x="106683" y="91440"/>
                </a:lnTo>
                <a:lnTo>
                  <a:pt x="198123" y="91440"/>
                </a:lnTo>
                <a:lnTo>
                  <a:pt x="198123" y="152403"/>
                </a:lnTo>
                <a:cubicBezTo>
                  <a:pt x="198123" y="169237"/>
                  <a:pt x="184471" y="182880"/>
                  <a:pt x="167637" y="182880"/>
                </a:cubicBezTo>
                <a:close/>
                <a:moveTo>
                  <a:pt x="182880" y="91440"/>
                </a:moveTo>
                <a:lnTo>
                  <a:pt x="182880" y="45720"/>
                </a:lnTo>
                <a:cubicBezTo>
                  <a:pt x="182880" y="37308"/>
                  <a:pt x="176059" y="30477"/>
                  <a:pt x="167637" y="30477"/>
                </a:cubicBezTo>
                <a:lnTo>
                  <a:pt x="137160" y="30477"/>
                </a:lnTo>
                <a:cubicBezTo>
                  <a:pt x="128748" y="30477"/>
                  <a:pt x="121917" y="37308"/>
                  <a:pt x="121917" y="45720"/>
                </a:cubicBezTo>
                <a:lnTo>
                  <a:pt x="121917" y="91440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圖說"/>
          <p:cNvSpPr/>
          <p:nvPr/>
        </p:nvSpPr>
        <p:spPr>
          <a:xfrm>
            <a:off x="7020382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顯微檢測</a:t>
            </a:r>
            <a:endParaRPr lang="en-US" sz="800" dirty="0"/>
          </a:p>
        </p:txBody>
      </p:sp>
      <p:sp>
        <p:nvSpPr>
          <p:cNvPr id="94" name="圖示 AOI 影像"/>
          <p:cNvSpPr/>
          <p:nvPr/>
        </p:nvSpPr>
        <p:spPr>
          <a:xfrm>
            <a:off x="8224304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13311" y="60963"/>
                </a:moveTo>
                <a:cubicBezTo>
                  <a:pt x="224513" y="60963"/>
                  <a:pt x="234818" y="67108"/>
                  <a:pt x="240140" y="76965"/>
                </a:cubicBezTo>
                <a:lnTo>
                  <a:pt x="247546" y="90681"/>
                </a:lnTo>
                <a:cubicBezTo>
                  <a:pt x="252868" y="100538"/>
                  <a:pt x="263164" y="106683"/>
                  <a:pt x="274366" y="106683"/>
                </a:cubicBezTo>
                <a:lnTo>
                  <a:pt x="304797" y="106683"/>
                </a:lnTo>
                <a:cubicBezTo>
                  <a:pt x="321631" y="106683"/>
                  <a:pt x="335283" y="120326"/>
                  <a:pt x="335283" y="137160"/>
                </a:cubicBezTo>
                <a:lnTo>
                  <a:pt x="335283" y="274320"/>
                </a:lnTo>
                <a:cubicBezTo>
                  <a:pt x="335283" y="291154"/>
                  <a:pt x="321631" y="304797"/>
                  <a:pt x="304797" y="304797"/>
                </a:cubicBezTo>
                <a:lnTo>
                  <a:pt x="60963" y="304797"/>
                </a:lnTo>
                <a:cubicBezTo>
                  <a:pt x="44129" y="304797"/>
                  <a:pt x="30477" y="291154"/>
                  <a:pt x="30477" y="274320"/>
                </a:cubicBezTo>
                <a:lnTo>
                  <a:pt x="30477" y="137160"/>
                </a:lnTo>
                <a:cubicBezTo>
                  <a:pt x="30477" y="120326"/>
                  <a:pt x="44129" y="106683"/>
                  <a:pt x="60963" y="106683"/>
                </a:cubicBezTo>
                <a:lnTo>
                  <a:pt x="91394" y="106683"/>
                </a:lnTo>
                <a:cubicBezTo>
                  <a:pt x="102587" y="106683"/>
                  <a:pt x="112874" y="100547"/>
                  <a:pt x="118204" y="90708"/>
                </a:cubicBezTo>
                <a:lnTo>
                  <a:pt x="125657" y="76928"/>
                </a:lnTo>
                <a:cubicBezTo>
                  <a:pt x="130979" y="67090"/>
                  <a:pt x="141275" y="60963"/>
                  <a:pt x="152458" y="60963"/>
                </a:cubicBezTo>
                <a:close/>
                <a:moveTo>
                  <a:pt x="228600" y="198123"/>
                </a:moveTo>
                <a:cubicBezTo>
                  <a:pt x="228600" y="223370"/>
                  <a:pt x="208127" y="243843"/>
                  <a:pt x="182880" y="243843"/>
                </a:cubicBezTo>
                <a:cubicBezTo>
                  <a:pt x="157633" y="243843"/>
                  <a:pt x="137160" y="223370"/>
                  <a:pt x="137160" y="198123"/>
                </a:cubicBezTo>
                <a:cubicBezTo>
                  <a:pt x="137160" y="172867"/>
                  <a:pt x="157633" y="152403"/>
                  <a:pt x="182880" y="152403"/>
                </a:cubicBezTo>
                <a:cubicBezTo>
                  <a:pt x="208127" y="152403"/>
                  <a:pt x="228600" y="172867"/>
                  <a:pt x="228600" y="198123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圖說"/>
          <p:cNvSpPr/>
          <p:nvPr/>
        </p:nvSpPr>
        <p:spPr>
          <a:xfrm>
            <a:off x="7944917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AOI 影像</a:t>
            </a:r>
            <a:endParaRPr lang="en-US" sz="800" dirty="0"/>
          </a:p>
        </p:txBody>
      </p:sp>
      <p:sp>
        <p:nvSpPr>
          <p:cNvPr id="96" name="圖示 AI"/>
          <p:cNvSpPr/>
          <p:nvPr/>
        </p:nvSpPr>
        <p:spPr>
          <a:xfrm>
            <a:off x="9148839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76197"/>
                </a:moveTo>
                <a:cubicBezTo>
                  <a:pt x="182926" y="59610"/>
                  <a:pt x="173983" y="44294"/>
                  <a:pt x="159508" y="36183"/>
                </a:cubicBezTo>
                <a:cubicBezTo>
                  <a:pt x="145033" y="28072"/>
                  <a:pt x="127294" y="28438"/>
                  <a:pt x="113166" y="37143"/>
                </a:cubicBezTo>
                <a:cubicBezTo>
                  <a:pt x="99048" y="45848"/>
                  <a:pt x="90745" y="61530"/>
                  <a:pt x="91486" y="78108"/>
                </a:cubicBezTo>
                <a:cubicBezTo>
                  <a:pt x="73335" y="82771"/>
                  <a:pt x="58339" y="95527"/>
                  <a:pt x="50822" y="112700"/>
                </a:cubicBezTo>
                <a:cubicBezTo>
                  <a:pt x="43306" y="129863"/>
                  <a:pt x="44102" y="149541"/>
                  <a:pt x="52989" y="166037"/>
                </a:cubicBezTo>
                <a:cubicBezTo>
                  <a:pt x="37335" y="178756"/>
                  <a:pt x="28986" y="198388"/>
                  <a:pt x="30687" y="218478"/>
                </a:cubicBezTo>
                <a:cubicBezTo>
                  <a:pt x="32379" y="238576"/>
                  <a:pt x="43900" y="256526"/>
                  <a:pt x="61466" y="266438"/>
                </a:cubicBezTo>
                <a:cubicBezTo>
                  <a:pt x="58549" y="288960"/>
                  <a:pt x="68397" y="311234"/>
                  <a:pt x="87014" y="324237"/>
                </a:cubicBezTo>
                <a:cubicBezTo>
                  <a:pt x="105631" y="337231"/>
                  <a:pt x="129936" y="338813"/>
                  <a:pt x="150071" y="328324"/>
                </a:cubicBezTo>
                <a:cubicBezTo>
                  <a:pt x="170216" y="317836"/>
                  <a:pt x="182853" y="297025"/>
                  <a:pt x="182880" y="274320"/>
                </a:cubicBezTo>
                <a:close/>
                <a:moveTo>
                  <a:pt x="137160" y="198123"/>
                </a:moveTo>
                <a:cubicBezTo>
                  <a:pt x="163321" y="188915"/>
                  <a:pt x="181371" y="164857"/>
                  <a:pt x="182880" y="137160"/>
                </a:cubicBezTo>
                <a:moveTo>
                  <a:pt x="91486" y="78108"/>
                </a:moveTo>
                <a:cubicBezTo>
                  <a:pt x="91787" y="85478"/>
                  <a:pt x="93872" y="92665"/>
                  <a:pt x="97548" y="99057"/>
                </a:cubicBezTo>
                <a:moveTo>
                  <a:pt x="52989" y="166055"/>
                </a:moveTo>
                <a:cubicBezTo>
                  <a:pt x="55778" y="163787"/>
                  <a:pt x="58759" y="161767"/>
                  <a:pt x="61905" y="160020"/>
                </a:cubicBezTo>
                <a:moveTo>
                  <a:pt x="91440" y="274320"/>
                </a:moveTo>
                <a:cubicBezTo>
                  <a:pt x="80934" y="274329"/>
                  <a:pt x="70610" y="271613"/>
                  <a:pt x="61466" y="266456"/>
                </a:cubicBezTo>
                <a:moveTo>
                  <a:pt x="182880" y="198123"/>
                </a:moveTo>
                <a:lnTo>
                  <a:pt x="243843" y="198123"/>
                </a:lnTo>
                <a:moveTo>
                  <a:pt x="182880" y="274320"/>
                </a:moveTo>
                <a:lnTo>
                  <a:pt x="274320" y="274320"/>
                </a:lnTo>
                <a:cubicBezTo>
                  <a:pt x="291154" y="274320"/>
                  <a:pt x="304797" y="287963"/>
                  <a:pt x="304797" y="304797"/>
                </a:cubicBezTo>
                <a:lnTo>
                  <a:pt x="304797" y="320040"/>
                </a:lnTo>
                <a:moveTo>
                  <a:pt x="182880" y="121917"/>
                </a:moveTo>
                <a:lnTo>
                  <a:pt x="304797" y="121917"/>
                </a:lnTo>
                <a:moveTo>
                  <a:pt x="243843" y="121917"/>
                </a:moveTo>
                <a:lnTo>
                  <a:pt x="243843" y="76197"/>
                </a:lnTo>
                <a:cubicBezTo>
                  <a:pt x="243843" y="59363"/>
                  <a:pt x="257486" y="45720"/>
                  <a:pt x="274320" y="45720"/>
                </a:cubicBezTo>
                <a:moveTo>
                  <a:pt x="251460" y="198123"/>
                </a:moveTo>
                <a:cubicBezTo>
                  <a:pt x="251460" y="202329"/>
                  <a:pt x="248049" y="205740"/>
                  <a:pt x="243843" y="205740"/>
                </a:cubicBezTo>
                <a:cubicBezTo>
                  <a:pt x="239628" y="205740"/>
                  <a:pt x="236217" y="202329"/>
                  <a:pt x="236217" y="198123"/>
                </a:cubicBezTo>
                <a:cubicBezTo>
                  <a:pt x="236217" y="193908"/>
                  <a:pt x="239628" y="190497"/>
                  <a:pt x="243843" y="190497"/>
                </a:cubicBezTo>
                <a:cubicBezTo>
                  <a:pt x="248049" y="190497"/>
                  <a:pt x="251460" y="193908"/>
                  <a:pt x="251460" y="198123"/>
                </a:cubicBezTo>
                <a:close/>
                <a:moveTo>
                  <a:pt x="281937" y="45720"/>
                </a:moveTo>
                <a:cubicBezTo>
                  <a:pt x="281937" y="49926"/>
                  <a:pt x="278526" y="53337"/>
                  <a:pt x="274320" y="53337"/>
                </a:cubicBezTo>
                <a:cubicBezTo>
                  <a:pt x="270114" y="53337"/>
                  <a:pt x="266703" y="49926"/>
                  <a:pt x="266703" y="45720"/>
                </a:cubicBezTo>
                <a:cubicBezTo>
                  <a:pt x="266703" y="41514"/>
                  <a:pt x="270114" y="38103"/>
                  <a:pt x="274320" y="38103"/>
                </a:cubicBezTo>
                <a:cubicBezTo>
                  <a:pt x="278526" y="38103"/>
                  <a:pt x="281937" y="41514"/>
                  <a:pt x="281937" y="45720"/>
                </a:cubicBezTo>
                <a:close/>
                <a:moveTo>
                  <a:pt x="312423" y="320040"/>
                </a:moveTo>
                <a:cubicBezTo>
                  <a:pt x="312423" y="324246"/>
                  <a:pt x="309012" y="327657"/>
                  <a:pt x="304797" y="327657"/>
                </a:cubicBezTo>
                <a:cubicBezTo>
                  <a:pt x="300591" y="327657"/>
                  <a:pt x="297180" y="324246"/>
                  <a:pt x="297180" y="320040"/>
                </a:cubicBezTo>
                <a:cubicBezTo>
                  <a:pt x="297180" y="315834"/>
                  <a:pt x="300591" y="312423"/>
                  <a:pt x="304797" y="312423"/>
                </a:cubicBezTo>
                <a:cubicBezTo>
                  <a:pt x="309012" y="312423"/>
                  <a:pt x="312423" y="315834"/>
                  <a:pt x="312423" y="320040"/>
                </a:cubicBezTo>
                <a:close/>
                <a:moveTo>
                  <a:pt x="312423" y="121917"/>
                </a:moveTo>
                <a:cubicBezTo>
                  <a:pt x="312423" y="126132"/>
                  <a:pt x="309012" y="129543"/>
                  <a:pt x="304797" y="129543"/>
                </a:cubicBezTo>
                <a:cubicBezTo>
                  <a:pt x="300591" y="129543"/>
                  <a:pt x="297180" y="126132"/>
                  <a:pt x="297180" y="121917"/>
                </a:cubicBezTo>
                <a:cubicBezTo>
                  <a:pt x="297180" y="117711"/>
                  <a:pt x="300591" y="114300"/>
                  <a:pt x="304797" y="114300"/>
                </a:cubicBezTo>
                <a:cubicBezTo>
                  <a:pt x="309012" y="114300"/>
                  <a:pt x="312423" y="117711"/>
                  <a:pt x="312423" y="121917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圖說"/>
          <p:cNvSpPr/>
          <p:nvPr/>
        </p:nvSpPr>
        <p:spPr>
          <a:xfrm>
            <a:off x="8869451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800" dirty="0"/>
          </a:p>
        </p:txBody>
      </p:sp>
      <p:sp>
        <p:nvSpPr>
          <p:cNvPr id="98" name="圖示 機器人"/>
          <p:cNvSpPr/>
          <p:nvPr/>
        </p:nvSpPr>
        <p:spPr>
          <a:xfrm>
            <a:off x="10073373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121917"/>
                </a:moveTo>
                <a:lnTo>
                  <a:pt x="182880" y="60963"/>
                </a:lnTo>
                <a:lnTo>
                  <a:pt x="121917" y="60963"/>
                </a:lnTo>
                <a:moveTo>
                  <a:pt x="91440" y="121917"/>
                </a:moveTo>
                <a:lnTo>
                  <a:pt x="274320" y="121917"/>
                </a:lnTo>
                <a:cubicBezTo>
                  <a:pt x="291154" y="121917"/>
                  <a:pt x="304797" y="135569"/>
                  <a:pt x="304797" y="152403"/>
                </a:cubicBezTo>
                <a:lnTo>
                  <a:pt x="304797" y="274320"/>
                </a:lnTo>
                <a:cubicBezTo>
                  <a:pt x="304797" y="291154"/>
                  <a:pt x="291154" y="304797"/>
                  <a:pt x="274320" y="304797"/>
                </a:cubicBezTo>
                <a:lnTo>
                  <a:pt x="91440" y="304797"/>
                </a:lnTo>
                <a:cubicBezTo>
                  <a:pt x="74606" y="304797"/>
                  <a:pt x="60963" y="291154"/>
                  <a:pt x="60963" y="274320"/>
                </a:cubicBezTo>
                <a:lnTo>
                  <a:pt x="60963" y="152403"/>
                </a:lnTo>
                <a:cubicBezTo>
                  <a:pt x="60963" y="135569"/>
                  <a:pt x="74606" y="121917"/>
                  <a:pt x="91440" y="121917"/>
                </a:cubicBezTo>
                <a:close/>
                <a:moveTo>
                  <a:pt x="30477" y="213357"/>
                </a:moveTo>
                <a:lnTo>
                  <a:pt x="60963" y="213357"/>
                </a:lnTo>
                <a:moveTo>
                  <a:pt x="304797" y="213357"/>
                </a:moveTo>
                <a:lnTo>
                  <a:pt x="335283" y="213357"/>
                </a:lnTo>
                <a:moveTo>
                  <a:pt x="228600" y="198123"/>
                </a:moveTo>
                <a:lnTo>
                  <a:pt x="228600" y="228600"/>
                </a:lnTo>
                <a:moveTo>
                  <a:pt x="137160" y="198123"/>
                </a:moveTo>
                <a:lnTo>
                  <a:pt x="137160" y="228600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圖說"/>
          <p:cNvSpPr/>
          <p:nvPr/>
        </p:nvSpPr>
        <p:spPr>
          <a:xfrm>
            <a:off x="9793986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機器人</a:t>
            </a:r>
            <a:endParaRPr lang="en-US" sz="800" dirty="0"/>
          </a:p>
        </p:txBody>
      </p:sp>
      <p:sp>
        <p:nvSpPr>
          <p:cNvPr id="100" name="圖示 物流"/>
          <p:cNvSpPr/>
          <p:nvPr/>
        </p:nvSpPr>
        <p:spPr>
          <a:xfrm>
            <a:off x="10997908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13357" y="274320"/>
                </a:moveTo>
                <a:lnTo>
                  <a:pt x="213357" y="91440"/>
                </a:lnTo>
                <a:cubicBezTo>
                  <a:pt x="213357" y="74606"/>
                  <a:pt x="199714" y="60963"/>
                  <a:pt x="182880" y="60963"/>
                </a:cubicBezTo>
                <a:lnTo>
                  <a:pt x="60963" y="60963"/>
                </a:lnTo>
                <a:cubicBezTo>
                  <a:pt x="44129" y="60963"/>
                  <a:pt x="30477" y="74606"/>
                  <a:pt x="30477" y="91440"/>
                </a:cubicBezTo>
                <a:lnTo>
                  <a:pt x="30477" y="259077"/>
                </a:lnTo>
                <a:cubicBezTo>
                  <a:pt x="30477" y="267499"/>
                  <a:pt x="37308" y="274320"/>
                  <a:pt x="45720" y="274320"/>
                </a:cubicBezTo>
                <a:lnTo>
                  <a:pt x="76197" y="274320"/>
                </a:lnTo>
                <a:moveTo>
                  <a:pt x="228600" y="274320"/>
                </a:moveTo>
                <a:lnTo>
                  <a:pt x="137160" y="274320"/>
                </a:lnTo>
                <a:moveTo>
                  <a:pt x="289563" y="274320"/>
                </a:moveTo>
                <a:lnTo>
                  <a:pt x="320040" y="274320"/>
                </a:lnTo>
                <a:cubicBezTo>
                  <a:pt x="328452" y="274320"/>
                  <a:pt x="335283" y="267499"/>
                  <a:pt x="335283" y="259077"/>
                </a:cubicBezTo>
                <a:lnTo>
                  <a:pt x="335283" y="203454"/>
                </a:lnTo>
                <a:cubicBezTo>
                  <a:pt x="335274" y="199998"/>
                  <a:pt x="334094" y="196642"/>
                  <a:pt x="331927" y="193944"/>
                </a:cubicBezTo>
                <a:lnTo>
                  <a:pt x="278892" y="127650"/>
                </a:lnTo>
                <a:cubicBezTo>
                  <a:pt x="276002" y="124038"/>
                  <a:pt x="271632" y="121926"/>
                  <a:pt x="267005" y="121917"/>
                </a:cubicBezTo>
                <a:lnTo>
                  <a:pt x="213357" y="121917"/>
                </a:lnTo>
                <a:moveTo>
                  <a:pt x="289563" y="274320"/>
                </a:moveTo>
                <a:cubicBezTo>
                  <a:pt x="289563" y="291154"/>
                  <a:pt x="275911" y="304797"/>
                  <a:pt x="259077" y="304797"/>
                </a:cubicBezTo>
                <a:cubicBezTo>
                  <a:pt x="242243" y="304797"/>
                  <a:pt x="228600" y="291154"/>
                  <a:pt x="228600" y="274320"/>
                </a:cubicBezTo>
                <a:cubicBezTo>
                  <a:pt x="228600" y="257486"/>
                  <a:pt x="242243" y="243843"/>
                  <a:pt x="259077" y="243843"/>
                </a:cubicBezTo>
                <a:cubicBezTo>
                  <a:pt x="275911" y="243843"/>
                  <a:pt x="289563" y="257486"/>
                  <a:pt x="289563" y="274320"/>
                </a:cubicBezTo>
                <a:close/>
                <a:moveTo>
                  <a:pt x="137160" y="274320"/>
                </a:moveTo>
                <a:cubicBezTo>
                  <a:pt x="137160" y="291154"/>
                  <a:pt x="123517" y="304797"/>
                  <a:pt x="106683" y="304797"/>
                </a:cubicBezTo>
                <a:cubicBezTo>
                  <a:pt x="89849" y="304797"/>
                  <a:pt x="76197" y="291154"/>
                  <a:pt x="76197" y="274320"/>
                </a:cubicBezTo>
                <a:cubicBezTo>
                  <a:pt x="76197" y="257486"/>
                  <a:pt x="89849" y="243843"/>
                  <a:pt x="106683" y="243843"/>
                </a:cubicBezTo>
                <a:cubicBezTo>
                  <a:pt x="123517" y="243843"/>
                  <a:pt x="137160" y="257486"/>
                  <a:pt x="137160" y="274320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圖說"/>
          <p:cNvSpPr/>
          <p:nvPr/>
        </p:nvSpPr>
        <p:spPr>
          <a:xfrm>
            <a:off x="10718521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</a:t>
            </a:r>
            <a:endParaRPr lang="en-US" sz="800" dirty="0"/>
          </a:p>
        </p:txBody>
      </p:sp>
      <p:sp>
        <p:nvSpPr>
          <p:cNvPr id="102" name="圖示 成本"/>
          <p:cNvSpPr/>
          <p:nvPr/>
        </p:nvSpPr>
        <p:spPr>
          <a:xfrm>
            <a:off x="828027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5283" y="182880"/>
                </a:moveTo>
                <a:cubicBezTo>
                  <a:pt x="335283" y="267051"/>
                  <a:pt x="267051" y="335283"/>
                  <a:pt x="182880" y="335283"/>
                </a:cubicBezTo>
                <a:cubicBezTo>
                  <a:pt x="98709" y="335283"/>
                  <a:pt x="30477" y="267051"/>
                  <a:pt x="30477" y="182880"/>
                </a:cubicBezTo>
                <a:cubicBezTo>
                  <a:pt x="30477" y="98709"/>
                  <a:pt x="98709" y="30477"/>
                  <a:pt x="182880" y="30477"/>
                </a:cubicBezTo>
                <a:cubicBezTo>
                  <a:pt x="267051" y="30477"/>
                  <a:pt x="335283" y="98709"/>
                  <a:pt x="335283" y="182880"/>
                </a:cubicBezTo>
                <a:close/>
                <a:moveTo>
                  <a:pt x="243843" y="121917"/>
                </a:moveTo>
                <a:lnTo>
                  <a:pt x="152403" y="121917"/>
                </a:lnTo>
                <a:cubicBezTo>
                  <a:pt x="135569" y="121917"/>
                  <a:pt x="121917" y="135569"/>
                  <a:pt x="121917" y="152403"/>
                </a:cubicBezTo>
                <a:cubicBezTo>
                  <a:pt x="121917" y="169237"/>
                  <a:pt x="135569" y="182880"/>
                  <a:pt x="152403" y="182880"/>
                </a:cubicBezTo>
                <a:lnTo>
                  <a:pt x="213357" y="182880"/>
                </a:lnTo>
                <a:cubicBezTo>
                  <a:pt x="230191" y="182880"/>
                  <a:pt x="243843" y="196523"/>
                  <a:pt x="243843" y="213357"/>
                </a:cubicBezTo>
                <a:cubicBezTo>
                  <a:pt x="243843" y="230191"/>
                  <a:pt x="230191" y="243843"/>
                  <a:pt x="213357" y="243843"/>
                </a:cubicBezTo>
                <a:lnTo>
                  <a:pt x="121917" y="243843"/>
                </a:lnTo>
                <a:moveTo>
                  <a:pt x="182880" y="274320"/>
                </a:moveTo>
                <a:lnTo>
                  <a:pt x="182880" y="91440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圖說"/>
          <p:cNvSpPr/>
          <p:nvPr/>
        </p:nvSpPr>
        <p:spPr>
          <a:xfrm>
            <a:off x="548640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</a:t>
            </a:r>
            <a:endParaRPr lang="en-US" sz="800" dirty="0"/>
          </a:p>
        </p:txBody>
      </p:sp>
      <p:sp>
        <p:nvSpPr>
          <p:cNvPr id="104" name="圖示 良率漏斗"/>
          <p:cNvSpPr/>
          <p:nvPr/>
        </p:nvSpPr>
        <p:spPr>
          <a:xfrm>
            <a:off x="1752562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52403" y="304797"/>
                </a:moveTo>
                <a:cubicBezTo>
                  <a:pt x="152394" y="310576"/>
                  <a:pt x="155658" y="315861"/>
                  <a:pt x="160825" y="318440"/>
                </a:cubicBezTo>
                <a:lnTo>
                  <a:pt x="191311" y="333683"/>
                </a:lnTo>
                <a:cubicBezTo>
                  <a:pt x="196029" y="336042"/>
                  <a:pt x="201643" y="335786"/>
                  <a:pt x="206133" y="333006"/>
                </a:cubicBezTo>
                <a:cubicBezTo>
                  <a:pt x="210632" y="330226"/>
                  <a:pt x="213366" y="325325"/>
                  <a:pt x="213357" y="320040"/>
                </a:cubicBezTo>
                <a:lnTo>
                  <a:pt x="213357" y="213357"/>
                </a:lnTo>
                <a:cubicBezTo>
                  <a:pt x="213366" y="205804"/>
                  <a:pt x="216173" y="198525"/>
                  <a:pt x="221239" y="192920"/>
                </a:cubicBezTo>
                <a:lnTo>
                  <a:pt x="331315" y="71168"/>
                </a:lnTo>
                <a:cubicBezTo>
                  <a:pt x="335347" y="66705"/>
                  <a:pt x="336371" y="60286"/>
                  <a:pt x="333939" y="54782"/>
                </a:cubicBezTo>
                <a:cubicBezTo>
                  <a:pt x="331497" y="49286"/>
                  <a:pt x="326057" y="45738"/>
                  <a:pt x="320040" y="45720"/>
                </a:cubicBezTo>
                <a:lnTo>
                  <a:pt x="45720" y="45720"/>
                </a:lnTo>
                <a:cubicBezTo>
                  <a:pt x="39703" y="45720"/>
                  <a:pt x="34244" y="49268"/>
                  <a:pt x="31803" y="54773"/>
                </a:cubicBezTo>
                <a:cubicBezTo>
                  <a:pt x="29352" y="60277"/>
                  <a:pt x="30376" y="66696"/>
                  <a:pt x="34409" y="71168"/>
                </a:cubicBezTo>
                <a:lnTo>
                  <a:pt x="144521" y="192920"/>
                </a:lnTo>
                <a:cubicBezTo>
                  <a:pt x="149587" y="198525"/>
                  <a:pt x="152394" y="205804"/>
                  <a:pt x="152403" y="213357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圖說"/>
          <p:cNvSpPr/>
          <p:nvPr/>
        </p:nvSpPr>
        <p:spPr>
          <a:xfrm>
            <a:off x="1473175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良率漏斗</a:t>
            </a:r>
            <a:endParaRPr lang="en-US" sz="800" dirty="0"/>
          </a:p>
        </p:txBody>
      </p:sp>
      <p:sp>
        <p:nvSpPr>
          <p:cNvPr id="106" name="圖示 回收"/>
          <p:cNvSpPr/>
          <p:nvPr/>
        </p:nvSpPr>
        <p:spPr>
          <a:xfrm>
            <a:off x="2677097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06683" y="289563"/>
                </a:moveTo>
                <a:lnTo>
                  <a:pt x="73381" y="289563"/>
                </a:lnTo>
                <a:cubicBezTo>
                  <a:pt x="63606" y="289590"/>
                  <a:pt x="54526" y="284497"/>
                  <a:pt x="49451" y="276131"/>
                </a:cubicBezTo>
                <a:cubicBezTo>
                  <a:pt x="44577" y="267727"/>
                  <a:pt x="44559" y="257367"/>
                  <a:pt x="49396" y="248945"/>
                </a:cubicBezTo>
                <a:lnTo>
                  <a:pt x="109664" y="144777"/>
                </a:lnTo>
                <a:moveTo>
                  <a:pt x="167637" y="289563"/>
                </a:moveTo>
                <a:lnTo>
                  <a:pt x="292654" y="289563"/>
                </a:lnTo>
                <a:cubicBezTo>
                  <a:pt x="302383" y="289481"/>
                  <a:pt x="311371" y="284342"/>
                  <a:pt x="316364" y="275993"/>
                </a:cubicBezTo>
                <a:cubicBezTo>
                  <a:pt x="321174" y="267617"/>
                  <a:pt x="321174" y="257321"/>
                  <a:pt x="316364" y="248945"/>
                </a:cubicBezTo>
                <a:lnTo>
                  <a:pt x="297683" y="216640"/>
                </a:lnTo>
                <a:moveTo>
                  <a:pt x="213357" y="243843"/>
                </a:moveTo>
                <a:lnTo>
                  <a:pt x="167637" y="289563"/>
                </a:lnTo>
                <a:lnTo>
                  <a:pt x="213357" y="335283"/>
                </a:lnTo>
                <a:moveTo>
                  <a:pt x="126388" y="207203"/>
                </a:moveTo>
                <a:lnTo>
                  <a:pt x="109664" y="144777"/>
                </a:lnTo>
                <a:lnTo>
                  <a:pt x="47247" y="161510"/>
                </a:lnTo>
                <a:moveTo>
                  <a:pt x="142400" y="88560"/>
                </a:moveTo>
                <a:lnTo>
                  <a:pt x="159060" y="59729"/>
                </a:lnTo>
                <a:cubicBezTo>
                  <a:pt x="163924" y="51243"/>
                  <a:pt x="172876" y="45930"/>
                  <a:pt x="182651" y="45720"/>
                </a:cubicBezTo>
                <a:cubicBezTo>
                  <a:pt x="192353" y="45702"/>
                  <a:pt x="201342" y="50859"/>
                  <a:pt x="206215" y="59253"/>
                </a:cubicBezTo>
                <a:lnTo>
                  <a:pt x="266301" y="163540"/>
                </a:lnTo>
                <a:moveTo>
                  <a:pt x="203884" y="146807"/>
                </a:moveTo>
                <a:lnTo>
                  <a:pt x="266301" y="163540"/>
                </a:lnTo>
                <a:lnTo>
                  <a:pt x="283025" y="101114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圖說"/>
          <p:cNvSpPr/>
          <p:nvPr/>
        </p:nvSpPr>
        <p:spPr>
          <a:xfrm>
            <a:off x="2397709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</a:t>
            </a:r>
            <a:endParaRPr lang="en-US" sz="800" dirty="0"/>
          </a:p>
        </p:txBody>
      </p:sp>
      <p:sp>
        <p:nvSpPr>
          <p:cNvPr id="108" name="圖示 里程碑"/>
          <p:cNvSpPr/>
          <p:nvPr/>
        </p:nvSpPr>
        <p:spPr>
          <a:xfrm>
            <a:off x="3601631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60963" y="335283"/>
                </a:moveTo>
                <a:lnTo>
                  <a:pt x="60963" y="60963"/>
                </a:lnTo>
                <a:cubicBezTo>
                  <a:pt x="60963" y="56162"/>
                  <a:pt x="63222" y="51645"/>
                  <a:pt x="67053" y="48765"/>
                </a:cubicBezTo>
                <a:cubicBezTo>
                  <a:pt x="82881" y="36896"/>
                  <a:pt x="102138" y="30477"/>
                  <a:pt x="121917" y="30477"/>
                </a:cubicBezTo>
                <a:cubicBezTo>
                  <a:pt x="167637" y="30477"/>
                  <a:pt x="198123" y="60963"/>
                  <a:pt x="233675" y="60963"/>
                </a:cubicBezTo>
                <a:cubicBezTo>
                  <a:pt x="253993" y="60963"/>
                  <a:pt x="269574" y="56894"/>
                  <a:pt x="280419" y="48765"/>
                </a:cubicBezTo>
                <a:cubicBezTo>
                  <a:pt x="285037" y="45309"/>
                  <a:pt x="291209" y="44751"/>
                  <a:pt x="296375" y="47329"/>
                </a:cubicBezTo>
                <a:cubicBezTo>
                  <a:pt x="301542" y="49908"/>
                  <a:pt x="304797" y="55184"/>
                  <a:pt x="304797" y="60963"/>
                </a:cubicBezTo>
                <a:lnTo>
                  <a:pt x="304797" y="213357"/>
                </a:lnTo>
                <a:cubicBezTo>
                  <a:pt x="304797" y="218158"/>
                  <a:pt x="302538" y="222675"/>
                  <a:pt x="298707" y="225555"/>
                </a:cubicBezTo>
                <a:cubicBezTo>
                  <a:pt x="282879" y="237424"/>
                  <a:pt x="263622" y="243843"/>
                  <a:pt x="243843" y="243843"/>
                </a:cubicBezTo>
                <a:cubicBezTo>
                  <a:pt x="198123" y="243843"/>
                  <a:pt x="167637" y="213357"/>
                  <a:pt x="121917" y="213357"/>
                </a:cubicBezTo>
                <a:cubicBezTo>
                  <a:pt x="99432" y="213357"/>
                  <a:pt x="77724" y="221651"/>
                  <a:pt x="60963" y="236647"/>
                </a:cubicBez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圖說"/>
          <p:cNvSpPr/>
          <p:nvPr/>
        </p:nvSpPr>
        <p:spPr>
          <a:xfrm>
            <a:off x="3322244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</a:t>
            </a:r>
            <a:endParaRPr lang="en-US" sz="800" dirty="0"/>
          </a:p>
        </p:txBody>
      </p:sp>
      <p:sp>
        <p:nvSpPr>
          <p:cNvPr id="110" name="圖示 重點"/>
          <p:cNvSpPr/>
          <p:nvPr/>
        </p:nvSpPr>
        <p:spPr>
          <a:xfrm>
            <a:off x="4526166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75638" y="34976"/>
                </a:moveTo>
                <a:cubicBezTo>
                  <a:pt x="177000" y="32223"/>
                  <a:pt x="179808" y="30486"/>
                  <a:pt x="182880" y="30486"/>
                </a:cubicBezTo>
                <a:cubicBezTo>
                  <a:pt x="185952" y="30486"/>
                  <a:pt x="188760" y="32223"/>
                  <a:pt x="190122" y="34976"/>
                </a:cubicBezTo>
                <a:lnTo>
                  <a:pt x="225326" y="106281"/>
                </a:lnTo>
                <a:cubicBezTo>
                  <a:pt x="230036" y="115809"/>
                  <a:pt x="239116" y="122420"/>
                  <a:pt x="249631" y="123965"/>
                </a:cubicBezTo>
                <a:lnTo>
                  <a:pt x="328361" y="135487"/>
                </a:lnTo>
                <a:cubicBezTo>
                  <a:pt x="331406" y="135926"/>
                  <a:pt x="333930" y="138056"/>
                  <a:pt x="334881" y="140982"/>
                </a:cubicBezTo>
                <a:cubicBezTo>
                  <a:pt x="335832" y="143899"/>
                  <a:pt x="335045" y="147118"/>
                  <a:pt x="332842" y="149258"/>
                </a:cubicBezTo>
                <a:lnTo>
                  <a:pt x="275902" y="204707"/>
                </a:lnTo>
                <a:cubicBezTo>
                  <a:pt x="268285" y="212132"/>
                  <a:pt x="264801" y="222830"/>
                  <a:pt x="266593" y="233327"/>
                </a:cubicBezTo>
                <a:lnTo>
                  <a:pt x="280035" y="311655"/>
                </a:lnTo>
                <a:cubicBezTo>
                  <a:pt x="280574" y="314700"/>
                  <a:pt x="279331" y="317781"/>
                  <a:pt x="276825" y="319601"/>
                </a:cubicBezTo>
                <a:cubicBezTo>
                  <a:pt x="274329" y="321412"/>
                  <a:pt x="271010" y="321640"/>
                  <a:pt x="268285" y="320195"/>
                </a:cubicBezTo>
                <a:lnTo>
                  <a:pt x="197904" y="283190"/>
                </a:lnTo>
                <a:cubicBezTo>
                  <a:pt x="188494" y="278243"/>
                  <a:pt x="177247" y="278243"/>
                  <a:pt x="167838" y="283190"/>
                </a:cubicBezTo>
                <a:lnTo>
                  <a:pt x="97475" y="320195"/>
                </a:lnTo>
                <a:cubicBezTo>
                  <a:pt x="94750" y="321631"/>
                  <a:pt x="91440" y="321402"/>
                  <a:pt x="88944" y="319583"/>
                </a:cubicBezTo>
                <a:cubicBezTo>
                  <a:pt x="86447" y="317772"/>
                  <a:pt x="85204" y="314700"/>
                  <a:pt x="85743" y="311655"/>
                </a:cubicBezTo>
                <a:lnTo>
                  <a:pt x="99167" y="233337"/>
                </a:lnTo>
                <a:cubicBezTo>
                  <a:pt x="100968" y="222839"/>
                  <a:pt x="97484" y="212132"/>
                  <a:pt x="89858" y="204707"/>
                </a:cubicBezTo>
                <a:lnTo>
                  <a:pt x="32918" y="149276"/>
                </a:lnTo>
                <a:cubicBezTo>
                  <a:pt x="30696" y="147127"/>
                  <a:pt x="29892" y="143908"/>
                  <a:pt x="30843" y="140973"/>
                </a:cubicBezTo>
                <a:cubicBezTo>
                  <a:pt x="31803" y="138038"/>
                  <a:pt x="34345" y="135898"/>
                  <a:pt x="37399" y="135468"/>
                </a:cubicBezTo>
                <a:lnTo>
                  <a:pt x="116111" y="123965"/>
                </a:lnTo>
                <a:cubicBezTo>
                  <a:pt x="126644" y="122429"/>
                  <a:pt x="135743" y="115818"/>
                  <a:pt x="140452" y="106281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圖說"/>
          <p:cNvSpPr/>
          <p:nvPr/>
        </p:nvSpPr>
        <p:spPr>
          <a:xfrm>
            <a:off x="4246778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800" dirty="0"/>
          </a:p>
        </p:txBody>
      </p:sp>
      <p:sp>
        <p:nvSpPr>
          <p:cNvPr id="112" name="圖示 首頁"/>
          <p:cNvSpPr/>
          <p:nvPr/>
        </p:nvSpPr>
        <p:spPr>
          <a:xfrm>
            <a:off x="5450700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28600" y="320040"/>
                </a:moveTo>
                <a:lnTo>
                  <a:pt x="228600" y="198123"/>
                </a:lnTo>
                <a:cubicBezTo>
                  <a:pt x="228600" y="189701"/>
                  <a:pt x="221779" y="182880"/>
                  <a:pt x="213357" y="182880"/>
                </a:cubicBezTo>
                <a:lnTo>
                  <a:pt x="152403" y="182880"/>
                </a:lnTo>
                <a:cubicBezTo>
                  <a:pt x="143981" y="182880"/>
                  <a:pt x="137160" y="189701"/>
                  <a:pt x="137160" y="198123"/>
                </a:cubicBezTo>
                <a:lnTo>
                  <a:pt x="137160" y="320040"/>
                </a:lnTo>
                <a:moveTo>
                  <a:pt x="45720" y="152403"/>
                </a:moveTo>
                <a:cubicBezTo>
                  <a:pt x="45720" y="143424"/>
                  <a:pt x="49670" y="134911"/>
                  <a:pt x="56528" y="129113"/>
                </a:cubicBezTo>
                <a:lnTo>
                  <a:pt x="163202" y="37673"/>
                </a:lnTo>
                <a:cubicBezTo>
                  <a:pt x="174568" y="28072"/>
                  <a:pt x="191192" y="28072"/>
                  <a:pt x="202558" y="37673"/>
                </a:cubicBezTo>
                <a:lnTo>
                  <a:pt x="309232" y="129113"/>
                </a:lnTo>
                <a:cubicBezTo>
                  <a:pt x="316090" y="134911"/>
                  <a:pt x="320040" y="143424"/>
                  <a:pt x="320040" y="152403"/>
                </a:cubicBezTo>
                <a:lnTo>
                  <a:pt x="320040" y="289563"/>
                </a:lnTo>
                <a:cubicBezTo>
                  <a:pt x="320040" y="306397"/>
                  <a:pt x="306397" y="320040"/>
                  <a:pt x="289563" y="320040"/>
                </a:cubicBezTo>
                <a:lnTo>
                  <a:pt x="76197" y="320040"/>
                </a:lnTo>
                <a:cubicBezTo>
                  <a:pt x="59363" y="320040"/>
                  <a:pt x="45720" y="306397"/>
                  <a:pt x="45720" y="289563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圖說"/>
          <p:cNvSpPr/>
          <p:nvPr/>
        </p:nvSpPr>
        <p:spPr>
          <a:xfrm>
            <a:off x="5171313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首頁</a:t>
            </a:r>
            <a:endParaRPr lang="en-US" sz="800" dirty="0"/>
          </a:p>
        </p:txBody>
      </p:sp>
      <p:sp>
        <p:nvSpPr>
          <p:cNvPr id="114" name="圖示 地點"/>
          <p:cNvSpPr/>
          <p:nvPr/>
        </p:nvSpPr>
        <p:spPr>
          <a:xfrm>
            <a:off x="6375235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04797" y="152403"/>
                </a:moveTo>
                <a:cubicBezTo>
                  <a:pt x="304797" y="228490"/>
                  <a:pt x="220389" y="307741"/>
                  <a:pt x="192042" y="332220"/>
                </a:cubicBezTo>
                <a:cubicBezTo>
                  <a:pt x="186611" y="336298"/>
                  <a:pt x="179149" y="336298"/>
                  <a:pt x="173718" y="332220"/>
                </a:cubicBezTo>
                <a:cubicBezTo>
                  <a:pt x="145371" y="307741"/>
                  <a:pt x="60963" y="228490"/>
                  <a:pt x="60963" y="152403"/>
                </a:cubicBezTo>
                <a:cubicBezTo>
                  <a:pt x="60963" y="85067"/>
                  <a:pt x="115544" y="30477"/>
                  <a:pt x="182880" y="30477"/>
                </a:cubicBezTo>
                <a:cubicBezTo>
                  <a:pt x="250216" y="30477"/>
                  <a:pt x="304797" y="85067"/>
                  <a:pt x="304797" y="152403"/>
                </a:cubicBezTo>
                <a:moveTo>
                  <a:pt x="228600" y="152403"/>
                </a:moveTo>
                <a:cubicBezTo>
                  <a:pt x="228600" y="177650"/>
                  <a:pt x="208127" y="198123"/>
                  <a:pt x="182880" y="198123"/>
                </a:cubicBezTo>
                <a:cubicBezTo>
                  <a:pt x="157633" y="198123"/>
                  <a:pt x="137160" y="177650"/>
                  <a:pt x="137160" y="152403"/>
                </a:cubicBezTo>
                <a:cubicBezTo>
                  <a:pt x="137160" y="127147"/>
                  <a:pt x="157633" y="106683"/>
                  <a:pt x="182880" y="106683"/>
                </a:cubicBezTo>
                <a:cubicBezTo>
                  <a:pt x="208127" y="106683"/>
                  <a:pt x="228600" y="127147"/>
                  <a:pt x="228600" y="152403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圖說"/>
          <p:cNvSpPr/>
          <p:nvPr/>
        </p:nvSpPr>
        <p:spPr>
          <a:xfrm>
            <a:off x="6095848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</a:t>
            </a:r>
            <a:endParaRPr lang="en-US" sz="800" dirty="0"/>
          </a:p>
        </p:txBody>
      </p:sp>
      <p:sp>
        <p:nvSpPr>
          <p:cNvPr id="116" name="圖示 全球"/>
          <p:cNvSpPr/>
          <p:nvPr/>
        </p:nvSpPr>
        <p:spPr>
          <a:xfrm>
            <a:off x="7299770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5283" y="182880"/>
                </a:moveTo>
                <a:cubicBezTo>
                  <a:pt x="335283" y="267051"/>
                  <a:pt x="267051" y="335283"/>
                  <a:pt x="182880" y="335283"/>
                </a:cubicBezTo>
                <a:cubicBezTo>
                  <a:pt x="98709" y="335283"/>
                  <a:pt x="30477" y="267051"/>
                  <a:pt x="30477" y="182880"/>
                </a:cubicBezTo>
                <a:cubicBezTo>
                  <a:pt x="30477" y="98709"/>
                  <a:pt x="98709" y="30477"/>
                  <a:pt x="182880" y="30477"/>
                </a:cubicBezTo>
                <a:cubicBezTo>
                  <a:pt x="267051" y="30477"/>
                  <a:pt x="335283" y="98709"/>
                  <a:pt x="335283" y="182880"/>
                </a:cubicBezTo>
                <a:close/>
                <a:moveTo>
                  <a:pt x="182880" y="30477"/>
                </a:moveTo>
                <a:cubicBezTo>
                  <a:pt x="101599" y="115827"/>
                  <a:pt x="101599" y="249933"/>
                  <a:pt x="182880" y="335283"/>
                </a:cubicBezTo>
                <a:cubicBezTo>
                  <a:pt x="264161" y="249933"/>
                  <a:pt x="264161" y="115827"/>
                  <a:pt x="182880" y="30477"/>
                </a:cubicBezTo>
                <a:moveTo>
                  <a:pt x="30477" y="182880"/>
                </a:moveTo>
                <a:lnTo>
                  <a:pt x="335283" y="182880"/>
                </a:ln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圖說"/>
          <p:cNvSpPr/>
          <p:nvPr/>
        </p:nvSpPr>
        <p:spPr>
          <a:xfrm>
            <a:off x="7020382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</a:t>
            </a:r>
            <a:endParaRPr lang="en-US" sz="800" dirty="0"/>
          </a:p>
        </p:txBody>
      </p:sp>
      <p:sp>
        <p:nvSpPr>
          <p:cNvPr id="118" name="圖示 啟動"/>
          <p:cNvSpPr/>
          <p:nvPr/>
        </p:nvSpPr>
        <p:spPr>
          <a:xfrm>
            <a:off x="8224304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228600"/>
                </a:moveTo>
                <a:lnTo>
                  <a:pt x="182880" y="304797"/>
                </a:lnTo>
                <a:cubicBezTo>
                  <a:pt x="182880" y="304797"/>
                  <a:pt x="229057" y="296421"/>
                  <a:pt x="243843" y="274320"/>
                </a:cubicBezTo>
                <a:cubicBezTo>
                  <a:pt x="260302" y="249631"/>
                  <a:pt x="243843" y="198123"/>
                  <a:pt x="243843" y="198123"/>
                </a:cubicBezTo>
                <a:moveTo>
                  <a:pt x="68580" y="251460"/>
                </a:moveTo>
                <a:cubicBezTo>
                  <a:pt x="45720" y="270662"/>
                  <a:pt x="38103" y="327657"/>
                  <a:pt x="38103" y="327657"/>
                </a:cubicBezTo>
                <a:cubicBezTo>
                  <a:pt x="38103" y="327657"/>
                  <a:pt x="95098" y="320040"/>
                  <a:pt x="114300" y="297180"/>
                </a:cubicBezTo>
                <a:cubicBezTo>
                  <a:pt x="125117" y="284378"/>
                  <a:pt x="124971" y="264719"/>
                  <a:pt x="112928" y="252832"/>
                </a:cubicBezTo>
                <a:cubicBezTo>
                  <a:pt x="100666" y="241127"/>
                  <a:pt x="81546" y="240533"/>
                  <a:pt x="68580" y="251460"/>
                </a:cubicBezTo>
                <a:moveTo>
                  <a:pt x="137160" y="182880"/>
                </a:moveTo>
                <a:cubicBezTo>
                  <a:pt x="145271" y="161840"/>
                  <a:pt x="155485" y="141668"/>
                  <a:pt x="167637" y="122685"/>
                </a:cubicBezTo>
                <a:cubicBezTo>
                  <a:pt x="203747" y="64950"/>
                  <a:pt x="267188" y="30056"/>
                  <a:pt x="335283" y="30477"/>
                </a:cubicBezTo>
                <a:cubicBezTo>
                  <a:pt x="335283" y="71936"/>
                  <a:pt x="323396" y="144777"/>
                  <a:pt x="243843" y="198123"/>
                </a:cubicBezTo>
                <a:cubicBezTo>
                  <a:pt x="224586" y="210285"/>
                  <a:pt x="204167" y="220498"/>
                  <a:pt x="182880" y="228600"/>
                </a:cubicBezTo>
                <a:close/>
                <a:moveTo>
                  <a:pt x="137160" y="182880"/>
                </a:moveTo>
                <a:lnTo>
                  <a:pt x="60963" y="182880"/>
                </a:lnTo>
                <a:cubicBezTo>
                  <a:pt x="60963" y="182880"/>
                  <a:pt x="69339" y="136703"/>
                  <a:pt x="91440" y="121917"/>
                </a:cubicBezTo>
                <a:cubicBezTo>
                  <a:pt x="116129" y="105458"/>
                  <a:pt x="167637" y="122685"/>
                  <a:pt x="167637" y="122685"/>
                </a:cubicBezTo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圖說"/>
          <p:cNvSpPr/>
          <p:nvPr/>
        </p:nvSpPr>
        <p:spPr>
          <a:xfrm>
            <a:off x="7944917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800" dirty="0"/>
          </a:p>
        </p:txBody>
      </p:sp>
      <p:sp>
        <p:nvSpPr>
          <p:cNvPr id="120" name="圖示 電力"/>
          <p:cNvSpPr/>
          <p:nvPr/>
        </p:nvSpPr>
        <p:spPr>
          <a:xfrm>
            <a:off x="9148839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42526" y="60963"/>
                </a:moveTo>
                <a:cubicBezTo>
                  <a:pt x="246083" y="50896"/>
                  <a:pt x="242197" y="39712"/>
                  <a:pt x="233172" y="34016"/>
                </a:cubicBezTo>
                <a:cubicBezTo>
                  <a:pt x="224147" y="28328"/>
                  <a:pt x="212379" y="29636"/>
                  <a:pt x="204826" y="37170"/>
                </a:cubicBezTo>
                <a:lnTo>
                  <a:pt x="67666" y="174330"/>
                </a:lnTo>
                <a:cubicBezTo>
                  <a:pt x="61128" y="180868"/>
                  <a:pt x="59171" y="190698"/>
                  <a:pt x="62700" y="199239"/>
                </a:cubicBezTo>
                <a:cubicBezTo>
                  <a:pt x="66239" y="207788"/>
                  <a:pt x="74569" y="213357"/>
                  <a:pt x="83823" y="213357"/>
                </a:cubicBezTo>
                <a:lnTo>
                  <a:pt x="144814" y="213357"/>
                </a:lnTo>
                <a:cubicBezTo>
                  <a:pt x="147282" y="213366"/>
                  <a:pt x="149596" y="214564"/>
                  <a:pt x="151022" y="216576"/>
                </a:cubicBezTo>
                <a:cubicBezTo>
                  <a:pt x="152449" y="218596"/>
                  <a:pt x="152805" y="221184"/>
                  <a:pt x="151992" y="223507"/>
                </a:cubicBezTo>
                <a:lnTo>
                  <a:pt x="123234" y="304797"/>
                </a:lnTo>
                <a:cubicBezTo>
                  <a:pt x="119677" y="314864"/>
                  <a:pt x="123563" y="326057"/>
                  <a:pt x="132597" y="331744"/>
                </a:cubicBezTo>
                <a:cubicBezTo>
                  <a:pt x="141631" y="337441"/>
                  <a:pt x="153400" y="336124"/>
                  <a:pt x="160953" y="328571"/>
                </a:cubicBezTo>
                <a:lnTo>
                  <a:pt x="298113" y="191411"/>
                </a:lnTo>
                <a:cubicBezTo>
                  <a:pt x="304642" y="184873"/>
                  <a:pt x="306589" y="175044"/>
                  <a:pt x="303050" y="166503"/>
                </a:cubicBezTo>
                <a:cubicBezTo>
                  <a:pt x="299512" y="157972"/>
                  <a:pt x="291182" y="152403"/>
                  <a:pt x="281937" y="152403"/>
                </a:cubicBezTo>
                <a:lnTo>
                  <a:pt x="221029" y="152403"/>
                </a:lnTo>
                <a:cubicBezTo>
                  <a:pt x="218551" y="152403"/>
                  <a:pt x="216228" y="151205"/>
                  <a:pt x="214793" y="149184"/>
                </a:cubicBezTo>
                <a:cubicBezTo>
                  <a:pt x="213366" y="147164"/>
                  <a:pt x="213009" y="144567"/>
                  <a:pt x="213832" y="142235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圖說"/>
          <p:cNvSpPr/>
          <p:nvPr/>
        </p:nvSpPr>
        <p:spPr>
          <a:xfrm>
            <a:off x="8869451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電力</a:t>
            </a:r>
            <a:endParaRPr lang="en-US" sz="800" dirty="0"/>
          </a:p>
        </p:txBody>
      </p:sp>
      <p:sp>
        <p:nvSpPr>
          <p:cNvPr id="122" name="圖示 溫度"/>
          <p:cNvSpPr/>
          <p:nvPr/>
        </p:nvSpPr>
        <p:spPr>
          <a:xfrm>
            <a:off x="10073373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13357" y="60963"/>
                </a:moveTo>
                <a:lnTo>
                  <a:pt x="213357" y="221587"/>
                </a:lnTo>
                <a:cubicBezTo>
                  <a:pt x="237250" y="235385"/>
                  <a:pt x="248900" y="263512"/>
                  <a:pt x="241767" y="290157"/>
                </a:cubicBezTo>
                <a:cubicBezTo>
                  <a:pt x="234626" y="316812"/>
                  <a:pt x="210467" y="335347"/>
                  <a:pt x="182880" y="335347"/>
                </a:cubicBezTo>
                <a:cubicBezTo>
                  <a:pt x="155293" y="335347"/>
                  <a:pt x="131134" y="316812"/>
                  <a:pt x="123993" y="290157"/>
                </a:cubicBezTo>
                <a:cubicBezTo>
                  <a:pt x="116860" y="263512"/>
                  <a:pt x="128510" y="235385"/>
                  <a:pt x="152403" y="221587"/>
                </a:cubicBezTo>
                <a:lnTo>
                  <a:pt x="152403" y="60963"/>
                </a:lnTo>
                <a:cubicBezTo>
                  <a:pt x="152403" y="44129"/>
                  <a:pt x="166046" y="30477"/>
                  <a:pt x="182880" y="30477"/>
                </a:cubicBezTo>
                <a:cubicBezTo>
                  <a:pt x="199714" y="30477"/>
                  <a:pt x="213357" y="44129"/>
                  <a:pt x="213357" y="60963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圖說"/>
          <p:cNvSpPr/>
          <p:nvPr/>
        </p:nvSpPr>
        <p:spPr>
          <a:xfrm>
            <a:off x="9793986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</a:t>
            </a:r>
            <a:endParaRPr lang="en-US" sz="800" dirty="0"/>
          </a:p>
        </p:txBody>
      </p:sp>
      <p:sp>
        <p:nvSpPr>
          <p:cNvPr id="124" name="圖示 品質"/>
          <p:cNvSpPr/>
          <p:nvPr/>
        </p:nvSpPr>
        <p:spPr>
          <a:xfrm>
            <a:off x="10997908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35869" y="196441"/>
                </a:moveTo>
                <a:lnTo>
                  <a:pt x="258958" y="326377"/>
                </a:lnTo>
                <a:cubicBezTo>
                  <a:pt x="259488" y="329513"/>
                  <a:pt x="258016" y="332650"/>
                  <a:pt x="255273" y="334241"/>
                </a:cubicBezTo>
                <a:cubicBezTo>
                  <a:pt x="252521" y="335832"/>
                  <a:pt x="249073" y="335557"/>
                  <a:pt x="246614" y="333546"/>
                </a:cubicBezTo>
                <a:lnTo>
                  <a:pt x="192051" y="292590"/>
                </a:lnTo>
                <a:cubicBezTo>
                  <a:pt x="186647" y="288548"/>
                  <a:pt x="179222" y="288548"/>
                  <a:pt x="173809" y="292590"/>
                </a:cubicBezTo>
                <a:lnTo>
                  <a:pt x="119165" y="333527"/>
                </a:lnTo>
                <a:cubicBezTo>
                  <a:pt x="116705" y="335539"/>
                  <a:pt x="113258" y="335813"/>
                  <a:pt x="110514" y="334222"/>
                </a:cubicBezTo>
                <a:cubicBezTo>
                  <a:pt x="107771" y="332640"/>
                  <a:pt x="106299" y="329513"/>
                  <a:pt x="106820" y="326377"/>
                </a:cubicBezTo>
                <a:lnTo>
                  <a:pt x="129891" y="196441"/>
                </a:lnTo>
                <a:moveTo>
                  <a:pt x="274320" y="121917"/>
                </a:moveTo>
                <a:cubicBezTo>
                  <a:pt x="274320" y="172419"/>
                  <a:pt x="233382" y="213357"/>
                  <a:pt x="182880" y="213357"/>
                </a:cubicBezTo>
                <a:cubicBezTo>
                  <a:pt x="132378" y="213357"/>
                  <a:pt x="91440" y="172419"/>
                  <a:pt x="91440" y="121917"/>
                </a:cubicBezTo>
                <a:cubicBezTo>
                  <a:pt x="91440" y="71415"/>
                  <a:pt x="132378" y="30477"/>
                  <a:pt x="182880" y="30477"/>
                </a:cubicBezTo>
                <a:cubicBezTo>
                  <a:pt x="233382" y="30477"/>
                  <a:pt x="274320" y="71415"/>
                  <a:pt x="274320" y="121917"/>
                </a:cubicBezTo>
                <a:close/>
              </a:path>
            </a:pathLst>
          </a:custGeom>
          <a:noFill/>
          <a:ln w="26670" cap="rnd">
            <a:solidFill>
              <a:srgbClr val="2F4B6E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圖說"/>
          <p:cNvSpPr/>
          <p:nvPr/>
        </p:nvSpPr>
        <p:spPr>
          <a:xfrm>
            <a:off x="10718521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</a:t>
            </a:r>
            <a:endParaRPr lang="en-US" sz="800" dirty="0"/>
          </a:p>
        </p:txBody>
      </p:sp>
      <p:sp>
        <p:nvSpPr>
          <p:cNvPr id="126" name="線條"/>
          <p:cNvSpPr/>
          <p:nvPr/>
        </p:nvSpPr>
        <p:spPr>
          <a:xfrm>
            <a:off x="548640" y="4892040"/>
            <a:ext cx="1109441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27" name="小節"/>
          <p:cNvSpPr/>
          <p:nvPr/>
        </p:nvSpPr>
        <p:spPr>
          <a:xfrm>
            <a:off x="548640" y="49469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圖示＋文字組合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Icon + Label</a:t>
            </a:r>
            <a:endParaRPr lang="en-US" sz="1400" dirty="0"/>
          </a:p>
        </p:txBody>
      </p:sp>
      <p:grpSp>
        <p:nvGrpSpPr>
          <p:cNvPr id="5000" name="圖示＋流程方塊"/>
          <p:cNvGrpSpPr/>
          <p:nvPr/>
        </p:nvGrpSpPr>
        <p:grpSpPr>
          <a:xfrm>
            <a:off x="548640" y="5276088"/>
            <a:ext cx="1965960" cy="676656"/>
            <a:chOff x="548640" y="5276088"/>
            <a:chExt cx="1965960" cy="676656"/>
          </a:xfrm>
        </p:grpSpPr>
        <p:sp>
          <p:nvSpPr>
            <p:cNvPr id="128" name="流程方塊"/>
            <p:cNvSpPr/>
            <p:nvPr/>
          </p:nvSpPr>
          <p:spPr>
            <a:xfrm>
              <a:off x="548640" y="5276088"/>
              <a:ext cx="1965960" cy="676656"/>
            </a:xfrm>
            <a:prstGeom prst="roundRect">
              <a:avLst>
                <a:gd name="adj" fmla="val 13514"/>
              </a:avLst>
            </a:prstGeom>
            <a:solidFill>
              <a:srgbClr val="FFFFFF"/>
            </a:solidFill>
            <a:ln w="12700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9" name="圖示 機台"/>
            <p:cNvSpPr/>
            <p:nvPr/>
          </p:nvSpPr>
          <p:spPr>
            <a:xfrm>
              <a:off x="676656" y="543153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76197" y="91440"/>
                  </a:moveTo>
                  <a:lnTo>
                    <a:pt x="289563" y="91440"/>
                  </a:lnTo>
                  <a:cubicBezTo>
                    <a:pt x="306397" y="91440"/>
                    <a:pt x="320040" y="105083"/>
                    <a:pt x="320040" y="121917"/>
                  </a:cubicBezTo>
                  <a:lnTo>
                    <a:pt x="320040" y="259077"/>
                  </a:lnTo>
                  <a:cubicBezTo>
                    <a:pt x="320040" y="275911"/>
                    <a:pt x="306397" y="289563"/>
                    <a:pt x="289563" y="289563"/>
                  </a:cubicBezTo>
                  <a:lnTo>
                    <a:pt x="76197" y="289563"/>
                  </a:lnTo>
                  <a:cubicBezTo>
                    <a:pt x="59363" y="289563"/>
                    <a:pt x="45720" y="275911"/>
                    <a:pt x="45720" y="259077"/>
                  </a:cubicBezTo>
                  <a:lnTo>
                    <a:pt x="45720" y="121917"/>
                  </a:lnTo>
                  <a:cubicBezTo>
                    <a:pt x="45720" y="105083"/>
                    <a:pt x="59363" y="91440"/>
                    <a:pt x="76197" y="91440"/>
                  </a:cubicBezTo>
                  <a:close/>
                  <a:moveTo>
                    <a:pt x="106683" y="137160"/>
                  </a:moveTo>
                  <a:lnTo>
                    <a:pt x="182880" y="137160"/>
                  </a:lnTo>
                  <a:cubicBezTo>
                    <a:pt x="191292" y="137160"/>
                    <a:pt x="198123" y="143981"/>
                    <a:pt x="198123" y="152403"/>
                  </a:cubicBezTo>
                  <a:lnTo>
                    <a:pt x="198123" y="213357"/>
                  </a:lnTo>
                  <a:cubicBezTo>
                    <a:pt x="198123" y="221779"/>
                    <a:pt x="191292" y="228600"/>
                    <a:pt x="182880" y="228600"/>
                  </a:cubicBezTo>
                  <a:lnTo>
                    <a:pt x="106683" y="228600"/>
                  </a:lnTo>
                  <a:cubicBezTo>
                    <a:pt x="98261" y="228600"/>
                    <a:pt x="91440" y="221779"/>
                    <a:pt x="91440" y="213357"/>
                  </a:cubicBezTo>
                  <a:lnTo>
                    <a:pt x="91440" y="152403"/>
                  </a:lnTo>
                  <a:cubicBezTo>
                    <a:pt x="91440" y="143981"/>
                    <a:pt x="98261" y="137160"/>
                    <a:pt x="106683" y="137160"/>
                  </a:cubicBezTo>
                  <a:close/>
                  <a:moveTo>
                    <a:pt x="251460" y="152403"/>
                  </a:moveTo>
                  <a:lnTo>
                    <a:pt x="274320" y="152403"/>
                  </a:lnTo>
                  <a:moveTo>
                    <a:pt x="251460" y="198123"/>
                  </a:moveTo>
                  <a:lnTo>
                    <a:pt x="274320" y="198123"/>
                  </a:lnTo>
                  <a:moveTo>
                    <a:pt x="106683" y="289563"/>
                  </a:moveTo>
                  <a:lnTo>
                    <a:pt x="106683" y="320040"/>
                  </a:lnTo>
                  <a:moveTo>
                    <a:pt x="259077" y="289563"/>
                  </a:moveTo>
                  <a:lnTo>
                    <a:pt x="259077" y="320040"/>
                  </a:lnTo>
                  <a:moveTo>
                    <a:pt x="121917" y="91440"/>
                  </a:moveTo>
                  <a:lnTo>
                    <a:pt x="121917" y="53337"/>
                  </a:lnTo>
                  <a:lnTo>
                    <a:pt x="182880" y="53337"/>
                  </a:lnTo>
                  <a:lnTo>
                    <a:pt x="182880" y="91440"/>
                  </a:lnTo>
                </a:path>
              </a:pathLst>
            </a:custGeom>
            <a:noFill/>
            <a:ln w="26670" cap="rnd">
              <a:solidFill>
                <a:srgbClr val="2F4B6E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0" name="文字"/>
            <p:cNvSpPr/>
            <p:nvPr/>
          </p:nvSpPr>
          <p:spPr>
            <a:xfrm>
              <a:off x="1152144" y="5276088"/>
              <a:ext cx="1289304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設備保養</a:t>
              </a:r>
              <a:endParaRPr lang="en-US" sz="14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每月 PM 排程</a:t>
              </a:r>
              <a:endParaRPr lang="en-US" sz="1400" dirty="0"/>
            </a:p>
          </p:txBody>
        </p:sp>
      </p:grpSp>
      <p:grpSp>
        <p:nvGrpSpPr>
          <p:cNvPr id="5001" name="淺色圓底＋說明"/>
          <p:cNvGrpSpPr/>
          <p:nvPr/>
        </p:nvGrpSpPr>
        <p:grpSpPr>
          <a:xfrm>
            <a:off x="2660904" y="5276088"/>
            <a:ext cx="1947672" cy="676656"/>
            <a:chOff x="2660904" y="5276088"/>
            <a:chExt cx="1947672" cy="676656"/>
          </a:xfrm>
        </p:grpSpPr>
        <p:sp>
          <p:nvSpPr>
            <p:cNvPr id="131" name="圖示底圓"/>
            <p:cNvSpPr/>
            <p:nvPr/>
          </p:nvSpPr>
          <p:spPr>
            <a:xfrm>
              <a:off x="2660904" y="5358384"/>
              <a:ext cx="512064" cy="512064"/>
            </a:xfrm>
            <a:prstGeom prst="ellipse">
              <a:avLst/>
            </a:prstGeom>
            <a:solidFill>
              <a:srgbClr val="E2E6E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2" name="圖示 顯微檢測"/>
            <p:cNvSpPr/>
            <p:nvPr/>
          </p:nvSpPr>
          <p:spPr>
            <a:xfrm>
              <a:off x="2660904" y="5358384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181783" y="330281"/>
                  </a:moveTo>
                  <a:lnTo>
                    <a:pt x="280785" y="330281"/>
                  </a:lnTo>
                  <a:moveTo>
                    <a:pt x="144658" y="379778"/>
                  </a:moveTo>
                  <a:lnTo>
                    <a:pt x="367406" y="379778"/>
                  </a:lnTo>
                  <a:moveTo>
                    <a:pt x="280785" y="379778"/>
                  </a:moveTo>
                  <a:cubicBezTo>
                    <a:pt x="328626" y="379778"/>
                    <a:pt x="367406" y="340998"/>
                    <a:pt x="367406" y="293157"/>
                  </a:cubicBezTo>
                  <a:cubicBezTo>
                    <a:pt x="367406" y="245315"/>
                    <a:pt x="328626" y="206536"/>
                    <a:pt x="280785" y="206536"/>
                  </a:cubicBezTo>
                  <a:lnTo>
                    <a:pt x="268404" y="206536"/>
                  </a:lnTo>
                  <a:moveTo>
                    <a:pt x="218907" y="280785"/>
                  </a:moveTo>
                  <a:lnTo>
                    <a:pt x="243660" y="280785"/>
                  </a:lnTo>
                  <a:moveTo>
                    <a:pt x="218907" y="256032"/>
                  </a:moveTo>
                  <a:cubicBezTo>
                    <a:pt x="205237" y="256032"/>
                    <a:pt x="194155" y="244949"/>
                    <a:pt x="194155" y="231279"/>
                  </a:cubicBezTo>
                  <a:lnTo>
                    <a:pt x="194155" y="181783"/>
                  </a:lnTo>
                  <a:lnTo>
                    <a:pt x="268404" y="181783"/>
                  </a:lnTo>
                  <a:lnTo>
                    <a:pt x="268404" y="231279"/>
                  </a:lnTo>
                  <a:cubicBezTo>
                    <a:pt x="268404" y="244949"/>
                    <a:pt x="257330" y="256032"/>
                    <a:pt x="243660" y="256032"/>
                  </a:cubicBezTo>
                  <a:close/>
                  <a:moveTo>
                    <a:pt x="256032" y="181783"/>
                  </a:moveTo>
                  <a:lnTo>
                    <a:pt x="256032" y="144658"/>
                  </a:lnTo>
                  <a:cubicBezTo>
                    <a:pt x="256032" y="137828"/>
                    <a:pt x="250491" y="132286"/>
                    <a:pt x="243660" y="132286"/>
                  </a:cubicBezTo>
                  <a:lnTo>
                    <a:pt x="218907" y="132286"/>
                  </a:lnTo>
                  <a:cubicBezTo>
                    <a:pt x="212077" y="132286"/>
                    <a:pt x="206536" y="137828"/>
                    <a:pt x="206536" y="144658"/>
                  </a:cubicBezTo>
                  <a:lnTo>
                    <a:pt x="206536" y="181783"/>
                  </a:lnTo>
                </a:path>
              </a:pathLst>
            </a:custGeom>
            <a:noFill/>
            <a:ln w="26924" cap="rnd">
              <a:solidFill>
                <a:srgbClr val="2F4B6E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3" name="文字"/>
            <p:cNvSpPr/>
            <p:nvPr/>
          </p:nvSpPr>
          <p:spPr>
            <a:xfrm>
              <a:off x="3282696" y="5276088"/>
              <a:ext cx="1325880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線上檢測</a:t>
              </a:r>
              <a:endParaRPr lang="en-US" sz="14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AOI 全檢・即時回饋</a:t>
              </a:r>
              <a:endParaRPr lang="en-US" sz="1400" dirty="0"/>
            </a:p>
          </p:txBody>
        </p:sp>
      </p:grpSp>
      <p:grpSp>
        <p:nvGrpSpPr>
          <p:cNvPr id="5002" name="深色圓底＋卡片"/>
          <p:cNvGrpSpPr/>
          <p:nvPr/>
        </p:nvGrpSpPr>
        <p:grpSpPr>
          <a:xfrm>
            <a:off x="4773168" y="5276088"/>
            <a:ext cx="2103120" cy="676656"/>
            <a:chOff x="4773168" y="5276088"/>
            <a:chExt cx="2103120" cy="676656"/>
          </a:xfrm>
        </p:grpSpPr>
        <p:sp>
          <p:nvSpPr>
            <p:cNvPr id="134" name="卡片"/>
            <p:cNvSpPr/>
            <p:nvPr/>
          </p:nvSpPr>
          <p:spPr>
            <a:xfrm>
              <a:off x="4773168" y="5276088"/>
              <a:ext cx="2103120" cy="676656"/>
            </a:xfrm>
            <a:prstGeom prst="roundRect">
              <a:avLst>
                <a:gd name="adj" fmla="val 13514"/>
              </a:avLst>
            </a:prstGeom>
            <a:solidFill>
              <a:srgbClr val="F2F2F2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5" name="圖示底圓"/>
            <p:cNvSpPr/>
            <p:nvPr/>
          </p:nvSpPr>
          <p:spPr>
            <a:xfrm>
              <a:off x="4901184" y="5404104"/>
              <a:ext cx="420624" cy="420624"/>
            </a:xfrm>
            <a:prstGeom prst="ellipse">
              <a:avLst/>
            </a:prstGeom>
            <a:solidFill>
              <a:srgbClr val="2F4B6E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6" name="圖示 AI"/>
            <p:cNvSpPr/>
            <p:nvPr/>
          </p:nvSpPr>
          <p:spPr>
            <a:xfrm>
              <a:off x="4901184" y="5404104"/>
              <a:ext cx="420624" cy="420624"/>
            </a:xfrm>
            <a:custGeom>
              <a:avLst/>
              <a:gdLst/>
              <a:ahLst/>
              <a:cxnLst/>
              <a:rect l="l" t="t" r="r" b="b"/>
              <a:pathLst>
                <a:path w="420624" h="420624">
                  <a:moveTo>
                    <a:pt x="210312" y="139153"/>
                  </a:moveTo>
                  <a:cubicBezTo>
                    <a:pt x="210349" y="128089"/>
                    <a:pt x="204378" y="117875"/>
                    <a:pt x="194721" y="112462"/>
                  </a:cubicBezTo>
                  <a:cubicBezTo>
                    <a:pt x="185065" y="107049"/>
                    <a:pt x="173242" y="107296"/>
                    <a:pt x="163815" y="113102"/>
                  </a:cubicBezTo>
                  <a:cubicBezTo>
                    <a:pt x="154396" y="118918"/>
                    <a:pt x="148855" y="129369"/>
                    <a:pt x="149349" y="140424"/>
                  </a:cubicBezTo>
                  <a:cubicBezTo>
                    <a:pt x="137242" y="143543"/>
                    <a:pt x="127239" y="152046"/>
                    <a:pt x="122228" y="163504"/>
                  </a:cubicBezTo>
                  <a:cubicBezTo>
                    <a:pt x="117217" y="174952"/>
                    <a:pt x="117747" y="188074"/>
                    <a:pt x="123673" y="199083"/>
                  </a:cubicBezTo>
                  <a:cubicBezTo>
                    <a:pt x="113239" y="207560"/>
                    <a:pt x="107661" y="220654"/>
                    <a:pt x="108795" y="234059"/>
                  </a:cubicBezTo>
                  <a:cubicBezTo>
                    <a:pt x="109929" y="247464"/>
                    <a:pt x="117610" y="259434"/>
                    <a:pt x="129324" y="266045"/>
                  </a:cubicBezTo>
                  <a:cubicBezTo>
                    <a:pt x="127385" y="281068"/>
                    <a:pt x="133950" y="295918"/>
                    <a:pt x="146368" y="304596"/>
                  </a:cubicBezTo>
                  <a:cubicBezTo>
                    <a:pt x="158786" y="313264"/>
                    <a:pt x="174998" y="314316"/>
                    <a:pt x="188430" y="307321"/>
                  </a:cubicBezTo>
                  <a:cubicBezTo>
                    <a:pt x="201863" y="300326"/>
                    <a:pt x="210294" y="286445"/>
                    <a:pt x="210312" y="271302"/>
                  </a:cubicBezTo>
                  <a:close/>
                  <a:moveTo>
                    <a:pt x="179817" y="220480"/>
                  </a:moveTo>
                  <a:cubicBezTo>
                    <a:pt x="197273" y="214335"/>
                    <a:pt x="209306" y="198288"/>
                    <a:pt x="210312" y="179817"/>
                  </a:cubicBezTo>
                  <a:moveTo>
                    <a:pt x="149349" y="140424"/>
                  </a:moveTo>
                  <a:cubicBezTo>
                    <a:pt x="149550" y="145344"/>
                    <a:pt x="150940" y="150135"/>
                    <a:pt x="153400" y="154406"/>
                  </a:cubicBezTo>
                  <a:moveTo>
                    <a:pt x="123673" y="199092"/>
                  </a:moveTo>
                  <a:cubicBezTo>
                    <a:pt x="125538" y="197574"/>
                    <a:pt x="127522" y="196230"/>
                    <a:pt x="129625" y="195069"/>
                  </a:cubicBezTo>
                  <a:moveTo>
                    <a:pt x="149322" y="271302"/>
                  </a:moveTo>
                  <a:cubicBezTo>
                    <a:pt x="142317" y="271302"/>
                    <a:pt x="135432" y="269501"/>
                    <a:pt x="129324" y="266054"/>
                  </a:cubicBezTo>
                  <a:moveTo>
                    <a:pt x="210312" y="220480"/>
                  </a:moveTo>
                  <a:lnTo>
                    <a:pt x="250975" y="220480"/>
                  </a:lnTo>
                  <a:moveTo>
                    <a:pt x="210312" y="271302"/>
                  </a:moveTo>
                  <a:lnTo>
                    <a:pt x="271302" y="271302"/>
                  </a:lnTo>
                  <a:cubicBezTo>
                    <a:pt x="282531" y="271302"/>
                    <a:pt x="291630" y="280401"/>
                    <a:pt x="291630" y="291630"/>
                  </a:cubicBezTo>
                  <a:lnTo>
                    <a:pt x="291630" y="301798"/>
                  </a:lnTo>
                  <a:moveTo>
                    <a:pt x="210312" y="169649"/>
                  </a:moveTo>
                  <a:lnTo>
                    <a:pt x="291630" y="169649"/>
                  </a:lnTo>
                  <a:moveTo>
                    <a:pt x="250975" y="169649"/>
                  </a:moveTo>
                  <a:lnTo>
                    <a:pt x="250975" y="139153"/>
                  </a:lnTo>
                  <a:cubicBezTo>
                    <a:pt x="250975" y="127925"/>
                    <a:pt x="260074" y="118826"/>
                    <a:pt x="271302" y="118826"/>
                  </a:cubicBezTo>
                  <a:moveTo>
                    <a:pt x="256059" y="220480"/>
                  </a:moveTo>
                  <a:cubicBezTo>
                    <a:pt x="256059" y="223287"/>
                    <a:pt x="253783" y="225564"/>
                    <a:pt x="250975" y="225564"/>
                  </a:cubicBezTo>
                  <a:cubicBezTo>
                    <a:pt x="248168" y="225564"/>
                    <a:pt x="245891" y="223287"/>
                    <a:pt x="245891" y="220480"/>
                  </a:cubicBezTo>
                  <a:cubicBezTo>
                    <a:pt x="245891" y="217673"/>
                    <a:pt x="248168" y="215396"/>
                    <a:pt x="250975" y="215396"/>
                  </a:cubicBezTo>
                  <a:cubicBezTo>
                    <a:pt x="253783" y="215396"/>
                    <a:pt x="256059" y="217673"/>
                    <a:pt x="256059" y="220480"/>
                  </a:cubicBezTo>
                  <a:close/>
                  <a:moveTo>
                    <a:pt x="276387" y="118826"/>
                  </a:moveTo>
                  <a:cubicBezTo>
                    <a:pt x="276387" y="121633"/>
                    <a:pt x="274110" y="123910"/>
                    <a:pt x="271302" y="123910"/>
                  </a:cubicBezTo>
                  <a:cubicBezTo>
                    <a:pt x="268495" y="123910"/>
                    <a:pt x="266218" y="121633"/>
                    <a:pt x="266218" y="118826"/>
                  </a:cubicBezTo>
                  <a:cubicBezTo>
                    <a:pt x="266218" y="116019"/>
                    <a:pt x="268495" y="113742"/>
                    <a:pt x="271302" y="113742"/>
                  </a:cubicBezTo>
                  <a:cubicBezTo>
                    <a:pt x="274110" y="113742"/>
                    <a:pt x="276387" y="116019"/>
                    <a:pt x="276387" y="118826"/>
                  </a:cubicBezTo>
                  <a:close/>
                  <a:moveTo>
                    <a:pt x="296714" y="301798"/>
                  </a:moveTo>
                  <a:cubicBezTo>
                    <a:pt x="296714" y="304605"/>
                    <a:pt x="294437" y="306882"/>
                    <a:pt x="291630" y="306882"/>
                  </a:cubicBezTo>
                  <a:cubicBezTo>
                    <a:pt x="288822" y="306882"/>
                    <a:pt x="286555" y="304605"/>
                    <a:pt x="286555" y="301798"/>
                  </a:cubicBezTo>
                  <a:cubicBezTo>
                    <a:pt x="286555" y="298991"/>
                    <a:pt x="288822" y="296714"/>
                    <a:pt x="291630" y="296714"/>
                  </a:cubicBezTo>
                  <a:cubicBezTo>
                    <a:pt x="294437" y="296714"/>
                    <a:pt x="296714" y="298991"/>
                    <a:pt x="296714" y="301798"/>
                  </a:cubicBezTo>
                  <a:close/>
                  <a:moveTo>
                    <a:pt x="296714" y="169649"/>
                  </a:moveTo>
                  <a:cubicBezTo>
                    <a:pt x="296714" y="172456"/>
                    <a:pt x="294437" y="174733"/>
                    <a:pt x="291630" y="174733"/>
                  </a:cubicBezTo>
                  <a:cubicBezTo>
                    <a:pt x="288822" y="174733"/>
                    <a:pt x="286555" y="172456"/>
                    <a:pt x="286555" y="169649"/>
                  </a:cubicBezTo>
                  <a:cubicBezTo>
                    <a:pt x="286555" y="166841"/>
                    <a:pt x="288822" y="164574"/>
                    <a:pt x="291630" y="164574"/>
                  </a:cubicBezTo>
                  <a:cubicBezTo>
                    <a:pt x="294437" y="164574"/>
                    <a:pt x="296714" y="166841"/>
                    <a:pt x="296714" y="169649"/>
                  </a:cubicBezTo>
                  <a:close/>
                </a:path>
              </a:pathLst>
            </a:custGeom>
            <a:noFill/>
            <a:ln w="22098" cap="rnd">
              <a:solidFill>
                <a:srgbClr val="FFFFFF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7" name="文字"/>
            <p:cNvSpPr/>
            <p:nvPr/>
          </p:nvSpPr>
          <p:spPr>
            <a:xfrm>
              <a:off x="5431536" y="5276088"/>
              <a:ext cx="1371600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判片</a:t>
              </a:r>
              <a:endParaRPr lang="en-US" sz="14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自動分類缺陷</a:t>
              </a:r>
              <a:endParaRPr lang="en-US" sz="1400" dirty="0"/>
            </a:p>
          </p:txBody>
        </p:sp>
      </p:grpSp>
      <p:grpSp>
        <p:nvGrpSpPr>
          <p:cNvPr id="5003" name="數字＋圖示"/>
          <p:cNvGrpSpPr/>
          <p:nvPr/>
        </p:nvGrpSpPr>
        <p:grpSpPr>
          <a:xfrm>
            <a:off x="7022592" y="5276088"/>
            <a:ext cx="1874520" cy="676656"/>
            <a:chOff x="7022592" y="5276088"/>
            <a:chExt cx="1874520" cy="676656"/>
          </a:xfrm>
        </p:grpSpPr>
        <p:sp>
          <p:nvSpPr>
            <p:cNvPr id="138" name="淺灰面板"/>
            <p:cNvSpPr/>
            <p:nvPr/>
          </p:nvSpPr>
          <p:spPr>
            <a:xfrm>
              <a:off x="7022592" y="5276088"/>
              <a:ext cx="1874520" cy="676656"/>
            </a:xfrm>
            <a:prstGeom prst="roundRect">
              <a:avLst>
                <a:gd name="adj" fmla="val 13514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9" name="數值"/>
            <p:cNvSpPr/>
            <p:nvPr/>
          </p:nvSpPr>
          <p:spPr>
            <a:xfrm>
              <a:off x="7168896" y="5330952"/>
              <a:ext cx="12344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2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400" dirty="0"/>
            </a:p>
          </p:txBody>
        </p:sp>
        <p:sp>
          <p:nvSpPr>
            <p:cNvPr id="140" name="指標名稱"/>
            <p:cNvSpPr/>
            <p:nvPr/>
          </p:nvSpPr>
          <p:spPr>
            <a:xfrm>
              <a:off x="7168896" y="5705856"/>
              <a:ext cx="12344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整體良率</a:t>
              </a:r>
              <a:endParaRPr lang="en-US" sz="900" dirty="0"/>
            </a:p>
          </p:txBody>
        </p:sp>
        <p:sp>
          <p:nvSpPr>
            <p:cNvPr id="141" name="圖示 良率漏斗"/>
            <p:cNvSpPr/>
            <p:nvPr/>
          </p:nvSpPr>
          <p:spPr>
            <a:xfrm>
              <a:off x="8385048" y="543153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152403" y="304797"/>
                  </a:moveTo>
                  <a:cubicBezTo>
                    <a:pt x="152394" y="310576"/>
                    <a:pt x="155658" y="315861"/>
                    <a:pt x="160825" y="318440"/>
                  </a:cubicBezTo>
                  <a:lnTo>
                    <a:pt x="191311" y="333683"/>
                  </a:lnTo>
                  <a:cubicBezTo>
                    <a:pt x="196029" y="336042"/>
                    <a:pt x="201643" y="335786"/>
                    <a:pt x="206133" y="333006"/>
                  </a:cubicBezTo>
                  <a:cubicBezTo>
                    <a:pt x="210632" y="330226"/>
                    <a:pt x="213366" y="325325"/>
                    <a:pt x="213357" y="320040"/>
                  </a:cubicBezTo>
                  <a:lnTo>
                    <a:pt x="213357" y="213357"/>
                  </a:lnTo>
                  <a:cubicBezTo>
                    <a:pt x="213366" y="205804"/>
                    <a:pt x="216173" y="198525"/>
                    <a:pt x="221239" y="192920"/>
                  </a:cubicBezTo>
                  <a:lnTo>
                    <a:pt x="331315" y="71168"/>
                  </a:lnTo>
                  <a:cubicBezTo>
                    <a:pt x="335347" y="66705"/>
                    <a:pt x="336371" y="60286"/>
                    <a:pt x="333939" y="54782"/>
                  </a:cubicBezTo>
                  <a:cubicBezTo>
                    <a:pt x="331497" y="49286"/>
                    <a:pt x="326057" y="45738"/>
                    <a:pt x="320040" y="45720"/>
                  </a:cubicBezTo>
                  <a:lnTo>
                    <a:pt x="45720" y="45720"/>
                  </a:lnTo>
                  <a:cubicBezTo>
                    <a:pt x="39703" y="45720"/>
                    <a:pt x="34244" y="49268"/>
                    <a:pt x="31803" y="54773"/>
                  </a:cubicBezTo>
                  <a:cubicBezTo>
                    <a:pt x="29352" y="60277"/>
                    <a:pt x="30376" y="66696"/>
                    <a:pt x="34409" y="71168"/>
                  </a:cubicBezTo>
                  <a:lnTo>
                    <a:pt x="144521" y="192920"/>
                  </a:lnTo>
                  <a:cubicBezTo>
                    <a:pt x="149587" y="198525"/>
                    <a:pt x="152394" y="205804"/>
                    <a:pt x="152403" y="213357"/>
                  </a:cubicBezTo>
                  <a:close/>
                </a:path>
              </a:pathLst>
            </a:custGeom>
            <a:noFill/>
            <a:ln w="26670" cap="rnd">
              <a:solidFill>
                <a:srgbClr val="2F4B6E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grpSp>
        <p:nvGrpSpPr>
          <p:cNvPr id="5004" name="圖示流程"/>
          <p:cNvGrpSpPr/>
          <p:nvPr/>
        </p:nvGrpSpPr>
        <p:grpSpPr>
          <a:xfrm>
            <a:off x="8769096" y="5294376"/>
            <a:ext cx="3148279" cy="621792"/>
            <a:chOff x="8769096" y="5294376"/>
            <a:chExt cx="3148279" cy="621792"/>
          </a:xfrm>
        </p:grpSpPr>
        <p:sp>
          <p:nvSpPr>
            <p:cNvPr id="142" name="圖示底圓"/>
            <p:cNvSpPr/>
            <p:nvPr/>
          </p:nvSpPr>
          <p:spPr>
            <a:xfrm>
              <a:off x="9043416" y="5294376"/>
              <a:ext cx="402336" cy="402336"/>
            </a:xfrm>
            <a:prstGeom prst="ellipse">
              <a:avLst/>
            </a:prstGeom>
            <a:solidFill>
              <a:srgbClr val="E2E6E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3" name="圖示 晶圓"/>
            <p:cNvSpPr/>
            <p:nvPr/>
          </p:nvSpPr>
          <p:spPr>
            <a:xfrm>
              <a:off x="9043416" y="5294376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161108" y="278956"/>
                  </a:moveTo>
                  <a:cubicBezTo>
                    <a:pt x="125200" y="260467"/>
                    <a:pt x="106610" y="219794"/>
                    <a:pt x="116120" y="180539"/>
                  </a:cubicBezTo>
                  <a:cubicBezTo>
                    <a:pt x="125639" y="141293"/>
                    <a:pt x="160779" y="113642"/>
                    <a:pt x="201168" y="113642"/>
                  </a:cubicBezTo>
                  <a:cubicBezTo>
                    <a:pt x="241557" y="113642"/>
                    <a:pt x="276697" y="141293"/>
                    <a:pt x="286216" y="180539"/>
                  </a:cubicBezTo>
                  <a:cubicBezTo>
                    <a:pt x="295726" y="219794"/>
                    <a:pt x="277136" y="260467"/>
                    <a:pt x="241228" y="278956"/>
                  </a:cubicBezTo>
                  <a:close/>
                  <a:moveTo>
                    <a:pt x="171999" y="133109"/>
                  </a:moveTo>
                  <a:lnTo>
                    <a:pt x="171999" y="259507"/>
                  </a:lnTo>
                  <a:moveTo>
                    <a:pt x="230337" y="133109"/>
                  </a:moveTo>
                  <a:lnTo>
                    <a:pt x="230337" y="259507"/>
                  </a:lnTo>
                  <a:moveTo>
                    <a:pt x="133109" y="171999"/>
                  </a:moveTo>
                  <a:lnTo>
                    <a:pt x="269227" y="171999"/>
                  </a:lnTo>
                  <a:moveTo>
                    <a:pt x="133109" y="230337"/>
                  </a:moveTo>
                  <a:lnTo>
                    <a:pt x="269227" y="230337"/>
                  </a:lnTo>
                </a:path>
              </a:pathLst>
            </a:custGeom>
            <a:noFill/>
            <a:ln w="21082" cap="rnd">
              <a:solidFill>
                <a:srgbClr val="2F4B6E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4" name="圖說"/>
            <p:cNvSpPr/>
            <p:nvPr/>
          </p:nvSpPr>
          <p:spPr>
            <a:xfrm>
              <a:off x="8769096" y="5733288"/>
              <a:ext cx="9509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投片</a:t>
              </a:r>
              <a:endParaRPr lang="en-US" sz="900" dirty="0"/>
            </a:p>
          </p:txBody>
        </p:sp>
        <p:sp>
          <p:nvSpPr>
            <p:cNvPr id="145" name="圖示底圓"/>
            <p:cNvSpPr/>
            <p:nvPr/>
          </p:nvSpPr>
          <p:spPr>
            <a:xfrm>
              <a:off x="10142068" y="5294376"/>
              <a:ext cx="402336" cy="402336"/>
            </a:xfrm>
            <a:prstGeom prst="ellipse">
              <a:avLst/>
            </a:prstGeom>
            <a:solidFill>
              <a:srgbClr val="E2E6E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6" name="圖示 顯微檢測"/>
            <p:cNvSpPr/>
            <p:nvPr/>
          </p:nvSpPr>
          <p:spPr>
            <a:xfrm>
              <a:off x="10142068" y="5294376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142829" y="259507"/>
                  </a:moveTo>
                  <a:lnTo>
                    <a:pt x="220617" y="259507"/>
                  </a:lnTo>
                  <a:moveTo>
                    <a:pt x="113660" y="298396"/>
                  </a:moveTo>
                  <a:lnTo>
                    <a:pt x="288676" y="298396"/>
                  </a:lnTo>
                  <a:moveTo>
                    <a:pt x="220617" y="298396"/>
                  </a:moveTo>
                  <a:cubicBezTo>
                    <a:pt x="258208" y="298396"/>
                    <a:pt x="288676" y="267928"/>
                    <a:pt x="288676" y="230337"/>
                  </a:cubicBezTo>
                  <a:cubicBezTo>
                    <a:pt x="288676" y="192746"/>
                    <a:pt x="258208" y="162279"/>
                    <a:pt x="220617" y="162279"/>
                  </a:cubicBezTo>
                  <a:lnTo>
                    <a:pt x="210888" y="162279"/>
                  </a:lnTo>
                  <a:moveTo>
                    <a:pt x="171999" y="220617"/>
                  </a:moveTo>
                  <a:lnTo>
                    <a:pt x="191448" y="220617"/>
                  </a:lnTo>
                  <a:moveTo>
                    <a:pt x="171999" y="201168"/>
                  </a:moveTo>
                  <a:cubicBezTo>
                    <a:pt x="161254" y="201168"/>
                    <a:pt x="152549" y="192463"/>
                    <a:pt x="152549" y="181719"/>
                  </a:cubicBezTo>
                  <a:lnTo>
                    <a:pt x="152549" y="142829"/>
                  </a:lnTo>
                  <a:lnTo>
                    <a:pt x="210888" y="142829"/>
                  </a:lnTo>
                  <a:lnTo>
                    <a:pt x="210888" y="181719"/>
                  </a:lnTo>
                  <a:cubicBezTo>
                    <a:pt x="210888" y="192463"/>
                    <a:pt x="202183" y="201168"/>
                    <a:pt x="191448" y="201168"/>
                  </a:cubicBezTo>
                  <a:close/>
                  <a:moveTo>
                    <a:pt x="201168" y="142829"/>
                  </a:moveTo>
                  <a:lnTo>
                    <a:pt x="201168" y="113660"/>
                  </a:lnTo>
                  <a:cubicBezTo>
                    <a:pt x="201168" y="108292"/>
                    <a:pt x="196815" y="103940"/>
                    <a:pt x="191448" y="103940"/>
                  </a:cubicBezTo>
                  <a:lnTo>
                    <a:pt x="171999" y="103940"/>
                  </a:lnTo>
                  <a:cubicBezTo>
                    <a:pt x="166631" y="103940"/>
                    <a:pt x="162279" y="108292"/>
                    <a:pt x="162279" y="113660"/>
                  </a:cubicBezTo>
                  <a:lnTo>
                    <a:pt x="162279" y="142829"/>
                  </a:lnTo>
                </a:path>
              </a:pathLst>
            </a:custGeom>
            <a:noFill/>
            <a:ln w="21082" cap="rnd">
              <a:solidFill>
                <a:srgbClr val="2F4B6E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7" name="圖說"/>
            <p:cNvSpPr/>
            <p:nvPr/>
          </p:nvSpPr>
          <p:spPr>
            <a:xfrm>
              <a:off x="9867748" y="5733288"/>
              <a:ext cx="9509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檢測</a:t>
              </a:r>
              <a:endParaRPr lang="en-US" sz="900" dirty="0"/>
            </a:p>
          </p:txBody>
        </p:sp>
        <p:sp>
          <p:nvSpPr>
            <p:cNvPr id="148" name="圖示底圓"/>
            <p:cNvSpPr/>
            <p:nvPr/>
          </p:nvSpPr>
          <p:spPr>
            <a:xfrm>
              <a:off x="11240719" y="5294376"/>
              <a:ext cx="402336" cy="402336"/>
            </a:xfrm>
            <a:prstGeom prst="ellipse">
              <a:avLst/>
            </a:prstGeom>
            <a:solidFill>
              <a:srgbClr val="2F4B6E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9" name="圖示 維修"/>
            <p:cNvSpPr/>
            <p:nvPr/>
          </p:nvSpPr>
          <p:spPr>
            <a:xfrm>
              <a:off x="11240719" y="5294376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227420" y="145746"/>
                  </a:moveTo>
                  <a:cubicBezTo>
                    <a:pt x="223717" y="149523"/>
                    <a:pt x="223717" y="155576"/>
                    <a:pt x="227420" y="159362"/>
                  </a:cubicBezTo>
                  <a:lnTo>
                    <a:pt x="242974" y="174916"/>
                  </a:lnTo>
                  <a:cubicBezTo>
                    <a:pt x="246760" y="178619"/>
                    <a:pt x="252813" y="178619"/>
                    <a:pt x="256590" y="174916"/>
                  </a:cubicBezTo>
                  <a:lnTo>
                    <a:pt x="286792" y="144722"/>
                  </a:lnTo>
                  <a:cubicBezTo>
                    <a:pt x="289901" y="141595"/>
                    <a:pt x="295177" y="142582"/>
                    <a:pt x="296348" y="146843"/>
                  </a:cubicBezTo>
                  <a:cubicBezTo>
                    <a:pt x="302346" y="168661"/>
                    <a:pt x="295196" y="191969"/>
                    <a:pt x="277996" y="206664"/>
                  </a:cubicBezTo>
                  <a:cubicBezTo>
                    <a:pt x="260796" y="221358"/>
                    <a:pt x="236656" y="224787"/>
                    <a:pt x="216045" y="215460"/>
                  </a:cubicBezTo>
                  <a:lnTo>
                    <a:pt x="139135" y="292370"/>
                  </a:lnTo>
                  <a:cubicBezTo>
                    <a:pt x="131079" y="300426"/>
                    <a:pt x="118022" y="300417"/>
                    <a:pt x="109966" y="292370"/>
                  </a:cubicBezTo>
                  <a:cubicBezTo>
                    <a:pt x="101919" y="284314"/>
                    <a:pt x="101919" y="271257"/>
                    <a:pt x="109975" y="263201"/>
                  </a:cubicBezTo>
                  <a:lnTo>
                    <a:pt x="186885" y="186291"/>
                  </a:lnTo>
                  <a:cubicBezTo>
                    <a:pt x="177558" y="165680"/>
                    <a:pt x="180987" y="141540"/>
                    <a:pt x="195682" y="124340"/>
                  </a:cubicBezTo>
                  <a:cubicBezTo>
                    <a:pt x="210376" y="107140"/>
                    <a:pt x="233693" y="99990"/>
                    <a:pt x="255502" y="105988"/>
                  </a:cubicBezTo>
                  <a:cubicBezTo>
                    <a:pt x="259763" y="107159"/>
                    <a:pt x="260750" y="112425"/>
                    <a:pt x="257632" y="115553"/>
                  </a:cubicBezTo>
                  <a:close/>
                </a:path>
              </a:pathLst>
            </a:custGeom>
            <a:noFill/>
            <a:ln w="21082" cap="rnd">
              <a:solidFill>
                <a:srgbClr val="FFFFFF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50" name="圖說"/>
            <p:cNvSpPr/>
            <p:nvPr/>
          </p:nvSpPr>
          <p:spPr>
            <a:xfrm>
              <a:off x="10966399" y="5733288"/>
              <a:ext cx="9509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</a:t>
              </a:r>
              <a:endParaRPr lang="en-US" sz="900" dirty="0"/>
            </a:p>
          </p:txBody>
        </p:sp>
        <p:cxnSp>
          <p:nvCxnSpPr>
            <p:cNvPr id="151" name="連接線"/>
            <p:cNvCxnSpPr>
              <a:stCxn id="142" idx="6"/>
              <a:endCxn id="145" idx="2"/>
            </p:cNvCxnSpPr>
            <p:nvPr/>
          </p:nvCxnSpPr>
          <p:spPr>
            <a:xfrm>
              <a:off x="9445752" y="5495544"/>
              <a:ext cx="696316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152" name="連接線"/>
            <p:cNvCxnSpPr>
              <a:stCxn id="145" idx="6"/>
              <a:endCxn id="148" idx="2"/>
            </p:cNvCxnSpPr>
            <p:nvPr/>
          </p:nvCxnSpPr>
          <p:spPr>
            <a:xfrm>
              <a:off x="10544404" y="5495544"/>
              <a:ext cx="696316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prstDash val="sysDot"/>
              <a:tailEnd type="triangle" w="lg" len="lg"/>
            </a:ln>
          </p:spPr>
        </p:cxnSp>
      </p:grpSp>
      <p:sp>
        <p:nvSpPr>
          <p:cNvPr id="153" name="Text 151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65760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《風格規範》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色彩、字級與元件語言一覽：淺灰實心圓角卡＋陰影</a:t>
            </a:r>
            <a:endParaRPr lang="en-US" sz="1500" dirty="0"/>
          </a:p>
        </p:txBody>
      </p:sp>
      <p:sp>
        <p:nvSpPr>
          <p:cNvPr id="4" name="線條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58468"/>
            <a:ext cx="1005840" cy="45720"/>
          </a:xfrm>
          <a:prstGeom prst="rect">
            <a:avLst/>
          </a:prstGeom>
          <a:solidFill>
            <a:srgbClr val="2F4B6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300" dirty="0"/>
          </a:p>
        </p:txBody>
      </p:sp>
      <p:sp>
        <p:nvSpPr>
          <p:cNvPr id="7" name="線條"/>
          <p:cNvSpPr/>
          <p:nvPr/>
        </p:nvSpPr>
        <p:spPr>
          <a:xfrm>
            <a:off x="548640" y="2167128"/>
            <a:ext cx="50292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2F4B6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5488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#2F4B6E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79576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243A56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06424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9848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#243A56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810512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E3E8EF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37360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00784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#E3E8EF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441448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368296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072384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8C8C8C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999232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62656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#8C8C8C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703320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BFB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630168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93592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#BFBFBF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334256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61104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24528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#F2F2F2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48640" y="3547872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300" dirty="0"/>
          </a:p>
        </p:txBody>
      </p:sp>
      <p:sp>
        <p:nvSpPr>
          <p:cNvPr id="30" name="線條"/>
          <p:cNvSpPr/>
          <p:nvPr/>
        </p:nvSpPr>
        <p:spPr>
          <a:xfrm>
            <a:off x="548640" y="3931920"/>
            <a:ext cx="50292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931920"/>
            <a:ext cx="5029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大標題文字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34pt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4590288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9687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" y="499262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53766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12pt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" y="5724144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72200" y="1783080"/>
            <a:ext cx="547085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300" dirty="0"/>
          </a:p>
        </p:txBody>
      </p:sp>
      <p:sp>
        <p:nvSpPr>
          <p:cNvPr id="37" name="線條"/>
          <p:cNvSpPr/>
          <p:nvPr/>
        </p:nvSpPr>
        <p:spPr>
          <a:xfrm>
            <a:off x="6172200" y="2167128"/>
            <a:ext cx="5470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233172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012680" y="2331720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淺灰實心＋陰影</a:t>
            </a:r>
            <a:endParaRPr lang="en-US" sz="1000" dirty="0"/>
          </a:p>
        </p:txBody>
      </p:sp>
      <p:sp>
        <p:nvSpPr>
          <p:cNvPr id="40" name="卡片"/>
          <p:cNvSpPr/>
          <p:nvPr/>
        </p:nvSpPr>
        <p:spPr>
          <a:xfrm>
            <a:off x="7086600" y="2368296"/>
            <a:ext cx="1325880" cy="475488"/>
          </a:xfrm>
          <a:prstGeom prst="roundRect">
            <a:avLst>
              <a:gd name="adj" fmla="val 19231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卡片"/>
          <p:cNvSpPr/>
          <p:nvPr/>
        </p:nvSpPr>
        <p:spPr>
          <a:xfrm>
            <a:off x="8595360" y="2368296"/>
            <a:ext cx="1188720" cy="475488"/>
          </a:xfrm>
          <a:prstGeom prst="roundRect">
            <a:avLst>
              <a:gd name="adj" fmla="val 19231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595360" y="2368296"/>
            <a:ext cx="1188720" cy="164592"/>
          </a:xfrm>
          <a:custGeom>
            <a:avLst/>
            <a:gdLst/>
            <a:ahLst/>
            <a:cxnLst/>
            <a:rect l="l" t="t" r="r" b="b"/>
            <a:pathLst>
              <a:path w="1188720" h="164592">
                <a:moveTo>
                  <a:pt x="0" y="164592"/>
                </a:moveTo>
                <a:lnTo>
                  <a:pt x="0" y="91440"/>
                </a:lnTo>
                <a:arcTo hR="91440" wR="91440" stAng="10800000" swAng="5400000"/>
                <a:lnTo>
                  <a:pt x="1097280" y="0"/>
                </a:lnTo>
                <a:arcTo hR="91440" wR="91440" stAng="16200000" swAng="5400000"/>
                <a:lnTo>
                  <a:pt x="1188720" y="164592"/>
                </a:lnTo>
                <a:close/>
              </a:path>
            </a:pathLst>
          </a:custGeom>
          <a:solidFill>
            <a:srgbClr val="2F4B6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線條"/>
          <p:cNvSpPr/>
          <p:nvPr/>
        </p:nvSpPr>
        <p:spPr>
          <a:xfrm>
            <a:off x="6172200" y="2935224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2980944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012680" y="2980944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全圓角膠囊</a:t>
            </a:r>
            <a:endParaRPr lang="en-US" sz="1000" dirty="0"/>
          </a:p>
        </p:txBody>
      </p:sp>
      <p:sp>
        <p:nvSpPr>
          <p:cNvPr id="46" name="標籤"/>
          <p:cNvSpPr/>
          <p:nvPr/>
        </p:nvSpPr>
        <p:spPr>
          <a:xfrm>
            <a:off x="7086600" y="3108960"/>
            <a:ext cx="550591" cy="29260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1200" dirty="0"/>
          </a:p>
        </p:txBody>
      </p:sp>
      <p:sp>
        <p:nvSpPr>
          <p:cNvPr id="47" name="標籤"/>
          <p:cNvSpPr/>
          <p:nvPr/>
        </p:nvSpPr>
        <p:spPr>
          <a:xfrm>
            <a:off x="7746919" y="3108960"/>
            <a:ext cx="550591" cy="292608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1200" dirty="0"/>
          </a:p>
        </p:txBody>
      </p:sp>
      <p:sp>
        <p:nvSpPr>
          <p:cNvPr id="48" name="標籤"/>
          <p:cNvSpPr/>
          <p:nvPr/>
        </p:nvSpPr>
        <p:spPr>
          <a:xfrm>
            <a:off x="8407237" y="3108960"/>
            <a:ext cx="550591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1200" dirty="0"/>
          </a:p>
        </p:txBody>
      </p:sp>
      <p:sp>
        <p:nvSpPr>
          <p:cNvPr id="49" name="線條"/>
          <p:cNvSpPr/>
          <p:nvPr/>
        </p:nvSpPr>
        <p:spPr>
          <a:xfrm>
            <a:off x="6172200" y="3584448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3630168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012680" y="3630168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數字膠囊</a:t>
            </a:r>
            <a:endParaRPr lang="en-US" sz="1000" dirty="0"/>
          </a:p>
        </p:txBody>
      </p:sp>
      <p:sp>
        <p:nvSpPr>
          <p:cNvPr id="52" name="編號"/>
          <p:cNvSpPr/>
          <p:nvPr/>
        </p:nvSpPr>
        <p:spPr>
          <a:xfrm>
            <a:off x="7077456" y="3780130"/>
            <a:ext cx="457200" cy="248717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000" dirty="0"/>
          </a:p>
        </p:txBody>
      </p:sp>
      <p:sp>
        <p:nvSpPr>
          <p:cNvPr id="53" name="編號"/>
          <p:cNvSpPr/>
          <p:nvPr/>
        </p:nvSpPr>
        <p:spPr>
          <a:xfrm>
            <a:off x="7644384" y="3780130"/>
            <a:ext cx="457200" cy="248717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000" dirty="0"/>
          </a:p>
        </p:txBody>
      </p:sp>
      <p:sp>
        <p:nvSpPr>
          <p:cNvPr id="54" name="編號"/>
          <p:cNvSpPr/>
          <p:nvPr/>
        </p:nvSpPr>
        <p:spPr>
          <a:xfrm>
            <a:off x="8211312" y="3780130"/>
            <a:ext cx="457200" cy="248717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869680" y="3630168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400" dirty="0"/>
          </a:p>
        </p:txBody>
      </p:sp>
      <p:sp>
        <p:nvSpPr>
          <p:cNvPr id="56" name="線條"/>
          <p:cNvSpPr/>
          <p:nvPr/>
        </p:nvSpPr>
        <p:spPr>
          <a:xfrm>
            <a:off x="6172200" y="4233672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72200" y="4279392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10012680" y="4279392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086600" y="42793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200" dirty="0"/>
          </a:p>
        </p:txBody>
      </p:sp>
      <p:sp>
        <p:nvSpPr>
          <p:cNvPr id="60" name="三角形"/>
          <p:cNvSpPr/>
          <p:nvPr/>
        </p:nvSpPr>
        <p:spPr>
          <a:xfrm>
            <a:off x="7840980" y="446227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8183880" y="42793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200" dirty="0"/>
          </a:p>
        </p:txBody>
      </p:sp>
      <p:sp>
        <p:nvSpPr>
          <p:cNvPr id="62" name="三角形"/>
          <p:cNvSpPr/>
          <p:nvPr/>
        </p:nvSpPr>
        <p:spPr>
          <a:xfrm>
            <a:off x="8938260" y="446227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9281160" y="42793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200" dirty="0"/>
          </a:p>
        </p:txBody>
      </p:sp>
      <p:sp>
        <p:nvSpPr>
          <p:cNvPr id="64" name="線條"/>
          <p:cNvSpPr/>
          <p:nvPr/>
        </p:nvSpPr>
        <p:spPr>
          <a:xfrm>
            <a:off x="6172200" y="4882896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72200" y="4928616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10012680" y="4928616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1.25pt 點線＋三角箭頭</a:t>
            </a:r>
            <a:endParaRPr lang="en-US" sz="1000" dirty="0"/>
          </a:p>
        </p:txBody>
      </p:sp>
      <p:sp>
        <p:nvSpPr>
          <p:cNvPr id="67" name="線條"/>
          <p:cNvSpPr/>
          <p:nvPr/>
        </p:nvSpPr>
        <p:spPr>
          <a:xfrm>
            <a:off x="7086600" y="5202936"/>
            <a:ext cx="118872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</p:sp>
      <p:sp>
        <p:nvSpPr>
          <p:cNvPr id="68" name="連接線"/>
          <p:cNvSpPr/>
          <p:nvPr/>
        </p:nvSpPr>
        <p:spPr>
          <a:xfrm>
            <a:off x="8549640" y="5001768"/>
            <a:ext cx="1234440" cy="402336"/>
          </a:xfrm>
          <a:custGeom>
            <a:avLst/>
            <a:gdLst/>
            <a:ahLst/>
            <a:cxnLst/>
            <a:rect l="l" t="t" r="r" b="b"/>
            <a:pathLst>
              <a:path w="1234440" h="402336">
                <a:moveTo>
                  <a:pt x="0" y="0"/>
                </a:moveTo>
                <a:lnTo>
                  <a:pt x="548640" y="0"/>
                </a:lnTo>
                <a:lnTo>
                  <a:pt x="548640" y="402336"/>
                </a:lnTo>
                <a:lnTo>
                  <a:pt x="1234440" y="402336"/>
                </a:ln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線條"/>
          <p:cNvSpPr/>
          <p:nvPr/>
        </p:nvSpPr>
        <p:spPr>
          <a:xfrm>
            <a:off x="6172200" y="5532120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72200" y="557784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10012680" y="5577840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灰卡＋▶</a:t>
            </a:r>
            <a:endParaRPr lang="en-US" sz="1000" dirty="0"/>
          </a:p>
        </p:txBody>
      </p:sp>
      <p:sp>
        <p:nvSpPr>
          <p:cNvPr id="72" name="流程鏈"/>
          <p:cNvSpPr/>
          <p:nvPr/>
        </p:nvSpPr>
        <p:spPr>
          <a:xfrm>
            <a:off x="7086600" y="5650992"/>
            <a:ext cx="670560" cy="402336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100" dirty="0"/>
          </a:p>
        </p:txBody>
      </p:sp>
      <p:sp>
        <p:nvSpPr>
          <p:cNvPr id="73" name="三角形"/>
          <p:cNvSpPr/>
          <p:nvPr/>
        </p:nvSpPr>
        <p:spPr>
          <a:xfrm>
            <a:off x="7871460" y="576072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流程鏈"/>
          <p:cNvSpPr/>
          <p:nvPr/>
        </p:nvSpPr>
        <p:spPr>
          <a:xfrm>
            <a:off x="8122920" y="5650992"/>
            <a:ext cx="670560" cy="402336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100" dirty="0"/>
          </a:p>
        </p:txBody>
      </p:sp>
      <p:sp>
        <p:nvSpPr>
          <p:cNvPr id="75" name="三角形"/>
          <p:cNvSpPr/>
          <p:nvPr/>
        </p:nvSpPr>
        <p:spPr>
          <a:xfrm>
            <a:off x="8907780" y="576072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流程鏈"/>
          <p:cNvSpPr/>
          <p:nvPr/>
        </p:nvSpPr>
        <p:spPr>
          <a:xfrm>
            <a:off x="9159240" y="5650992"/>
            <a:ext cx="670560" cy="402336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65760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《卡片》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標題＋內文、角落標籤、表頭強調三種基本卡片</a:t>
            </a:r>
            <a:endParaRPr lang="en-US" sz="1500" dirty="0"/>
          </a:p>
        </p:txBody>
      </p:sp>
      <p:sp>
        <p:nvSpPr>
          <p:cNvPr id="4" name="線條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58468"/>
            <a:ext cx="1005840" cy="45720"/>
          </a:xfrm>
          <a:prstGeom prst="rect">
            <a:avLst/>
          </a:prstGeom>
          <a:solidFill>
            <a:srgbClr val="2F4B6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548640" y="1874520"/>
            <a:ext cx="3410712" cy="2148840"/>
          </a:xfrm>
          <a:prstGeom prst="roundRect">
            <a:avLst>
              <a:gd name="adj" fmla="val 4255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6384" y="2020824"/>
            <a:ext cx="2935224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1000" b="1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Card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6384" y="2660904"/>
            <a:ext cx="2935224" cy="11795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1200" dirty="0"/>
          </a:p>
        </p:txBody>
      </p:sp>
      <p:sp>
        <p:nvSpPr>
          <p:cNvPr id="9" name="卡片"/>
          <p:cNvSpPr/>
          <p:nvPr/>
        </p:nvSpPr>
        <p:spPr>
          <a:xfrm>
            <a:off x="4390492" y="1874520"/>
            <a:ext cx="3410712" cy="2148840"/>
          </a:xfrm>
          <a:prstGeom prst="roundRect">
            <a:avLst>
              <a:gd name="adj" fmla="val 4255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28236" y="2020824"/>
            <a:ext cx="2935224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28236" y="2660904"/>
            <a:ext cx="2935224" cy="11795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1200" dirty="0"/>
          </a:p>
        </p:txBody>
      </p:sp>
      <p:sp>
        <p:nvSpPr>
          <p:cNvPr id="12" name="標籤"/>
          <p:cNvSpPr/>
          <p:nvPr/>
        </p:nvSpPr>
        <p:spPr>
          <a:xfrm>
            <a:off x="6854292" y="1746504"/>
            <a:ext cx="745744" cy="25603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1000" dirty="0"/>
          </a:p>
        </p:txBody>
      </p:sp>
      <p:sp>
        <p:nvSpPr>
          <p:cNvPr id="13" name="卡片"/>
          <p:cNvSpPr/>
          <p:nvPr/>
        </p:nvSpPr>
        <p:spPr>
          <a:xfrm>
            <a:off x="8232343" y="1874520"/>
            <a:ext cx="3410712" cy="2148840"/>
          </a:xfrm>
          <a:prstGeom prst="roundRect">
            <a:avLst>
              <a:gd name="adj" fmla="val 4255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表頭"/>
          <p:cNvSpPr/>
          <p:nvPr/>
        </p:nvSpPr>
        <p:spPr>
          <a:xfrm>
            <a:off x="8232343" y="1874520"/>
            <a:ext cx="3410712" cy="530352"/>
          </a:xfrm>
          <a:custGeom>
            <a:avLst/>
            <a:gdLst/>
            <a:ahLst/>
            <a:cxnLst/>
            <a:rect l="l" t="t" r="r" b="b"/>
            <a:pathLst>
              <a:path w="3410712" h="530352">
                <a:moveTo>
                  <a:pt x="0" y="530352"/>
                </a:moveTo>
                <a:lnTo>
                  <a:pt x="0" y="91440"/>
                </a:lnTo>
                <a:arcTo hR="91440" wR="91440" stAng="10800000" swAng="5400000"/>
                <a:lnTo>
                  <a:pt x="3319272" y="0"/>
                </a:lnTo>
                <a:arcTo hR="91440" wR="91440" stAng="16200000" swAng="5400000"/>
                <a:lnTo>
                  <a:pt x="3410712" y="530352"/>
                </a:lnTo>
                <a:close/>
              </a:path>
            </a:pathLst>
          </a:custGeom>
          <a:solidFill>
            <a:srgbClr val="2F4B6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470087" y="1874520"/>
            <a:ext cx="2935224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70087" y="2587752"/>
            <a:ext cx="2935224" cy="1252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187952"/>
            <a:ext cx="34107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90492" y="4187952"/>
            <a:ext cx="34107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32343" y="4187952"/>
            <a:ext cx="34107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300" dirty="0"/>
          </a:p>
        </p:txBody>
      </p:sp>
      <p:sp>
        <p:nvSpPr>
          <p:cNvPr id="21" name="線條"/>
          <p:cNvSpPr/>
          <p:nvPr/>
        </p:nvSpPr>
        <p:spPr>
          <a:xfrm>
            <a:off x="548640" y="4956048"/>
            <a:ext cx="64008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2" name="標籤"/>
          <p:cNvSpPr/>
          <p:nvPr/>
        </p:nvSpPr>
        <p:spPr>
          <a:xfrm>
            <a:off x="548640" y="510235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5102352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300" dirty="0"/>
          </a:p>
        </p:txBody>
      </p:sp>
      <p:sp>
        <p:nvSpPr>
          <p:cNvPr id="24" name="標籤"/>
          <p:cNvSpPr/>
          <p:nvPr/>
        </p:nvSpPr>
        <p:spPr>
          <a:xfrm>
            <a:off x="548640" y="548640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63040" y="548640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300" dirty="0"/>
          </a:p>
        </p:txBody>
      </p:sp>
      <p:sp>
        <p:nvSpPr>
          <p:cNvPr id="26" name="標籤"/>
          <p:cNvSpPr/>
          <p:nvPr/>
        </p:nvSpPr>
        <p:spPr>
          <a:xfrm>
            <a:off x="548640" y="5870448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63040" y="5870448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0" y="4572000"/>
            <a:ext cx="432785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300" dirty="0"/>
          </a:p>
        </p:txBody>
      </p:sp>
      <p:sp>
        <p:nvSpPr>
          <p:cNvPr id="29" name="線條"/>
          <p:cNvSpPr/>
          <p:nvPr/>
        </p:nvSpPr>
        <p:spPr>
          <a:xfrm>
            <a:off x="7315200" y="4956048"/>
            <a:ext cx="4327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5120640"/>
            <a:ext cx="432785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15200" y="5486400"/>
            <a:ext cx="432785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65760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《標籤與編號》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單一標籤、堆疊清單、編號徽章與圈號清單</a:t>
            </a:r>
            <a:endParaRPr lang="en-US" sz="1500" dirty="0"/>
          </a:p>
        </p:txBody>
      </p:sp>
      <p:sp>
        <p:nvSpPr>
          <p:cNvPr id="4" name="線條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58468"/>
            <a:ext cx="1005840" cy="45720"/>
          </a:xfrm>
          <a:prstGeom prst="rect">
            <a:avLst/>
          </a:prstGeom>
          <a:solidFill>
            <a:srgbClr val="2F4B6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300" dirty="0"/>
          </a:p>
        </p:txBody>
      </p:sp>
      <p:sp>
        <p:nvSpPr>
          <p:cNvPr id="7" name="線條"/>
          <p:cNvSpPr/>
          <p:nvPr/>
        </p:nvSpPr>
        <p:spPr>
          <a:xfrm>
            <a:off x="548640" y="21671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標籤"/>
          <p:cNvSpPr/>
          <p:nvPr/>
        </p:nvSpPr>
        <p:spPr>
          <a:xfrm>
            <a:off x="548640" y="2331720"/>
            <a:ext cx="952276" cy="34747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300" dirty="0"/>
          </a:p>
        </p:txBody>
      </p:sp>
      <p:sp>
        <p:nvSpPr>
          <p:cNvPr id="9" name="標籤"/>
          <p:cNvSpPr/>
          <p:nvPr/>
        </p:nvSpPr>
        <p:spPr>
          <a:xfrm>
            <a:off x="1775236" y="2331720"/>
            <a:ext cx="952276" cy="347472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300" dirty="0"/>
          </a:p>
        </p:txBody>
      </p:sp>
      <p:sp>
        <p:nvSpPr>
          <p:cNvPr id="10" name="標籤"/>
          <p:cNvSpPr/>
          <p:nvPr/>
        </p:nvSpPr>
        <p:spPr>
          <a:xfrm>
            <a:off x="3001833" y="2331720"/>
            <a:ext cx="952276" cy="34747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300" dirty="0"/>
          </a:p>
        </p:txBody>
      </p:sp>
      <p:sp>
        <p:nvSpPr>
          <p:cNvPr id="11" name="標籤"/>
          <p:cNvSpPr/>
          <p:nvPr/>
        </p:nvSpPr>
        <p:spPr>
          <a:xfrm>
            <a:off x="4228429" y="2331720"/>
            <a:ext cx="95227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4B6E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29346" y="233172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1100" dirty="0"/>
          </a:p>
        </p:txBody>
      </p:sp>
      <p:sp>
        <p:nvSpPr>
          <p:cNvPr id="13" name="標籤"/>
          <p:cNvSpPr/>
          <p:nvPr/>
        </p:nvSpPr>
        <p:spPr>
          <a:xfrm>
            <a:off x="6460866" y="2368296"/>
            <a:ext cx="49174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4B6E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1000" dirty="0"/>
          </a:p>
        </p:txBody>
      </p:sp>
      <p:sp>
        <p:nvSpPr>
          <p:cNvPr id="14" name="標籤"/>
          <p:cNvSpPr/>
          <p:nvPr/>
        </p:nvSpPr>
        <p:spPr>
          <a:xfrm>
            <a:off x="7089770" y="2368296"/>
            <a:ext cx="491744" cy="2743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1000" dirty="0"/>
          </a:p>
        </p:txBody>
      </p:sp>
      <p:sp>
        <p:nvSpPr>
          <p:cNvPr id="15" name="標籤"/>
          <p:cNvSpPr/>
          <p:nvPr/>
        </p:nvSpPr>
        <p:spPr>
          <a:xfrm>
            <a:off x="7718674" y="2368296"/>
            <a:ext cx="491744" cy="2743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34655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300" dirty="0"/>
          </a:p>
        </p:txBody>
      </p:sp>
      <p:sp>
        <p:nvSpPr>
          <p:cNvPr id="17" name="線條"/>
          <p:cNvSpPr/>
          <p:nvPr/>
        </p:nvSpPr>
        <p:spPr>
          <a:xfrm>
            <a:off x="548640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8" name="標籤"/>
          <p:cNvSpPr/>
          <p:nvPr/>
        </p:nvSpPr>
        <p:spPr>
          <a:xfrm>
            <a:off x="548640" y="3666744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300" dirty="0"/>
          </a:p>
        </p:txBody>
      </p:sp>
      <p:sp>
        <p:nvSpPr>
          <p:cNvPr id="19" name="標籤"/>
          <p:cNvSpPr/>
          <p:nvPr/>
        </p:nvSpPr>
        <p:spPr>
          <a:xfrm>
            <a:off x="548640" y="4233672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300" dirty="0"/>
          </a:p>
        </p:txBody>
      </p:sp>
      <p:sp>
        <p:nvSpPr>
          <p:cNvPr id="20" name="標籤"/>
          <p:cNvSpPr/>
          <p:nvPr/>
        </p:nvSpPr>
        <p:spPr>
          <a:xfrm>
            <a:off x="548640" y="48006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300" dirty="0"/>
          </a:p>
        </p:txBody>
      </p:sp>
      <p:sp>
        <p:nvSpPr>
          <p:cNvPr id="21" name="標籤"/>
          <p:cNvSpPr/>
          <p:nvPr/>
        </p:nvSpPr>
        <p:spPr>
          <a:xfrm>
            <a:off x="548640" y="536752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63060" y="3063240"/>
            <a:ext cx="34655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300" dirty="0"/>
          </a:p>
        </p:txBody>
      </p:sp>
      <p:sp>
        <p:nvSpPr>
          <p:cNvPr id="23" name="線條"/>
          <p:cNvSpPr/>
          <p:nvPr/>
        </p:nvSpPr>
        <p:spPr>
          <a:xfrm>
            <a:off x="4363060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4" name="編號"/>
          <p:cNvSpPr/>
          <p:nvPr/>
        </p:nvSpPr>
        <p:spPr>
          <a:xfrm>
            <a:off x="4351630" y="3737336"/>
            <a:ext cx="480060" cy="261153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000" dirty="0"/>
          </a:p>
        </p:txBody>
      </p:sp>
      <p:sp>
        <p:nvSpPr>
          <p:cNvPr id="25" name="編號"/>
          <p:cNvSpPr/>
          <p:nvPr/>
        </p:nvSpPr>
        <p:spPr>
          <a:xfrm>
            <a:off x="4918558" y="3737336"/>
            <a:ext cx="480060" cy="261153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編號"/>
          <p:cNvSpPr/>
          <p:nvPr/>
        </p:nvSpPr>
        <p:spPr>
          <a:xfrm>
            <a:off x="5485486" y="3737336"/>
            <a:ext cx="480060" cy="261153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編號"/>
          <p:cNvSpPr/>
          <p:nvPr/>
        </p:nvSpPr>
        <p:spPr>
          <a:xfrm>
            <a:off x="6052414" y="3737336"/>
            <a:ext cx="480060" cy="261153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編號"/>
          <p:cNvSpPr/>
          <p:nvPr/>
        </p:nvSpPr>
        <p:spPr>
          <a:xfrm>
            <a:off x="4385920" y="4569805"/>
            <a:ext cx="411480" cy="223845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29988" y="4526280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63260" y="4526280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1100" dirty="0"/>
          </a:p>
        </p:txBody>
      </p:sp>
      <p:sp>
        <p:nvSpPr>
          <p:cNvPr id="31" name="編號"/>
          <p:cNvSpPr/>
          <p:nvPr/>
        </p:nvSpPr>
        <p:spPr>
          <a:xfrm>
            <a:off x="4385920" y="5136733"/>
            <a:ext cx="411480" cy="223845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29988" y="5093208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63260" y="5093208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1100" dirty="0"/>
          </a:p>
        </p:txBody>
      </p:sp>
      <p:sp>
        <p:nvSpPr>
          <p:cNvPr id="34" name="編號"/>
          <p:cNvSpPr/>
          <p:nvPr/>
        </p:nvSpPr>
        <p:spPr>
          <a:xfrm>
            <a:off x="4385920" y="5703661"/>
            <a:ext cx="411480" cy="223845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29988" y="5660136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63260" y="5660136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77479" y="3063240"/>
            <a:ext cx="34655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300" dirty="0"/>
          </a:p>
        </p:txBody>
      </p:sp>
      <p:sp>
        <p:nvSpPr>
          <p:cNvPr id="38" name="線條"/>
          <p:cNvSpPr/>
          <p:nvPr/>
        </p:nvSpPr>
        <p:spPr>
          <a:xfrm>
            <a:off x="8177479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77479" y="3657600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177479" y="404164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177479" y="4425696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177479" y="4809744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006279" y="3657600"/>
            <a:ext cx="1636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006279" y="4041648"/>
            <a:ext cx="1636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006279" y="4425696"/>
            <a:ext cx="1636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177479" y="5303520"/>
            <a:ext cx="346557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65760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《圓形與流程鏈》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大外框圓＋疊放小圓，以及三段式流程鏈</a:t>
            </a:r>
            <a:endParaRPr lang="en-US" sz="1500" dirty="0"/>
          </a:p>
        </p:txBody>
      </p:sp>
      <p:sp>
        <p:nvSpPr>
          <p:cNvPr id="4" name="線條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58468"/>
            <a:ext cx="1005840" cy="45720"/>
          </a:xfrm>
          <a:prstGeom prst="rect">
            <a:avLst/>
          </a:prstGeom>
          <a:solidFill>
            <a:srgbClr val="2F4B6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300" dirty="0"/>
          </a:p>
        </p:txBody>
      </p:sp>
      <p:sp>
        <p:nvSpPr>
          <p:cNvPr id="7" name="線條"/>
          <p:cNvSpPr/>
          <p:nvPr/>
        </p:nvSpPr>
        <p:spPr>
          <a:xfrm>
            <a:off x="548640" y="2167128"/>
            <a:ext cx="51206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光暈大圓"/>
          <p:cNvSpPr/>
          <p:nvPr/>
        </p:nvSpPr>
        <p:spPr>
          <a:xfrm>
            <a:off x="1847088" y="2350008"/>
            <a:ext cx="2523744" cy="2523744"/>
          </a:xfrm>
          <a:prstGeom prst="ellipse">
            <a:avLst/>
          </a:prstGeom>
          <a:solidFill>
            <a:srgbClr val="F2F2F2"/>
          </a:solidFill>
          <a:ln>
            <a:noFill/>
          </a:ln>
          <a:effectLst>
            <a:outerShdw blurRad="203200" dist="2540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47088" y="2678095"/>
            <a:ext cx="2523744" cy="7823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4100" dirty="0"/>
          </a:p>
        </p:txBody>
      </p:sp>
      <p:sp>
        <p:nvSpPr>
          <p:cNvPr id="10" name="Text 8"/>
          <p:cNvSpPr/>
          <p:nvPr/>
        </p:nvSpPr>
        <p:spPr>
          <a:xfrm>
            <a:off x="2099462" y="3485693"/>
            <a:ext cx="2018995" cy="706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500" dirty="0"/>
          </a:p>
        </p:txBody>
      </p:sp>
      <p:sp>
        <p:nvSpPr>
          <p:cNvPr id="11" name="小圓"/>
          <p:cNvSpPr/>
          <p:nvPr/>
        </p:nvSpPr>
        <p:spPr>
          <a:xfrm>
            <a:off x="1717136" y="3987246"/>
            <a:ext cx="768096" cy="768096"/>
          </a:xfrm>
          <a:prstGeom prst="ellipse">
            <a:avLst/>
          </a:prstGeom>
          <a:solidFill>
            <a:srgbClr val="2F4B6E"/>
          </a:solidFill>
          <a:ln w="31750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600" dirty="0"/>
          </a:p>
        </p:txBody>
      </p:sp>
      <p:sp>
        <p:nvSpPr>
          <p:cNvPr id="12" name="小圓"/>
          <p:cNvSpPr/>
          <p:nvPr/>
        </p:nvSpPr>
        <p:spPr>
          <a:xfrm>
            <a:off x="2724912" y="4489704"/>
            <a:ext cx="768096" cy="768096"/>
          </a:xfrm>
          <a:prstGeom prst="ellipse">
            <a:avLst/>
          </a:prstGeom>
          <a:solidFill>
            <a:srgbClr val="2F4B6E"/>
          </a:solidFill>
          <a:ln w="31750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600" dirty="0"/>
          </a:p>
        </p:txBody>
      </p:sp>
      <p:sp>
        <p:nvSpPr>
          <p:cNvPr id="13" name="小圓"/>
          <p:cNvSpPr/>
          <p:nvPr/>
        </p:nvSpPr>
        <p:spPr>
          <a:xfrm>
            <a:off x="3732688" y="3987246"/>
            <a:ext cx="768096" cy="768096"/>
          </a:xfrm>
          <a:prstGeom prst="ellipse">
            <a:avLst/>
          </a:prstGeom>
          <a:solidFill>
            <a:srgbClr val="2F4B6E"/>
          </a:solidFill>
          <a:ln w="31750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1783080"/>
            <a:ext cx="533369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300" dirty="0"/>
          </a:p>
        </p:txBody>
      </p:sp>
      <p:sp>
        <p:nvSpPr>
          <p:cNvPr id="15" name="線條"/>
          <p:cNvSpPr/>
          <p:nvPr/>
        </p:nvSpPr>
        <p:spPr>
          <a:xfrm>
            <a:off x="6309360" y="2167128"/>
            <a:ext cx="53336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6" name="流程鏈"/>
          <p:cNvSpPr/>
          <p:nvPr/>
        </p:nvSpPr>
        <p:spPr>
          <a:xfrm>
            <a:off x="6309360" y="2395728"/>
            <a:ext cx="1534058" cy="658368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1600" dirty="0"/>
          </a:p>
        </p:txBody>
      </p:sp>
      <p:sp>
        <p:nvSpPr>
          <p:cNvPr id="17" name="三角形"/>
          <p:cNvSpPr/>
          <p:nvPr/>
        </p:nvSpPr>
        <p:spPr>
          <a:xfrm>
            <a:off x="7957718" y="263347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流程鏈"/>
          <p:cNvSpPr/>
          <p:nvPr/>
        </p:nvSpPr>
        <p:spPr>
          <a:xfrm>
            <a:off x="8209178" y="2395728"/>
            <a:ext cx="1534058" cy="658368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1600" dirty="0"/>
          </a:p>
        </p:txBody>
      </p:sp>
      <p:sp>
        <p:nvSpPr>
          <p:cNvPr id="19" name="三角形"/>
          <p:cNvSpPr/>
          <p:nvPr/>
        </p:nvSpPr>
        <p:spPr>
          <a:xfrm>
            <a:off x="9857537" y="263347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流程鏈"/>
          <p:cNvSpPr/>
          <p:nvPr/>
        </p:nvSpPr>
        <p:spPr>
          <a:xfrm>
            <a:off x="10108997" y="2395728"/>
            <a:ext cx="1534058" cy="658368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1600" dirty="0"/>
          </a:p>
        </p:txBody>
      </p:sp>
      <p:sp>
        <p:nvSpPr>
          <p:cNvPr id="21" name="流程鏈"/>
          <p:cNvSpPr/>
          <p:nvPr/>
        </p:nvSpPr>
        <p:spPr>
          <a:xfrm>
            <a:off x="6309360" y="3520440"/>
            <a:ext cx="838505" cy="512064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400" dirty="0"/>
          </a:p>
        </p:txBody>
      </p:sp>
      <p:sp>
        <p:nvSpPr>
          <p:cNvPr id="22" name="三角形"/>
          <p:cNvSpPr/>
          <p:nvPr/>
        </p:nvSpPr>
        <p:spPr>
          <a:xfrm>
            <a:off x="7221931" y="368503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流程鏈"/>
          <p:cNvSpPr/>
          <p:nvPr/>
        </p:nvSpPr>
        <p:spPr>
          <a:xfrm>
            <a:off x="7433158" y="3520440"/>
            <a:ext cx="838505" cy="512064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400" dirty="0"/>
          </a:p>
        </p:txBody>
      </p:sp>
      <p:sp>
        <p:nvSpPr>
          <p:cNvPr id="24" name="三角形"/>
          <p:cNvSpPr/>
          <p:nvPr/>
        </p:nvSpPr>
        <p:spPr>
          <a:xfrm>
            <a:off x="8345729" y="368503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流程鏈"/>
          <p:cNvSpPr/>
          <p:nvPr/>
        </p:nvSpPr>
        <p:spPr>
          <a:xfrm>
            <a:off x="8556955" y="3520440"/>
            <a:ext cx="838505" cy="512064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400" dirty="0"/>
          </a:p>
        </p:txBody>
      </p:sp>
      <p:sp>
        <p:nvSpPr>
          <p:cNvPr id="26" name="三角形"/>
          <p:cNvSpPr/>
          <p:nvPr/>
        </p:nvSpPr>
        <p:spPr>
          <a:xfrm>
            <a:off x="9469526" y="368503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流程鏈"/>
          <p:cNvSpPr/>
          <p:nvPr/>
        </p:nvSpPr>
        <p:spPr>
          <a:xfrm>
            <a:off x="9680753" y="3520440"/>
            <a:ext cx="838505" cy="512064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400" dirty="0"/>
          </a:p>
        </p:txBody>
      </p:sp>
      <p:sp>
        <p:nvSpPr>
          <p:cNvPr id="28" name="三角形"/>
          <p:cNvSpPr/>
          <p:nvPr/>
        </p:nvSpPr>
        <p:spPr>
          <a:xfrm>
            <a:off x="10593324" y="368503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流程鏈"/>
          <p:cNvSpPr/>
          <p:nvPr/>
        </p:nvSpPr>
        <p:spPr>
          <a:xfrm>
            <a:off x="10804550" y="3520440"/>
            <a:ext cx="838505" cy="512064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400" dirty="0"/>
          </a:p>
        </p:txBody>
      </p:sp>
      <p:sp>
        <p:nvSpPr>
          <p:cNvPr id="30" name="流程鏈"/>
          <p:cNvSpPr/>
          <p:nvPr/>
        </p:nvSpPr>
        <p:spPr>
          <a:xfrm>
            <a:off x="6309360" y="4526280"/>
            <a:ext cx="1059104" cy="512064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400" dirty="0"/>
          </a:p>
        </p:txBody>
      </p:sp>
      <p:sp>
        <p:nvSpPr>
          <p:cNvPr id="31" name="三角形"/>
          <p:cNvSpPr/>
          <p:nvPr/>
        </p:nvSpPr>
        <p:spPr>
          <a:xfrm>
            <a:off x="7482764" y="469087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流程鏈"/>
          <p:cNvSpPr/>
          <p:nvPr/>
        </p:nvSpPr>
        <p:spPr>
          <a:xfrm>
            <a:off x="7734224" y="4526280"/>
            <a:ext cx="1059104" cy="512064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400" dirty="0"/>
          </a:p>
        </p:txBody>
      </p:sp>
      <p:sp>
        <p:nvSpPr>
          <p:cNvPr id="33" name="三角形"/>
          <p:cNvSpPr/>
          <p:nvPr/>
        </p:nvSpPr>
        <p:spPr>
          <a:xfrm>
            <a:off x="8907628" y="469087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流程鏈"/>
          <p:cNvSpPr/>
          <p:nvPr/>
        </p:nvSpPr>
        <p:spPr>
          <a:xfrm>
            <a:off x="9159088" y="4526280"/>
            <a:ext cx="1059104" cy="512064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400" dirty="0"/>
          </a:p>
        </p:txBody>
      </p:sp>
      <p:sp>
        <p:nvSpPr>
          <p:cNvPr id="35" name="三角形"/>
          <p:cNvSpPr/>
          <p:nvPr/>
        </p:nvSpPr>
        <p:spPr>
          <a:xfrm>
            <a:off x="10332491" y="469087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流程鏈"/>
          <p:cNvSpPr/>
          <p:nvPr/>
        </p:nvSpPr>
        <p:spPr>
          <a:xfrm>
            <a:off x="10583951" y="4526280"/>
            <a:ext cx="1059104" cy="512064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09360" y="5138928"/>
            <a:ext cx="105910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34224" y="5138928"/>
            <a:ext cx="105910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59088" y="5138928"/>
            <a:ext cx="105910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583951" y="5138928"/>
            <a:ext cx="105910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5760720"/>
            <a:ext cx="533369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65760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《連接線與箭頭》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細直線、折線、點狀線、曲線、▶ 小三角與區塊箭號</a:t>
            </a:r>
            <a:endParaRPr lang="en-US" sz="1500" dirty="0"/>
          </a:p>
        </p:txBody>
      </p:sp>
      <p:sp>
        <p:nvSpPr>
          <p:cNvPr id="4" name="線條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58468"/>
            <a:ext cx="1005840" cy="45720"/>
          </a:xfrm>
          <a:prstGeom prst="rect">
            <a:avLst/>
          </a:prstGeom>
          <a:solidFill>
            <a:srgbClr val="2F4B6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255414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300" dirty="0"/>
          </a:p>
        </p:txBody>
      </p:sp>
      <p:sp>
        <p:nvSpPr>
          <p:cNvPr id="7" name="線條"/>
          <p:cNvSpPr/>
          <p:nvPr/>
        </p:nvSpPr>
        <p:spPr>
          <a:xfrm>
            <a:off x="548640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處理"/>
          <p:cNvSpPr/>
          <p:nvPr/>
        </p:nvSpPr>
        <p:spPr>
          <a:xfrm>
            <a:off x="548640" y="2807208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處理"/>
          <p:cNvSpPr/>
          <p:nvPr/>
        </p:nvSpPr>
        <p:spPr>
          <a:xfrm>
            <a:off x="2279828" y="2807208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cxnSp>
        <p:nvCxnSpPr>
          <p:cNvPr id="10" name="連接線"/>
          <p:cNvCxnSpPr>
            <a:stCxn id="8" idx="3"/>
            <a:endCxn id="9" idx="1"/>
          </p:cNvCxnSpPr>
          <p:nvPr/>
        </p:nvCxnSpPr>
        <p:spPr>
          <a:xfrm>
            <a:off x="1371600" y="3017520"/>
            <a:ext cx="908228" cy="0"/>
          </a:xfrm>
          <a:prstGeom prst="straightConnector1">
            <a:avLst/>
          </a:prstGeom>
          <a:ln w="15875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11" name="Text 9"/>
          <p:cNvSpPr/>
          <p:nvPr/>
        </p:nvSpPr>
        <p:spPr>
          <a:xfrm>
            <a:off x="3395396" y="1783080"/>
            <a:ext cx="255414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300" dirty="0"/>
          </a:p>
        </p:txBody>
      </p:sp>
      <p:sp>
        <p:nvSpPr>
          <p:cNvPr id="12" name="線條"/>
          <p:cNvSpPr/>
          <p:nvPr/>
        </p:nvSpPr>
        <p:spPr>
          <a:xfrm>
            <a:off x="3395396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3" name="處理"/>
          <p:cNvSpPr/>
          <p:nvPr/>
        </p:nvSpPr>
        <p:spPr>
          <a:xfrm>
            <a:off x="3395396" y="2468880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處理"/>
          <p:cNvSpPr/>
          <p:nvPr/>
        </p:nvSpPr>
        <p:spPr>
          <a:xfrm>
            <a:off x="5126584" y="3383280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cxnSp>
        <p:nvCxnSpPr>
          <p:cNvPr id="15" name="連接線"/>
          <p:cNvCxnSpPr>
            <a:stCxn id="13" idx="3"/>
            <a:endCxn id="14" idx="1"/>
          </p:cNvCxnSpPr>
          <p:nvPr/>
        </p:nvCxnSpPr>
        <p:spPr>
          <a:xfrm>
            <a:off x="4218356" y="2679192"/>
            <a:ext cx="908228" cy="914400"/>
          </a:xfrm>
          <a:prstGeom prst="bentConnector3">
            <a:avLst>
              <a:gd name="adj1" fmla="val 50000"/>
            </a:avLst>
          </a:prstGeom>
          <a:ln w="15875">
            <a:solidFill>
              <a:srgbClr val="595959"/>
            </a:solidFill>
            <a:prstDash val="sysDot"/>
            <a:tailEnd type="triangle" w="lg" len="lg"/>
          </a:ln>
        </p:spPr>
      </p:cxnSp>
      <p:sp>
        <p:nvSpPr>
          <p:cNvPr id="16" name="Text 14"/>
          <p:cNvSpPr/>
          <p:nvPr/>
        </p:nvSpPr>
        <p:spPr>
          <a:xfrm>
            <a:off x="6242152" y="1783080"/>
            <a:ext cx="255414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300" dirty="0"/>
          </a:p>
        </p:txBody>
      </p:sp>
      <p:sp>
        <p:nvSpPr>
          <p:cNvPr id="17" name="線條"/>
          <p:cNvSpPr/>
          <p:nvPr/>
        </p:nvSpPr>
        <p:spPr>
          <a:xfrm>
            <a:off x="6242152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8" name="處理"/>
          <p:cNvSpPr/>
          <p:nvPr/>
        </p:nvSpPr>
        <p:spPr>
          <a:xfrm>
            <a:off x="6242152" y="2807208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19" name="處理"/>
          <p:cNvSpPr/>
          <p:nvPr/>
        </p:nvSpPr>
        <p:spPr>
          <a:xfrm>
            <a:off x="7973339" y="2807208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cxnSp>
        <p:nvCxnSpPr>
          <p:cNvPr id="20" name="連接線"/>
          <p:cNvCxnSpPr>
            <a:stCxn id="18" idx="3"/>
            <a:endCxn id="19" idx="1"/>
          </p:cNvCxnSpPr>
          <p:nvPr/>
        </p:nvCxnSpPr>
        <p:spPr>
          <a:xfrm>
            <a:off x="7065112" y="3017520"/>
            <a:ext cx="908228" cy="0"/>
          </a:xfrm>
          <a:prstGeom prst="straightConnector1">
            <a:avLst/>
          </a:prstGeom>
          <a:ln w="15875">
            <a:solidFill>
              <a:srgbClr val="595959"/>
            </a:solidFill>
            <a:prstDash val="sysDot"/>
            <a:tailEnd type="triangle" w="lg" len="lg"/>
          </a:ln>
        </p:spPr>
      </p:cxnSp>
      <p:sp>
        <p:nvSpPr>
          <p:cNvPr id="21" name="Text 19"/>
          <p:cNvSpPr/>
          <p:nvPr/>
        </p:nvSpPr>
        <p:spPr>
          <a:xfrm>
            <a:off x="9088907" y="1783080"/>
            <a:ext cx="255414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300" dirty="0"/>
          </a:p>
        </p:txBody>
      </p:sp>
      <p:sp>
        <p:nvSpPr>
          <p:cNvPr id="22" name="線條"/>
          <p:cNvSpPr/>
          <p:nvPr/>
        </p:nvSpPr>
        <p:spPr>
          <a:xfrm>
            <a:off x="9088907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3" name="處理"/>
          <p:cNvSpPr/>
          <p:nvPr/>
        </p:nvSpPr>
        <p:spPr>
          <a:xfrm>
            <a:off x="9088907" y="3246120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24" name="處理"/>
          <p:cNvSpPr/>
          <p:nvPr/>
        </p:nvSpPr>
        <p:spPr>
          <a:xfrm>
            <a:off x="10820095" y="3246120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25" name="曲線箭頭"/>
          <p:cNvSpPr/>
          <p:nvPr/>
        </p:nvSpPr>
        <p:spPr>
          <a:xfrm>
            <a:off x="9500387" y="2423160"/>
            <a:ext cx="1731188" cy="768096"/>
          </a:xfrm>
          <a:custGeom>
            <a:avLst/>
            <a:gdLst/>
            <a:ahLst/>
            <a:cxnLst/>
            <a:rect l="l" t="t" r="r" b="b"/>
            <a:pathLst>
              <a:path w="1731188" h="768096">
                <a:moveTo>
                  <a:pt x="0" y="768096"/>
                </a:moveTo>
                <a:cubicBezTo>
                  <a:pt x="0" y="0"/>
                  <a:pt x="1731188" y="0"/>
                  <a:pt x="1731188" y="768096"/>
                </a:cubicBez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8640" y="3931920"/>
            <a:ext cx="255414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300" dirty="0"/>
          </a:p>
        </p:txBody>
      </p:sp>
      <p:sp>
        <p:nvSpPr>
          <p:cNvPr id="27" name="線條"/>
          <p:cNvSpPr/>
          <p:nvPr/>
        </p:nvSpPr>
        <p:spPr>
          <a:xfrm>
            <a:off x="548640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983480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300" dirty="0"/>
          </a:p>
        </p:txBody>
      </p:sp>
      <p:sp>
        <p:nvSpPr>
          <p:cNvPr id="29" name="三角形"/>
          <p:cNvSpPr/>
          <p:nvPr/>
        </p:nvSpPr>
        <p:spPr>
          <a:xfrm>
            <a:off x="1260329" y="507492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542250" y="4983480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300" dirty="0"/>
          </a:p>
        </p:txBody>
      </p:sp>
      <p:sp>
        <p:nvSpPr>
          <p:cNvPr id="31" name="三角形"/>
          <p:cNvSpPr/>
          <p:nvPr/>
        </p:nvSpPr>
        <p:spPr>
          <a:xfrm>
            <a:off x="2253939" y="507492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535860" y="4983480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95396" y="3931920"/>
            <a:ext cx="255414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300" dirty="0"/>
          </a:p>
        </p:txBody>
      </p:sp>
      <p:sp>
        <p:nvSpPr>
          <p:cNvPr id="34" name="線條"/>
          <p:cNvSpPr/>
          <p:nvPr/>
        </p:nvSpPr>
        <p:spPr>
          <a:xfrm>
            <a:off x="3395396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5" name="處理"/>
          <p:cNvSpPr/>
          <p:nvPr/>
        </p:nvSpPr>
        <p:spPr>
          <a:xfrm>
            <a:off x="3395396" y="4956048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36" name="處理"/>
          <p:cNvSpPr/>
          <p:nvPr/>
        </p:nvSpPr>
        <p:spPr>
          <a:xfrm>
            <a:off x="5126584" y="4956048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37" name="三角形"/>
          <p:cNvSpPr/>
          <p:nvPr/>
        </p:nvSpPr>
        <p:spPr>
          <a:xfrm>
            <a:off x="4463987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2F4B6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三角形"/>
          <p:cNvSpPr/>
          <p:nvPr/>
        </p:nvSpPr>
        <p:spPr>
          <a:xfrm>
            <a:off x="4617606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2F4B6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三角形"/>
          <p:cNvSpPr/>
          <p:nvPr/>
        </p:nvSpPr>
        <p:spPr>
          <a:xfrm>
            <a:off x="4771225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2F4B6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242152" y="3931920"/>
            <a:ext cx="255414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300" dirty="0"/>
          </a:p>
        </p:txBody>
      </p:sp>
      <p:sp>
        <p:nvSpPr>
          <p:cNvPr id="41" name="線條"/>
          <p:cNvSpPr/>
          <p:nvPr/>
        </p:nvSpPr>
        <p:spPr>
          <a:xfrm>
            <a:off x="6242152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2" name="區塊箭號"/>
          <p:cNvSpPr/>
          <p:nvPr/>
        </p:nvSpPr>
        <p:spPr>
          <a:xfrm>
            <a:off x="6242152" y="4919472"/>
            <a:ext cx="961111" cy="493776"/>
          </a:xfrm>
          <a:prstGeom prst="homePlate">
            <a:avLst>
              <a:gd name="adj" fmla="val 33333"/>
            </a:avLst>
          </a:prstGeom>
          <a:solidFill>
            <a:srgbClr val="2F4B6E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300" dirty="0"/>
          </a:p>
        </p:txBody>
      </p:sp>
      <p:sp>
        <p:nvSpPr>
          <p:cNvPr id="43" name="區塊箭號"/>
          <p:cNvSpPr/>
          <p:nvPr/>
        </p:nvSpPr>
        <p:spPr>
          <a:xfrm>
            <a:off x="7075246" y="4919472"/>
            <a:ext cx="961111" cy="493776"/>
          </a:xfrm>
          <a:prstGeom prst="chevron">
            <a:avLst>
              <a:gd name="adj" fmla="val 33333"/>
            </a:avLst>
          </a:prstGeom>
          <a:solidFill>
            <a:srgbClr val="63789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300" dirty="0"/>
          </a:p>
        </p:txBody>
      </p:sp>
      <p:sp>
        <p:nvSpPr>
          <p:cNvPr id="44" name="區塊箭號"/>
          <p:cNvSpPr/>
          <p:nvPr/>
        </p:nvSpPr>
        <p:spPr>
          <a:xfrm>
            <a:off x="7908341" y="4919472"/>
            <a:ext cx="961111" cy="493776"/>
          </a:xfrm>
          <a:prstGeom prst="chevron">
            <a:avLst>
              <a:gd name="adj" fmla="val 33333"/>
            </a:avLst>
          </a:prstGeom>
          <a:solidFill>
            <a:srgbClr val="97A5B7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088907" y="3931920"/>
            <a:ext cx="255414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300" dirty="0"/>
          </a:p>
        </p:txBody>
      </p:sp>
      <p:sp>
        <p:nvSpPr>
          <p:cNvPr id="46" name="線條"/>
          <p:cNvSpPr/>
          <p:nvPr/>
        </p:nvSpPr>
        <p:spPr>
          <a:xfrm>
            <a:off x="9088907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7" name="處理"/>
          <p:cNvSpPr/>
          <p:nvPr/>
        </p:nvSpPr>
        <p:spPr>
          <a:xfrm>
            <a:off x="9088907" y="4956048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48" name="處理"/>
          <p:cNvSpPr/>
          <p:nvPr/>
        </p:nvSpPr>
        <p:spPr>
          <a:xfrm>
            <a:off x="10820095" y="4572000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300" dirty="0"/>
          </a:p>
        </p:txBody>
      </p:sp>
      <p:sp>
        <p:nvSpPr>
          <p:cNvPr id="49" name="處理"/>
          <p:cNvSpPr/>
          <p:nvPr/>
        </p:nvSpPr>
        <p:spPr>
          <a:xfrm>
            <a:off x="10820095" y="5340096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300" dirty="0"/>
          </a:p>
        </p:txBody>
      </p:sp>
      <p:cxnSp>
        <p:nvCxnSpPr>
          <p:cNvPr id="50" name="連接線"/>
          <p:cNvCxnSpPr>
            <a:stCxn id="47" idx="3"/>
            <a:endCxn id="48" idx="1"/>
          </p:cNvCxnSpPr>
          <p:nvPr/>
        </p:nvCxnSpPr>
        <p:spPr>
          <a:xfrm flipV="1">
            <a:off x="9911867" y="4782312"/>
            <a:ext cx="908228" cy="384048"/>
          </a:xfrm>
          <a:prstGeom prst="bentConnector3">
            <a:avLst>
              <a:gd name="adj1" fmla="val 50000"/>
            </a:avLst>
          </a:prstGeom>
          <a:ln w="15875">
            <a:solidFill>
              <a:srgbClr val="595959"/>
            </a:solidFill>
            <a:prstDash val="sysDot"/>
            <a:tailEnd type="triangle" w="lg" len="lg"/>
          </a:ln>
        </p:spPr>
      </p:cxnSp>
      <p:cxnSp>
        <p:nvCxnSpPr>
          <p:cNvPr id="51" name="連接線"/>
          <p:cNvCxnSpPr>
            <a:stCxn id="47" idx="3"/>
            <a:endCxn id="49" idx="1"/>
          </p:cNvCxnSpPr>
          <p:nvPr/>
        </p:nvCxnSpPr>
        <p:spPr>
          <a:xfrm>
            <a:off x="9911867" y="5166360"/>
            <a:ext cx="908228" cy="384048"/>
          </a:xfrm>
          <a:prstGeom prst="bentConnector3">
            <a:avLst>
              <a:gd name="adj1" fmla="val 50000"/>
            </a:avLst>
          </a:prstGeom>
          <a:ln w="15875">
            <a:solidFill>
              <a:srgbClr val="595959"/>
            </a:solidFill>
            <a:prstDash val="sysDot"/>
            <a:tailEnd type="triangle" w="lg" len="lg"/>
          </a:ln>
        </p:spPr>
      </p:cxnSp>
      <p:sp>
        <p:nvSpPr>
          <p:cNvPr id="52" name="Text 50"/>
          <p:cNvSpPr/>
          <p:nvPr/>
        </p:nvSpPr>
        <p:spPr>
          <a:xfrm>
            <a:off x="548640" y="5943600"/>
            <a:ext cx="110944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65760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《流程圖符號》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開始／結束、處理、判斷、輸入輸出、文件、資料庫</a:t>
            </a:r>
            <a:endParaRPr lang="en-US" sz="1500" dirty="0"/>
          </a:p>
        </p:txBody>
      </p:sp>
      <p:sp>
        <p:nvSpPr>
          <p:cNvPr id="4" name="線條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58468"/>
            <a:ext cx="1005840" cy="45720"/>
          </a:xfrm>
          <a:prstGeom prst="rect">
            <a:avLst/>
          </a:prstGeom>
          <a:solidFill>
            <a:srgbClr val="2F4B6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開始／結束"/>
          <p:cNvSpPr/>
          <p:nvPr/>
        </p:nvSpPr>
        <p:spPr>
          <a:xfrm>
            <a:off x="787375" y="2231136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Terminator</a:t>
            </a:r>
            <a:endParaRPr lang="en-US" sz="1400" dirty="0"/>
          </a:p>
        </p:txBody>
      </p:sp>
      <p:sp>
        <p:nvSpPr>
          <p:cNvPr id="8" name="處理"/>
          <p:cNvSpPr/>
          <p:nvPr/>
        </p:nvSpPr>
        <p:spPr>
          <a:xfrm>
            <a:off x="2590724" y="2185416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97709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400" dirty="0"/>
          </a:p>
        </p:txBody>
      </p:sp>
      <p:sp>
        <p:nvSpPr>
          <p:cNvPr id="10" name="判斷"/>
          <p:cNvSpPr/>
          <p:nvPr/>
        </p:nvSpPr>
        <p:spPr>
          <a:xfrm>
            <a:off x="4485513" y="2057400"/>
            <a:ext cx="1371600" cy="914400"/>
          </a:xfrm>
          <a:prstGeom prst="diamond">
            <a:avLst/>
          </a:prstGeom>
          <a:solidFill>
            <a:srgbClr val="E3E8EF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46778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2" name="輸入輸出"/>
          <p:cNvSpPr/>
          <p:nvPr/>
        </p:nvSpPr>
        <p:spPr>
          <a:xfrm>
            <a:off x="6243142" y="2185416"/>
            <a:ext cx="1554480" cy="658368"/>
          </a:xfrm>
          <a:prstGeom prst="parallelogram">
            <a:avLst>
              <a:gd name="adj" fmla="val 42000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5848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</a:t>
            </a:r>
            <a:endParaRPr lang="en-US" sz="1400" dirty="0"/>
          </a:p>
        </p:txBody>
      </p:sp>
      <p:sp>
        <p:nvSpPr>
          <p:cNvPr id="14" name="文件"/>
          <p:cNvSpPr/>
          <p:nvPr/>
        </p:nvSpPr>
        <p:spPr>
          <a:xfrm>
            <a:off x="8183651" y="2125980"/>
            <a:ext cx="1371600" cy="777240"/>
          </a:xfrm>
          <a:prstGeom prst="flowChartDocument">
            <a:avLst/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0" rIns="381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44917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</a:t>
            </a:r>
            <a:endParaRPr lang="en-US" sz="1400" dirty="0"/>
          </a:p>
        </p:txBody>
      </p:sp>
      <p:sp>
        <p:nvSpPr>
          <p:cNvPr id="16" name="資料庫"/>
          <p:cNvSpPr/>
          <p:nvPr/>
        </p:nvSpPr>
        <p:spPr>
          <a:xfrm>
            <a:off x="10215601" y="2057400"/>
            <a:ext cx="1005840" cy="914400"/>
          </a:xfrm>
          <a:prstGeom prst="can">
            <a:avLst>
              <a:gd name="adj" fmla="val 13000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793986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7673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300" dirty="0"/>
          </a:p>
        </p:txBody>
      </p:sp>
      <p:sp>
        <p:nvSpPr>
          <p:cNvPr id="19" name="線條"/>
          <p:cNvSpPr/>
          <p:nvPr/>
        </p:nvSpPr>
        <p:spPr>
          <a:xfrm>
            <a:off x="548640" y="4151376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0" name="開始／結束"/>
          <p:cNvSpPr/>
          <p:nvPr/>
        </p:nvSpPr>
        <p:spPr>
          <a:xfrm>
            <a:off x="548640" y="4434840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00" dirty="0"/>
          </a:p>
        </p:txBody>
      </p:sp>
      <p:sp>
        <p:nvSpPr>
          <p:cNvPr id="21" name="輸入輸出"/>
          <p:cNvSpPr/>
          <p:nvPr/>
        </p:nvSpPr>
        <p:spPr>
          <a:xfrm>
            <a:off x="2228027" y="4398264"/>
            <a:ext cx="1645920" cy="621792"/>
          </a:xfrm>
          <a:prstGeom prst="parallelogram">
            <a:avLst>
              <a:gd name="adj" fmla="val 42000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400" dirty="0"/>
          </a:p>
        </p:txBody>
      </p:sp>
      <p:sp>
        <p:nvSpPr>
          <p:cNvPr id="22" name="判斷"/>
          <p:cNvSpPr/>
          <p:nvPr/>
        </p:nvSpPr>
        <p:spPr>
          <a:xfrm>
            <a:off x="4410334" y="4251960"/>
            <a:ext cx="1554480" cy="914400"/>
          </a:xfrm>
          <a:prstGeom prst="diamond">
            <a:avLst/>
          </a:prstGeom>
          <a:solidFill>
            <a:srgbClr val="E3E8EF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300" dirty="0"/>
          </a:p>
        </p:txBody>
      </p:sp>
      <p:sp>
        <p:nvSpPr>
          <p:cNvPr id="23" name="處理"/>
          <p:cNvSpPr/>
          <p:nvPr/>
        </p:nvSpPr>
        <p:spPr>
          <a:xfrm>
            <a:off x="6501201" y="4398264"/>
            <a:ext cx="1463040" cy="621792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400" dirty="0"/>
          </a:p>
        </p:txBody>
      </p:sp>
      <p:sp>
        <p:nvSpPr>
          <p:cNvPr id="24" name="文件"/>
          <p:cNvSpPr/>
          <p:nvPr/>
        </p:nvSpPr>
        <p:spPr>
          <a:xfrm>
            <a:off x="8500628" y="4343400"/>
            <a:ext cx="1463040" cy="731520"/>
          </a:xfrm>
          <a:prstGeom prst="flowChartDocument">
            <a:avLst/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0" rIns="381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400" dirty="0"/>
          </a:p>
        </p:txBody>
      </p:sp>
      <p:sp>
        <p:nvSpPr>
          <p:cNvPr id="25" name="開始／結束"/>
          <p:cNvSpPr/>
          <p:nvPr/>
        </p:nvSpPr>
        <p:spPr>
          <a:xfrm>
            <a:off x="10500055" y="4434840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00" dirty="0"/>
          </a:p>
        </p:txBody>
      </p:sp>
      <p:cxnSp>
        <p:nvCxnSpPr>
          <p:cNvPr id="26" name="連接線"/>
          <p:cNvCxnSpPr>
            <a:stCxn id="20" idx="3"/>
            <a:endCxn id="21" idx="5"/>
          </p:cNvCxnSpPr>
          <p:nvPr/>
        </p:nvCxnSpPr>
        <p:spPr>
          <a:xfrm>
            <a:off x="1691640" y="4709160"/>
            <a:ext cx="666963" cy="0"/>
          </a:xfrm>
          <a:prstGeom prst="straightConnector1">
            <a:avLst/>
          </a:prstGeom>
          <a:ln w="15875">
            <a:solidFill>
              <a:srgbClr val="595959"/>
            </a:solidFill>
            <a:prstDash val="sysDot"/>
            <a:tailEnd type="triangle" w="lg" len="lg"/>
          </a:ln>
        </p:spPr>
      </p:cxnSp>
      <p:cxnSp>
        <p:nvCxnSpPr>
          <p:cNvPr id="27" name="連接線"/>
          <p:cNvCxnSpPr>
            <a:stCxn id="21" idx="2"/>
            <a:endCxn id="22" idx="1"/>
          </p:cNvCxnSpPr>
          <p:nvPr/>
        </p:nvCxnSpPr>
        <p:spPr>
          <a:xfrm>
            <a:off x="3743371" y="4709160"/>
            <a:ext cx="666963" cy="0"/>
          </a:xfrm>
          <a:prstGeom prst="straightConnector1">
            <a:avLst/>
          </a:prstGeom>
          <a:ln w="15875">
            <a:solidFill>
              <a:srgbClr val="595959"/>
            </a:solidFill>
            <a:prstDash val="sysDot"/>
            <a:tailEnd type="triangle" w="lg" len="lg"/>
          </a:ln>
        </p:spPr>
      </p:cxnSp>
      <p:cxnSp>
        <p:nvCxnSpPr>
          <p:cNvPr id="28" name="連接線"/>
          <p:cNvCxnSpPr>
            <a:stCxn id="22" idx="3"/>
            <a:endCxn id="23" idx="1"/>
          </p:cNvCxnSpPr>
          <p:nvPr/>
        </p:nvCxnSpPr>
        <p:spPr>
          <a:xfrm>
            <a:off x="5964814" y="4709160"/>
            <a:ext cx="536387" cy="0"/>
          </a:xfrm>
          <a:prstGeom prst="straightConnector1">
            <a:avLst/>
          </a:prstGeom>
          <a:ln w="15875">
            <a:solidFill>
              <a:srgbClr val="595959"/>
            </a:solidFill>
            <a:prstDash val="sysDot"/>
            <a:tailEnd type="triangle" w="lg" len="lg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7964241" y="4709160"/>
            <a:ext cx="536387" cy="0"/>
          </a:xfrm>
          <a:prstGeom prst="straightConnector1">
            <a:avLst/>
          </a:prstGeom>
          <a:ln w="15875">
            <a:solidFill>
              <a:srgbClr val="595959"/>
            </a:solidFill>
            <a:prstDash val="sysDot"/>
            <a:tailEnd type="triangle" w="lg" len="lg"/>
          </a:ln>
        </p:spPr>
      </p:cxnSp>
      <p:cxnSp>
        <p:nvCxnSpPr>
          <p:cNvPr id="30" name="連接線"/>
          <p:cNvCxnSpPr>
            <a:stCxn id="24" idx="3"/>
            <a:endCxn id="25" idx="1"/>
          </p:cNvCxnSpPr>
          <p:nvPr/>
        </p:nvCxnSpPr>
        <p:spPr>
          <a:xfrm>
            <a:off x="9963668" y="4709160"/>
            <a:ext cx="536387" cy="0"/>
          </a:xfrm>
          <a:prstGeom prst="straightConnector1">
            <a:avLst/>
          </a:prstGeom>
          <a:ln w="15875">
            <a:solidFill>
              <a:srgbClr val="595959"/>
            </a:solidFill>
            <a:prstDash val="sysDot"/>
            <a:tailEnd type="triangle" w="lg" len="lg"/>
          </a:ln>
        </p:spPr>
      </p:cxnSp>
      <p:sp>
        <p:nvSpPr>
          <p:cNvPr id="31" name="Text 29"/>
          <p:cNvSpPr/>
          <p:nvPr/>
        </p:nvSpPr>
        <p:spPr>
          <a:xfrm>
            <a:off x="5983102" y="4325112"/>
            <a:ext cx="53638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1100" dirty="0"/>
          </a:p>
        </p:txBody>
      </p:sp>
      <p:sp>
        <p:nvSpPr>
          <p:cNvPr id="32" name="資料庫"/>
          <p:cNvSpPr/>
          <p:nvPr/>
        </p:nvSpPr>
        <p:spPr>
          <a:xfrm>
            <a:off x="6775521" y="5413248"/>
            <a:ext cx="914400" cy="749808"/>
          </a:xfrm>
          <a:prstGeom prst="can">
            <a:avLst>
              <a:gd name="adj" fmla="val 13000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200" dirty="0"/>
          </a:p>
        </p:txBody>
      </p:sp>
      <p:cxnSp>
        <p:nvCxnSpPr>
          <p:cNvPr id="33" name="連接線"/>
          <p:cNvCxnSpPr>
            <a:stCxn id="23" idx="2"/>
            <a:endCxn id="32" idx="0"/>
          </p:cNvCxnSpPr>
          <p:nvPr/>
        </p:nvCxnSpPr>
        <p:spPr>
          <a:xfrm>
            <a:off x="7232721" y="5020056"/>
            <a:ext cx="0" cy="393192"/>
          </a:xfrm>
          <a:prstGeom prst="straightConnector1">
            <a:avLst/>
          </a:prstGeom>
          <a:ln w="15875">
            <a:solidFill>
              <a:srgbClr val="595959"/>
            </a:solidFill>
            <a:prstDash val="sysDash"/>
            <a:headEnd type="triangle" w="lg" len="lg"/>
            <a:tailEnd type="triangle" w="lg" len="lg"/>
          </a:ln>
        </p:spPr>
      </p:cxnSp>
      <p:cxnSp>
        <p:nvCxnSpPr>
          <p:cNvPr id="34" name="連接線"/>
          <p:cNvCxnSpPr>
            <a:stCxn id="22" idx="2"/>
            <a:endCxn id="21" idx="4"/>
          </p:cNvCxnSpPr>
          <p:nvPr/>
        </p:nvCxnSpPr>
        <p:spPr>
          <a:xfrm rot="5400000" flipH="1">
            <a:off x="4046129" y="4024914"/>
            <a:ext cx="146304" cy="2136587"/>
          </a:xfrm>
          <a:prstGeom prst="bentConnector3">
            <a:avLst>
              <a:gd name="adj1" fmla="val -468750"/>
            </a:avLst>
          </a:prstGeom>
          <a:ln w="15875">
            <a:solidFill>
              <a:srgbClr val="595959"/>
            </a:solidFill>
            <a:prstDash val="sysDot"/>
            <a:tailEnd type="triangle" w="lg" len="lg"/>
          </a:ln>
        </p:spPr>
      </p:cxnSp>
      <p:sp>
        <p:nvSpPr>
          <p:cNvPr id="35" name="Text 33"/>
          <p:cNvSpPr/>
          <p:nvPr/>
        </p:nvSpPr>
        <p:spPr>
          <a:xfrm>
            <a:off x="5279014" y="5276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65760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《結構元件》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樹狀分支、十字矩陣與半透明寬欄條</a:t>
            </a:r>
            <a:endParaRPr lang="en-US" sz="1500" dirty="0"/>
          </a:p>
        </p:txBody>
      </p:sp>
      <p:sp>
        <p:nvSpPr>
          <p:cNvPr id="4" name="線條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58468"/>
            <a:ext cx="1005840" cy="45720"/>
          </a:xfrm>
          <a:prstGeom prst="rect">
            <a:avLst/>
          </a:prstGeom>
          <a:solidFill>
            <a:srgbClr val="2F4B6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300" dirty="0"/>
          </a:p>
        </p:txBody>
      </p:sp>
      <p:sp>
        <p:nvSpPr>
          <p:cNvPr id="7" name="線條"/>
          <p:cNvSpPr/>
          <p:nvPr/>
        </p:nvSpPr>
        <p:spPr>
          <a:xfrm>
            <a:off x="548640" y="2167128"/>
            <a:ext cx="52120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處理"/>
          <p:cNvSpPr/>
          <p:nvPr/>
        </p:nvSpPr>
        <p:spPr>
          <a:xfrm>
            <a:off x="548640" y="3794760"/>
            <a:ext cx="749808" cy="4572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300" dirty="0"/>
          </a:p>
        </p:txBody>
      </p:sp>
      <p:sp>
        <p:nvSpPr>
          <p:cNvPr id="9" name="處理"/>
          <p:cNvSpPr/>
          <p:nvPr/>
        </p:nvSpPr>
        <p:spPr>
          <a:xfrm>
            <a:off x="1874520" y="3063240"/>
            <a:ext cx="841248" cy="4572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1200" dirty="0"/>
          </a:p>
        </p:txBody>
      </p:sp>
      <p:sp>
        <p:nvSpPr>
          <p:cNvPr id="10" name="處理"/>
          <p:cNvSpPr/>
          <p:nvPr/>
        </p:nvSpPr>
        <p:spPr>
          <a:xfrm>
            <a:off x="1874520" y="4526280"/>
            <a:ext cx="841248" cy="4572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1200" dirty="0"/>
          </a:p>
        </p:txBody>
      </p:sp>
      <p:sp>
        <p:nvSpPr>
          <p:cNvPr id="11" name="處理"/>
          <p:cNvSpPr/>
          <p:nvPr/>
        </p:nvSpPr>
        <p:spPr>
          <a:xfrm>
            <a:off x="3291840" y="3794760"/>
            <a:ext cx="749808" cy="457200"/>
          </a:xfrm>
          <a:prstGeom prst="roundRect">
            <a:avLst>
              <a:gd name="adj" fmla="val 20000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300" dirty="0"/>
          </a:p>
        </p:txBody>
      </p:sp>
      <p:sp>
        <p:nvSpPr>
          <p:cNvPr id="12" name="處理"/>
          <p:cNvSpPr/>
          <p:nvPr/>
        </p:nvSpPr>
        <p:spPr>
          <a:xfrm>
            <a:off x="4617720" y="260604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1200" dirty="0"/>
          </a:p>
        </p:txBody>
      </p:sp>
      <p:sp>
        <p:nvSpPr>
          <p:cNvPr id="13" name="處理"/>
          <p:cNvSpPr/>
          <p:nvPr/>
        </p:nvSpPr>
        <p:spPr>
          <a:xfrm>
            <a:off x="4617720" y="379476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1200" dirty="0"/>
          </a:p>
        </p:txBody>
      </p:sp>
      <p:sp>
        <p:nvSpPr>
          <p:cNvPr id="14" name="處理"/>
          <p:cNvSpPr/>
          <p:nvPr/>
        </p:nvSpPr>
        <p:spPr>
          <a:xfrm>
            <a:off x="4617720" y="498348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1200" dirty="0"/>
          </a:p>
        </p:txBody>
      </p:sp>
      <p:sp>
        <p:nvSpPr>
          <p:cNvPr id="15" name="連接線"/>
          <p:cNvSpPr/>
          <p:nvPr/>
        </p:nvSpPr>
        <p:spPr>
          <a:xfrm>
            <a:off x="1353312" y="329184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731520"/>
                </a:moveTo>
                <a:lnTo>
                  <a:pt x="233172" y="7315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連接線"/>
          <p:cNvSpPr/>
          <p:nvPr/>
        </p:nvSpPr>
        <p:spPr>
          <a:xfrm>
            <a:off x="1353312" y="402336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0"/>
                </a:moveTo>
                <a:lnTo>
                  <a:pt x="233172" y="0"/>
                </a:lnTo>
                <a:lnTo>
                  <a:pt x="233172" y="731520"/>
                </a:lnTo>
                <a:lnTo>
                  <a:pt x="466344" y="731520"/>
                </a:ln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2770632" y="329184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0"/>
                </a:moveTo>
                <a:lnTo>
                  <a:pt x="233172" y="0"/>
                </a:lnTo>
                <a:lnTo>
                  <a:pt x="233172" y="731520"/>
                </a:lnTo>
                <a:lnTo>
                  <a:pt x="466344" y="731520"/>
                </a:ln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2770632" y="402336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731520"/>
                </a:moveTo>
                <a:lnTo>
                  <a:pt x="233172" y="7315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連接線"/>
          <p:cNvSpPr/>
          <p:nvPr/>
        </p:nvSpPr>
        <p:spPr>
          <a:xfrm>
            <a:off x="4096512" y="2834640"/>
            <a:ext cx="466344" cy="1188720"/>
          </a:xfrm>
          <a:custGeom>
            <a:avLst/>
            <a:gdLst/>
            <a:ahLst/>
            <a:cxnLst/>
            <a:rect l="l" t="t" r="r" b="b"/>
            <a:pathLst>
              <a:path w="466344" h="1188720">
                <a:moveTo>
                  <a:pt x="0" y="1188720"/>
                </a:moveTo>
                <a:lnTo>
                  <a:pt x="233172" y="11887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線條"/>
          <p:cNvSpPr/>
          <p:nvPr/>
        </p:nvSpPr>
        <p:spPr>
          <a:xfrm>
            <a:off x="4096512" y="4023360"/>
            <a:ext cx="466344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</p:sp>
      <p:sp>
        <p:nvSpPr>
          <p:cNvPr id="21" name="連接線"/>
          <p:cNvSpPr/>
          <p:nvPr/>
        </p:nvSpPr>
        <p:spPr>
          <a:xfrm>
            <a:off x="4096512" y="4023360"/>
            <a:ext cx="466344" cy="1188720"/>
          </a:xfrm>
          <a:custGeom>
            <a:avLst/>
            <a:gdLst/>
            <a:ahLst/>
            <a:cxnLst/>
            <a:rect l="l" t="t" r="r" b="b"/>
            <a:pathLst>
              <a:path w="466344" h="1188720">
                <a:moveTo>
                  <a:pt x="0" y="0"/>
                </a:moveTo>
                <a:lnTo>
                  <a:pt x="233172" y="0"/>
                </a:lnTo>
                <a:lnTo>
                  <a:pt x="233172" y="1188720"/>
                </a:lnTo>
                <a:lnTo>
                  <a:pt x="466344" y="1188720"/>
                </a:ln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72200" y="1783080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300" dirty="0"/>
          </a:p>
        </p:txBody>
      </p:sp>
      <p:sp>
        <p:nvSpPr>
          <p:cNvPr id="23" name="線條"/>
          <p:cNvSpPr/>
          <p:nvPr/>
        </p:nvSpPr>
        <p:spPr>
          <a:xfrm>
            <a:off x="6172200" y="2167128"/>
            <a:ext cx="26974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4" name="線條"/>
          <p:cNvSpPr/>
          <p:nvPr/>
        </p:nvSpPr>
        <p:spPr>
          <a:xfrm>
            <a:off x="6556248" y="4023360"/>
            <a:ext cx="192938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5" name="線條"/>
          <p:cNvSpPr/>
          <p:nvPr/>
        </p:nvSpPr>
        <p:spPr>
          <a:xfrm>
            <a:off x="7520940" y="2697480"/>
            <a:ext cx="0" cy="265176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6" name="中心圓"/>
          <p:cNvSpPr/>
          <p:nvPr/>
        </p:nvSpPr>
        <p:spPr>
          <a:xfrm>
            <a:off x="7100316" y="3602736"/>
            <a:ext cx="841248" cy="841248"/>
          </a:xfrm>
          <a:prstGeom prst="ellipse">
            <a:avLst/>
          </a:prstGeom>
          <a:solidFill>
            <a:srgbClr val="2F4B6E"/>
          </a:solidFill>
          <a:ln w="25400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1200" dirty="0"/>
          </a:p>
        </p:txBody>
      </p:sp>
      <p:sp>
        <p:nvSpPr>
          <p:cNvPr id="27" name="標籤"/>
          <p:cNvSpPr/>
          <p:nvPr/>
        </p:nvSpPr>
        <p:spPr>
          <a:xfrm>
            <a:off x="6549136" y="3227832"/>
            <a:ext cx="517144" cy="2743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1100" dirty="0"/>
          </a:p>
        </p:txBody>
      </p:sp>
      <p:sp>
        <p:nvSpPr>
          <p:cNvPr id="28" name="標籤"/>
          <p:cNvSpPr/>
          <p:nvPr/>
        </p:nvSpPr>
        <p:spPr>
          <a:xfrm>
            <a:off x="7975600" y="3227832"/>
            <a:ext cx="517144" cy="27432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1100" dirty="0"/>
          </a:p>
        </p:txBody>
      </p:sp>
      <p:sp>
        <p:nvSpPr>
          <p:cNvPr id="29" name="標籤"/>
          <p:cNvSpPr/>
          <p:nvPr/>
        </p:nvSpPr>
        <p:spPr>
          <a:xfrm>
            <a:off x="6549136" y="4544568"/>
            <a:ext cx="517144" cy="2743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1100" dirty="0"/>
          </a:p>
        </p:txBody>
      </p:sp>
      <p:sp>
        <p:nvSpPr>
          <p:cNvPr id="30" name="標籤"/>
          <p:cNvSpPr/>
          <p:nvPr/>
        </p:nvSpPr>
        <p:spPr>
          <a:xfrm>
            <a:off x="7975600" y="4544568"/>
            <a:ext cx="517144" cy="2743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72300" y="23774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72300" y="53949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38862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38862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235440" y="1783080"/>
            <a:ext cx="240761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300" dirty="0"/>
          </a:p>
        </p:txBody>
      </p:sp>
      <p:sp>
        <p:nvSpPr>
          <p:cNvPr id="36" name="線條"/>
          <p:cNvSpPr/>
          <p:nvPr/>
        </p:nvSpPr>
        <p:spPr>
          <a:xfrm>
            <a:off x="9235440" y="2167128"/>
            <a:ext cx="24076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66960" y="2286000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744200" y="2286000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100" dirty="0"/>
          </a:p>
        </p:txBody>
      </p:sp>
      <p:sp>
        <p:nvSpPr>
          <p:cNvPr id="39" name="寬欄條"/>
          <p:cNvSpPr/>
          <p:nvPr/>
        </p:nvSpPr>
        <p:spPr>
          <a:xfrm>
            <a:off x="10149840" y="2606040"/>
            <a:ext cx="566928" cy="3108960"/>
          </a:xfrm>
          <a:prstGeom prst="roundRect">
            <a:avLst>
              <a:gd name="adj" fmla="val 16129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寬欄條"/>
          <p:cNvSpPr/>
          <p:nvPr/>
        </p:nvSpPr>
        <p:spPr>
          <a:xfrm>
            <a:off x="10927080" y="2606040"/>
            <a:ext cx="566928" cy="3108960"/>
          </a:xfrm>
          <a:prstGeom prst="roundRect">
            <a:avLst>
              <a:gd name="adj" fmla="val 16129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9235440" y="3044952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1100" dirty="0"/>
          </a:p>
        </p:txBody>
      </p:sp>
      <p:sp>
        <p:nvSpPr>
          <p:cNvPr id="42" name="編號"/>
          <p:cNvSpPr/>
          <p:nvPr/>
        </p:nvSpPr>
        <p:spPr>
          <a:xfrm>
            <a:off x="10170414" y="3057388"/>
            <a:ext cx="525780" cy="286024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000" dirty="0"/>
          </a:p>
        </p:txBody>
      </p:sp>
      <p:sp>
        <p:nvSpPr>
          <p:cNvPr id="43" name="編號"/>
          <p:cNvSpPr/>
          <p:nvPr/>
        </p:nvSpPr>
        <p:spPr>
          <a:xfrm>
            <a:off x="10947654" y="3057388"/>
            <a:ext cx="525780" cy="286024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235440" y="4005072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1100" dirty="0"/>
          </a:p>
        </p:txBody>
      </p:sp>
      <p:sp>
        <p:nvSpPr>
          <p:cNvPr id="45" name="編號"/>
          <p:cNvSpPr/>
          <p:nvPr/>
        </p:nvSpPr>
        <p:spPr>
          <a:xfrm>
            <a:off x="10170414" y="4017508"/>
            <a:ext cx="525780" cy="286024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000" dirty="0"/>
          </a:p>
        </p:txBody>
      </p:sp>
      <p:sp>
        <p:nvSpPr>
          <p:cNvPr id="46" name="編號"/>
          <p:cNvSpPr/>
          <p:nvPr/>
        </p:nvSpPr>
        <p:spPr>
          <a:xfrm>
            <a:off x="10947654" y="4017508"/>
            <a:ext cx="525780" cy="286024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235440" y="4965192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1100" dirty="0"/>
          </a:p>
        </p:txBody>
      </p:sp>
      <p:sp>
        <p:nvSpPr>
          <p:cNvPr id="48" name="編號"/>
          <p:cNvSpPr/>
          <p:nvPr/>
        </p:nvSpPr>
        <p:spPr>
          <a:xfrm>
            <a:off x="10170414" y="4977628"/>
            <a:ext cx="525780" cy="286024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000" dirty="0"/>
          </a:p>
        </p:txBody>
      </p:sp>
      <p:sp>
        <p:nvSpPr>
          <p:cNvPr id="49" name="編號"/>
          <p:cNvSpPr/>
          <p:nvPr/>
        </p:nvSpPr>
        <p:spPr>
          <a:xfrm>
            <a:off x="10947654" y="4977628"/>
            <a:ext cx="525780" cy="286024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65760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《高效溝通：讓想法被看見》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關鍵在於把資訊整理成對方能理解的結構</a:t>
            </a:r>
            <a:endParaRPr lang="en-US" sz="1500" dirty="0"/>
          </a:p>
        </p:txBody>
      </p:sp>
      <p:sp>
        <p:nvSpPr>
          <p:cNvPr id="4" name="線條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58468"/>
            <a:ext cx="1005840" cy="45720"/>
          </a:xfrm>
          <a:prstGeom prst="rect">
            <a:avLst/>
          </a:prstGeom>
          <a:solidFill>
            <a:srgbClr val="2F4B6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光暈大圓"/>
          <p:cNvSpPr/>
          <p:nvPr/>
        </p:nvSpPr>
        <p:spPr>
          <a:xfrm>
            <a:off x="1208989" y="1828800"/>
            <a:ext cx="2377440" cy="2377440"/>
          </a:xfrm>
          <a:prstGeom prst="ellipse">
            <a:avLst/>
          </a:prstGeom>
          <a:solidFill>
            <a:srgbClr val="F2F2F2"/>
          </a:solidFill>
          <a:ln>
            <a:noFill/>
          </a:ln>
          <a:effectLst>
            <a:outerShdw blurRad="203200" dist="2540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08989" y="2137867"/>
            <a:ext cx="2377440" cy="7370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446733" y="2898648"/>
            <a:ext cx="1901952" cy="6656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500" dirty="0"/>
          </a:p>
        </p:txBody>
      </p:sp>
      <p:sp>
        <p:nvSpPr>
          <p:cNvPr id="9" name="光暈大圓"/>
          <p:cNvSpPr/>
          <p:nvPr/>
        </p:nvSpPr>
        <p:spPr>
          <a:xfrm>
            <a:off x="4907128" y="1828800"/>
            <a:ext cx="2377440" cy="2377440"/>
          </a:xfrm>
          <a:prstGeom prst="ellipse">
            <a:avLst/>
          </a:prstGeom>
          <a:solidFill>
            <a:srgbClr val="F2F2F2"/>
          </a:solidFill>
          <a:ln>
            <a:noFill/>
          </a:ln>
          <a:effectLst>
            <a:outerShdw blurRad="203200" dist="2540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07128" y="2137867"/>
            <a:ext cx="2377440" cy="7370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5144872" y="2898648"/>
            <a:ext cx="1901952" cy="6656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500" dirty="0"/>
          </a:p>
        </p:txBody>
      </p:sp>
      <p:sp>
        <p:nvSpPr>
          <p:cNvPr id="12" name="光暈大圓"/>
          <p:cNvSpPr/>
          <p:nvPr/>
        </p:nvSpPr>
        <p:spPr>
          <a:xfrm>
            <a:off x="8605266" y="1828800"/>
            <a:ext cx="2377440" cy="2377440"/>
          </a:xfrm>
          <a:prstGeom prst="ellipse">
            <a:avLst/>
          </a:prstGeom>
          <a:solidFill>
            <a:srgbClr val="F2F2F2"/>
          </a:solidFill>
          <a:ln>
            <a:noFill/>
          </a:ln>
          <a:effectLst>
            <a:outerShdw blurRad="203200" dist="2540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605266" y="2137867"/>
            <a:ext cx="2377440" cy="7370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8843010" y="2898648"/>
            <a:ext cx="1901952" cy="6656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500" dirty="0"/>
          </a:p>
        </p:txBody>
      </p:sp>
      <p:sp>
        <p:nvSpPr>
          <p:cNvPr id="15" name="三角形"/>
          <p:cNvSpPr/>
          <p:nvPr/>
        </p:nvSpPr>
        <p:spPr>
          <a:xfrm>
            <a:off x="4164482" y="2907792"/>
            <a:ext cx="164592" cy="219456"/>
          </a:xfrm>
          <a:custGeom>
            <a:avLst/>
            <a:gdLst/>
            <a:ahLst/>
            <a:cxnLst/>
            <a:rect l="l" t="t" r="r" b="b"/>
            <a:pathLst>
              <a:path w="164592" h="219456">
                <a:moveTo>
                  <a:pt x="0" y="0"/>
                </a:moveTo>
                <a:lnTo>
                  <a:pt x="164592" y="109728"/>
                </a:lnTo>
                <a:lnTo>
                  <a:pt x="0" y="219456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三角形"/>
          <p:cNvSpPr/>
          <p:nvPr/>
        </p:nvSpPr>
        <p:spPr>
          <a:xfrm>
            <a:off x="7862621" y="2907792"/>
            <a:ext cx="164592" cy="219456"/>
          </a:xfrm>
          <a:custGeom>
            <a:avLst/>
            <a:gdLst/>
            <a:ahLst/>
            <a:cxnLst/>
            <a:rect l="l" t="t" r="r" b="b"/>
            <a:pathLst>
              <a:path w="164592" h="219456">
                <a:moveTo>
                  <a:pt x="0" y="0"/>
                </a:moveTo>
                <a:lnTo>
                  <a:pt x="164592" y="109728"/>
                </a:lnTo>
                <a:lnTo>
                  <a:pt x="0" y="219456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小圓"/>
          <p:cNvSpPr/>
          <p:nvPr/>
        </p:nvSpPr>
        <p:spPr>
          <a:xfrm>
            <a:off x="4780734" y="3367150"/>
            <a:ext cx="731520" cy="731520"/>
          </a:xfrm>
          <a:prstGeom prst="ellipse">
            <a:avLst/>
          </a:prstGeom>
          <a:solidFill>
            <a:srgbClr val="2F4B6E"/>
          </a:solidFill>
          <a:ln w="31750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600" dirty="0"/>
          </a:p>
        </p:txBody>
      </p:sp>
      <p:sp>
        <p:nvSpPr>
          <p:cNvPr id="18" name="小圓"/>
          <p:cNvSpPr/>
          <p:nvPr/>
        </p:nvSpPr>
        <p:spPr>
          <a:xfrm>
            <a:off x="5730088" y="3840480"/>
            <a:ext cx="731520" cy="731520"/>
          </a:xfrm>
          <a:prstGeom prst="ellipse">
            <a:avLst/>
          </a:prstGeom>
          <a:solidFill>
            <a:srgbClr val="2F4B6E"/>
          </a:solidFill>
          <a:ln w="31750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600" dirty="0"/>
          </a:p>
        </p:txBody>
      </p:sp>
      <p:sp>
        <p:nvSpPr>
          <p:cNvPr id="19" name="小圓"/>
          <p:cNvSpPr/>
          <p:nvPr/>
        </p:nvSpPr>
        <p:spPr>
          <a:xfrm>
            <a:off x="6679442" y="3367150"/>
            <a:ext cx="731520" cy="731520"/>
          </a:xfrm>
          <a:prstGeom prst="ellipse">
            <a:avLst/>
          </a:prstGeom>
          <a:solidFill>
            <a:srgbClr val="2F4B6E"/>
          </a:solidFill>
          <a:ln w="31750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62446" y="4709160"/>
            <a:ext cx="8686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711800" y="4709160"/>
            <a:ext cx="8686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61154" y="4709160"/>
            <a:ext cx="8686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1150" dirty="0"/>
          </a:p>
        </p:txBody>
      </p:sp>
      <p:sp>
        <p:nvSpPr>
          <p:cNvPr id="23" name="標籤"/>
          <p:cNvSpPr/>
          <p:nvPr/>
        </p:nvSpPr>
        <p:spPr>
          <a:xfrm>
            <a:off x="1346149" y="45720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300" dirty="0"/>
          </a:p>
        </p:txBody>
      </p:sp>
      <p:sp>
        <p:nvSpPr>
          <p:cNvPr id="24" name="標籤"/>
          <p:cNvSpPr/>
          <p:nvPr/>
        </p:nvSpPr>
        <p:spPr>
          <a:xfrm>
            <a:off x="1346149" y="50749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300" dirty="0"/>
          </a:p>
        </p:txBody>
      </p:sp>
      <p:sp>
        <p:nvSpPr>
          <p:cNvPr id="25" name="標籤"/>
          <p:cNvSpPr/>
          <p:nvPr/>
        </p:nvSpPr>
        <p:spPr>
          <a:xfrm>
            <a:off x="1346149" y="55778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300" dirty="0"/>
          </a:p>
        </p:txBody>
      </p:sp>
      <p:sp>
        <p:nvSpPr>
          <p:cNvPr id="26" name="標籤"/>
          <p:cNvSpPr/>
          <p:nvPr/>
        </p:nvSpPr>
        <p:spPr>
          <a:xfrm>
            <a:off x="8742426" y="45720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300" dirty="0"/>
          </a:p>
        </p:txBody>
      </p:sp>
      <p:sp>
        <p:nvSpPr>
          <p:cNvPr id="27" name="標籤"/>
          <p:cNvSpPr/>
          <p:nvPr/>
        </p:nvSpPr>
        <p:spPr>
          <a:xfrm>
            <a:off x="8742426" y="50749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300" dirty="0"/>
          </a:p>
        </p:txBody>
      </p:sp>
      <p:sp>
        <p:nvSpPr>
          <p:cNvPr id="28" name="標籤"/>
          <p:cNvSpPr/>
          <p:nvPr/>
        </p:nvSpPr>
        <p:spPr>
          <a:xfrm>
            <a:off x="8742426" y="55778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016752"/>
            <a:ext cx="110944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65760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《策略規劃框架地圖》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從現況、課題到行動方案的思考路徑</a:t>
            </a:r>
            <a:endParaRPr lang="en-US" sz="1500" dirty="0"/>
          </a:p>
        </p:txBody>
      </p:sp>
      <p:sp>
        <p:nvSpPr>
          <p:cNvPr id="4" name="線條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58468"/>
            <a:ext cx="1005840" cy="45720"/>
          </a:xfrm>
          <a:prstGeom prst="rect">
            <a:avLst/>
          </a:prstGeom>
          <a:solidFill>
            <a:srgbClr val="2F4B6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548640" y="3931920"/>
            <a:ext cx="1882384" cy="841248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1882384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</a:t>
            </a:r>
            <a:endParaRPr lang="en-US" sz="1400" dirty="0"/>
          </a:p>
        </p:txBody>
      </p:sp>
      <p:sp>
        <p:nvSpPr>
          <p:cNvPr id="8" name="三角形"/>
          <p:cNvSpPr/>
          <p:nvPr/>
        </p:nvSpPr>
        <p:spPr>
          <a:xfrm>
            <a:off x="2572756" y="426110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卡片"/>
          <p:cNvSpPr/>
          <p:nvPr/>
        </p:nvSpPr>
        <p:spPr>
          <a:xfrm>
            <a:off x="2851648" y="3931920"/>
            <a:ext cx="1882384" cy="841248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51648" y="3931920"/>
            <a:ext cx="1882384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</a:t>
            </a:r>
            <a:endParaRPr lang="en-US" sz="1400" dirty="0"/>
          </a:p>
        </p:txBody>
      </p:sp>
      <p:sp>
        <p:nvSpPr>
          <p:cNvPr id="11" name="三角形"/>
          <p:cNvSpPr/>
          <p:nvPr/>
        </p:nvSpPr>
        <p:spPr>
          <a:xfrm>
            <a:off x="4875764" y="426110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重點卡片"/>
          <p:cNvSpPr/>
          <p:nvPr/>
        </p:nvSpPr>
        <p:spPr>
          <a:xfrm>
            <a:off x="5154656" y="3931920"/>
            <a:ext cx="1882384" cy="841248"/>
          </a:xfrm>
          <a:prstGeom prst="roundRect">
            <a:avLst>
              <a:gd name="adj" fmla="val 10870"/>
            </a:avLst>
          </a:prstGeom>
          <a:solidFill>
            <a:srgbClr val="2F4B6E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C1C9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3" name="三角形"/>
          <p:cNvSpPr/>
          <p:nvPr/>
        </p:nvSpPr>
        <p:spPr>
          <a:xfrm>
            <a:off x="7178772" y="426110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卡片"/>
          <p:cNvSpPr/>
          <p:nvPr/>
        </p:nvSpPr>
        <p:spPr>
          <a:xfrm>
            <a:off x="7457664" y="3931920"/>
            <a:ext cx="1882384" cy="841248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57664" y="3931920"/>
            <a:ext cx="1882384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</a:t>
            </a:r>
            <a:endParaRPr lang="en-US" sz="1400" dirty="0"/>
          </a:p>
        </p:txBody>
      </p:sp>
      <p:sp>
        <p:nvSpPr>
          <p:cNvPr id="16" name="三角形"/>
          <p:cNvSpPr/>
          <p:nvPr/>
        </p:nvSpPr>
        <p:spPr>
          <a:xfrm>
            <a:off x="9481779" y="426110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卡片"/>
          <p:cNvSpPr/>
          <p:nvPr/>
        </p:nvSpPr>
        <p:spPr>
          <a:xfrm>
            <a:off x="9760671" y="3931920"/>
            <a:ext cx="1882384" cy="841248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760671" y="3931920"/>
            <a:ext cx="1882384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Tactic</a:t>
            </a:r>
            <a:endParaRPr lang="en-US" sz="1400" dirty="0"/>
          </a:p>
        </p:txBody>
      </p:sp>
      <p:sp>
        <p:nvSpPr>
          <p:cNvPr id="19" name="卡片"/>
          <p:cNvSpPr/>
          <p:nvPr/>
        </p:nvSpPr>
        <p:spPr>
          <a:xfrm>
            <a:off x="5154656" y="1828800"/>
            <a:ext cx="1882384" cy="82296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54656" y="1828800"/>
            <a:ext cx="188238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21" name="卡片"/>
          <p:cNvSpPr/>
          <p:nvPr/>
        </p:nvSpPr>
        <p:spPr>
          <a:xfrm>
            <a:off x="2668768" y="2788920"/>
            <a:ext cx="1543555" cy="658368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68768" y="2788920"/>
            <a:ext cx="1543555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</a:t>
            </a:r>
            <a:endParaRPr lang="en-US" sz="1400" dirty="0"/>
          </a:p>
        </p:txBody>
      </p:sp>
      <p:sp>
        <p:nvSpPr>
          <p:cNvPr id="23" name="卡片"/>
          <p:cNvSpPr/>
          <p:nvPr/>
        </p:nvSpPr>
        <p:spPr>
          <a:xfrm>
            <a:off x="7979373" y="2788920"/>
            <a:ext cx="1543555" cy="658368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979373" y="2788920"/>
            <a:ext cx="1543555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25" name="曲線箭頭"/>
          <p:cNvSpPr/>
          <p:nvPr/>
        </p:nvSpPr>
        <p:spPr>
          <a:xfrm>
            <a:off x="3440545" y="2240280"/>
            <a:ext cx="1640958" cy="493776"/>
          </a:xfrm>
          <a:custGeom>
            <a:avLst/>
            <a:gdLst/>
            <a:ahLst/>
            <a:cxnLst/>
            <a:rect l="l" t="t" r="r" b="b"/>
            <a:pathLst>
              <a:path w="1640958" h="493776">
                <a:moveTo>
                  <a:pt x="0" y="493776"/>
                </a:moveTo>
                <a:cubicBezTo>
                  <a:pt x="0" y="0"/>
                  <a:pt x="274320" y="0"/>
                  <a:pt x="1640958" y="0"/>
                </a:cubicBez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曲線箭頭"/>
          <p:cNvSpPr/>
          <p:nvPr/>
        </p:nvSpPr>
        <p:spPr>
          <a:xfrm>
            <a:off x="7110192" y="2240280"/>
            <a:ext cx="1640958" cy="493776"/>
          </a:xfrm>
          <a:custGeom>
            <a:avLst/>
            <a:gdLst/>
            <a:ahLst/>
            <a:cxnLst/>
            <a:rect l="l" t="t" r="r" b="b"/>
            <a:pathLst>
              <a:path w="1640958" h="493776">
                <a:moveTo>
                  <a:pt x="0" y="0"/>
                </a:moveTo>
                <a:cubicBezTo>
                  <a:pt x="1366638" y="0"/>
                  <a:pt x="1640958" y="0"/>
                  <a:pt x="1640958" y="493776"/>
                </a:cubicBez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4285475" y="3118104"/>
            <a:ext cx="3620746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ysDash"/>
            <a:headEnd type="triangle" w="lg" len="lg"/>
            <a:tailEnd type="triangle" w="lg" len="lg"/>
          </a:ln>
        </p:spPr>
      </p:sp>
      <p:sp>
        <p:nvSpPr>
          <p:cNvPr id="28" name="編號"/>
          <p:cNvSpPr/>
          <p:nvPr/>
        </p:nvSpPr>
        <p:spPr>
          <a:xfrm>
            <a:off x="555498" y="1915119"/>
            <a:ext cx="388620" cy="21140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900" dirty="0"/>
          </a:p>
        </p:txBody>
      </p:sp>
      <p:sp>
        <p:nvSpPr>
          <p:cNvPr id="29" name="編號"/>
          <p:cNvSpPr/>
          <p:nvPr/>
        </p:nvSpPr>
        <p:spPr>
          <a:xfrm>
            <a:off x="1021842" y="1915119"/>
            <a:ext cx="388620" cy="21140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900" dirty="0"/>
          </a:p>
        </p:txBody>
      </p:sp>
      <p:sp>
        <p:nvSpPr>
          <p:cNvPr id="30" name="標籤"/>
          <p:cNvSpPr/>
          <p:nvPr/>
        </p:nvSpPr>
        <p:spPr>
          <a:xfrm>
            <a:off x="1508760" y="1874520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100" dirty="0"/>
          </a:p>
        </p:txBody>
      </p:sp>
      <p:sp>
        <p:nvSpPr>
          <p:cNvPr id="31" name="編號"/>
          <p:cNvSpPr/>
          <p:nvPr/>
        </p:nvSpPr>
        <p:spPr>
          <a:xfrm>
            <a:off x="555498" y="2372319"/>
            <a:ext cx="388620" cy="21140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編號"/>
          <p:cNvSpPr/>
          <p:nvPr/>
        </p:nvSpPr>
        <p:spPr>
          <a:xfrm>
            <a:off x="1021842" y="2372319"/>
            <a:ext cx="388620" cy="21140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標籤"/>
          <p:cNvSpPr/>
          <p:nvPr/>
        </p:nvSpPr>
        <p:spPr>
          <a:xfrm>
            <a:off x="1508760" y="2331720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100" dirty="0"/>
          </a:p>
        </p:txBody>
      </p:sp>
      <p:sp>
        <p:nvSpPr>
          <p:cNvPr id="34" name="編號"/>
          <p:cNvSpPr/>
          <p:nvPr/>
        </p:nvSpPr>
        <p:spPr>
          <a:xfrm>
            <a:off x="9676089" y="1915119"/>
            <a:ext cx="388620" cy="21140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900" dirty="0"/>
          </a:p>
        </p:txBody>
      </p:sp>
      <p:sp>
        <p:nvSpPr>
          <p:cNvPr id="35" name="編號"/>
          <p:cNvSpPr/>
          <p:nvPr/>
        </p:nvSpPr>
        <p:spPr>
          <a:xfrm>
            <a:off x="10142433" y="1915119"/>
            <a:ext cx="388620" cy="21140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900" dirty="0"/>
          </a:p>
        </p:txBody>
      </p:sp>
      <p:sp>
        <p:nvSpPr>
          <p:cNvPr id="36" name="標籤"/>
          <p:cNvSpPr/>
          <p:nvPr/>
        </p:nvSpPr>
        <p:spPr>
          <a:xfrm>
            <a:off x="10629351" y="1874520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1100" dirty="0"/>
          </a:p>
        </p:txBody>
      </p:sp>
      <p:sp>
        <p:nvSpPr>
          <p:cNvPr id="37" name="編號"/>
          <p:cNvSpPr/>
          <p:nvPr/>
        </p:nvSpPr>
        <p:spPr>
          <a:xfrm>
            <a:off x="9676089" y="2372319"/>
            <a:ext cx="388620" cy="21140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900" dirty="0"/>
          </a:p>
        </p:txBody>
      </p:sp>
      <p:sp>
        <p:nvSpPr>
          <p:cNvPr id="38" name="編號"/>
          <p:cNvSpPr/>
          <p:nvPr/>
        </p:nvSpPr>
        <p:spPr>
          <a:xfrm>
            <a:off x="10142433" y="2372319"/>
            <a:ext cx="388620" cy="21140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900" dirty="0"/>
          </a:p>
        </p:txBody>
      </p:sp>
      <p:sp>
        <p:nvSpPr>
          <p:cNvPr id="39" name="標籤"/>
          <p:cNvSpPr/>
          <p:nvPr/>
        </p:nvSpPr>
        <p:spPr>
          <a:xfrm>
            <a:off x="10629351" y="2331720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1100" dirty="0"/>
          </a:p>
        </p:txBody>
      </p:sp>
      <p:sp>
        <p:nvSpPr>
          <p:cNvPr id="40" name="卡片"/>
          <p:cNvSpPr/>
          <p:nvPr/>
        </p:nvSpPr>
        <p:spPr>
          <a:xfrm>
            <a:off x="548640" y="507492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48640" y="50749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11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Organization</a:t>
            </a:r>
            <a:endParaRPr lang="en-US" sz="1400" dirty="0"/>
          </a:p>
        </p:txBody>
      </p:sp>
      <p:sp>
        <p:nvSpPr>
          <p:cNvPr id="42" name="編號"/>
          <p:cNvSpPr/>
          <p:nvPr/>
        </p:nvSpPr>
        <p:spPr>
          <a:xfrm>
            <a:off x="1059945" y="5865327"/>
            <a:ext cx="388620" cy="21140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900" dirty="0"/>
          </a:p>
        </p:txBody>
      </p:sp>
      <p:sp>
        <p:nvSpPr>
          <p:cNvPr id="43" name="編號"/>
          <p:cNvSpPr/>
          <p:nvPr/>
        </p:nvSpPr>
        <p:spPr>
          <a:xfrm>
            <a:off x="1526289" y="5865327"/>
            <a:ext cx="388620" cy="21140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  <p:sp>
        <p:nvSpPr>
          <p:cNvPr id="44" name="標籤"/>
          <p:cNvSpPr/>
          <p:nvPr/>
        </p:nvSpPr>
        <p:spPr>
          <a:xfrm>
            <a:off x="2013207" y="5824728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1100" dirty="0"/>
          </a:p>
        </p:txBody>
      </p:sp>
      <p:sp>
        <p:nvSpPr>
          <p:cNvPr id="45" name="編號"/>
          <p:cNvSpPr/>
          <p:nvPr/>
        </p:nvSpPr>
        <p:spPr>
          <a:xfrm>
            <a:off x="3833548" y="5865327"/>
            <a:ext cx="388620" cy="21140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  <p:sp>
        <p:nvSpPr>
          <p:cNvPr id="46" name="編號"/>
          <p:cNvSpPr/>
          <p:nvPr/>
        </p:nvSpPr>
        <p:spPr>
          <a:xfrm>
            <a:off x="4299892" y="5865327"/>
            <a:ext cx="388620" cy="21140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  <p:sp>
        <p:nvSpPr>
          <p:cNvPr id="47" name="標籤"/>
          <p:cNvSpPr/>
          <p:nvPr/>
        </p:nvSpPr>
        <p:spPr>
          <a:xfrm>
            <a:off x="4786810" y="5824728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1100" dirty="0"/>
          </a:p>
        </p:txBody>
      </p:sp>
      <p:sp>
        <p:nvSpPr>
          <p:cNvPr id="48" name="編號"/>
          <p:cNvSpPr/>
          <p:nvPr/>
        </p:nvSpPr>
        <p:spPr>
          <a:xfrm>
            <a:off x="6840324" y="5865327"/>
            <a:ext cx="388620" cy="21140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  <p:sp>
        <p:nvSpPr>
          <p:cNvPr id="49" name="標籤"/>
          <p:cNvSpPr/>
          <p:nvPr/>
        </p:nvSpPr>
        <p:spPr>
          <a:xfrm>
            <a:off x="7327242" y="5824728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1100" dirty="0"/>
          </a:p>
        </p:txBody>
      </p:sp>
      <p:sp>
        <p:nvSpPr>
          <p:cNvPr id="50" name="編號"/>
          <p:cNvSpPr/>
          <p:nvPr/>
        </p:nvSpPr>
        <p:spPr>
          <a:xfrm>
            <a:off x="9380756" y="5865327"/>
            <a:ext cx="388620" cy="21140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  <p:sp>
        <p:nvSpPr>
          <p:cNvPr id="51" name="編號"/>
          <p:cNvSpPr/>
          <p:nvPr/>
        </p:nvSpPr>
        <p:spPr>
          <a:xfrm>
            <a:off x="9847100" y="5865327"/>
            <a:ext cx="388620" cy="21140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  <p:sp>
        <p:nvSpPr>
          <p:cNvPr id="52" name="標籤"/>
          <p:cNvSpPr/>
          <p:nvPr/>
        </p:nvSpPr>
        <p:spPr>
          <a:xfrm>
            <a:off x="10334018" y="5824728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65760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《能力成長地圖》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從個人特質到可遷移能力的三階段路徑</a:t>
            </a:r>
            <a:endParaRPr lang="en-US" sz="1500" dirty="0"/>
          </a:p>
        </p:txBody>
      </p:sp>
      <p:sp>
        <p:nvSpPr>
          <p:cNvPr id="4" name="線條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58468"/>
            <a:ext cx="1005840" cy="45720"/>
          </a:xfrm>
          <a:prstGeom prst="rect">
            <a:avLst/>
          </a:prstGeom>
          <a:solidFill>
            <a:srgbClr val="2F4B6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5737860" y="2331720"/>
            <a:ext cx="356616" cy="3361700"/>
          </a:xfrm>
          <a:prstGeom prst="rect">
            <a:avLst/>
          </a:prstGeom>
          <a:solidFill>
            <a:srgbClr val="2F4B6E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5737860" y="2890479"/>
            <a:ext cx="356616" cy="2802941"/>
          </a:xfrm>
          <a:prstGeom prst="rect">
            <a:avLst/>
          </a:prstGeom>
          <a:solidFill>
            <a:srgbClr val="2F4B6E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5737860" y="3449239"/>
            <a:ext cx="356616" cy="2244181"/>
          </a:xfrm>
          <a:prstGeom prst="rect">
            <a:avLst/>
          </a:prstGeom>
          <a:solidFill>
            <a:srgbClr val="2F4B6E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5737860" y="4007998"/>
            <a:ext cx="356616" cy="1685422"/>
          </a:xfrm>
          <a:prstGeom prst="rect">
            <a:avLst/>
          </a:prstGeom>
          <a:solidFill>
            <a:srgbClr val="2F4B6E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5737860" y="4566757"/>
            <a:ext cx="356616" cy="1126663"/>
          </a:xfrm>
          <a:prstGeom prst="rect">
            <a:avLst/>
          </a:prstGeom>
          <a:solidFill>
            <a:srgbClr val="2F4B6E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5737860" y="5125517"/>
            <a:ext cx="356616" cy="567903"/>
          </a:xfrm>
          <a:prstGeom prst="rect">
            <a:avLst/>
          </a:prstGeom>
          <a:solidFill>
            <a:srgbClr val="2F4B6E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漸隱箭頭"/>
          <p:cNvSpPr/>
          <p:nvPr/>
        </p:nvSpPr>
        <p:spPr>
          <a:xfrm>
            <a:off x="5559552" y="5684276"/>
            <a:ext cx="713232" cy="442204"/>
          </a:xfrm>
          <a:custGeom>
            <a:avLst/>
            <a:gdLst/>
            <a:ahLst/>
            <a:cxnLst/>
            <a:rect l="l" t="t" r="r" b="b"/>
            <a:pathLst>
              <a:path w="713232" h="442204">
                <a:moveTo>
                  <a:pt x="0" y="0"/>
                </a:moveTo>
                <a:lnTo>
                  <a:pt x="713232" y="0"/>
                </a:lnTo>
                <a:lnTo>
                  <a:pt x="356616" y="442204"/>
                </a:lnTo>
                <a:close/>
              </a:path>
            </a:pathLst>
          </a:custGeom>
          <a:solidFill>
            <a:srgbClr val="2F4B6E">
              <a:alpha val="54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82512" y="576072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1200" dirty="0"/>
          </a:p>
        </p:txBody>
      </p:sp>
      <p:sp>
        <p:nvSpPr>
          <p:cNvPr id="14" name="處理"/>
          <p:cNvSpPr/>
          <p:nvPr/>
        </p:nvSpPr>
        <p:spPr>
          <a:xfrm>
            <a:off x="548640" y="3794760"/>
            <a:ext cx="868680" cy="54864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416552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1050" dirty="0"/>
          </a:p>
        </p:txBody>
      </p:sp>
      <p:sp>
        <p:nvSpPr>
          <p:cNvPr id="16" name="處理"/>
          <p:cNvSpPr/>
          <p:nvPr/>
        </p:nvSpPr>
        <p:spPr>
          <a:xfrm>
            <a:off x="1874520" y="2999232"/>
            <a:ext cx="914400" cy="493776"/>
          </a:xfrm>
          <a:prstGeom prst="roundRect">
            <a:avLst>
              <a:gd name="adj" fmla="val 18519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400" dirty="0"/>
          </a:p>
        </p:txBody>
      </p:sp>
      <p:sp>
        <p:nvSpPr>
          <p:cNvPr id="17" name="處理"/>
          <p:cNvSpPr/>
          <p:nvPr/>
        </p:nvSpPr>
        <p:spPr>
          <a:xfrm>
            <a:off x="1874520" y="4645152"/>
            <a:ext cx="914400" cy="493776"/>
          </a:xfrm>
          <a:prstGeom prst="roundRect">
            <a:avLst>
              <a:gd name="adj" fmla="val 18519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2743200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28800" y="5175504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1050" dirty="0"/>
          </a:p>
        </p:txBody>
      </p:sp>
      <p:sp>
        <p:nvSpPr>
          <p:cNvPr id="20" name="處理"/>
          <p:cNvSpPr/>
          <p:nvPr/>
        </p:nvSpPr>
        <p:spPr>
          <a:xfrm>
            <a:off x="3246120" y="3794760"/>
            <a:ext cx="868680" cy="548640"/>
          </a:xfrm>
          <a:prstGeom prst="roundRect">
            <a:avLst>
              <a:gd name="adj" fmla="val 16667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154680" y="4416552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1050" dirty="0"/>
          </a:p>
        </p:txBody>
      </p:sp>
      <p:sp>
        <p:nvSpPr>
          <p:cNvPr id="22" name="連接線"/>
          <p:cNvSpPr/>
          <p:nvPr/>
        </p:nvSpPr>
        <p:spPr>
          <a:xfrm>
            <a:off x="1472184" y="324612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822960"/>
                </a:moveTo>
                <a:lnTo>
                  <a:pt x="173736" y="822960"/>
                </a:lnTo>
                <a:lnTo>
                  <a:pt x="173736" y="0"/>
                </a:lnTo>
                <a:lnTo>
                  <a:pt x="347472" y="0"/>
                </a:ln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1472184" y="406908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0"/>
                </a:moveTo>
                <a:lnTo>
                  <a:pt x="173736" y="0"/>
                </a:lnTo>
                <a:lnTo>
                  <a:pt x="173736" y="822960"/>
                </a:lnTo>
                <a:lnTo>
                  <a:pt x="347472" y="822960"/>
                </a:ln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2843784" y="324612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0"/>
                </a:moveTo>
                <a:lnTo>
                  <a:pt x="173736" y="0"/>
                </a:lnTo>
                <a:lnTo>
                  <a:pt x="173736" y="822960"/>
                </a:lnTo>
                <a:lnTo>
                  <a:pt x="347472" y="822960"/>
                </a:ln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2843784" y="406908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822960"/>
                </a:moveTo>
                <a:lnTo>
                  <a:pt x="173736" y="822960"/>
                </a:lnTo>
                <a:lnTo>
                  <a:pt x="173736" y="0"/>
                </a:lnTo>
                <a:lnTo>
                  <a:pt x="347472" y="0"/>
                </a:ln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連接線"/>
          <p:cNvSpPr/>
          <p:nvPr/>
        </p:nvSpPr>
        <p:spPr>
          <a:xfrm>
            <a:off x="4169664" y="2743200"/>
            <a:ext cx="576072" cy="1325880"/>
          </a:xfrm>
          <a:custGeom>
            <a:avLst/>
            <a:gdLst/>
            <a:ahLst/>
            <a:cxnLst/>
            <a:rect l="l" t="t" r="r" b="b"/>
            <a:pathLst>
              <a:path w="576072" h="1325880">
                <a:moveTo>
                  <a:pt x="0" y="1325880"/>
                </a:moveTo>
                <a:lnTo>
                  <a:pt x="288036" y="1325880"/>
                </a:lnTo>
                <a:lnTo>
                  <a:pt x="288036" y="0"/>
                </a:lnTo>
                <a:lnTo>
                  <a:pt x="576072" y="0"/>
                </a:ln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4169664" y="4069080"/>
            <a:ext cx="576072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</p:sp>
      <p:sp>
        <p:nvSpPr>
          <p:cNvPr id="28" name="連接線"/>
          <p:cNvSpPr/>
          <p:nvPr/>
        </p:nvSpPr>
        <p:spPr>
          <a:xfrm>
            <a:off x="4169664" y="4069080"/>
            <a:ext cx="576072" cy="1325880"/>
          </a:xfrm>
          <a:custGeom>
            <a:avLst/>
            <a:gdLst/>
            <a:ahLst/>
            <a:cxnLst/>
            <a:rect l="l" t="t" r="r" b="b"/>
            <a:pathLst>
              <a:path w="576072" h="1325880">
                <a:moveTo>
                  <a:pt x="0" y="0"/>
                </a:moveTo>
                <a:lnTo>
                  <a:pt x="288036" y="0"/>
                </a:lnTo>
                <a:lnTo>
                  <a:pt x="288036" y="1325880"/>
                </a:lnTo>
                <a:lnTo>
                  <a:pt x="576072" y="1325880"/>
                </a:ln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卡片"/>
          <p:cNvSpPr/>
          <p:nvPr/>
        </p:nvSpPr>
        <p:spPr>
          <a:xfrm>
            <a:off x="4800600" y="2414016"/>
            <a:ext cx="1828800" cy="658368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00600" y="2414016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1600" dirty="0"/>
          </a:p>
        </p:txBody>
      </p:sp>
      <p:sp>
        <p:nvSpPr>
          <p:cNvPr id="31" name="標籤"/>
          <p:cNvSpPr/>
          <p:nvPr/>
        </p:nvSpPr>
        <p:spPr>
          <a:xfrm>
            <a:off x="6000496" y="2286000"/>
            <a:ext cx="491744" cy="25603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1000" dirty="0"/>
          </a:p>
        </p:txBody>
      </p:sp>
      <p:sp>
        <p:nvSpPr>
          <p:cNvPr id="32" name="標籤"/>
          <p:cNvSpPr/>
          <p:nvPr/>
        </p:nvSpPr>
        <p:spPr>
          <a:xfrm>
            <a:off x="4937760" y="2944368"/>
            <a:ext cx="618744" cy="25603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1000" dirty="0"/>
          </a:p>
        </p:txBody>
      </p:sp>
      <p:sp>
        <p:nvSpPr>
          <p:cNvPr id="33" name="卡片"/>
          <p:cNvSpPr/>
          <p:nvPr/>
        </p:nvSpPr>
        <p:spPr>
          <a:xfrm>
            <a:off x="4800600" y="3739896"/>
            <a:ext cx="1828800" cy="658368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00600" y="3739896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1600" dirty="0"/>
          </a:p>
        </p:txBody>
      </p:sp>
      <p:sp>
        <p:nvSpPr>
          <p:cNvPr id="35" name="標籤"/>
          <p:cNvSpPr/>
          <p:nvPr/>
        </p:nvSpPr>
        <p:spPr>
          <a:xfrm>
            <a:off x="6000496" y="3611880"/>
            <a:ext cx="491744" cy="25603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1000" dirty="0"/>
          </a:p>
        </p:txBody>
      </p:sp>
      <p:sp>
        <p:nvSpPr>
          <p:cNvPr id="36" name="標籤"/>
          <p:cNvSpPr/>
          <p:nvPr/>
        </p:nvSpPr>
        <p:spPr>
          <a:xfrm>
            <a:off x="4937760" y="4270248"/>
            <a:ext cx="618744" cy="25603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1000" dirty="0"/>
          </a:p>
        </p:txBody>
      </p:sp>
      <p:sp>
        <p:nvSpPr>
          <p:cNvPr id="37" name="卡片"/>
          <p:cNvSpPr/>
          <p:nvPr/>
        </p:nvSpPr>
        <p:spPr>
          <a:xfrm>
            <a:off x="4800600" y="5065776"/>
            <a:ext cx="1828800" cy="658368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00600" y="5065776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1600" dirty="0"/>
          </a:p>
        </p:txBody>
      </p:sp>
      <p:sp>
        <p:nvSpPr>
          <p:cNvPr id="39" name="標籤"/>
          <p:cNvSpPr/>
          <p:nvPr/>
        </p:nvSpPr>
        <p:spPr>
          <a:xfrm>
            <a:off x="6000496" y="4937760"/>
            <a:ext cx="491744" cy="25603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1000" dirty="0"/>
          </a:p>
        </p:txBody>
      </p:sp>
      <p:sp>
        <p:nvSpPr>
          <p:cNvPr id="40" name="標籤"/>
          <p:cNvSpPr/>
          <p:nvPr/>
        </p:nvSpPr>
        <p:spPr>
          <a:xfrm>
            <a:off x="4937760" y="5596128"/>
            <a:ext cx="618744" cy="25603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1000" dirty="0"/>
          </a:p>
        </p:txBody>
      </p:sp>
      <p:sp>
        <p:nvSpPr>
          <p:cNvPr id="41" name="寬欄條"/>
          <p:cNvSpPr/>
          <p:nvPr/>
        </p:nvSpPr>
        <p:spPr>
          <a:xfrm>
            <a:off x="7086600" y="2057400"/>
            <a:ext cx="548640" cy="3886200"/>
          </a:xfrm>
          <a:prstGeom prst="roundRect">
            <a:avLst>
              <a:gd name="adj" fmla="val 16667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寬欄條"/>
          <p:cNvSpPr/>
          <p:nvPr/>
        </p:nvSpPr>
        <p:spPr>
          <a:xfrm>
            <a:off x="7818120" y="2057400"/>
            <a:ext cx="548640" cy="3886200"/>
          </a:xfrm>
          <a:prstGeom prst="roundRect">
            <a:avLst>
              <a:gd name="adj" fmla="val 16667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766560" y="17556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1100" dirty="0"/>
          </a:p>
        </p:txBody>
      </p:sp>
      <p:sp>
        <p:nvSpPr>
          <p:cNvPr id="44" name="編號"/>
          <p:cNvSpPr/>
          <p:nvPr/>
        </p:nvSpPr>
        <p:spPr>
          <a:xfrm>
            <a:off x="7086600" y="2593970"/>
            <a:ext cx="548640" cy="2984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100" dirty="0"/>
          </a:p>
        </p:txBody>
      </p:sp>
      <p:sp>
        <p:nvSpPr>
          <p:cNvPr id="45" name="編號"/>
          <p:cNvSpPr/>
          <p:nvPr/>
        </p:nvSpPr>
        <p:spPr>
          <a:xfrm>
            <a:off x="7818120" y="2593970"/>
            <a:ext cx="548640" cy="2984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100" dirty="0"/>
          </a:p>
        </p:txBody>
      </p:sp>
      <p:sp>
        <p:nvSpPr>
          <p:cNvPr id="46" name="線條"/>
          <p:cNvSpPr/>
          <p:nvPr/>
        </p:nvSpPr>
        <p:spPr>
          <a:xfrm>
            <a:off x="6702552" y="274320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7" name="編號"/>
          <p:cNvSpPr/>
          <p:nvPr/>
        </p:nvSpPr>
        <p:spPr>
          <a:xfrm>
            <a:off x="7086600" y="3919850"/>
            <a:ext cx="548640" cy="2984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100" dirty="0"/>
          </a:p>
        </p:txBody>
      </p:sp>
      <p:sp>
        <p:nvSpPr>
          <p:cNvPr id="48" name="編號"/>
          <p:cNvSpPr/>
          <p:nvPr/>
        </p:nvSpPr>
        <p:spPr>
          <a:xfrm>
            <a:off x="7818120" y="3919850"/>
            <a:ext cx="548640" cy="2984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100" dirty="0"/>
          </a:p>
        </p:txBody>
      </p:sp>
      <p:sp>
        <p:nvSpPr>
          <p:cNvPr id="49" name="線條"/>
          <p:cNvSpPr/>
          <p:nvPr/>
        </p:nvSpPr>
        <p:spPr>
          <a:xfrm>
            <a:off x="6702552" y="406908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0" name="編號"/>
          <p:cNvSpPr/>
          <p:nvPr/>
        </p:nvSpPr>
        <p:spPr>
          <a:xfrm>
            <a:off x="7086600" y="5245730"/>
            <a:ext cx="548640" cy="2984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100" dirty="0"/>
          </a:p>
        </p:txBody>
      </p:sp>
      <p:sp>
        <p:nvSpPr>
          <p:cNvPr id="51" name="編號"/>
          <p:cNvSpPr/>
          <p:nvPr/>
        </p:nvSpPr>
        <p:spPr>
          <a:xfrm>
            <a:off x="7818120" y="5245730"/>
            <a:ext cx="548640" cy="2984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100" dirty="0"/>
          </a:p>
        </p:txBody>
      </p:sp>
      <p:sp>
        <p:nvSpPr>
          <p:cNvPr id="52" name="線條"/>
          <p:cNvSpPr/>
          <p:nvPr/>
        </p:nvSpPr>
        <p:spPr>
          <a:xfrm>
            <a:off x="6702552" y="539496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3" name="線條"/>
          <p:cNvSpPr/>
          <p:nvPr/>
        </p:nvSpPr>
        <p:spPr>
          <a:xfrm>
            <a:off x="8366760" y="2743200"/>
            <a:ext cx="22860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ysDot"/>
          </a:ln>
        </p:spPr>
      </p:sp>
      <p:sp>
        <p:nvSpPr>
          <p:cNvPr id="54" name="連接線"/>
          <p:cNvSpPr/>
          <p:nvPr/>
        </p:nvSpPr>
        <p:spPr>
          <a:xfrm>
            <a:off x="8595360" y="245059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8915400" y="231343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1100" dirty="0"/>
          </a:p>
        </p:txBody>
      </p:sp>
      <p:sp>
        <p:nvSpPr>
          <p:cNvPr id="56" name="連接線"/>
          <p:cNvSpPr/>
          <p:nvPr/>
        </p:nvSpPr>
        <p:spPr>
          <a:xfrm>
            <a:off x="8595360" y="274320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8915400" y="289864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1100" dirty="0"/>
          </a:p>
        </p:txBody>
      </p:sp>
      <p:sp>
        <p:nvSpPr>
          <p:cNvPr id="58" name="線條"/>
          <p:cNvSpPr/>
          <p:nvPr/>
        </p:nvSpPr>
        <p:spPr>
          <a:xfrm>
            <a:off x="8366760" y="4069080"/>
            <a:ext cx="22860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ysDot"/>
          </a:ln>
        </p:spPr>
      </p:sp>
      <p:sp>
        <p:nvSpPr>
          <p:cNvPr id="59" name="連接線"/>
          <p:cNvSpPr/>
          <p:nvPr/>
        </p:nvSpPr>
        <p:spPr>
          <a:xfrm>
            <a:off x="8595360" y="377647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8915400" y="363931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1100" dirty="0"/>
          </a:p>
        </p:txBody>
      </p:sp>
      <p:sp>
        <p:nvSpPr>
          <p:cNvPr id="61" name="連接線"/>
          <p:cNvSpPr/>
          <p:nvPr/>
        </p:nvSpPr>
        <p:spPr>
          <a:xfrm>
            <a:off x="8595360" y="406908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8915400" y="422452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1100" dirty="0"/>
          </a:p>
        </p:txBody>
      </p:sp>
      <p:sp>
        <p:nvSpPr>
          <p:cNvPr id="63" name="線條"/>
          <p:cNvSpPr/>
          <p:nvPr/>
        </p:nvSpPr>
        <p:spPr>
          <a:xfrm>
            <a:off x="8366760" y="5394960"/>
            <a:ext cx="22860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ysDot"/>
          </a:ln>
        </p:spPr>
      </p:sp>
      <p:sp>
        <p:nvSpPr>
          <p:cNvPr id="64" name="連接線"/>
          <p:cNvSpPr/>
          <p:nvPr/>
        </p:nvSpPr>
        <p:spPr>
          <a:xfrm>
            <a:off x="8595360" y="510235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8915400" y="496519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1100" dirty="0"/>
          </a:p>
        </p:txBody>
      </p:sp>
      <p:sp>
        <p:nvSpPr>
          <p:cNvPr id="66" name="連接線"/>
          <p:cNvSpPr/>
          <p:nvPr/>
        </p:nvSpPr>
        <p:spPr>
          <a:xfrm>
            <a:off x="8595360" y="539496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8915400" y="555040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1100" dirty="0"/>
          </a:p>
        </p:txBody>
      </p:sp>
      <p:sp>
        <p:nvSpPr>
          <p:cNvPr id="68" name="漸隱直條"/>
          <p:cNvSpPr/>
          <p:nvPr/>
        </p:nvSpPr>
        <p:spPr>
          <a:xfrm>
            <a:off x="11333988" y="2248510"/>
            <a:ext cx="173736" cy="3513125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漸隱直條"/>
          <p:cNvSpPr/>
          <p:nvPr/>
        </p:nvSpPr>
        <p:spPr>
          <a:xfrm>
            <a:off x="11333988" y="2540508"/>
            <a:ext cx="173736" cy="292912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漸隱直條"/>
          <p:cNvSpPr/>
          <p:nvPr/>
        </p:nvSpPr>
        <p:spPr>
          <a:xfrm>
            <a:off x="11333988" y="2832506"/>
            <a:ext cx="173736" cy="2345131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漸隱直條"/>
          <p:cNvSpPr/>
          <p:nvPr/>
        </p:nvSpPr>
        <p:spPr>
          <a:xfrm>
            <a:off x="11333988" y="3124505"/>
            <a:ext cx="173736" cy="1761134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漸隱直條"/>
          <p:cNvSpPr/>
          <p:nvPr/>
        </p:nvSpPr>
        <p:spPr>
          <a:xfrm>
            <a:off x="11333988" y="3416503"/>
            <a:ext cx="173736" cy="117713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漸隱直條"/>
          <p:cNvSpPr/>
          <p:nvPr/>
        </p:nvSpPr>
        <p:spPr>
          <a:xfrm>
            <a:off x="11333988" y="3708502"/>
            <a:ext cx="173736" cy="593141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1247120" y="2057400"/>
            <a:ext cx="347472" cy="191110"/>
          </a:xfrm>
          <a:custGeom>
            <a:avLst/>
            <a:gdLst/>
            <a:ahLst/>
            <a:cxnLst/>
            <a:rect l="l" t="t" r="r" b="b"/>
            <a:pathLst>
              <a:path w="347472" h="191110">
                <a:moveTo>
                  <a:pt x="0" y="191110"/>
                </a:moveTo>
                <a:lnTo>
                  <a:pt x="173736" y="0"/>
                </a:lnTo>
                <a:lnTo>
                  <a:pt x="347472" y="191110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11247120" y="5752490"/>
            <a:ext cx="347472" cy="191110"/>
          </a:xfrm>
          <a:custGeom>
            <a:avLst/>
            <a:gdLst/>
            <a:ahLst/>
            <a:cxnLst/>
            <a:rect l="l" t="t" r="r" b="b"/>
            <a:pathLst>
              <a:path w="347472" h="191110">
                <a:moveTo>
                  <a:pt x="0" y="0"/>
                </a:moveTo>
                <a:lnTo>
                  <a:pt x="347472" y="0"/>
                </a:lnTo>
                <a:lnTo>
                  <a:pt x="173736" y="191110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0378440" y="175564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0378440" y="59893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框架鑑</dc:title>
  <dc:subject>PptxGenJS Presentation</dc:subject>
  <dc:creator>PPT Style Studio</dc:creator>
  <cp:lastModifiedBy>PPT Style Studio</cp:lastModifiedBy>
  <cp:revision>1</cp:revision>
  <dcterms:created xsi:type="dcterms:W3CDTF">2026-10-09T02:55:47Z</dcterms:created>
  <dcterms:modified xsi:type="dcterms:W3CDTF">2026-10-09T02:55:47Z</dcterms:modified>
</cp:coreProperties>
</file>