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《元件總表 Element Catalog》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166714" y="5106375"/>
            <a:ext cx="1156716" cy="211409"/>
            <a:chOff x="6166714" y="5106375"/>
            <a:chExt cx="1156716" cy="211409"/>
          </a:xfrm>
        </p:grpSpPr>
        <p:sp>
          <p:nvSpPr>
            <p:cNvPr id="95" name="編號"/>
            <p:cNvSpPr/>
            <p:nvPr/>
          </p:nvSpPr>
          <p:spPr>
            <a:xfrm>
              <a:off x="6166714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01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編號"/>
            <p:cNvSpPr/>
            <p:nvPr/>
          </p:nvSpPr>
          <p:spPr>
            <a:xfrm>
              <a:off x="6550762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02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編號"/>
            <p:cNvSpPr/>
            <p:nvPr/>
          </p:nvSpPr>
          <p:spPr>
            <a:xfrm>
              <a:off x="6934810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03</a:t>
              </a:r>
              <a:endParaRPr lang="zh-TW" alt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Text 1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《常見組合 Common Patterns》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18338" y="2607503"/>
            <a:ext cx="2753030" cy="446593"/>
            <a:chOff x="418338" y="2607503"/>
            <a:chExt cx="2753030" cy="446593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編號"/>
            <p:cNvSpPr/>
            <p:nvPr/>
          </p:nvSpPr>
          <p:spPr>
            <a:xfrm>
              <a:off x="418338" y="260750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01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編號"/>
            <p:cNvSpPr/>
            <p:nvPr/>
          </p:nvSpPr>
          <p:spPr>
            <a:xfrm>
              <a:off x="1391374" y="260750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02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編號"/>
            <p:cNvSpPr/>
            <p:nvPr/>
          </p:nvSpPr>
          <p:spPr>
            <a:xfrm>
              <a:off x="2364410" y="260750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03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7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9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6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8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1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3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6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8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0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9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0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2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9" name="連接線"/>
            <p:cNvCxnSpPr>
              <a:stCxn id="59" idx="3"/>
              <a:endCxn id="61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0" name="連接線"/>
            <p:cNvCxnSpPr>
              <a:stCxn id="60" idx="3"/>
              <a:endCxn id="63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1" name="連接線"/>
            <p:cNvCxnSpPr>
              <a:stCxn id="62" idx="3"/>
              <a:endCxn id="64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2" name="連接線"/>
            <p:cNvCxnSpPr>
              <a:stCxn id="63" idx="3"/>
              <a:endCxn id="65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3" name="連接線"/>
            <p:cNvCxnSpPr>
              <a:stCxn id="64" idx="3"/>
              <a:endCxn id="67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4" name="連接線"/>
            <p:cNvCxnSpPr>
              <a:stCxn id="66" idx="3"/>
              <a:endCxn id="68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75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7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8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9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0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1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2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83" name="連接線"/>
            <p:cNvCxnSpPr>
              <a:stCxn id="77" idx="2"/>
              <a:endCxn id="79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84" name="連接線"/>
            <p:cNvCxnSpPr>
              <a:stCxn id="79" idx="3"/>
              <a:endCxn id="81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85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7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4" name="Text 9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《常見組合（二）Common Patterns II》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2F4B6E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2F4B6E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2F4B6E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2F4B6E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9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6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0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4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6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9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0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1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1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3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《可調數量 Adjustable Patterns》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步驟、泳道、原因的數量 2–6 可調：左側「數量」，或選取元件後按工具列的 − ＋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64058" y="2333183"/>
            <a:ext cx="7856982" cy="538033"/>
            <a:chOff x="464058" y="2333183"/>
            <a:chExt cx="7856982" cy="538033"/>
          </a:xfrm>
        </p:grpSpPr>
        <p:sp>
          <p:nvSpPr>
            <p:cNvPr id="8" name="處理"/>
            <p:cNvSpPr/>
            <p:nvPr/>
          </p:nvSpPr>
          <p:spPr>
            <a:xfrm>
              <a:off x="594360" y="2395728"/>
              <a:ext cx="1554480" cy="475488"/>
            </a:xfrm>
            <a:prstGeom prst="roundRect">
              <a:avLst>
                <a:gd name="adj" fmla="val 19231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編號"/>
            <p:cNvSpPr/>
            <p:nvPr/>
          </p:nvSpPr>
          <p:spPr>
            <a:xfrm>
              <a:off x="464058" y="233318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01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2651760" y="2395728"/>
              <a:ext cx="1554480" cy="475488"/>
            </a:xfrm>
            <a:prstGeom prst="roundRect">
              <a:avLst>
                <a:gd name="adj" fmla="val 19231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編號"/>
            <p:cNvSpPr/>
            <p:nvPr/>
          </p:nvSpPr>
          <p:spPr>
            <a:xfrm>
              <a:off x="2521458" y="233318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02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4709160" y="2395728"/>
              <a:ext cx="1554480" cy="475488"/>
            </a:xfrm>
            <a:prstGeom prst="roundRect">
              <a:avLst>
                <a:gd name="adj" fmla="val 19231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編號"/>
            <p:cNvSpPr/>
            <p:nvPr/>
          </p:nvSpPr>
          <p:spPr>
            <a:xfrm>
              <a:off x="4578858" y="233318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03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處理"/>
            <p:cNvSpPr/>
            <p:nvPr/>
          </p:nvSpPr>
          <p:spPr>
            <a:xfrm>
              <a:off x="6766560" y="2395728"/>
              <a:ext cx="1554480" cy="475488"/>
            </a:xfrm>
            <a:prstGeom prst="roundRect">
              <a:avLst>
                <a:gd name="adj" fmla="val 19231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編號"/>
            <p:cNvSpPr/>
            <p:nvPr/>
          </p:nvSpPr>
          <p:spPr>
            <a:xfrm>
              <a:off x="6636258" y="233318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04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6" name="連接線"/>
            <p:cNvCxnSpPr>
              <a:stCxn id="8" idx="3"/>
              <a:endCxn id="10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17" name="連接線"/>
            <p:cNvCxnSpPr>
              <a:stCxn id="10" idx="3"/>
              <a:endCxn id="12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18" name="連接線"/>
            <p:cNvCxnSpPr>
              <a:stCxn id="12" idx="3"/>
              <a:endCxn id="14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19" name="組合名稱"/>
          <p:cNvSpPr/>
          <p:nvPr/>
        </p:nvSpPr>
        <p:spPr>
          <a:xfrm>
            <a:off x="548640" y="3017520"/>
            <a:ext cx="5989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1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2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3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7" name="處理"/>
            <p:cNvSpPr/>
            <p:nvPr/>
          </p:nvSpPr>
          <p:spPr>
            <a:xfrm>
              <a:off x="1408176" y="3566160"/>
              <a:ext cx="93268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8" name="處理"/>
            <p:cNvSpPr/>
            <p:nvPr/>
          </p:nvSpPr>
          <p:spPr>
            <a:xfrm>
              <a:off x="2779776" y="4334256"/>
              <a:ext cx="93268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4151376" y="5102352"/>
              <a:ext cx="93268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0" name="連接線"/>
            <p:cNvCxnSpPr>
              <a:stCxn id="27" idx="3"/>
              <a:endCxn id="28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31" name="連接線"/>
            <p:cNvCxnSpPr>
              <a:stCxn id="28" idx="3"/>
              <a:endCxn id="29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32" name="組合名稱"/>
          <p:cNvSpPr/>
          <p:nvPr/>
        </p:nvSpPr>
        <p:spPr>
          <a:xfrm>
            <a:off x="6867144" y="3017520"/>
            <a:ext cx="477591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34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問題"/>
            <p:cNvSpPr/>
            <p:nvPr/>
          </p:nvSpPr>
          <p:spPr>
            <a:xfrm>
              <a:off x="6867144" y="3675888"/>
              <a:ext cx="1078992" cy="1719072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原因"/>
            <p:cNvSpPr/>
            <p:nvPr/>
          </p:nvSpPr>
          <p:spPr>
            <a:xfrm>
              <a:off x="8257032" y="3675888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對策"/>
            <p:cNvSpPr/>
            <p:nvPr/>
          </p:nvSpPr>
          <p:spPr>
            <a:xfrm>
              <a:off x="10105492" y="3675888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9" name="連接線"/>
            <p:cNvCxnSpPr>
              <a:stCxn id="36" idx="3"/>
              <a:endCxn id="37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40" name="連接線"/>
            <p:cNvCxnSpPr>
              <a:stCxn id="37" idx="3"/>
              <a:endCxn id="38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1" name="原因"/>
            <p:cNvSpPr/>
            <p:nvPr/>
          </p:nvSpPr>
          <p:spPr>
            <a:xfrm>
              <a:off x="8257032" y="4279392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對策"/>
            <p:cNvSpPr/>
            <p:nvPr/>
          </p:nvSpPr>
          <p:spPr>
            <a:xfrm>
              <a:off x="10105492" y="4279392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3" name="連接線"/>
            <p:cNvCxnSpPr>
              <a:stCxn id="36" idx="3"/>
              <a:endCxn id="41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5" name="原因"/>
            <p:cNvSpPr/>
            <p:nvPr/>
          </p:nvSpPr>
          <p:spPr>
            <a:xfrm>
              <a:off x="8257032" y="4882896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6" name="對策"/>
            <p:cNvSpPr/>
            <p:nvPr/>
          </p:nvSpPr>
          <p:spPr>
            <a:xfrm>
              <a:off x="10105492" y="4882896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7" name="連接線"/>
            <p:cNvCxnSpPr>
              <a:stCxn id="36" idx="3"/>
              <a:endCxn id="45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48" name="連接線"/>
            <p:cNvCxnSpPr>
              <a:stCxn id="45" idx="3"/>
              <a:endCxn id="46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《原因分析 Root Cause》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追問與多因 → 問題：數量可調；確認／排除標籤可直接改字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8" name="問題"/>
            <p:cNvSpPr/>
            <p:nvPr/>
          </p:nvSpPr>
          <p:spPr>
            <a:xfrm>
              <a:off x="1280160" y="2212848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3A5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1</a:t>
              </a:r>
              <a:endPara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1280160" y="2816352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3A5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2</a:t>
              </a:r>
              <a:endPara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1280160" y="3419856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3A5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3</a:t>
              </a:r>
              <a:endPara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處理"/>
            <p:cNvSpPr/>
            <p:nvPr/>
          </p:nvSpPr>
          <p:spPr>
            <a:xfrm>
              <a:off x="1280160" y="4023360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3A5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4</a:t>
              </a:r>
              <a:endPara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處理"/>
            <p:cNvSpPr/>
            <p:nvPr/>
          </p:nvSpPr>
          <p:spPr>
            <a:xfrm>
              <a:off x="1280160" y="4626864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3A5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5</a:t>
              </a:r>
              <a:endPara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處理"/>
            <p:cNvSpPr/>
            <p:nvPr/>
          </p:nvSpPr>
          <p:spPr>
            <a:xfrm>
              <a:off x="1280160" y="5230368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0" name="處理"/>
            <p:cNvSpPr/>
            <p:nvPr/>
          </p:nvSpPr>
          <p:spPr>
            <a:xfrm>
              <a:off x="1280160" y="5833872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1" name="連接線"/>
            <p:cNvCxnSpPr>
              <a:stCxn id="8" idx="2"/>
              <a:endCxn id="10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22" name="連接線"/>
            <p:cNvCxnSpPr>
              <a:stCxn id="10" idx="2"/>
              <a:endCxn id="12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23" name="連接線"/>
            <p:cNvCxnSpPr>
              <a:stCxn id="12" idx="2"/>
              <a:endCxn id="14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24" name="連接線"/>
            <p:cNvCxnSpPr>
              <a:stCxn id="14" idx="2"/>
              <a:endCxn id="16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25" name="連接線"/>
            <p:cNvCxnSpPr>
              <a:stCxn id="16" idx="2"/>
              <a:endCxn id="18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26" name="連接線"/>
            <p:cNvCxnSpPr>
              <a:stCxn id="18" idx="2"/>
              <a:endCxn id="20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27" name="組合名稱"/>
          <p:cNvSpPr/>
          <p:nvPr/>
        </p:nvSpPr>
        <p:spPr>
          <a:xfrm>
            <a:off x="4937760" y="1737360"/>
            <a:ext cx="6705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29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原因"/>
            <p:cNvSpPr/>
            <p:nvPr/>
          </p:nvSpPr>
          <p:spPr>
            <a:xfrm>
              <a:off x="5632704" y="2738628"/>
              <a:ext cx="3108960" cy="54864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原因"/>
            <p:cNvSpPr/>
            <p:nvPr/>
          </p:nvSpPr>
          <p:spPr>
            <a:xfrm>
              <a:off x="5632704" y="3433572"/>
              <a:ext cx="3108960" cy="54864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原因"/>
            <p:cNvSpPr/>
            <p:nvPr/>
          </p:nvSpPr>
          <p:spPr>
            <a:xfrm>
              <a:off x="5632704" y="4128516"/>
              <a:ext cx="3108960" cy="54864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原因"/>
            <p:cNvSpPr/>
            <p:nvPr/>
          </p:nvSpPr>
          <p:spPr>
            <a:xfrm>
              <a:off x="5632704" y="4823460"/>
              <a:ext cx="3108960" cy="54864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問題"/>
            <p:cNvSpPr/>
            <p:nvPr/>
          </p:nvSpPr>
          <p:spPr>
            <a:xfrm>
              <a:off x="9859975" y="3552444"/>
              <a:ext cx="1737360" cy="100584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22225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8" name="連接線"/>
            <p:cNvCxnSpPr>
              <a:stCxn id="34" idx="3"/>
              <a:endCxn id="37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BFBFBF"/>
              </a:solidFill>
              <a:prstDash val="sysDash"/>
              <a:tailEnd type="triangle"/>
            </a:ln>
          </p:spPr>
        </p:cxnSp>
        <p:cxnSp>
          <p:nvCxnSpPr>
            <p:cNvPr id="39" name="連接線"/>
            <p:cNvCxnSpPr>
              <a:stCxn id="30" idx="3"/>
              <a:endCxn id="37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40" name="連接線"/>
            <p:cNvCxnSpPr>
              <a:stCxn id="32" idx="3"/>
              <a:endCxn id="37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41" name="連接線"/>
            <p:cNvCxnSpPr>
              <a:stCxn id="36" idx="3"/>
              <a:endCxn id="37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2" name="Text 40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3" name="Text 4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《圖示庫 Icon Library》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小節"/>
          <p:cNvSpPr/>
          <p:nvPr/>
        </p:nvSpPr>
        <p:spPr>
          <a:xfrm>
            <a:off x="548640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4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8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《風格規範》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色彩、字級與元件語言一覽：淺灰實心圓角卡＋陰影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#2F4B6E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#243A56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#E3E8EF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34pt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淺灰實心＋陰影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全圓角膠囊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數字膠囊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1.25pt 點線＋三角箭頭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灰卡＋▶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《卡片》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《標籤與編號》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《圓形與流程鏈》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《連接線與箭頭》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《流程圖符號》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3" name="連接線"/>
          <p:cNvCxnSpPr>
            <a:stCxn id="23" idx="2"/>
            <a:endCxn id="32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《結構元件》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《高效溝通：讓想法被看見》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《策略規劃框架地圖》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C1C9D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《能力成長地圖》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2026-10-09T05:15:32Z</dcterms:created>
  <dcterms:modified xsi:type="dcterms:W3CDTF">2026-10-09T05:15:32Z</dcterms:modified>
</cp:coreProperties>
</file>