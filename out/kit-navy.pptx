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903C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光暈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598752" y="4773168"/>
            <a:ext cx="694944" cy="694944"/>
            <a:chOff x="3598752" y="4773168"/>
            <a:chExt cx="694944" cy="694944"/>
          </a:xfrm>
        </p:grpSpPr>
        <p:sp>
          <p:nvSpPr>
            <p:cNvPr id="92" name="外圈細環"/>
            <p:cNvSpPr/>
            <p:nvPr/>
          </p:nvSpPr>
          <p:spPr>
            <a:xfrm>
              <a:off x="3598752" y="4773168"/>
              <a:ext cx="694944" cy="694944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2E75B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3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5" name="連接線"/>
            <p:cNvCxnSpPr>
              <a:stCxn id="65" idx="3"/>
              <a:endCxn id="67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6" idx="3"/>
              <a:endCxn id="69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77" name="連接線"/>
            <p:cNvCxnSpPr>
              <a:stCxn id="68" idx="3"/>
              <a:endCxn id="70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69" idx="3"/>
              <a:endCxn id="71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79" name="連接線"/>
            <p:cNvCxnSpPr>
              <a:stCxn id="70" idx="3"/>
              <a:endCxn id="73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80" name="連接線"/>
            <p:cNvCxnSpPr>
              <a:stCxn id="72" idx="3"/>
              <a:endCxn id="74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81" name="Text 79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4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90" name="連接線"/>
            <p:cNvCxnSpPr>
              <a:stCxn id="84" idx="2"/>
              <a:endCxn id="86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91" name="連接線"/>
            <p:cNvCxnSpPr>
              <a:stCxn id="86" idx="3"/>
              <a:endCxn id="88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92" name="Text 90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5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9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0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Text 10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8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6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</a:t>
            </a:r>
            <a:endParaRPr lang="zh-TW" altLang="en-US" sz="65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1F4E7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1F4E7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1F4E7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1F4E7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>
              <a:normAutofit/>
            </a:bodyPr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Countermeasure</a:t>
              </a:r>
              <a:endParaRPr lang="zh-TW" altLang="en-US" sz="7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2225">
              <a:solidFill>
                <a:srgbClr val="1F4E7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91440"/>
                  </a:lnTo>
                  <a:arcTo hR="91440" wR="91440" stAng="10800000" swAng="5400000"/>
                  <a:lnTo>
                    <a:pt x="999033" y="0"/>
                  </a:lnTo>
                  <a:arcTo hR="91440" wR="9144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B</a:t>
              </a:r>
              <a:endParaRPr lang="zh-TW" altLang="en-US" sz="7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25400" tIns="0" rIns="2540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2E7D4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C0504D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1 件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可調數量 Adjustable Patterns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步驟、泳道、原因的數量 2–6 可調：左側「數量」，或選取元件後按工具列的 − ＋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109389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線性流程（4 步）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線性流程（4 步）"/>
          <p:cNvGrpSpPr/>
          <p:nvPr/>
        </p:nvGrpSpPr>
        <p:grpSpPr>
          <a:xfrm>
            <a:off x="493776" y="2295144"/>
            <a:ext cx="7827264" cy="576072"/>
            <a:chOff x="493776" y="2295144"/>
            <a:chExt cx="7827264" cy="576072"/>
          </a:xfrm>
        </p:grpSpPr>
        <p:sp>
          <p:nvSpPr>
            <p:cNvPr id="9" name="處理"/>
            <p:cNvSpPr/>
            <p:nvPr/>
          </p:nvSpPr>
          <p:spPr>
            <a:xfrm>
              <a:off x="594360" y="2395728"/>
              <a:ext cx="1554480" cy="475488"/>
            </a:xfrm>
            <a:prstGeom prst="roundRect">
              <a:avLst>
                <a:gd name="adj" fmla="val 19231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493776" y="2295144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2651760" y="2395728"/>
              <a:ext cx="1554480" cy="475488"/>
            </a:xfrm>
            <a:prstGeom prst="roundRect">
              <a:avLst>
                <a:gd name="adj" fmla="val 19231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2551176" y="2295144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4709160" y="2395728"/>
              <a:ext cx="1554480" cy="475488"/>
            </a:xfrm>
            <a:prstGeom prst="roundRect">
              <a:avLst>
                <a:gd name="adj" fmla="val 19231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編號"/>
            <p:cNvSpPr/>
            <p:nvPr/>
          </p:nvSpPr>
          <p:spPr>
            <a:xfrm>
              <a:off x="4608576" y="2295144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處理"/>
            <p:cNvSpPr/>
            <p:nvPr/>
          </p:nvSpPr>
          <p:spPr>
            <a:xfrm>
              <a:off x="6766560" y="2395728"/>
              <a:ext cx="1554480" cy="475488"/>
            </a:xfrm>
            <a:prstGeom prst="roundRect">
              <a:avLst>
                <a:gd name="adj" fmla="val 19231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步驟四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編號"/>
            <p:cNvSpPr/>
            <p:nvPr/>
          </p:nvSpPr>
          <p:spPr>
            <a:xfrm>
              <a:off x="6665976" y="2295144"/>
              <a:ext cx="237744" cy="237744"/>
            </a:xfrm>
            <a:prstGeom prst="ellipse">
              <a:avLst/>
            </a:prstGeom>
            <a:solidFill>
              <a:srgbClr val="1F4E79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49530" dist="17653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7" name="連接線"/>
            <p:cNvCxnSpPr>
              <a:stCxn id="9" idx="3"/>
              <a:endCxn id="11" idx="1"/>
            </p:cNvCxnSpPr>
            <p:nvPr/>
          </p:nvCxnSpPr>
          <p:spPr>
            <a:xfrm>
              <a:off x="2148840" y="2633472"/>
              <a:ext cx="50292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18" name="連接線"/>
            <p:cNvCxnSpPr>
              <a:stCxn id="11" idx="3"/>
              <a:endCxn id="13" idx="1"/>
            </p:cNvCxnSpPr>
            <p:nvPr/>
          </p:nvCxnSpPr>
          <p:spPr>
            <a:xfrm>
              <a:off x="4206240" y="2633472"/>
              <a:ext cx="50292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19" name="連接線"/>
            <p:cNvCxnSpPr>
              <a:stCxn id="13" idx="3"/>
              <a:endCxn id="15" idx="1"/>
            </p:cNvCxnSpPr>
            <p:nvPr/>
          </p:nvCxnSpPr>
          <p:spPr>
            <a:xfrm>
              <a:off x="6263640" y="2633472"/>
              <a:ext cx="50292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20" name="Text 18"/>
          <p:cNvSpPr/>
          <p:nvPr/>
        </p:nvSpPr>
        <p:spPr>
          <a:xfrm>
            <a:off x="548640" y="304495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組合名稱"/>
          <p:cNvSpPr/>
          <p:nvPr/>
        </p:nvSpPr>
        <p:spPr>
          <a:xfrm>
            <a:off x="704088" y="3017520"/>
            <a:ext cx="583387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泳道（3 道）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線條"/>
          <p:cNvSpPr/>
          <p:nvPr/>
        </p:nvSpPr>
        <p:spPr>
          <a:xfrm>
            <a:off x="548640" y="3328416"/>
            <a:ext cx="59893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泳道（3 道）"/>
          <p:cNvGrpSpPr/>
          <p:nvPr/>
        </p:nvGrpSpPr>
        <p:grpSpPr>
          <a:xfrm>
            <a:off x="548640" y="3401568"/>
            <a:ext cx="5989320" cy="2249424"/>
            <a:chOff x="548640" y="3401568"/>
            <a:chExt cx="5989320" cy="2249424"/>
          </a:xfrm>
        </p:grpSpPr>
        <p:sp>
          <p:nvSpPr>
            <p:cNvPr id="23" name="泳道"/>
            <p:cNvSpPr/>
            <p:nvPr/>
          </p:nvSpPr>
          <p:spPr>
            <a:xfrm>
              <a:off x="548640" y="3401568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" name="泳道標題"/>
            <p:cNvSpPr/>
            <p:nvPr/>
          </p:nvSpPr>
          <p:spPr>
            <a:xfrm>
              <a:off x="548640" y="3401568"/>
              <a:ext cx="676656" cy="713232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申請人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" name="泳道"/>
            <p:cNvSpPr/>
            <p:nvPr/>
          </p:nvSpPr>
          <p:spPr>
            <a:xfrm>
              <a:off x="548640" y="4169664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" name="泳道標題"/>
            <p:cNvSpPr/>
            <p:nvPr/>
          </p:nvSpPr>
          <p:spPr>
            <a:xfrm>
              <a:off x="548640" y="4169664"/>
              <a:ext cx="676656" cy="713232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7" name="泳道"/>
            <p:cNvSpPr/>
            <p:nvPr/>
          </p:nvSpPr>
          <p:spPr>
            <a:xfrm>
              <a:off x="548640" y="4937760"/>
              <a:ext cx="5989320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8" name="泳道標題"/>
            <p:cNvSpPr/>
            <p:nvPr/>
          </p:nvSpPr>
          <p:spPr>
            <a:xfrm>
              <a:off x="548640" y="4937760"/>
              <a:ext cx="676656" cy="713232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工程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9" name="處理"/>
            <p:cNvSpPr/>
            <p:nvPr/>
          </p:nvSpPr>
          <p:spPr>
            <a:xfrm>
              <a:off x="1408176" y="3566160"/>
              <a:ext cx="932688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0" name="處理"/>
            <p:cNvSpPr/>
            <p:nvPr/>
          </p:nvSpPr>
          <p:spPr>
            <a:xfrm>
              <a:off x="2779776" y="4334256"/>
              <a:ext cx="932688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主管審核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處理"/>
            <p:cNvSpPr/>
            <p:nvPr/>
          </p:nvSpPr>
          <p:spPr>
            <a:xfrm>
              <a:off x="4151376" y="5102352"/>
              <a:ext cx="932688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2" name="連接線"/>
            <p:cNvCxnSpPr>
              <a:stCxn id="29" idx="3"/>
              <a:endCxn id="30" idx="0"/>
            </p:cNvCxnSpPr>
            <p:nvPr/>
          </p:nvCxnSpPr>
          <p:spPr>
            <a:xfrm>
              <a:off x="2340864" y="3758184"/>
              <a:ext cx="905256" cy="576072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33" name="連接線"/>
            <p:cNvCxnSpPr>
              <a:stCxn id="30" idx="3"/>
              <a:endCxn id="31" idx="0"/>
            </p:cNvCxnSpPr>
            <p:nvPr/>
          </p:nvCxnSpPr>
          <p:spPr>
            <a:xfrm>
              <a:off x="3712464" y="4526280"/>
              <a:ext cx="905256" cy="576072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34" name="Text 32"/>
          <p:cNvSpPr/>
          <p:nvPr/>
        </p:nvSpPr>
        <p:spPr>
          <a:xfrm>
            <a:off x="6867144" y="304495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組合名稱"/>
          <p:cNvSpPr/>
          <p:nvPr/>
        </p:nvSpPr>
        <p:spPr>
          <a:xfrm>
            <a:off x="7022592" y="3017520"/>
            <a:ext cx="462046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對策（3 項）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線條"/>
          <p:cNvSpPr/>
          <p:nvPr/>
        </p:nvSpPr>
        <p:spPr>
          <a:xfrm>
            <a:off x="6867144" y="3328416"/>
            <a:ext cx="4775911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（3 項）"/>
          <p:cNvGrpSpPr/>
          <p:nvPr/>
        </p:nvGrpSpPr>
        <p:grpSpPr>
          <a:xfrm>
            <a:off x="6867144" y="3419856"/>
            <a:ext cx="4775911" cy="1975104"/>
            <a:chOff x="6867144" y="3419856"/>
            <a:chExt cx="4775911" cy="1975104"/>
          </a:xfrm>
        </p:grpSpPr>
        <p:sp>
          <p:nvSpPr>
            <p:cNvPr id="37" name="欄名"/>
            <p:cNvSpPr/>
            <p:nvPr/>
          </p:nvSpPr>
          <p:spPr>
            <a:xfrm>
              <a:off x="825703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Cause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欄名"/>
            <p:cNvSpPr/>
            <p:nvPr/>
          </p:nvSpPr>
          <p:spPr>
            <a:xfrm>
              <a:off x="10105492" y="3419856"/>
              <a:ext cx="1537564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Countermeasure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問題"/>
            <p:cNvSpPr/>
            <p:nvPr/>
          </p:nvSpPr>
          <p:spPr>
            <a:xfrm>
              <a:off x="6867144" y="3675888"/>
              <a:ext cx="1078992" cy="1719072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50800" tIns="50800" rIns="50800" bIns="508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0" name="原因"/>
            <p:cNvSpPr/>
            <p:nvPr/>
          </p:nvSpPr>
          <p:spPr>
            <a:xfrm>
              <a:off x="8257032" y="3675888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對策"/>
            <p:cNvSpPr/>
            <p:nvPr/>
          </p:nvSpPr>
          <p:spPr>
            <a:xfrm>
              <a:off x="10105492" y="3675888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設需求凍結點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 flipV="1">
              <a:off x="7946136" y="3931920"/>
              <a:ext cx="310896" cy="603504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794596" y="3931920"/>
              <a:ext cx="31089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44" name="原因"/>
            <p:cNvSpPr/>
            <p:nvPr/>
          </p:nvSpPr>
          <p:spPr>
            <a:xfrm>
              <a:off x="8257032" y="4279392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5" name="對策"/>
            <p:cNvSpPr/>
            <p:nvPr/>
          </p:nvSpPr>
          <p:spPr>
            <a:xfrm>
              <a:off x="10105492" y="4279392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39" idx="3"/>
              <a:endCxn id="44" idx="1"/>
            </p:cNvCxnSpPr>
            <p:nvPr/>
          </p:nvCxnSpPr>
          <p:spPr>
            <a:xfrm>
              <a:off x="7946136" y="4535424"/>
              <a:ext cx="31089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47" name="連接線"/>
            <p:cNvCxnSpPr>
              <a:stCxn id="44" idx="3"/>
              <a:endCxn id="45" idx="1"/>
            </p:cNvCxnSpPr>
            <p:nvPr/>
          </p:nvCxnSpPr>
          <p:spPr>
            <a:xfrm>
              <a:off x="9794596" y="4535424"/>
              <a:ext cx="31089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48" name="原因"/>
            <p:cNvSpPr/>
            <p:nvPr/>
          </p:nvSpPr>
          <p:spPr>
            <a:xfrm>
              <a:off x="8257032" y="4882896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人力調度不足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9" name="對策"/>
            <p:cNvSpPr/>
            <p:nvPr/>
          </p:nvSpPr>
          <p:spPr>
            <a:xfrm>
              <a:off x="10105492" y="4882896"/>
              <a:ext cx="1537564" cy="512064"/>
            </a:xfrm>
            <a:prstGeom prst="roundRect">
              <a:avLst>
                <a:gd name="adj" fmla="val 17857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跨線支援機制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0" name="連接線"/>
            <p:cNvCxnSpPr>
              <a:stCxn id="39" idx="3"/>
              <a:endCxn id="48" idx="1"/>
            </p:cNvCxnSpPr>
            <p:nvPr/>
          </p:nvCxnSpPr>
          <p:spPr>
            <a:xfrm>
              <a:off x="7946136" y="4535424"/>
              <a:ext cx="310896" cy="603504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51" name="連接線"/>
            <p:cNvCxnSpPr>
              <a:stCxn id="48" idx="3"/>
              <a:endCxn id="49" idx="1"/>
            </p:cNvCxnSpPr>
            <p:nvPr/>
          </p:nvCxnSpPr>
          <p:spPr>
            <a:xfrm>
              <a:off x="9794596" y="5138928"/>
              <a:ext cx="31089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52" name="Text 5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原因分析 Root Cause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5 Why 追問與多因 → 問題：數量可調；確認／排除標籤可直接改字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77647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Why 追問（5 層）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5 Whys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93192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5 Why 追問（5 層）"/>
          <p:cNvGrpSpPr/>
          <p:nvPr/>
        </p:nvGrpSpPr>
        <p:grpSpPr>
          <a:xfrm>
            <a:off x="548640" y="2212848"/>
            <a:ext cx="3886200" cy="4005072"/>
            <a:chOff x="548640" y="2212848"/>
            <a:chExt cx="3886200" cy="4005072"/>
          </a:xfrm>
        </p:grpSpPr>
        <p:sp>
          <p:nvSpPr>
            <p:cNvPr id="9" name="問題"/>
            <p:cNvSpPr/>
            <p:nvPr/>
          </p:nvSpPr>
          <p:spPr>
            <a:xfrm>
              <a:off x="1280160" y="2212848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問題｜</a:t>
              </a: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Why 標籤"/>
            <p:cNvSpPr/>
            <p:nvPr/>
          </p:nvSpPr>
          <p:spPr>
            <a:xfrm>
              <a:off x="548640" y="288950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DEE7F1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1F386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1</a:t>
              </a:r>
              <a:endPara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1280160" y="2816352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排程常臨時變動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Why 標籤"/>
            <p:cNvSpPr/>
            <p:nvPr/>
          </p:nvSpPr>
          <p:spPr>
            <a:xfrm>
              <a:off x="548640" y="3493008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DEE7F1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1F386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2</a:t>
              </a:r>
              <a:endPara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處理"/>
            <p:cNvSpPr/>
            <p:nvPr/>
          </p:nvSpPr>
          <p:spPr>
            <a:xfrm>
              <a:off x="1280160" y="3419856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業務插單未經評估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4" name="Why 標籤"/>
            <p:cNvSpPr/>
            <p:nvPr/>
          </p:nvSpPr>
          <p:spPr>
            <a:xfrm>
              <a:off x="548640" y="4096512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DEE7F1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1F386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3</a:t>
              </a:r>
              <a:endPara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5" name="處理"/>
            <p:cNvSpPr/>
            <p:nvPr/>
          </p:nvSpPr>
          <p:spPr>
            <a:xfrm>
              <a:off x="1280160" y="4023360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沒有需求凍結點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6" name="Why 標籤"/>
            <p:cNvSpPr/>
            <p:nvPr/>
          </p:nvSpPr>
          <p:spPr>
            <a:xfrm>
              <a:off x="548640" y="4700016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DEE7F1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1F386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4</a:t>
              </a:r>
              <a:endPara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7" name="處理"/>
            <p:cNvSpPr/>
            <p:nvPr/>
          </p:nvSpPr>
          <p:spPr>
            <a:xfrm>
              <a:off x="1280160" y="4626864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變更規則未明訂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8" name="Why 標籤"/>
            <p:cNvSpPr/>
            <p:nvPr/>
          </p:nvSpPr>
          <p:spPr>
            <a:xfrm>
              <a:off x="548640" y="5303520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DEE7F1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1F3864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Why 5</a:t>
              </a:r>
              <a:endParaRPr lang="zh-TW" alt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處理"/>
            <p:cNvSpPr/>
            <p:nvPr/>
          </p:nvSpPr>
          <p:spPr>
            <a:xfrm>
              <a:off x="1280160" y="5230368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19050">
              <a:solidFill>
                <a:srgbClr val="1F4E7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缺少跨部門審查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0" name="Why 標籤"/>
            <p:cNvSpPr/>
            <p:nvPr/>
          </p:nvSpPr>
          <p:spPr>
            <a:xfrm>
              <a:off x="548640" y="5907024"/>
              <a:ext cx="603504" cy="237744"/>
            </a:xfrm>
            <a:prstGeom prst="roundRect">
              <a:avLst>
                <a:gd name="adj" fmla="val 500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根因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1" name="處理"/>
            <p:cNvSpPr/>
            <p:nvPr/>
          </p:nvSpPr>
          <p:spPr>
            <a:xfrm>
              <a:off x="1280160" y="5833872"/>
              <a:ext cx="3154680" cy="384048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缺少需求變更管理規則</a:t>
              </a:r>
              <a:endPara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9" idx="2"/>
              <a:endCxn id="11" idx="0"/>
            </p:cNvCxnSpPr>
            <p:nvPr/>
          </p:nvCxnSpPr>
          <p:spPr>
            <a:xfrm>
              <a:off x="2857500" y="2596896"/>
              <a:ext cx="0" cy="2194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23" name="連接線"/>
            <p:cNvCxnSpPr>
              <a:stCxn id="11" idx="2"/>
              <a:endCxn id="13" idx="0"/>
            </p:cNvCxnSpPr>
            <p:nvPr/>
          </p:nvCxnSpPr>
          <p:spPr>
            <a:xfrm>
              <a:off x="2857500" y="3200400"/>
              <a:ext cx="0" cy="2194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24" name="連接線"/>
            <p:cNvCxnSpPr>
              <a:stCxn id="13" idx="2"/>
              <a:endCxn id="15" idx="0"/>
            </p:cNvCxnSpPr>
            <p:nvPr/>
          </p:nvCxnSpPr>
          <p:spPr>
            <a:xfrm>
              <a:off x="2857500" y="3803904"/>
              <a:ext cx="0" cy="2194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25" name="連接線"/>
            <p:cNvCxnSpPr>
              <a:stCxn id="15" idx="2"/>
              <a:endCxn id="17" idx="0"/>
            </p:cNvCxnSpPr>
            <p:nvPr/>
          </p:nvCxnSpPr>
          <p:spPr>
            <a:xfrm>
              <a:off x="2857500" y="4407408"/>
              <a:ext cx="0" cy="2194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26" name="連接線"/>
            <p:cNvCxnSpPr>
              <a:stCxn id="17" idx="2"/>
              <a:endCxn id="19" idx="0"/>
            </p:cNvCxnSpPr>
            <p:nvPr/>
          </p:nvCxnSpPr>
          <p:spPr>
            <a:xfrm>
              <a:off x="2857500" y="5010912"/>
              <a:ext cx="0" cy="2194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27" name="連接線"/>
            <p:cNvCxnSpPr>
              <a:stCxn id="19" idx="2"/>
              <a:endCxn id="21" idx="0"/>
            </p:cNvCxnSpPr>
            <p:nvPr/>
          </p:nvCxnSpPr>
          <p:spPr>
            <a:xfrm>
              <a:off x="2857500" y="5614416"/>
              <a:ext cx="0" cy="219456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28" name="Text 26"/>
          <p:cNvSpPr/>
          <p:nvPr/>
        </p:nvSpPr>
        <p:spPr>
          <a:xfrm>
            <a:off x="4937760" y="17647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組合名稱"/>
          <p:cNvSpPr/>
          <p:nvPr/>
        </p:nvSpPr>
        <p:spPr>
          <a:xfrm>
            <a:off x="5093208" y="1737360"/>
            <a:ext cx="654984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多因 → 問題（4 個原因）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Multiple Causes → Problem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4937760" y="2048256"/>
            <a:ext cx="670529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多因 → 問題（4 個原因）"/>
          <p:cNvGrpSpPr/>
          <p:nvPr/>
        </p:nvGrpSpPr>
        <p:grpSpPr>
          <a:xfrm>
            <a:off x="4937760" y="2738628"/>
            <a:ext cx="6705295" cy="3378708"/>
            <a:chOff x="4937760" y="2738628"/>
            <a:chExt cx="6705295" cy="3378708"/>
          </a:xfrm>
        </p:grpSpPr>
        <p:sp>
          <p:nvSpPr>
            <p:cNvPr id="31" name="狀態標籤"/>
            <p:cNvSpPr/>
            <p:nvPr/>
          </p:nvSpPr>
          <p:spPr>
            <a:xfrm>
              <a:off x="4937760" y="2894076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原因"/>
            <p:cNvSpPr/>
            <p:nvPr/>
          </p:nvSpPr>
          <p:spPr>
            <a:xfrm>
              <a:off x="5632704" y="2738628"/>
              <a:ext cx="3108960" cy="54864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新進人員操作不熟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狀態標籤"/>
            <p:cNvSpPr/>
            <p:nvPr/>
          </p:nvSpPr>
          <p:spPr>
            <a:xfrm>
              <a:off x="4937760" y="3589020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4" name="原因"/>
            <p:cNvSpPr/>
            <p:nvPr/>
          </p:nvSpPr>
          <p:spPr>
            <a:xfrm>
              <a:off x="5632704" y="3433572"/>
              <a:ext cx="3108960" cy="54864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機｜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設備參數漂移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5" name="狀態標籤"/>
            <p:cNvSpPr/>
            <p:nvPr/>
          </p:nvSpPr>
          <p:spPr>
            <a:xfrm>
              <a:off x="4937760" y="4283964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排除</a:t>
              </a:r>
              <a:endParaRPr lang="zh-TW" alt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6" name="原因"/>
            <p:cNvSpPr/>
            <p:nvPr/>
          </p:nvSpPr>
          <p:spPr>
            <a:xfrm>
              <a:off x="5632704" y="4128516"/>
              <a:ext cx="3108960" cy="54864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dash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料｜</a:t>
              </a:r>
              <a:r>
                <a:rPr lang="zh-TW" alt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來料批次差異</a:t>
              </a:r>
              <a:endParaRPr lang="zh-TW" alt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7" name="狀態標籤"/>
            <p:cNvSpPr/>
            <p:nvPr/>
          </p:nvSpPr>
          <p:spPr>
            <a:xfrm>
              <a:off x="4937760" y="4978908"/>
              <a:ext cx="566928" cy="237744"/>
            </a:xfrm>
            <a:prstGeom prst="roundRect">
              <a:avLst>
                <a:gd name="adj" fmla="val 500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8" name="原因"/>
            <p:cNvSpPr/>
            <p:nvPr/>
          </p:nvSpPr>
          <p:spPr>
            <a:xfrm>
              <a:off x="5632704" y="4823460"/>
              <a:ext cx="3108960" cy="54864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101600" tIns="0" rIns="5080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法｜</a:t>
              </a: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SOP 版本未更新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9" name="問題"/>
            <p:cNvSpPr/>
            <p:nvPr/>
          </p:nvSpPr>
          <p:spPr>
            <a:xfrm>
              <a:off x="9859975" y="3552444"/>
              <a:ext cx="1737360" cy="100584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22225">
              <a:solidFill>
                <a:srgbClr val="C0504D"/>
              </a:solidFill>
              <a:prstDash val="solid"/>
            </a:ln>
          </p:spPr>
          <p:txBody>
            <a:bodyPr wrap="square" lIns="38100" tIns="38100" rIns="38100" bIns="38100" rtlCol="0" anchor="ctr">
              <a:normAutofit/>
            </a:bodyPr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2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2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zh-TW" altLang="en-US" sz="10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不良率上升</a:t>
              </a:r>
              <a:endPara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0" name="連接線"/>
            <p:cNvCxnSpPr>
              <a:stCxn id="36" idx="3"/>
              <a:endCxn id="39" idx="1"/>
            </p:cNvCxnSpPr>
            <p:nvPr/>
          </p:nvCxnSpPr>
          <p:spPr>
            <a:xfrm flipV="1">
              <a:off x="8741664" y="4055364"/>
              <a:ext cx="1118311" cy="347472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BFBFBF"/>
              </a:solidFill>
              <a:prstDash val="sysDash"/>
              <a:tailEnd type="triangle"/>
            </a:ln>
          </p:spPr>
        </p:cxnSp>
        <p:cxnSp>
          <p:nvCxnSpPr>
            <p:cNvPr id="41" name="連接線"/>
            <p:cNvCxnSpPr>
              <a:stCxn id="32" idx="3"/>
              <a:endCxn id="39" idx="1"/>
            </p:cNvCxnSpPr>
            <p:nvPr/>
          </p:nvCxnSpPr>
          <p:spPr>
            <a:xfrm>
              <a:off x="8741664" y="3012948"/>
              <a:ext cx="1118311" cy="1042416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42" name="連接線"/>
            <p:cNvCxnSpPr>
              <a:stCxn id="34" idx="3"/>
              <a:endCxn id="39" idx="1"/>
            </p:cNvCxnSpPr>
            <p:nvPr/>
          </p:nvCxnSpPr>
          <p:spPr>
            <a:xfrm>
              <a:off x="8741664" y="3707892"/>
              <a:ext cx="1118311" cy="347472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43" name="連接線"/>
            <p:cNvCxnSpPr>
              <a:stCxn id="38" idx="3"/>
              <a:endCxn id="39" idx="1"/>
            </p:cNvCxnSpPr>
            <p:nvPr/>
          </p:nvCxnSpPr>
          <p:spPr>
            <a:xfrm flipV="1">
              <a:off x="8741664" y="4055364"/>
              <a:ext cx="1118311" cy="1042416"/>
            </a:xfrm>
            <a:prstGeom prst="bentConnector3">
              <a:avLst>
                <a:gd name="adj1" fmla="val 50000"/>
              </a:avLst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sp>
          <p:nvSpPr>
            <p:cNvPr id="44" name="Text 42"/>
            <p:cNvSpPr/>
            <p:nvPr/>
          </p:nvSpPr>
          <p:spPr>
            <a:xfrm>
              <a:off x="4937760" y="5916168"/>
              <a:ext cx="6705295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確認＝已用數據驗證；排除＝已查證非主因（虛線）。標籤文字可在工作室「改字」或 PowerPoint 中修改</a:t>
              </a:r>
              <a:endPara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5" name="Text 43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8920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4" name="小節"/>
          <p:cNvSpPr/>
          <p:nvPr/>
        </p:nvSpPr>
        <p:spPr>
          <a:xfrm>
            <a:off x="70408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1" name="Text 26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#1F4E79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#1F3864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#DEE7F1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#2E75B6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36pt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白底外框 1.25pt＋陰影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全圓角膠囊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實心圓＋白環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1.25pt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漸層 V 形箭號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標題＋內文、角落標籤、表頭強調三種基本卡片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單一標籤、堆疊清單、編號徽章與圈號清單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2E75B6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大外框圓＋疊放小圓，以及三段式流程鏈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1783080" y="2286000"/>
            <a:ext cx="2651760" cy="2651760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762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細直線、折線、點狀線、曲線、▶ 小三角與區塊箭號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開始／結束、處理、判斷、輸入輸出、文件、資料庫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7F1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4" name="連接線"/>
          <p:cNvCxnSpPr>
            <a:stCxn id="24" idx="2"/>
            <a:endCxn id="33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7F7F7F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7F7F7F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樹狀分支、十字矩陣與半透明寬欄條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1F4E79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關鍵在於把資訊整理成對方能理解的結構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外圈細環"/>
          <p:cNvSpPr/>
          <p:nvPr/>
        </p:nvSpPr>
        <p:spPr>
          <a:xfrm>
            <a:off x="1144981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外圈細環"/>
          <p:cNvSpPr/>
          <p:nvPr/>
        </p:nvSpPr>
        <p:spPr>
          <a:xfrm>
            <a:off x="4843120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外圈細環"/>
          <p:cNvSpPr/>
          <p:nvPr/>
        </p:nvSpPr>
        <p:spPr>
          <a:xfrm>
            <a:off x="8541258" y="1764792"/>
            <a:ext cx="2505456" cy="2505456"/>
          </a:xfrm>
          <a:prstGeom prst="ellipse">
            <a:avLst/>
          </a:prstGeom>
          <a:noFill/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D9D9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從現況、課題到行動方案的思考路徑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Objective</a:t>
            </a:r>
            <a:endParaRPr lang="zh-TW" altLang="en-US" sz="1000" dirty="0">
              <a:solidFill>
                <a:srgbClr val="BCCAD7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3600" b="1" dirty="0">
              <a:solidFill>
                <a:srgbClr val="1F4E7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從個人特質到可遷移能力的三階段路徑</a:t>
            </a:r>
            <a:endParaRPr lang="zh-TW" altLang="en-US" sz="1600" dirty="0">
              <a:solidFill>
                <a:srgbClr val="2E75B6"/>
              </a:solidFill>
              <a:latin typeface="Microsoft JhengHei Light" pitchFamily="34" charset="0"/>
              <a:ea typeface="Microsoft JhengHei Light" pitchFamily="34" charset="-120"/>
              <a:cs typeface="Microsoft JhengHei Light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0292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2E75B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1F4E79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1F3864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1F4E79"/>
          </a:solidFill>
          <a:ln w="22225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2E75B6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商務深藍卡片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16 / 16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2026-10-09T05:15:31Z</dcterms:created>
  <dcterms:modified xsi:type="dcterms:W3CDTF">2026-10-09T05:15:31Z</dcterms:modified>
</cp:coreProperties>
</file>