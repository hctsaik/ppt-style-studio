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畫布面板"/>
          <p:cNvSpPr/>
          <p:nvPr/>
        </p:nvSpPr>
        <p:spPr>
          <a:xfrm>
            <a:off x="228600" y="228600"/>
            <a:ext cx="11734495" cy="6400800"/>
          </a:xfrm>
          <a:prstGeom prst="roundRect">
            <a:avLst>
              <a:gd name="adj" fmla="val 857"/>
            </a:avLst>
          </a:prstGeom>
          <a:solidFill>
            <a:srgbClr val="F4F4F1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標題"/>
          <p:cNvSpPr/>
          <p:nvPr/>
        </p:nvSpPr>
        <p:spPr>
          <a:xfrm>
            <a:off x="548640" y="329184"/>
            <a:ext cx="100584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2F5D5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元件總表 Element Catalog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548640" y="1069848"/>
            <a:ext cx="5380736" cy="365760"/>
          </a:xfrm>
          <a:prstGeom prst="rect">
            <a:avLst/>
          </a:prstGeom>
          <a:solidFill>
            <a:srgbClr val="2F5D50"/>
          </a:solidFill>
          <a:ln/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一頁看完本風格的所有元件變化：挑好樣式，直接複製圖形使用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5993384" y="1069848"/>
            <a:ext cx="109728" cy="365760"/>
          </a:xfrm>
          <a:prstGeom prst="rect">
            <a:avLst/>
          </a:prstGeom>
          <a:solidFill>
            <a:srgbClr val="C9A22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類別"/>
          <p:cNvSpPr/>
          <p:nvPr/>
        </p:nvSpPr>
        <p:spPr>
          <a:xfrm>
            <a:off x="548640" y="1650492"/>
            <a:ext cx="1207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0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流程方塊</a:t>
            </a:r>
            <a:endParaRPr lang="en-US" sz="14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Process</a:t>
            </a:r>
            <a:endParaRPr lang="en-US" sz="1400" dirty="0"/>
          </a:p>
        </p:txBody>
      </p:sp>
      <p:sp>
        <p:nvSpPr>
          <p:cNvPr id="7" name="流程方塊"/>
          <p:cNvSpPr/>
          <p:nvPr/>
        </p:nvSpPr>
        <p:spPr>
          <a:xfrm>
            <a:off x="1998160" y="1581912"/>
            <a:ext cx="1097280" cy="384048"/>
          </a:xfrm>
          <a:prstGeom prst="roundRect">
            <a:avLst>
              <a:gd name="adj" fmla="val 23810"/>
            </a:avLst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處理步驟</a:t>
            </a:r>
            <a:endParaRPr lang="en-US" sz="1150" dirty="0"/>
          </a:p>
        </p:txBody>
      </p:sp>
      <p:sp>
        <p:nvSpPr>
          <p:cNvPr id="8" name="圖說"/>
          <p:cNvSpPr/>
          <p:nvPr/>
        </p:nvSpPr>
        <p:spPr>
          <a:xfrm>
            <a:off x="1874520" y="1997964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無陰影・外框</a:t>
            </a:r>
            <a:endParaRPr lang="en-US" sz="850" dirty="0"/>
          </a:p>
        </p:txBody>
      </p:sp>
      <p:sp>
        <p:nvSpPr>
          <p:cNvPr id="9" name="流程方塊"/>
          <p:cNvSpPr/>
          <p:nvPr/>
        </p:nvSpPr>
        <p:spPr>
          <a:xfrm>
            <a:off x="3397584" y="1581912"/>
            <a:ext cx="1097280" cy="384048"/>
          </a:xfrm>
          <a:prstGeom prst="roundRect">
            <a:avLst>
              <a:gd name="adj" fmla="val 23810"/>
            </a:avLst>
          </a:prstGeom>
          <a:solidFill>
            <a:srgbClr val="FFFFFF"/>
          </a:solidFill>
          <a:ln w="6350">
            <a:solidFill>
              <a:srgbClr val="D9D9D9"/>
            </a:solidFill>
            <a:prstDash val="solid"/>
          </a:ln>
          <a:effectLst>
            <a:outerShdw blurRad="88900" dist="25400" dir="5400000" sx="100000" sy="100000" algn="ctr" rotWithShape="0">
              <a:srgbClr val="000000">
                <a:alpha val="25000"/>
              </a:srgbClr>
            </a:outerShdw>
          </a:effectLst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處理步驟</a:t>
            </a:r>
            <a:endParaRPr lang="en-US" sz="1150" dirty="0"/>
          </a:p>
        </p:txBody>
      </p:sp>
      <p:sp>
        <p:nvSpPr>
          <p:cNvPr id="10" name="圖說"/>
          <p:cNvSpPr/>
          <p:nvPr/>
        </p:nvSpPr>
        <p:spPr>
          <a:xfrm>
            <a:off x="3273944" y="1997964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柔和陰影</a:t>
            </a:r>
            <a:endParaRPr lang="en-US" sz="850" dirty="0"/>
          </a:p>
        </p:txBody>
      </p:sp>
      <p:sp>
        <p:nvSpPr>
          <p:cNvPr id="11" name="流程方塊"/>
          <p:cNvSpPr/>
          <p:nvPr/>
        </p:nvSpPr>
        <p:spPr>
          <a:xfrm>
            <a:off x="4797008" y="1581912"/>
            <a:ext cx="1097280" cy="384048"/>
          </a:xfrm>
          <a:prstGeom prst="roundRect">
            <a:avLst>
              <a:gd name="adj" fmla="val 23810"/>
            </a:avLst>
          </a:prstGeom>
          <a:solidFill>
            <a:srgbClr val="E2EBE7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24483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處理步驟</a:t>
            </a:r>
            <a:endParaRPr lang="en-US" sz="1150" dirty="0"/>
          </a:p>
        </p:txBody>
      </p:sp>
      <p:sp>
        <p:nvSpPr>
          <p:cNvPr id="12" name="圖說"/>
          <p:cNvSpPr/>
          <p:nvPr/>
        </p:nvSpPr>
        <p:spPr>
          <a:xfrm>
            <a:off x="4673368" y="1997964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淺主色底</a:t>
            </a:r>
            <a:endParaRPr lang="en-US" sz="850" dirty="0"/>
          </a:p>
        </p:txBody>
      </p:sp>
      <p:sp>
        <p:nvSpPr>
          <p:cNvPr id="13" name="流程方塊"/>
          <p:cNvSpPr/>
          <p:nvPr/>
        </p:nvSpPr>
        <p:spPr>
          <a:xfrm>
            <a:off x="6196432" y="1581912"/>
            <a:ext cx="1097280" cy="384048"/>
          </a:xfrm>
          <a:prstGeom prst="roundRect">
            <a:avLst>
              <a:gd name="adj" fmla="val 23810"/>
            </a:avLst>
          </a:prstGeom>
          <a:solidFill>
            <a:srgbClr val="E6E6E6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處理步驟</a:t>
            </a:r>
            <a:endParaRPr lang="en-US" sz="1150" dirty="0"/>
          </a:p>
        </p:txBody>
      </p:sp>
      <p:sp>
        <p:nvSpPr>
          <p:cNvPr id="14" name="圖說"/>
          <p:cNvSpPr/>
          <p:nvPr/>
        </p:nvSpPr>
        <p:spPr>
          <a:xfrm>
            <a:off x="6072792" y="1997964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淺灰底</a:t>
            </a:r>
            <a:endParaRPr lang="en-US" sz="850" dirty="0"/>
          </a:p>
        </p:txBody>
      </p:sp>
      <p:sp>
        <p:nvSpPr>
          <p:cNvPr id="15" name="流程方塊"/>
          <p:cNvSpPr/>
          <p:nvPr/>
        </p:nvSpPr>
        <p:spPr>
          <a:xfrm>
            <a:off x="7595855" y="1581912"/>
            <a:ext cx="1097280" cy="384048"/>
          </a:xfrm>
          <a:prstGeom prst="roundRect">
            <a:avLst>
              <a:gd name="adj" fmla="val 23810"/>
            </a:avLst>
          </a:prstGeom>
          <a:solidFill>
            <a:srgbClr val="FFFFFF"/>
          </a:solidFill>
          <a:ln w="22225">
            <a:solidFill>
              <a:srgbClr val="2F5D50"/>
            </a:solidFill>
            <a:prstDash val="solid"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2F5D5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處理步驟</a:t>
            </a:r>
            <a:endParaRPr lang="en-US" sz="1150" dirty="0"/>
          </a:p>
        </p:txBody>
      </p:sp>
      <p:sp>
        <p:nvSpPr>
          <p:cNvPr id="16" name="圖說"/>
          <p:cNvSpPr/>
          <p:nvPr/>
        </p:nvSpPr>
        <p:spPr>
          <a:xfrm>
            <a:off x="7472216" y="1997964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主色粗外框</a:t>
            </a:r>
            <a:endParaRPr lang="en-US" sz="850" dirty="0"/>
          </a:p>
        </p:txBody>
      </p:sp>
      <p:sp>
        <p:nvSpPr>
          <p:cNvPr id="17" name="流程方塊"/>
          <p:cNvSpPr/>
          <p:nvPr/>
        </p:nvSpPr>
        <p:spPr>
          <a:xfrm>
            <a:off x="8995279" y="1581912"/>
            <a:ext cx="1097280" cy="384048"/>
          </a:xfrm>
          <a:prstGeom prst="roundRect">
            <a:avLst>
              <a:gd name="adj" fmla="val 23810"/>
            </a:avLst>
          </a:prstGeom>
          <a:solidFill>
            <a:srgbClr val="2F5D50"/>
          </a:solidFill>
          <a:ln/>
          <a:effectLst>
            <a:outerShdw blurRad="53340" dist="19050" dir="5400000" sx="100000" sy="100000" algn="ctr" rotWithShape="0">
              <a:srgbClr val="000000">
                <a:alpha val="29000"/>
              </a:srgbClr>
            </a:outerShdw>
          </a:effectLst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關鍵步驟</a:t>
            </a:r>
            <a:endParaRPr lang="en-US" sz="1150" dirty="0"/>
          </a:p>
        </p:txBody>
      </p:sp>
      <p:sp>
        <p:nvSpPr>
          <p:cNvPr id="18" name="圖說"/>
          <p:cNvSpPr/>
          <p:nvPr/>
        </p:nvSpPr>
        <p:spPr>
          <a:xfrm>
            <a:off x="8871639" y="1997964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深底白字強調</a:t>
            </a:r>
            <a:endParaRPr lang="en-US" sz="850" dirty="0"/>
          </a:p>
        </p:txBody>
      </p:sp>
      <p:sp>
        <p:nvSpPr>
          <p:cNvPr id="19" name="流程方塊"/>
          <p:cNvSpPr/>
          <p:nvPr/>
        </p:nvSpPr>
        <p:spPr>
          <a:xfrm>
            <a:off x="10394703" y="1581912"/>
            <a:ext cx="1097280" cy="384048"/>
          </a:xfrm>
          <a:prstGeom prst="roundRect">
            <a:avLst>
              <a:gd name="adj" fmla="val 23810"/>
            </a:avLst>
          </a:prstGeom>
          <a:solidFill>
            <a:srgbClr val="FFFFFF"/>
          </a:solidFill>
          <a:ln w="12700">
            <a:solidFill>
              <a:srgbClr val="8C8C8C"/>
            </a:solidFill>
            <a:prstDash val="dash"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待定步驟</a:t>
            </a:r>
            <a:endParaRPr lang="en-US" sz="1150" dirty="0"/>
          </a:p>
        </p:txBody>
      </p:sp>
      <p:sp>
        <p:nvSpPr>
          <p:cNvPr id="20" name="圖說"/>
          <p:cNvSpPr/>
          <p:nvPr/>
        </p:nvSpPr>
        <p:spPr>
          <a:xfrm>
            <a:off x="10271063" y="1997964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虛線・待定</a:t>
            </a:r>
            <a:endParaRPr lang="en-US" sz="850" dirty="0"/>
          </a:p>
        </p:txBody>
      </p:sp>
      <p:sp>
        <p:nvSpPr>
          <p:cNvPr id="21" name="線條"/>
          <p:cNvSpPr/>
          <p:nvPr/>
        </p:nvSpPr>
        <p:spPr>
          <a:xfrm>
            <a:off x="548640" y="2171700"/>
            <a:ext cx="11094415" cy="0"/>
          </a:xfrm>
          <a:prstGeom prst="line">
            <a:avLst/>
          </a:prstGeom>
          <a:noFill/>
          <a:ln w="6350">
            <a:solidFill>
              <a:srgbClr val="EAEAEA"/>
            </a:solidFill>
            <a:prstDash val="solid"/>
          </a:ln>
        </p:spPr>
      </p:sp>
      <p:sp>
        <p:nvSpPr>
          <p:cNvPr id="22" name="類別"/>
          <p:cNvSpPr/>
          <p:nvPr/>
        </p:nvSpPr>
        <p:spPr>
          <a:xfrm>
            <a:off x="548640" y="2336292"/>
            <a:ext cx="1207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0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判斷菱形</a:t>
            </a:r>
            <a:endParaRPr lang="en-US" sz="14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Decision</a:t>
            </a:r>
            <a:endParaRPr lang="en-US" sz="1400" dirty="0"/>
          </a:p>
        </p:txBody>
      </p:sp>
      <p:sp>
        <p:nvSpPr>
          <p:cNvPr id="23" name="判斷菱形"/>
          <p:cNvSpPr/>
          <p:nvPr/>
        </p:nvSpPr>
        <p:spPr>
          <a:xfrm>
            <a:off x="2066740" y="2221992"/>
            <a:ext cx="960120" cy="475488"/>
          </a:xfrm>
          <a:prstGeom prst="diamond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判斷？</a:t>
            </a:r>
            <a:endParaRPr lang="en-US" sz="1050" dirty="0"/>
          </a:p>
        </p:txBody>
      </p:sp>
      <p:sp>
        <p:nvSpPr>
          <p:cNvPr id="24" name="圖說"/>
          <p:cNvSpPr/>
          <p:nvPr/>
        </p:nvSpPr>
        <p:spPr>
          <a:xfrm>
            <a:off x="1874520" y="2729484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外框</a:t>
            </a:r>
            <a:endParaRPr lang="en-US" sz="850" dirty="0"/>
          </a:p>
        </p:txBody>
      </p:sp>
      <p:sp>
        <p:nvSpPr>
          <p:cNvPr id="25" name="判斷菱形"/>
          <p:cNvSpPr/>
          <p:nvPr/>
        </p:nvSpPr>
        <p:spPr>
          <a:xfrm>
            <a:off x="3466164" y="2221992"/>
            <a:ext cx="960120" cy="475488"/>
          </a:xfrm>
          <a:prstGeom prst="diamond">
            <a:avLst/>
          </a:prstGeom>
          <a:solidFill>
            <a:srgbClr val="FFFFFF"/>
          </a:solidFill>
          <a:ln w="6350">
            <a:solidFill>
              <a:srgbClr val="D9D9D9"/>
            </a:solidFill>
            <a:prstDash val="solid"/>
          </a:ln>
          <a:effectLst>
            <a:outerShdw blurRad="88900" dist="25400" dir="5400000" sx="100000" sy="100000" algn="ctr" rotWithShape="0">
              <a:srgbClr val="000000">
                <a:alpha val="2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判斷？</a:t>
            </a:r>
            <a:endParaRPr lang="en-US" sz="1050" dirty="0"/>
          </a:p>
        </p:txBody>
      </p:sp>
      <p:sp>
        <p:nvSpPr>
          <p:cNvPr id="26" name="圖說"/>
          <p:cNvSpPr/>
          <p:nvPr/>
        </p:nvSpPr>
        <p:spPr>
          <a:xfrm>
            <a:off x="3273944" y="2729484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柔和陰影</a:t>
            </a:r>
            <a:endParaRPr lang="en-US" sz="850" dirty="0"/>
          </a:p>
        </p:txBody>
      </p:sp>
      <p:sp>
        <p:nvSpPr>
          <p:cNvPr id="27" name="判斷菱形"/>
          <p:cNvSpPr/>
          <p:nvPr/>
        </p:nvSpPr>
        <p:spPr>
          <a:xfrm>
            <a:off x="4865588" y="2221992"/>
            <a:ext cx="960120" cy="475488"/>
          </a:xfrm>
          <a:prstGeom prst="diamond">
            <a:avLst/>
          </a:prstGeom>
          <a:solidFill>
            <a:srgbClr val="E2EBE7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24483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判斷？</a:t>
            </a:r>
            <a:endParaRPr lang="en-US" sz="1050" dirty="0"/>
          </a:p>
        </p:txBody>
      </p:sp>
      <p:sp>
        <p:nvSpPr>
          <p:cNvPr id="28" name="圖說"/>
          <p:cNvSpPr/>
          <p:nvPr/>
        </p:nvSpPr>
        <p:spPr>
          <a:xfrm>
            <a:off x="4673368" y="2729484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淺主色底</a:t>
            </a:r>
            <a:endParaRPr lang="en-US" sz="850" dirty="0"/>
          </a:p>
        </p:txBody>
      </p:sp>
      <p:sp>
        <p:nvSpPr>
          <p:cNvPr id="29" name="判斷菱形"/>
          <p:cNvSpPr/>
          <p:nvPr/>
        </p:nvSpPr>
        <p:spPr>
          <a:xfrm>
            <a:off x="6265012" y="2221992"/>
            <a:ext cx="960120" cy="475488"/>
          </a:xfrm>
          <a:prstGeom prst="diamond">
            <a:avLst/>
          </a:prstGeom>
          <a:solidFill>
            <a:srgbClr val="FFFFFF"/>
          </a:solidFill>
          <a:ln w="19050">
            <a:solidFill>
              <a:srgbClr val="2F5D50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2F5D5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判斷？</a:t>
            </a:r>
            <a:endParaRPr lang="en-US" sz="1050" dirty="0"/>
          </a:p>
        </p:txBody>
      </p:sp>
      <p:sp>
        <p:nvSpPr>
          <p:cNvPr id="30" name="圖說"/>
          <p:cNvSpPr/>
          <p:nvPr/>
        </p:nvSpPr>
        <p:spPr>
          <a:xfrm>
            <a:off x="6072792" y="2729484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主色外框</a:t>
            </a:r>
            <a:endParaRPr lang="en-US" sz="850" dirty="0"/>
          </a:p>
        </p:txBody>
      </p:sp>
      <p:sp>
        <p:nvSpPr>
          <p:cNvPr id="31" name="判斷菱形"/>
          <p:cNvSpPr/>
          <p:nvPr/>
        </p:nvSpPr>
        <p:spPr>
          <a:xfrm>
            <a:off x="7664435" y="2221992"/>
            <a:ext cx="960120" cy="475488"/>
          </a:xfrm>
          <a:prstGeom prst="diamond">
            <a:avLst/>
          </a:prstGeom>
          <a:solidFill>
            <a:srgbClr val="2F5D50"/>
          </a:solidFill>
          <a:ln/>
          <a:effectLst>
            <a:outerShdw blurRad="53340" dist="19050" dir="5400000" sx="100000" sy="100000" algn="ctr" rotWithShape="0">
              <a:srgbClr val="000000">
                <a:alpha val="29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判斷？</a:t>
            </a:r>
            <a:endParaRPr lang="en-US" sz="1050" dirty="0"/>
          </a:p>
        </p:txBody>
      </p:sp>
      <p:sp>
        <p:nvSpPr>
          <p:cNvPr id="32" name="圖說"/>
          <p:cNvSpPr/>
          <p:nvPr/>
        </p:nvSpPr>
        <p:spPr>
          <a:xfrm>
            <a:off x="7472216" y="2729484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深底白字強調</a:t>
            </a:r>
            <a:endParaRPr lang="en-US" sz="850" dirty="0"/>
          </a:p>
        </p:txBody>
      </p:sp>
      <p:sp>
        <p:nvSpPr>
          <p:cNvPr id="33" name="判斷菱形"/>
          <p:cNvSpPr/>
          <p:nvPr/>
        </p:nvSpPr>
        <p:spPr>
          <a:xfrm>
            <a:off x="9063859" y="2221992"/>
            <a:ext cx="960120" cy="475488"/>
          </a:xfrm>
          <a:prstGeom prst="diamond">
            <a:avLst/>
          </a:prstGeom>
          <a:solidFill>
            <a:srgbClr val="FFFFFF"/>
          </a:solidFill>
          <a:ln w="12700">
            <a:solidFill>
              <a:srgbClr val="8C8C8C"/>
            </a:solidFill>
            <a:prstDash val="dash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判斷？</a:t>
            </a:r>
            <a:endParaRPr lang="en-US" sz="1050" dirty="0"/>
          </a:p>
        </p:txBody>
      </p:sp>
      <p:sp>
        <p:nvSpPr>
          <p:cNvPr id="34" name="圖說"/>
          <p:cNvSpPr/>
          <p:nvPr/>
        </p:nvSpPr>
        <p:spPr>
          <a:xfrm>
            <a:off x="8871639" y="2729484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虛線・待確認</a:t>
            </a:r>
            <a:endParaRPr lang="en-US" sz="850" dirty="0"/>
          </a:p>
        </p:txBody>
      </p:sp>
      <p:sp>
        <p:nvSpPr>
          <p:cNvPr id="35" name="判斷菱形"/>
          <p:cNvSpPr/>
          <p:nvPr/>
        </p:nvSpPr>
        <p:spPr>
          <a:xfrm>
            <a:off x="10330695" y="2221992"/>
            <a:ext cx="566928" cy="475488"/>
          </a:xfrm>
          <a:prstGeom prst="diamond">
            <a:avLst/>
          </a:prstGeom>
          <a:solidFill>
            <a:srgbClr val="FFFFFF"/>
          </a:solidFill>
          <a:ln w="15875">
            <a:solidFill>
              <a:srgbClr val="2F5D50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6" name="線條"/>
          <p:cNvSpPr/>
          <p:nvPr/>
        </p:nvSpPr>
        <p:spPr>
          <a:xfrm>
            <a:off x="10897623" y="2459736"/>
            <a:ext cx="548640" cy="0"/>
          </a:xfrm>
          <a:prstGeom prst="line">
            <a:avLst/>
          </a:prstGeom>
          <a:noFill/>
          <a:ln w="19050">
            <a:solidFill>
              <a:srgbClr val="8C8C8C"/>
            </a:solidFill>
            <a:prstDash val="solid"/>
            <a:tailEnd type="triangle"/>
          </a:ln>
        </p:spPr>
      </p:sp>
      <p:sp>
        <p:nvSpPr>
          <p:cNvPr id="37" name="標註"/>
          <p:cNvSpPr/>
          <p:nvPr/>
        </p:nvSpPr>
        <p:spPr>
          <a:xfrm>
            <a:off x="10915911" y="2276856"/>
            <a:ext cx="2743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是</a:t>
            </a:r>
            <a:endParaRPr lang="en-US" sz="800" dirty="0"/>
          </a:p>
        </p:txBody>
      </p:sp>
      <p:sp>
        <p:nvSpPr>
          <p:cNvPr id="38" name="圖說"/>
          <p:cNvSpPr/>
          <p:nvPr/>
        </p:nvSpPr>
        <p:spPr>
          <a:xfrm>
            <a:off x="10271063" y="2729484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判斷＋分岔箭頭</a:t>
            </a:r>
            <a:endParaRPr lang="en-US" sz="850" dirty="0"/>
          </a:p>
        </p:txBody>
      </p:sp>
      <p:sp>
        <p:nvSpPr>
          <p:cNvPr id="39" name="線條"/>
          <p:cNvSpPr/>
          <p:nvPr/>
        </p:nvSpPr>
        <p:spPr>
          <a:xfrm>
            <a:off x="548640" y="2903220"/>
            <a:ext cx="11094415" cy="0"/>
          </a:xfrm>
          <a:prstGeom prst="line">
            <a:avLst/>
          </a:prstGeom>
          <a:noFill/>
          <a:ln w="6350">
            <a:solidFill>
              <a:srgbClr val="EAEAEA"/>
            </a:solidFill>
            <a:prstDash val="solid"/>
          </a:ln>
        </p:spPr>
      </p:sp>
      <p:sp>
        <p:nvSpPr>
          <p:cNvPr id="40" name="類別"/>
          <p:cNvSpPr/>
          <p:nvPr/>
        </p:nvSpPr>
        <p:spPr>
          <a:xfrm>
            <a:off x="548640" y="3003804"/>
            <a:ext cx="1207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0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開始／結束</a:t>
            </a:r>
            <a:endParaRPr lang="en-US" sz="14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Start / End</a:t>
            </a:r>
            <a:endParaRPr lang="en-US" sz="1400" dirty="0"/>
          </a:p>
        </p:txBody>
      </p:sp>
      <p:sp>
        <p:nvSpPr>
          <p:cNvPr id="41" name="開始／結束"/>
          <p:cNvSpPr/>
          <p:nvPr/>
        </p:nvSpPr>
        <p:spPr>
          <a:xfrm>
            <a:off x="1998160" y="2953512"/>
            <a:ext cx="1097280" cy="34747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875">
            <a:solidFill>
              <a:srgbClr val="2F5D50"/>
            </a:solidFill>
            <a:prstDash val="solid"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2F5D5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開始</a:t>
            </a:r>
            <a:endParaRPr lang="en-US" sz="1150" dirty="0"/>
          </a:p>
        </p:txBody>
      </p:sp>
      <p:sp>
        <p:nvSpPr>
          <p:cNvPr id="42" name="圖說"/>
          <p:cNvSpPr/>
          <p:nvPr/>
        </p:nvSpPr>
        <p:spPr>
          <a:xfrm>
            <a:off x="1874520" y="3332988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外框</a:t>
            </a:r>
            <a:endParaRPr lang="en-US" sz="850" dirty="0"/>
          </a:p>
        </p:txBody>
      </p:sp>
      <p:sp>
        <p:nvSpPr>
          <p:cNvPr id="43" name="開始／結束"/>
          <p:cNvSpPr/>
          <p:nvPr/>
        </p:nvSpPr>
        <p:spPr>
          <a:xfrm>
            <a:off x="3397584" y="2953512"/>
            <a:ext cx="1097280" cy="347472"/>
          </a:xfrm>
          <a:prstGeom prst="roundRect">
            <a:avLst>
              <a:gd name="adj" fmla="val 50000"/>
            </a:avLst>
          </a:prstGeom>
          <a:solidFill>
            <a:srgbClr val="E2EBE7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24483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開始</a:t>
            </a:r>
            <a:endParaRPr lang="en-US" sz="1150" dirty="0"/>
          </a:p>
        </p:txBody>
      </p:sp>
      <p:sp>
        <p:nvSpPr>
          <p:cNvPr id="44" name="圖說"/>
          <p:cNvSpPr/>
          <p:nvPr/>
        </p:nvSpPr>
        <p:spPr>
          <a:xfrm>
            <a:off x="3273944" y="3332988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淺主色底</a:t>
            </a:r>
            <a:endParaRPr lang="en-US" sz="850" dirty="0"/>
          </a:p>
        </p:txBody>
      </p:sp>
      <p:sp>
        <p:nvSpPr>
          <p:cNvPr id="45" name="開始／結束"/>
          <p:cNvSpPr/>
          <p:nvPr/>
        </p:nvSpPr>
        <p:spPr>
          <a:xfrm>
            <a:off x="4797008" y="2953512"/>
            <a:ext cx="1097280" cy="347472"/>
          </a:xfrm>
          <a:prstGeom prst="roundRect">
            <a:avLst>
              <a:gd name="adj" fmla="val 50000"/>
            </a:avLst>
          </a:prstGeom>
          <a:solidFill>
            <a:srgbClr val="E6E6E6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開始</a:t>
            </a:r>
            <a:endParaRPr lang="en-US" sz="1150" dirty="0"/>
          </a:p>
        </p:txBody>
      </p:sp>
      <p:sp>
        <p:nvSpPr>
          <p:cNvPr id="46" name="圖說"/>
          <p:cNvSpPr/>
          <p:nvPr/>
        </p:nvSpPr>
        <p:spPr>
          <a:xfrm>
            <a:off x="4673368" y="3332988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淺灰底</a:t>
            </a:r>
            <a:endParaRPr lang="en-US" sz="850" dirty="0"/>
          </a:p>
        </p:txBody>
      </p:sp>
      <p:sp>
        <p:nvSpPr>
          <p:cNvPr id="47" name="開始／結束"/>
          <p:cNvSpPr/>
          <p:nvPr/>
        </p:nvSpPr>
        <p:spPr>
          <a:xfrm>
            <a:off x="6196432" y="2953512"/>
            <a:ext cx="1097280" cy="34747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6350">
            <a:solidFill>
              <a:srgbClr val="D9D9D9"/>
            </a:solidFill>
            <a:prstDash val="solid"/>
          </a:ln>
          <a:effectLst>
            <a:outerShdw blurRad="88900" dist="25400" dir="5400000" sx="100000" sy="100000" algn="ctr" rotWithShape="0">
              <a:srgbClr val="000000">
                <a:alpha val="25000"/>
              </a:srgbClr>
            </a:outerShdw>
          </a:effectLst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開始</a:t>
            </a:r>
            <a:endParaRPr lang="en-US" sz="1150" dirty="0"/>
          </a:p>
        </p:txBody>
      </p:sp>
      <p:sp>
        <p:nvSpPr>
          <p:cNvPr id="48" name="圖說"/>
          <p:cNvSpPr/>
          <p:nvPr/>
        </p:nvSpPr>
        <p:spPr>
          <a:xfrm>
            <a:off x="6072792" y="3332988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柔和陰影</a:t>
            </a:r>
            <a:endParaRPr lang="en-US" sz="850" dirty="0"/>
          </a:p>
        </p:txBody>
      </p:sp>
      <p:sp>
        <p:nvSpPr>
          <p:cNvPr id="49" name="開始／結束"/>
          <p:cNvSpPr/>
          <p:nvPr/>
        </p:nvSpPr>
        <p:spPr>
          <a:xfrm>
            <a:off x="7595855" y="2953512"/>
            <a:ext cx="1097280" cy="347472"/>
          </a:xfrm>
          <a:prstGeom prst="roundRect">
            <a:avLst>
              <a:gd name="adj" fmla="val 50000"/>
            </a:avLst>
          </a:prstGeom>
          <a:solidFill>
            <a:srgbClr val="2F5D50"/>
          </a:solidFill>
          <a:ln/>
          <a:effectLst>
            <a:outerShdw blurRad="53340" dist="19050" dir="5400000" sx="100000" sy="100000" algn="ctr" rotWithShape="0">
              <a:srgbClr val="000000">
                <a:alpha val="29000"/>
              </a:srgbClr>
            </a:outerShdw>
          </a:effectLst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結束</a:t>
            </a:r>
            <a:endParaRPr lang="en-US" sz="1150" dirty="0"/>
          </a:p>
        </p:txBody>
      </p:sp>
      <p:sp>
        <p:nvSpPr>
          <p:cNvPr id="50" name="圖說"/>
          <p:cNvSpPr/>
          <p:nvPr/>
        </p:nvSpPr>
        <p:spPr>
          <a:xfrm>
            <a:off x="7472216" y="3332988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深底白字強調</a:t>
            </a:r>
            <a:endParaRPr lang="en-US" sz="850" dirty="0"/>
          </a:p>
        </p:txBody>
      </p:sp>
      <p:sp>
        <p:nvSpPr>
          <p:cNvPr id="51" name="開始／結束"/>
          <p:cNvSpPr/>
          <p:nvPr/>
        </p:nvSpPr>
        <p:spPr>
          <a:xfrm>
            <a:off x="8995279" y="2953512"/>
            <a:ext cx="1097280" cy="347472"/>
          </a:xfrm>
          <a:prstGeom prst="roundRect">
            <a:avLst>
              <a:gd name="adj" fmla="val 50000"/>
            </a:avLst>
          </a:prstGeom>
          <a:solidFill>
            <a:srgbClr val="C9A227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結束</a:t>
            </a:r>
            <a:endParaRPr lang="en-US" sz="1150" dirty="0"/>
          </a:p>
        </p:txBody>
      </p:sp>
      <p:sp>
        <p:nvSpPr>
          <p:cNvPr id="52" name="圖說"/>
          <p:cNvSpPr/>
          <p:nvPr/>
        </p:nvSpPr>
        <p:spPr>
          <a:xfrm>
            <a:off x="8871639" y="3332988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強調色</a:t>
            </a:r>
            <a:endParaRPr lang="en-US" sz="850" dirty="0"/>
          </a:p>
        </p:txBody>
      </p:sp>
      <p:sp>
        <p:nvSpPr>
          <p:cNvPr id="53" name="線條"/>
          <p:cNvSpPr/>
          <p:nvPr/>
        </p:nvSpPr>
        <p:spPr>
          <a:xfrm>
            <a:off x="548640" y="3506724"/>
            <a:ext cx="11094415" cy="0"/>
          </a:xfrm>
          <a:prstGeom prst="line">
            <a:avLst/>
          </a:prstGeom>
          <a:noFill/>
          <a:ln w="6350">
            <a:solidFill>
              <a:srgbClr val="EAEAEA"/>
            </a:solidFill>
            <a:prstDash val="solid"/>
          </a:ln>
        </p:spPr>
      </p:sp>
      <p:sp>
        <p:nvSpPr>
          <p:cNvPr id="54" name="類別"/>
          <p:cNvSpPr/>
          <p:nvPr/>
        </p:nvSpPr>
        <p:spPr>
          <a:xfrm>
            <a:off x="548640" y="3616452"/>
            <a:ext cx="1207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0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箭頭與連接線</a:t>
            </a:r>
            <a:endParaRPr lang="en-US" sz="14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Arrows</a:t>
            </a:r>
            <a:endParaRPr lang="en-US" sz="1400" dirty="0"/>
          </a:p>
        </p:txBody>
      </p:sp>
      <p:sp>
        <p:nvSpPr>
          <p:cNvPr id="55" name="線條"/>
          <p:cNvSpPr/>
          <p:nvPr/>
        </p:nvSpPr>
        <p:spPr>
          <a:xfrm>
            <a:off x="2016448" y="3739896"/>
            <a:ext cx="1060704" cy="0"/>
          </a:xfrm>
          <a:prstGeom prst="line">
            <a:avLst/>
          </a:prstGeom>
          <a:noFill/>
          <a:ln w="19050">
            <a:solidFill>
              <a:srgbClr val="8C8C8C"/>
            </a:solidFill>
            <a:prstDash val="solid"/>
            <a:tailEnd type="triangle"/>
          </a:ln>
        </p:spPr>
      </p:sp>
      <p:sp>
        <p:nvSpPr>
          <p:cNvPr id="56" name="圖說"/>
          <p:cNvSpPr/>
          <p:nvPr/>
        </p:nvSpPr>
        <p:spPr>
          <a:xfrm>
            <a:off x="1874520" y="3954780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細直線箭頭</a:t>
            </a:r>
            <a:endParaRPr lang="en-US" sz="850" dirty="0"/>
          </a:p>
        </p:txBody>
      </p:sp>
      <p:sp>
        <p:nvSpPr>
          <p:cNvPr id="57" name="線條"/>
          <p:cNvSpPr/>
          <p:nvPr/>
        </p:nvSpPr>
        <p:spPr>
          <a:xfrm>
            <a:off x="3415872" y="3739896"/>
            <a:ext cx="1060704" cy="0"/>
          </a:xfrm>
          <a:prstGeom prst="line">
            <a:avLst/>
          </a:prstGeom>
          <a:noFill/>
          <a:ln w="34290">
            <a:solidFill>
              <a:srgbClr val="2F5D50"/>
            </a:solidFill>
            <a:prstDash val="solid"/>
            <a:tailEnd type="triangle"/>
          </a:ln>
        </p:spPr>
      </p:sp>
      <p:sp>
        <p:nvSpPr>
          <p:cNvPr id="58" name="圖說"/>
          <p:cNvSpPr/>
          <p:nvPr/>
        </p:nvSpPr>
        <p:spPr>
          <a:xfrm>
            <a:off x="3273944" y="3954780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粗箭頭</a:t>
            </a:r>
            <a:endParaRPr lang="en-US" sz="850" dirty="0"/>
          </a:p>
        </p:txBody>
      </p:sp>
      <p:sp>
        <p:nvSpPr>
          <p:cNvPr id="59" name="連接線"/>
          <p:cNvSpPr/>
          <p:nvPr/>
        </p:nvSpPr>
        <p:spPr>
          <a:xfrm>
            <a:off x="4815296" y="3602736"/>
            <a:ext cx="1060704" cy="274320"/>
          </a:xfrm>
          <a:custGeom>
            <a:avLst/>
            <a:gdLst/>
            <a:ahLst/>
            <a:cxnLst/>
            <a:rect l="l" t="t" r="r" b="b"/>
            <a:pathLst>
              <a:path w="1060704" h="274320">
                <a:moveTo>
                  <a:pt x="0" y="0"/>
                </a:moveTo>
                <a:lnTo>
                  <a:pt x="530352" y="0"/>
                </a:lnTo>
                <a:lnTo>
                  <a:pt x="530352" y="274320"/>
                </a:lnTo>
                <a:lnTo>
                  <a:pt x="1060704" y="274320"/>
                </a:lnTo>
              </a:path>
            </a:pathLst>
          </a:custGeom>
          <a:ln w="19050">
            <a:solidFill>
              <a:srgbClr val="8C8C8C"/>
            </a:solidFill>
            <a:prstDash val="solid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0" name="圖說"/>
          <p:cNvSpPr/>
          <p:nvPr/>
        </p:nvSpPr>
        <p:spPr>
          <a:xfrm>
            <a:off x="4673368" y="3954780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折線連接</a:t>
            </a:r>
            <a:endParaRPr lang="en-US" sz="850" dirty="0"/>
          </a:p>
        </p:txBody>
      </p:sp>
      <p:sp>
        <p:nvSpPr>
          <p:cNvPr id="61" name="線條"/>
          <p:cNvSpPr/>
          <p:nvPr/>
        </p:nvSpPr>
        <p:spPr>
          <a:xfrm>
            <a:off x="6214720" y="3739896"/>
            <a:ext cx="1060704" cy="0"/>
          </a:xfrm>
          <a:prstGeom prst="line">
            <a:avLst/>
          </a:prstGeom>
          <a:noFill/>
          <a:ln w="19050">
            <a:solidFill>
              <a:srgbClr val="707070"/>
            </a:solidFill>
            <a:prstDash val="sysDash"/>
            <a:tailEnd type="arrow"/>
          </a:ln>
        </p:spPr>
      </p:sp>
      <p:sp>
        <p:nvSpPr>
          <p:cNvPr id="62" name="圖說"/>
          <p:cNvSpPr/>
          <p:nvPr/>
        </p:nvSpPr>
        <p:spPr>
          <a:xfrm>
            <a:off x="6072792" y="3954780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虛線（次要／回饋）</a:t>
            </a:r>
            <a:endParaRPr lang="en-US" sz="850" dirty="0"/>
          </a:p>
        </p:txBody>
      </p:sp>
      <p:sp>
        <p:nvSpPr>
          <p:cNvPr id="63" name="線條"/>
          <p:cNvSpPr/>
          <p:nvPr/>
        </p:nvSpPr>
        <p:spPr>
          <a:xfrm>
            <a:off x="7614143" y="3739896"/>
            <a:ext cx="1060704" cy="0"/>
          </a:xfrm>
          <a:prstGeom prst="line">
            <a:avLst/>
          </a:prstGeom>
          <a:noFill/>
          <a:ln w="19050">
            <a:solidFill>
              <a:srgbClr val="8C8C8C"/>
            </a:solidFill>
            <a:prstDash val="solid"/>
            <a:headEnd type="triangle"/>
            <a:tailEnd type="triangle"/>
          </a:ln>
        </p:spPr>
      </p:sp>
      <p:sp>
        <p:nvSpPr>
          <p:cNvPr id="64" name="圖說"/>
          <p:cNvSpPr/>
          <p:nvPr/>
        </p:nvSpPr>
        <p:spPr>
          <a:xfrm>
            <a:off x="7472216" y="3954780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雙向箭頭</a:t>
            </a:r>
            <a:endParaRPr lang="en-US" sz="850" dirty="0"/>
          </a:p>
        </p:txBody>
      </p:sp>
      <p:sp>
        <p:nvSpPr>
          <p:cNvPr id="65" name="三角分隔"/>
          <p:cNvSpPr/>
          <p:nvPr/>
        </p:nvSpPr>
        <p:spPr>
          <a:xfrm>
            <a:off x="9214735" y="3639312"/>
            <a:ext cx="155448" cy="201168"/>
          </a:xfrm>
          <a:custGeom>
            <a:avLst/>
            <a:gdLst/>
            <a:ahLst/>
            <a:cxnLst/>
            <a:rect l="l" t="t" r="r" b="b"/>
            <a:pathLst>
              <a:path w="155448" h="201168">
                <a:moveTo>
                  <a:pt x="0" y="0"/>
                </a:moveTo>
                <a:lnTo>
                  <a:pt x="155448" y="100584"/>
                </a:lnTo>
                <a:lnTo>
                  <a:pt x="0" y="201168"/>
                </a:lnTo>
                <a:close/>
              </a:path>
            </a:pathLst>
          </a:custGeom>
          <a:solidFill>
            <a:srgbClr val="59595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6" name="V 形分隔"/>
          <p:cNvSpPr/>
          <p:nvPr/>
        </p:nvSpPr>
        <p:spPr>
          <a:xfrm>
            <a:off x="9708511" y="3611880"/>
            <a:ext cx="146304" cy="256032"/>
          </a:xfrm>
          <a:prstGeom prst="chevron">
            <a:avLst>
              <a:gd name="adj" fmla="val 62500"/>
            </a:avLst>
          </a:prstGeom>
          <a:solidFill>
            <a:srgbClr val="2F5D5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7" name="圖說"/>
          <p:cNvSpPr/>
          <p:nvPr/>
        </p:nvSpPr>
        <p:spPr>
          <a:xfrm>
            <a:off x="8871639" y="3954780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▶ 三角／V 形分隔</a:t>
            </a:r>
            <a:endParaRPr lang="en-US" sz="850" dirty="0"/>
          </a:p>
        </p:txBody>
      </p:sp>
      <p:sp>
        <p:nvSpPr>
          <p:cNvPr id="68" name="區塊箭頭"/>
          <p:cNvSpPr/>
          <p:nvPr/>
        </p:nvSpPr>
        <p:spPr>
          <a:xfrm>
            <a:off x="10440423" y="3557016"/>
            <a:ext cx="1005840" cy="365760"/>
          </a:xfrm>
          <a:custGeom>
            <a:avLst/>
            <a:gdLst/>
            <a:ahLst/>
            <a:cxnLst/>
            <a:rect l="l" t="t" r="r" b="b"/>
            <a:pathLst>
              <a:path w="1005840" h="365760">
                <a:moveTo>
                  <a:pt x="0" y="109728"/>
                </a:moveTo>
                <a:lnTo>
                  <a:pt x="786384" y="109728"/>
                </a:lnTo>
                <a:lnTo>
                  <a:pt x="786384" y="0"/>
                </a:lnTo>
                <a:lnTo>
                  <a:pt x="1005840" y="182880"/>
                </a:lnTo>
                <a:lnTo>
                  <a:pt x="786384" y="365760"/>
                </a:lnTo>
                <a:lnTo>
                  <a:pt x="786384" y="256032"/>
                </a:lnTo>
                <a:lnTo>
                  <a:pt x="0" y="256032"/>
                </a:lnTo>
                <a:close/>
              </a:path>
            </a:pathLst>
          </a:custGeom>
          <a:solidFill>
            <a:srgbClr val="2F5D5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9" name="圖說"/>
          <p:cNvSpPr/>
          <p:nvPr/>
        </p:nvSpPr>
        <p:spPr>
          <a:xfrm>
            <a:off x="10271063" y="3954780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區塊箭頭</a:t>
            </a:r>
            <a:endParaRPr lang="en-US" sz="850" dirty="0"/>
          </a:p>
        </p:txBody>
      </p:sp>
      <p:sp>
        <p:nvSpPr>
          <p:cNvPr id="70" name="線條"/>
          <p:cNvSpPr/>
          <p:nvPr/>
        </p:nvSpPr>
        <p:spPr>
          <a:xfrm>
            <a:off x="548640" y="4128516"/>
            <a:ext cx="11094415" cy="0"/>
          </a:xfrm>
          <a:prstGeom prst="line">
            <a:avLst/>
          </a:prstGeom>
          <a:noFill/>
          <a:ln w="6350">
            <a:solidFill>
              <a:srgbClr val="EAEAEA"/>
            </a:solidFill>
            <a:prstDash val="solid"/>
          </a:ln>
        </p:spPr>
      </p:sp>
      <p:sp>
        <p:nvSpPr>
          <p:cNvPr id="71" name="類別"/>
          <p:cNvSpPr/>
          <p:nvPr/>
        </p:nvSpPr>
        <p:spPr>
          <a:xfrm>
            <a:off x="548640" y="4256532"/>
            <a:ext cx="1207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0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例外與警示</a:t>
            </a:r>
            <a:endParaRPr lang="en-US" sz="14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Exception</a:t>
            </a:r>
            <a:endParaRPr lang="en-US" sz="1400" dirty="0"/>
          </a:p>
        </p:txBody>
      </p:sp>
      <p:sp>
        <p:nvSpPr>
          <p:cNvPr id="72" name="警示方塊"/>
          <p:cNvSpPr/>
          <p:nvPr/>
        </p:nvSpPr>
        <p:spPr>
          <a:xfrm>
            <a:off x="1998160" y="4178808"/>
            <a:ext cx="1097280" cy="402336"/>
          </a:xfrm>
          <a:prstGeom prst="roundRect">
            <a:avLst>
              <a:gd name="adj" fmla="val 22727"/>
            </a:avLst>
          </a:prstGeom>
          <a:solidFill>
            <a:srgbClr val="FFFFFF"/>
          </a:solidFill>
          <a:ln w="19050">
            <a:solidFill>
              <a:srgbClr val="C0504D"/>
            </a:solidFill>
            <a:prstDash val="solid"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903C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例外狀況</a:t>
            </a:r>
            <a:endParaRPr lang="en-US" sz="1150" dirty="0"/>
          </a:p>
        </p:txBody>
      </p:sp>
      <p:sp>
        <p:nvSpPr>
          <p:cNvPr id="73" name="圖說"/>
          <p:cNvSpPr/>
          <p:nvPr/>
        </p:nvSpPr>
        <p:spPr>
          <a:xfrm>
            <a:off x="1874520" y="4613148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警示外框</a:t>
            </a:r>
            <a:endParaRPr lang="en-US" sz="850" dirty="0"/>
          </a:p>
        </p:txBody>
      </p:sp>
      <p:sp>
        <p:nvSpPr>
          <p:cNvPr id="74" name="警示方塊"/>
          <p:cNvSpPr/>
          <p:nvPr/>
        </p:nvSpPr>
        <p:spPr>
          <a:xfrm>
            <a:off x="3397584" y="4178808"/>
            <a:ext cx="1097280" cy="402336"/>
          </a:xfrm>
          <a:prstGeom prst="roundRect">
            <a:avLst>
              <a:gd name="adj" fmla="val 22727"/>
            </a:avLst>
          </a:prstGeom>
          <a:solidFill>
            <a:srgbClr val="F6E6E6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903C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注意事項</a:t>
            </a:r>
            <a:endParaRPr lang="en-US" sz="1150" dirty="0"/>
          </a:p>
        </p:txBody>
      </p:sp>
      <p:sp>
        <p:nvSpPr>
          <p:cNvPr id="75" name="圖說"/>
          <p:cNvSpPr/>
          <p:nvPr/>
        </p:nvSpPr>
        <p:spPr>
          <a:xfrm>
            <a:off x="3273944" y="4613148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警示淺底</a:t>
            </a:r>
            <a:endParaRPr lang="en-US" sz="850" dirty="0"/>
          </a:p>
        </p:txBody>
      </p:sp>
      <p:sp>
        <p:nvSpPr>
          <p:cNvPr id="76" name="警示方塊"/>
          <p:cNvSpPr/>
          <p:nvPr/>
        </p:nvSpPr>
        <p:spPr>
          <a:xfrm>
            <a:off x="4797008" y="4178808"/>
            <a:ext cx="1097280" cy="402336"/>
          </a:xfrm>
          <a:prstGeom prst="roundRect">
            <a:avLst>
              <a:gd name="adj" fmla="val 22727"/>
            </a:avLst>
          </a:prstGeom>
          <a:solidFill>
            <a:srgbClr val="C0504D"/>
          </a:solidFill>
          <a:ln/>
          <a:effectLst>
            <a:outerShdw blurRad="53340" dist="19050" dir="5400000" sx="100000" sy="100000" algn="ctr" rotWithShape="0">
              <a:srgbClr val="000000">
                <a:alpha val="29000"/>
              </a:srgbClr>
            </a:outerShdw>
          </a:effectLst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中止</a:t>
            </a:r>
            <a:endParaRPr lang="en-US" sz="1150" dirty="0"/>
          </a:p>
        </p:txBody>
      </p:sp>
      <p:sp>
        <p:nvSpPr>
          <p:cNvPr id="77" name="圖說"/>
          <p:cNvSpPr/>
          <p:nvPr/>
        </p:nvSpPr>
        <p:spPr>
          <a:xfrm>
            <a:off x="4673368" y="4613148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深底警示</a:t>
            </a:r>
            <a:endParaRPr lang="en-US" sz="850" dirty="0"/>
          </a:p>
        </p:txBody>
      </p:sp>
      <p:sp>
        <p:nvSpPr>
          <p:cNvPr id="78" name="警告三角"/>
          <p:cNvSpPr/>
          <p:nvPr/>
        </p:nvSpPr>
        <p:spPr>
          <a:xfrm>
            <a:off x="6507050" y="4174785"/>
            <a:ext cx="476044" cy="410383"/>
          </a:xfrm>
          <a:custGeom>
            <a:avLst/>
            <a:gdLst/>
            <a:ahLst/>
            <a:cxnLst/>
            <a:rect l="l" t="t" r="r" b="b"/>
            <a:pathLst>
              <a:path w="476044" h="410383">
                <a:moveTo>
                  <a:pt x="0" y="410383"/>
                </a:moveTo>
                <a:lnTo>
                  <a:pt x="238022" y="0"/>
                </a:lnTo>
                <a:lnTo>
                  <a:pt x="476044" y="410383"/>
                </a:lnTo>
                <a:close/>
              </a:path>
            </a:pathLst>
          </a:custGeom>
          <a:solidFill>
            <a:srgbClr val="C0504D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9" name="驚嘆號"/>
          <p:cNvSpPr/>
          <p:nvPr/>
        </p:nvSpPr>
        <p:spPr>
          <a:xfrm>
            <a:off x="6507050" y="4297899"/>
            <a:ext cx="476044" cy="2790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!</a:t>
            </a:r>
            <a:endParaRPr lang="en-US" sz="1700" dirty="0"/>
          </a:p>
        </p:txBody>
      </p:sp>
      <p:sp>
        <p:nvSpPr>
          <p:cNvPr id="80" name="圖說"/>
          <p:cNvSpPr/>
          <p:nvPr/>
        </p:nvSpPr>
        <p:spPr>
          <a:xfrm>
            <a:off x="6072792" y="4613148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警告三角</a:t>
            </a:r>
            <a:endParaRPr lang="en-US" sz="850" dirty="0"/>
          </a:p>
        </p:txBody>
      </p:sp>
      <p:sp>
        <p:nvSpPr>
          <p:cNvPr id="81" name="錯誤標記"/>
          <p:cNvSpPr/>
          <p:nvPr/>
        </p:nvSpPr>
        <p:spPr>
          <a:xfrm>
            <a:off x="7979538" y="4215018"/>
            <a:ext cx="329916" cy="329916"/>
          </a:xfrm>
          <a:prstGeom prst="ellipse">
            <a:avLst/>
          </a:prstGeom>
          <a:solidFill>
            <a:srgbClr val="C0504D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×</a:t>
            </a:r>
            <a:endParaRPr lang="en-US" sz="1600" dirty="0"/>
          </a:p>
        </p:txBody>
      </p:sp>
      <p:sp>
        <p:nvSpPr>
          <p:cNvPr id="82" name="圖說"/>
          <p:cNvSpPr/>
          <p:nvPr/>
        </p:nvSpPr>
        <p:spPr>
          <a:xfrm>
            <a:off x="7472216" y="4613148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× 錯誤標記</a:t>
            </a:r>
            <a:endParaRPr lang="en-US" sz="850" dirty="0"/>
          </a:p>
        </p:txBody>
      </p:sp>
      <p:sp>
        <p:nvSpPr>
          <p:cNvPr id="83" name="流程方塊"/>
          <p:cNvSpPr/>
          <p:nvPr/>
        </p:nvSpPr>
        <p:spPr>
          <a:xfrm>
            <a:off x="8995279" y="4178808"/>
            <a:ext cx="1097280" cy="402336"/>
          </a:xfrm>
          <a:prstGeom prst="roundRect">
            <a:avLst>
              <a:gd name="adj" fmla="val 22727"/>
            </a:avLst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待處理</a:t>
            </a:r>
            <a:endParaRPr lang="en-US" sz="1150" dirty="0"/>
          </a:p>
        </p:txBody>
      </p:sp>
      <p:sp>
        <p:nvSpPr>
          <p:cNvPr id="84" name="提示紅點"/>
          <p:cNvSpPr/>
          <p:nvPr/>
        </p:nvSpPr>
        <p:spPr>
          <a:xfrm>
            <a:off x="9996547" y="4119372"/>
            <a:ext cx="155448" cy="155448"/>
          </a:xfrm>
          <a:prstGeom prst="ellipse">
            <a:avLst/>
          </a:prstGeom>
          <a:solidFill>
            <a:srgbClr val="C0504D"/>
          </a:solidFill>
          <a:ln w="15875">
            <a:solidFill>
              <a:srgbClr val="FFFFFF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5" name="圖說"/>
          <p:cNvSpPr/>
          <p:nvPr/>
        </p:nvSpPr>
        <p:spPr>
          <a:xfrm>
            <a:off x="8871639" y="4613148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紅點提示</a:t>
            </a:r>
            <a:endParaRPr lang="en-US" sz="850" dirty="0"/>
          </a:p>
        </p:txBody>
      </p:sp>
      <p:sp>
        <p:nvSpPr>
          <p:cNvPr id="86" name="連接線"/>
          <p:cNvSpPr/>
          <p:nvPr/>
        </p:nvSpPr>
        <p:spPr>
          <a:xfrm>
            <a:off x="10412991" y="4233672"/>
            <a:ext cx="1060704" cy="292608"/>
          </a:xfrm>
          <a:custGeom>
            <a:avLst/>
            <a:gdLst/>
            <a:ahLst/>
            <a:cxnLst/>
            <a:rect l="l" t="t" r="r" b="b"/>
            <a:pathLst>
              <a:path w="1060704" h="292608">
                <a:moveTo>
                  <a:pt x="0" y="0"/>
                </a:moveTo>
                <a:lnTo>
                  <a:pt x="438912" y="0"/>
                </a:lnTo>
                <a:lnTo>
                  <a:pt x="438912" y="292608"/>
                </a:lnTo>
                <a:lnTo>
                  <a:pt x="1060704" y="292608"/>
                </a:lnTo>
              </a:path>
            </a:pathLst>
          </a:custGeom>
          <a:ln w="15875">
            <a:solidFill>
              <a:srgbClr val="C0504D"/>
            </a:solidFill>
            <a:prstDash val="sysDash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7" name="圖說"/>
          <p:cNvSpPr/>
          <p:nvPr/>
        </p:nvSpPr>
        <p:spPr>
          <a:xfrm>
            <a:off x="10271063" y="4613148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例外路徑（虛線）</a:t>
            </a:r>
            <a:endParaRPr lang="en-US" sz="850" dirty="0"/>
          </a:p>
        </p:txBody>
      </p:sp>
      <p:sp>
        <p:nvSpPr>
          <p:cNvPr id="88" name="線條"/>
          <p:cNvSpPr/>
          <p:nvPr/>
        </p:nvSpPr>
        <p:spPr>
          <a:xfrm>
            <a:off x="548640" y="4786884"/>
            <a:ext cx="11094415" cy="0"/>
          </a:xfrm>
          <a:prstGeom prst="line">
            <a:avLst/>
          </a:prstGeom>
          <a:noFill/>
          <a:ln w="6350">
            <a:solidFill>
              <a:srgbClr val="EAEAEA"/>
            </a:solidFill>
            <a:prstDash val="solid"/>
          </a:ln>
        </p:spPr>
      </p:sp>
      <p:sp>
        <p:nvSpPr>
          <p:cNvPr id="89" name="類別"/>
          <p:cNvSpPr/>
          <p:nvPr/>
        </p:nvSpPr>
        <p:spPr>
          <a:xfrm>
            <a:off x="548640" y="4997196"/>
            <a:ext cx="1207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0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圓形・編號・標籤</a:t>
            </a:r>
            <a:endParaRPr lang="en-US" sz="14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Circle / Badge / Tag</a:t>
            </a:r>
            <a:endParaRPr lang="en-US" sz="1400" dirty="0"/>
          </a:p>
        </p:txBody>
      </p:sp>
      <p:sp>
        <p:nvSpPr>
          <p:cNvPr id="90" name="大圓"/>
          <p:cNvSpPr/>
          <p:nvPr/>
        </p:nvSpPr>
        <p:spPr>
          <a:xfrm>
            <a:off x="2263336" y="4837176"/>
            <a:ext cx="566928" cy="566928"/>
          </a:xfrm>
          <a:prstGeom prst="ellipse">
            <a:avLst/>
          </a:prstGeom>
          <a:solidFill>
            <a:srgbClr val="FFFFFF"/>
          </a:solidFill>
          <a:ln w="28575">
            <a:solidFill>
              <a:srgbClr val="BFBFBF"/>
            </a:solidFill>
            <a:prstDash val="solid"/>
          </a:ln>
          <a:effectLst>
            <a:outerShdw blurRad="203200" dist="25400" dir="5400000" sx="102000" sy="102000" algn="ctr" rotWithShape="0">
              <a:srgbClr val="000000">
                <a:alpha val="32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1" name="圖說"/>
          <p:cNvSpPr/>
          <p:nvPr/>
        </p:nvSpPr>
        <p:spPr>
          <a:xfrm>
            <a:off x="1874520" y="5436108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光暈大圓</a:t>
            </a:r>
            <a:endParaRPr lang="en-US" sz="850" dirty="0"/>
          </a:p>
        </p:txBody>
      </p:sp>
      <p:sp>
        <p:nvSpPr>
          <p:cNvPr id="92" name="外圈細環"/>
          <p:cNvSpPr/>
          <p:nvPr/>
        </p:nvSpPr>
        <p:spPr>
          <a:xfrm>
            <a:off x="3607896" y="4782312"/>
            <a:ext cx="676656" cy="676656"/>
          </a:xfrm>
          <a:prstGeom prst="ellipse">
            <a:avLst/>
          </a:prstGeom>
          <a:ln w="9525">
            <a:solidFill>
              <a:srgbClr val="E6E6E6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3" name="大圓"/>
          <p:cNvSpPr/>
          <p:nvPr/>
        </p:nvSpPr>
        <p:spPr>
          <a:xfrm>
            <a:off x="3662760" y="4837176"/>
            <a:ext cx="566928" cy="566928"/>
          </a:xfrm>
          <a:prstGeom prst="ellipse">
            <a:avLst/>
          </a:prstGeom>
          <a:solidFill>
            <a:srgbClr val="FFFFFF"/>
          </a:solidFill>
          <a:ln w="28575">
            <a:solidFill>
              <a:srgbClr val="BFBFBF"/>
            </a:solidFill>
            <a:prstDash val="solid"/>
          </a:ln>
          <a:effectLst>
            <a:outerShdw blurRad="203200" dist="25400" dir="5400000" sx="102000" sy="102000" algn="ctr" rotWithShape="0">
              <a:srgbClr val="000000">
                <a:alpha val="32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4" name="圖說"/>
          <p:cNvSpPr/>
          <p:nvPr/>
        </p:nvSpPr>
        <p:spPr>
          <a:xfrm>
            <a:off x="3273944" y="5436108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光暈＋外圈細環</a:t>
            </a:r>
            <a:endParaRPr lang="en-US" sz="850" dirty="0"/>
          </a:p>
        </p:txBody>
      </p:sp>
      <p:sp>
        <p:nvSpPr>
          <p:cNvPr id="95" name="外框圓"/>
          <p:cNvSpPr/>
          <p:nvPr/>
        </p:nvSpPr>
        <p:spPr>
          <a:xfrm>
            <a:off x="5062184" y="4837176"/>
            <a:ext cx="566928" cy="566928"/>
          </a:xfrm>
          <a:prstGeom prst="ellipse">
            <a:avLst/>
          </a:prstGeom>
          <a:solidFill>
            <a:srgbClr val="FFFFFF"/>
          </a:solidFill>
          <a:ln w="25400">
            <a:solidFill>
              <a:srgbClr val="BFBFBF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6" name="圖說"/>
          <p:cNvSpPr/>
          <p:nvPr/>
        </p:nvSpPr>
        <p:spPr>
          <a:xfrm>
            <a:off x="4673368" y="5436108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無陰影外框圓</a:t>
            </a:r>
            <a:endParaRPr lang="en-US" sz="850" dirty="0"/>
          </a:p>
        </p:txBody>
      </p:sp>
      <p:sp>
        <p:nvSpPr>
          <p:cNvPr id="97" name="編號"/>
          <p:cNvSpPr/>
          <p:nvPr/>
        </p:nvSpPr>
        <p:spPr>
          <a:xfrm>
            <a:off x="6205576" y="4965192"/>
            <a:ext cx="310896" cy="310896"/>
          </a:xfrm>
          <a:prstGeom prst="roundRect">
            <a:avLst>
              <a:gd name="adj" fmla="val 17647"/>
            </a:avLst>
          </a:prstGeom>
          <a:solidFill>
            <a:srgbClr val="2F5D5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</a:t>
            </a:r>
            <a:endParaRPr lang="en-US" sz="1000" dirty="0"/>
          </a:p>
        </p:txBody>
      </p:sp>
      <p:sp>
        <p:nvSpPr>
          <p:cNvPr id="98" name="編號"/>
          <p:cNvSpPr/>
          <p:nvPr/>
        </p:nvSpPr>
        <p:spPr>
          <a:xfrm>
            <a:off x="6589624" y="4965192"/>
            <a:ext cx="310896" cy="310896"/>
          </a:xfrm>
          <a:prstGeom prst="roundRect">
            <a:avLst>
              <a:gd name="adj" fmla="val 17647"/>
            </a:avLst>
          </a:prstGeom>
          <a:solidFill>
            <a:srgbClr val="2F5D5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</a:t>
            </a:r>
            <a:endParaRPr lang="en-US" sz="1000" dirty="0"/>
          </a:p>
        </p:txBody>
      </p:sp>
      <p:sp>
        <p:nvSpPr>
          <p:cNvPr id="99" name="編號"/>
          <p:cNvSpPr/>
          <p:nvPr/>
        </p:nvSpPr>
        <p:spPr>
          <a:xfrm>
            <a:off x="6973672" y="4965192"/>
            <a:ext cx="310896" cy="310896"/>
          </a:xfrm>
          <a:prstGeom prst="roundRect">
            <a:avLst>
              <a:gd name="adj" fmla="val 17647"/>
            </a:avLst>
          </a:prstGeom>
          <a:solidFill>
            <a:srgbClr val="C9A227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3</a:t>
            </a:r>
            <a:endParaRPr lang="en-US" sz="1000" dirty="0"/>
          </a:p>
        </p:txBody>
      </p:sp>
      <p:sp>
        <p:nvSpPr>
          <p:cNvPr id="100" name="圖說"/>
          <p:cNvSpPr/>
          <p:nvPr/>
        </p:nvSpPr>
        <p:spPr>
          <a:xfrm>
            <a:off x="6072792" y="5436108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編號徽章</a:t>
            </a:r>
            <a:endParaRPr lang="en-US" sz="850" dirty="0"/>
          </a:p>
        </p:txBody>
      </p:sp>
      <p:sp>
        <p:nvSpPr>
          <p:cNvPr id="101" name="標籤"/>
          <p:cNvSpPr/>
          <p:nvPr/>
        </p:nvSpPr>
        <p:spPr>
          <a:xfrm>
            <a:off x="7742200" y="4974336"/>
            <a:ext cx="804591" cy="292608"/>
          </a:xfrm>
          <a:prstGeom prst="roundRect">
            <a:avLst>
              <a:gd name="adj" fmla="val 15625"/>
            </a:avLst>
          </a:prstGeom>
          <a:solidFill>
            <a:srgbClr val="2F5D50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主要標籤</a:t>
            </a:r>
            <a:endParaRPr lang="en-US" sz="1100" dirty="0"/>
          </a:p>
        </p:txBody>
      </p:sp>
      <p:sp>
        <p:nvSpPr>
          <p:cNvPr id="102" name="圖說"/>
          <p:cNvSpPr/>
          <p:nvPr/>
        </p:nvSpPr>
        <p:spPr>
          <a:xfrm>
            <a:off x="7472216" y="5436108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深色標籤</a:t>
            </a:r>
            <a:endParaRPr lang="en-US" sz="850" dirty="0"/>
          </a:p>
        </p:txBody>
      </p:sp>
      <p:sp>
        <p:nvSpPr>
          <p:cNvPr id="103" name="標籤"/>
          <p:cNvSpPr/>
          <p:nvPr/>
        </p:nvSpPr>
        <p:spPr>
          <a:xfrm>
            <a:off x="8990199" y="4983480"/>
            <a:ext cx="517144" cy="274320"/>
          </a:xfrm>
          <a:prstGeom prst="roundRect">
            <a:avLst>
              <a:gd name="adj" fmla="val 16667"/>
            </a:avLst>
          </a:prstGeom>
          <a:solidFill>
            <a:srgbClr val="C9A227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輔助</a:t>
            </a:r>
            <a:endParaRPr lang="en-US" sz="1100" dirty="0"/>
          </a:p>
        </p:txBody>
      </p:sp>
      <p:sp>
        <p:nvSpPr>
          <p:cNvPr id="104" name="標籤"/>
          <p:cNvSpPr/>
          <p:nvPr/>
        </p:nvSpPr>
        <p:spPr>
          <a:xfrm>
            <a:off x="9580495" y="4983480"/>
            <a:ext cx="517144" cy="274320"/>
          </a:xfrm>
          <a:prstGeom prst="roundRect">
            <a:avLst>
              <a:gd name="adj" fmla="val 16667"/>
            </a:avLst>
          </a:prstGeom>
          <a:solidFill>
            <a:srgbClr val="DFDFDF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灰階</a:t>
            </a:r>
            <a:endParaRPr lang="en-US" sz="1100" dirty="0"/>
          </a:p>
        </p:txBody>
      </p:sp>
      <p:sp>
        <p:nvSpPr>
          <p:cNvPr id="105" name="圖說"/>
          <p:cNvSpPr/>
          <p:nvPr/>
        </p:nvSpPr>
        <p:spPr>
          <a:xfrm>
            <a:off x="8871639" y="5436108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淺色／灰階標籤</a:t>
            </a:r>
            <a:endParaRPr lang="en-US" sz="850" dirty="0"/>
          </a:p>
        </p:txBody>
      </p:sp>
      <p:sp>
        <p:nvSpPr>
          <p:cNvPr id="106" name="圓點"/>
          <p:cNvSpPr/>
          <p:nvPr/>
        </p:nvSpPr>
        <p:spPr>
          <a:xfrm>
            <a:off x="10600443" y="5052060"/>
            <a:ext cx="137160" cy="137160"/>
          </a:xfrm>
          <a:prstGeom prst="ellipse">
            <a:avLst/>
          </a:prstGeom>
          <a:solidFill>
            <a:srgbClr val="2F5D5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7" name="圓點"/>
          <p:cNvSpPr/>
          <p:nvPr/>
        </p:nvSpPr>
        <p:spPr>
          <a:xfrm>
            <a:off x="10874763" y="5052060"/>
            <a:ext cx="137160" cy="137160"/>
          </a:xfrm>
          <a:prstGeom prst="ellipse">
            <a:avLst/>
          </a:prstGeom>
          <a:solidFill>
            <a:srgbClr val="C9A22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8" name="圓點"/>
          <p:cNvSpPr/>
          <p:nvPr/>
        </p:nvSpPr>
        <p:spPr>
          <a:xfrm>
            <a:off x="11149083" y="5052060"/>
            <a:ext cx="137160" cy="137160"/>
          </a:xfrm>
          <a:prstGeom prst="ellipse">
            <a:avLst/>
          </a:prstGeom>
          <a:solidFill>
            <a:srgbClr val="BFBFB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9" name="圖說"/>
          <p:cNvSpPr/>
          <p:nvPr/>
        </p:nvSpPr>
        <p:spPr>
          <a:xfrm>
            <a:off x="10271063" y="5436108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小圓點</a:t>
            </a:r>
            <a:endParaRPr lang="en-US" sz="850" dirty="0"/>
          </a:p>
        </p:txBody>
      </p:sp>
      <p:sp>
        <p:nvSpPr>
          <p:cNvPr id="110" name="線條"/>
          <p:cNvSpPr/>
          <p:nvPr/>
        </p:nvSpPr>
        <p:spPr>
          <a:xfrm>
            <a:off x="548640" y="5609844"/>
            <a:ext cx="11094415" cy="0"/>
          </a:xfrm>
          <a:prstGeom prst="line">
            <a:avLst/>
          </a:prstGeom>
          <a:noFill/>
          <a:ln w="6350">
            <a:solidFill>
              <a:srgbClr val="EAEAEA"/>
            </a:solidFill>
            <a:prstDash val="solid"/>
          </a:ln>
        </p:spPr>
      </p:sp>
      <p:sp>
        <p:nvSpPr>
          <p:cNvPr id="111" name="類別"/>
          <p:cNvSpPr/>
          <p:nvPr/>
        </p:nvSpPr>
        <p:spPr>
          <a:xfrm>
            <a:off x="548640" y="5747004"/>
            <a:ext cx="1207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0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容器與群組</a:t>
            </a:r>
            <a:endParaRPr lang="en-US" sz="14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Container</a:t>
            </a:r>
            <a:endParaRPr lang="en-US" sz="1400" dirty="0"/>
          </a:p>
        </p:txBody>
      </p:sp>
      <p:sp>
        <p:nvSpPr>
          <p:cNvPr id="112" name="群組框"/>
          <p:cNvSpPr/>
          <p:nvPr/>
        </p:nvSpPr>
        <p:spPr>
          <a:xfrm>
            <a:off x="1998160" y="5715000"/>
            <a:ext cx="1097280" cy="365760"/>
          </a:xfrm>
          <a:prstGeom prst="roundRect">
            <a:avLst>
              <a:gd name="adj" fmla="val 25000"/>
            </a:avLst>
          </a:prstGeom>
          <a:ln w="9525">
            <a:solidFill>
              <a:srgbClr val="8C8C8C"/>
            </a:solidFill>
            <a:prstDash val="dash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3" name="群組名稱"/>
          <p:cNvSpPr/>
          <p:nvPr/>
        </p:nvSpPr>
        <p:spPr>
          <a:xfrm>
            <a:off x="2089600" y="5632704"/>
            <a:ext cx="566928" cy="164592"/>
          </a:xfrm>
          <a:prstGeom prst="rect">
            <a:avLst/>
          </a:prstGeom>
          <a:solidFill>
            <a:srgbClr val="F4F4F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群組 A</a:t>
            </a:r>
            <a:endParaRPr lang="en-US" sz="800" dirty="0"/>
          </a:p>
        </p:txBody>
      </p:sp>
      <p:sp>
        <p:nvSpPr>
          <p:cNvPr id="114" name="圖說"/>
          <p:cNvSpPr/>
          <p:nvPr/>
        </p:nvSpPr>
        <p:spPr>
          <a:xfrm>
            <a:off x="1874520" y="6112764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虛線群組框</a:t>
            </a:r>
            <a:endParaRPr lang="en-US" sz="850" dirty="0"/>
          </a:p>
        </p:txBody>
      </p:sp>
      <p:sp>
        <p:nvSpPr>
          <p:cNvPr id="115" name="淺灰面板"/>
          <p:cNvSpPr/>
          <p:nvPr/>
        </p:nvSpPr>
        <p:spPr>
          <a:xfrm>
            <a:off x="3397584" y="5660136"/>
            <a:ext cx="1097280" cy="420624"/>
          </a:xfrm>
          <a:prstGeom prst="roundRect">
            <a:avLst>
              <a:gd name="adj" fmla="val 21739"/>
            </a:avLst>
          </a:prstGeom>
          <a:solidFill>
            <a:srgbClr val="E6E6E6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6" name="圖說"/>
          <p:cNvSpPr/>
          <p:nvPr/>
        </p:nvSpPr>
        <p:spPr>
          <a:xfrm>
            <a:off x="3273944" y="6112764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淺灰面板</a:t>
            </a:r>
            <a:endParaRPr lang="en-US" sz="850" dirty="0"/>
          </a:p>
        </p:txBody>
      </p:sp>
      <p:sp>
        <p:nvSpPr>
          <p:cNvPr id="117" name="卡片"/>
          <p:cNvSpPr/>
          <p:nvPr/>
        </p:nvSpPr>
        <p:spPr>
          <a:xfrm>
            <a:off x="4797008" y="5660136"/>
            <a:ext cx="1097280" cy="420624"/>
          </a:xfrm>
          <a:prstGeom prst="roundRect">
            <a:avLst>
              <a:gd name="adj" fmla="val 26087"/>
            </a:avLst>
          </a:prstGeom>
          <a:solidFill>
            <a:srgbClr val="FFFFFF"/>
          </a:solidFill>
          <a:ln w="28575">
            <a:solidFill>
              <a:srgbClr val="BFBFBF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8" name="圖說"/>
          <p:cNvSpPr/>
          <p:nvPr/>
        </p:nvSpPr>
        <p:spPr>
          <a:xfrm>
            <a:off x="4673368" y="6112764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本風格卡片</a:t>
            </a:r>
            <a:endParaRPr lang="en-US" sz="850" dirty="0"/>
          </a:p>
        </p:txBody>
      </p:sp>
      <p:sp>
        <p:nvSpPr>
          <p:cNvPr id="119" name="卡片"/>
          <p:cNvSpPr/>
          <p:nvPr/>
        </p:nvSpPr>
        <p:spPr>
          <a:xfrm>
            <a:off x="6196432" y="5660136"/>
            <a:ext cx="1097280" cy="420624"/>
          </a:xfrm>
          <a:prstGeom prst="roundRect">
            <a:avLst>
              <a:gd name="adj" fmla="val 26087"/>
            </a:avLst>
          </a:prstGeom>
          <a:solidFill>
            <a:srgbClr val="FFFFFF"/>
          </a:solidFill>
          <a:ln w="28575">
            <a:solidFill>
              <a:srgbClr val="BFBFBF"/>
            </a:solidFill>
            <a:prstDash val="solid"/>
          </a:ln>
          <a:effectLst>
            <a:outerShdw blurRad="88900" dist="25400" dir="5400000" sx="100000" sy="100000" algn="ctr" rotWithShape="0">
              <a:srgbClr val="000000">
                <a:alpha val="25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0" name="圖說"/>
          <p:cNvSpPr/>
          <p:nvPr/>
        </p:nvSpPr>
        <p:spPr>
          <a:xfrm>
            <a:off x="6072792" y="6112764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卡片＋陰影</a:t>
            </a:r>
            <a:endParaRPr lang="en-US" sz="850" dirty="0"/>
          </a:p>
        </p:txBody>
      </p:sp>
      <p:sp>
        <p:nvSpPr>
          <p:cNvPr id="121" name="卡片"/>
          <p:cNvSpPr/>
          <p:nvPr/>
        </p:nvSpPr>
        <p:spPr>
          <a:xfrm>
            <a:off x="7595855" y="5660136"/>
            <a:ext cx="1097280" cy="420624"/>
          </a:xfrm>
          <a:prstGeom prst="roundRect">
            <a:avLst>
              <a:gd name="adj" fmla="val 21739"/>
            </a:avLst>
          </a:prstGeom>
          <a:solidFill>
            <a:srgbClr val="FFFFFF"/>
          </a:solidFill>
          <a:ln w="9525">
            <a:solidFill>
              <a:srgbClr val="D9D9D9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2" name="表頭"/>
          <p:cNvSpPr/>
          <p:nvPr/>
        </p:nvSpPr>
        <p:spPr>
          <a:xfrm>
            <a:off x="7595855" y="5660136"/>
            <a:ext cx="1097280" cy="146304"/>
          </a:xfrm>
          <a:custGeom>
            <a:avLst/>
            <a:gdLst/>
            <a:ahLst/>
            <a:cxnLst/>
            <a:rect l="l" t="t" r="r" b="b"/>
            <a:pathLst>
              <a:path w="1097280" h="146304">
                <a:moveTo>
                  <a:pt x="0" y="146304"/>
                </a:moveTo>
                <a:lnTo>
                  <a:pt x="0" y="91440"/>
                </a:lnTo>
                <a:arcTo hR="91440" wR="91440" stAng="10800000" swAng="5400000"/>
                <a:lnTo>
                  <a:pt x="1005840" y="0"/>
                </a:lnTo>
                <a:arcTo hR="91440" wR="91440" stAng="16200000" swAng="5400000"/>
                <a:lnTo>
                  <a:pt x="1097280" y="146304"/>
                </a:lnTo>
                <a:close/>
              </a:path>
            </a:pathLst>
          </a:custGeom>
          <a:solidFill>
            <a:srgbClr val="2F5D5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3" name="圖說"/>
          <p:cNvSpPr/>
          <p:nvPr/>
        </p:nvSpPr>
        <p:spPr>
          <a:xfrm>
            <a:off x="7472216" y="6112764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表頭色帶卡</a:t>
            </a:r>
            <a:endParaRPr lang="en-US" sz="850" dirty="0"/>
          </a:p>
        </p:txBody>
      </p:sp>
      <p:sp>
        <p:nvSpPr>
          <p:cNvPr id="124" name="卡片"/>
          <p:cNvSpPr/>
          <p:nvPr/>
        </p:nvSpPr>
        <p:spPr>
          <a:xfrm>
            <a:off x="8995279" y="5660136"/>
            <a:ext cx="1097280" cy="420624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5" name="側邊色條"/>
          <p:cNvSpPr/>
          <p:nvPr/>
        </p:nvSpPr>
        <p:spPr>
          <a:xfrm>
            <a:off x="8995279" y="5660136"/>
            <a:ext cx="54864" cy="420624"/>
          </a:xfrm>
          <a:prstGeom prst="rect">
            <a:avLst/>
          </a:prstGeom>
          <a:solidFill>
            <a:srgbClr val="C9A22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6" name="圖說"/>
          <p:cNvSpPr/>
          <p:nvPr/>
        </p:nvSpPr>
        <p:spPr>
          <a:xfrm>
            <a:off x="8871639" y="6112764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頂邊／側邊色條</a:t>
            </a:r>
            <a:endParaRPr lang="en-US" sz="850" dirty="0"/>
          </a:p>
        </p:txBody>
      </p:sp>
      <p:sp>
        <p:nvSpPr>
          <p:cNvPr id="127" name="寬欄條"/>
          <p:cNvSpPr/>
          <p:nvPr/>
        </p:nvSpPr>
        <p:spPr>
          <a:xfrm>
            <a:off x="10577583" y="5660136"/>
            <a:ext cx="310896" cy="420624"/>
          </a:xfrm>
          <a:prstGeom prst="roundRect">
            <a:avLst>
              <a:gd name="adj" fmla="val 35294"/>
            </a:avLst>
          </a:prstGeom>
          <a:solidFill>
            <a:srgbClr val="A6A6A6">
              <a:alpha val="38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8" name="寬欄條"/>
          <p:cNvSpPr/>
          <p:nvPr/>
        </p:nvSpPr>
        <p:spPr>
          <a:xfrm>
            <a:off x="10998207" y="5660136"/>
            <a:ext cx="310896" cy="420624"/>
          </a:xfrm>
          <a:prstGeom prst="roundRect">
            <a:avLst>
              <a:gd name="adj" fmla="val 35294"/>
            </a:avLst>
          </a:prstGeom>
          <a:solidFill>
            <a:srgbClr val="A6A6A6">
              <a:alpha val="38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9" name="圖說"/>
          <p:cNvSpPr/>
          <p:nvPr/>
        </p:nvSpPr>
        <p:spPr>
          <a:xfrm>
            <a:off x="10271063" y="6112764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半透明寬欄條</a:t>
            </a:r>
            <a:endParaRPr lang="en-US" sz="850" dirty="0"/>
          </a:p>
        </p:txBody>
      </p:sp>
      <p:sp>
        <p:nvSpPr>
          <p:cNvPr id="130" name="線條"/>
          <p:cNvSpPr/>
          <p:nvPr/>
        </p:nvSpPr>
        <p:spPr>
          <a:xfrm>
            <a:off x="1737360" y="1700784"/>
            <a:ext cx="0" cy="4535424"/>
          </a:xfrm>
          <a:prstGeom prst="line">
            <a:avLst/>
          </a:prstGeom>
          <a:noFill/>
          <a:ln w="6350">
            <a:solidFill>
              <a:srgbClr val="E4E4E4"/>
            </a:solidFill>
            <a:prstDash val="solid"/>
          </a:ln>
        </p:spPr>
      </p:sp>
      <p:sp>
        <p:nvSpPr>
          <p:cNvPr id="131" name="Text 129"/>
          <p:cNvSpPr/>
          <p:nvPr/>
        </p:nvSpPr>
        <p:spPr>
          <a:xfrm>
            <a:off x="548640" y="6309360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墨綠筆記</a:t>
            </a:r>
            <a:pPr algn="l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900" dirty="0"/>
          </a:p>
        </p:txBody>
      </p:sp>
      <p:sp>
        <p:nvSpPr>
          <p:cNvPr id="132" name="Text 130"/>
          <p:cNvSpPr/>
          <p:nvPr/>
        </p:nvSpPr>
        <p:spPr>
          <a:xfrm>
            <a:off x="10271455" y="6309360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01 / 11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畫布面板"/>
          <p:cNvSpPr/>
          <p:nvPr/>
        </p:nvSpPr>
        <p:spPr>
          <a:xfrm>
            <a:off x="228600" y="228600"/>
            <a:ext cx="11734495" cy="6400800"/>
          </a:xfrm>
          <a:prstGeom prst="roundRect">
            <a:avLst>
              <a:gd name="adj" fmla="val 857"/>
            </a:avLst>
          </a:prstGeom>
          <a:solidFill>
            <a:srgbClr val="F4F4F1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標題"/>
          <p:cNvSpPr/>
          <p:nvPr/>
        </p:nvSpPr>
        <p:spPr>
          <a:xfrm>
            <a:off x="548640" y="329184"/>
            <a:ext cx="100584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2F5D5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風格規範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548640" y="1069848"/>
            <a:ext cx="5025136" cy="365760"/>
          </a:xfrm>
          <a:prstGeom prst="rect">
            <a:avLst/>
          </a:prstGeom>
          <a:solidFill>
            <a:srgbClr val="2F5D50"/>
          </a:solidFill>
          <a:ln/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色彩、字級與元件語言一覽：暖灰畫布、粗灰外框扁平卡片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5637784" y="1069848"/>
            <a:ext cx="109728" cy="365760"/>
          </a:xfrm>
          <a:prstGeom prst="rect">
            <a:avLst/>
          </a:prstGeom>
          <a:solidFill>
            <a:srgbClr val="C9A22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548640" y="1879092"/>
            <a:ext cx="100584" cy="100584"/>
          </a:xfrm>
          <a:prstGeom prst="rect">
            <a:avLst/>
          </a:prstGeom>
          <a:solidFill>
            <a:srgbClr val="C9A22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749808" y="1783080"/>
            <a:ext cx="48280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色彩 Palette</a:t>
            </a:r>
            <a:endParaRPr lang="en-US" sz="1300" dirty="0"/>
          </a:p>
        </p:txBody>
      </p:sp>
      <p:sp>
        <p:nvSpPr>
          <p:cNvPr id="8" name="線條"/>
          <p:cNvSpPr/>
          <p:nvPr/>
        </p:nvSpPr>
        <p:spPr>
          <a:xfrm>
            <a:off x="548640" y="2167128"/>
            <a:ext cx="5029200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48640" y="2331720"/>
            <a:ext cx="493776" cy="493776"/>
          </a:xfrm>
          <a:prstGeom prst="roundRect">
            <a:avLst>
              <a:gd name="adj" fmla="val 18519"/>
            </a:avLst>
          </a:prstGeom>
          <a:solidFill>
            <a:srgbClr val="2F5D5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475488" y="2889504"/>
            <a:ext cx="640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主色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438912" y="3090672"/>
            <a:ext cx="7132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#2F5D50</a:t>
            </a:r>
            <a:endParaRPr lang="en-US" sz="750" dirty="0"/>
          </a:p>
        </p:txBody>
      </p:sp>
      <p:sp>
        <p:nvSpPr>
          <p:cNvPr id="12" name="Text 10"/>
          <p:cNvSpPr/>
          <p:nvPr/>
        </p:nvSpPr>
        <p:spPr>
          <a:xfrm>
            <a:off x="1179576" y="2331720"/>
            <a:ext cx="493776" cy="493776"/>
          </a:xfrm>
          <a:prstGeom prst="roundRect">
            <a:avLst>
              <a:gd name="adj" fmla="val 18519"/>
            </a:avLst>
          </a:prstGeom>
          <a:solidFill>
            <a:srgbClr val="24483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" name="Text 11"/>
          <p:cNvSpPr/>
          <p:nvPr/>
        </p:nvSpPr>
        <p:spPr>
          <a:xfrm>
            <a:off x="1106424" y="2889504"/>
            <a:ext cx="640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深色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1069848" y="3090672"/>
            <a:ext cx="7132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#24483E</a:t>
            </a:r>
            <a:endParaRPr lang="en-US" sz="750" dirty="0"/>
          </a:p>
        </p:txBody>
      </p:sp>
      <p:sp>
        <p:nvSpPr>
          <p:cNvPr id="15" name="Text 13"/>
          <p:cNvSpPr/>
          <p:nvPr/>
        </p:nvSpPr>
        <p:spPr>
          <a:xfrm>
            <a:off x="1810512" y="2331720"/>
            <a:ext cx="493776" cy="493776"/>
          </a:xfrm>
          <a:prstGeom prst="roundRect">
            <a:avLst>
              <a:gd name="adj" fmla="val 18519"/>
            </a:avLst>
          </a:prstGeom>
          <a:solidFill>
            <a:srgbClr val="E2EBE7"/>
          </a:solidFill>
          <a:ln w="9525">
            <a:solidFill>
              <a:srgbClr val="D9D9D9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Text 14"/>
          <p:cNvSpPr/>
          <p:nvPr/>
        </p:nvSpPr>
        <p:spPr>
          <a:xfrm>
            <a:off x="1737360" y="2889504"/>
            <a:ext cx="640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淺色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1700784" y="3090672"/>
            <a:ext cx="7132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#E2EBE7</a:t>
            </a:r>
            <a:endParaRPr lang="en-US" sz="750" dirty="0"/>
          </a:p>
        </p:txBody>
      </p:sp>
      <p:sp>
        <p:nvSpPr>
          <p:cNvPr id="18" name="Text 16"/>
          <p:cNvSpPr/>
          <p:nvPr/>
        </p:nvSpPr>
        <p:spPr>
          <a:xfrm>
            <a:off x="2441448" y="2331720"/>
            <a:ext cx="493776" cy="493776"/>
          </a:xfrm>
          <a:prstGeom prst="roundRect">
            <a:avLst>
              <a:gd name="adj" fmla="val 18519"/>
            </a:avLst>
          </a:prstGeom>
          <a:solidFill>
            <a:srgbClr val="C9A22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" name="Text 17"/>
          <p:cNvSpPr/>
          <p:nvPr/>
        </p:nvSpPr>
        <p:spPr>
          <a:xfrm>
            <a:off x="2368296" y="2889504"/>
            <a:ext cx="640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輔助色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2331720" y="3090672"/>
            <a:ext cx="7132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#C9A227</a:t>
            </a:r>
            <a:endParaRPr lang="en-US" sz="750" dirty="0"/>
          </a:p>
        </p:txBody>
      </p:sp>
      <p:sp>
        <p:nvSpPr>
          <p:cNvPr id="21" name="Text 19"/>
          <p:cNvSpPr/>
          <p:nvPr/>
        </p:nvSpPr>
        <p:spPr>
          <a:xfrm>
            <a:off x="3072384" y="2331720"/>
            <a:ext cx="493776" cy="493776"/>
          </a:xfrm>
          <a:prstGeom prst="roundRect">
            <a:avLst>
              <a:gd name="adj" fmla="val 18519"/>
            </a:avLst>
          </a:prstGeom>
          <a:solidFill>
            <a:srgbClr val="3A3A3A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2" name="Text 20"/>
          <p:cNvSpPr/>
          <p:nvPr/>
        </p:nvSpPr>
        <p:spPr>
          <a:xfrm>
            <a:off x="2999232" y="2889504"/>
            <a:ext cx="640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文字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2962656" y="3090672"/>
            <a:ext cx="7132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#3A3A3A</a:t>
            </a:r>
            <a:endParaRPr lang="en-US" sz="750" dirty="0"/>
          </a:p>
        </p:txBody>
      </p:sp>
      <p:sp>
        <p:nvSpPr>
          <p:cNvPr id="24" name="Text 22"/>
          <p:cNvSpPr/>
          <p:nvPr/>
        </p:nvSpPr>
        <p:spPr>
          <a:xfrm>
            <a:off x="3703320" y="2331720"/>
            <a:ext cx="493776" cy="493776"/>
          </a:xfrm>
          <a:prstGeom prst="roundRect">
            <a:avLst>
              <a:gd name="adj" fmla="val 18519"/>
            </a:avLst>
          </a:prstGeom>
          <a:solidFill>
            <a:srgbClr val="8C8C8C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5" name="Text 23"/>
          <p:cNvSpPr/>
          <p:nvPr/>
        </p:nvSpPr>
        <p:spPr>
          <a:xfrm>
            <a:off x="3630168" y="2889504"/>
            <a:ext cx="640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註解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3593592" y="3090672"/>
            <a:ext cx="7132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#8C8C8C</a:t>
            </a:r>
            <a:endParaRPr lang="en-US" sz="750" dirty="0"/>
          </a:p>
        </p:txBody>
      </p:sp>
      <p:sp>
        <p:nvSpPr>
          <p:cNvPr id="27" name="Text 25"/>
          <p:cNvSpPr/>
          <p:nvPr/>
        </p:nvSpPr>
        <p:spPr>
          <a:xfrm>
            <a:off x="4334256" y="2331720"/>
            <a:ext cx="493776" cy="493776"/>
          </a:xfrm>
          <a:prstGeom prst="roundRect">
            <a:avLst>
              <a:gd name="adj" fmla="val 18519"/>
            </a:avLst>
          </a:prstGeom>
          <a:solidFill>
            <a:srgbClr val="BFBFB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8" name="Text 26"/>
          <p:cNvSpPr/>
          <p:nvPr/>
        </p:nvSpPr>
        <p:spPr>
          <a:xfrm>
            <a:off x="4261104" y="2889504"/>
            <a:ext cx="640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框線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4224528" y="3090672"/>
            <a:ext cx="7132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#BFBFBF</a:t>
            </a:r>
            <a:endParaRPr lang="en-US" sz="750" dirty="0"/>
          </a:p>
        </p:txBody>
      </p:sp>
      <p:sp>
        <p:nvSpPr>
          <p:cNvPr id="30" name="Text 28"/>
          <p:cNvSpPr/>
          <p:nvPr/>
        </p:nvSpPr>
        <p:spPr>
          <a:xfrm>
            <a:off x="4965192" y="2331720"/>
            <a:ext cx="493776" cy="493776"/>
          </a:xfrm>
          <a:prstGeom prst="roundRect">
            <a:avLst>
              <a:gd name="adj" fmla="val 18519"/>
            </a:avLst>
          </a:prstGeom>
          <a:solidFill>
            <a:srgbClr val="F2F2F2"/>
          </a:solidFill>
          <a:ln w="9525">
            <a:solidFill>
              <a:srgbClr val="D9D9D9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1" name="Text 29"/>
          <p:cNvSpPr/>
          <p:nvPr/>
        </p:nvSpPr>
        <p:spPr>
          <a:xfrm>
            <a:off x="4892040" y="2889504"/>
            <a:ext cx="640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底色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4855464" y="3090672"/>
            <a:ext cx="7132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#F2F2F2</a:t>
            </a:r>
            <a:endParaRPr lang="en-US" sz="750" dirty="0"/>
          </a:p>
        </p:txBody>
      </p:sp>
      <p:sp>
        <p:nvSpPr>
          <p:cNvPr id="33" name="Text 31"/>
          <p:cNvSpPr/>
          <p:nvPr/>
        </p:nvSpPr>
        <p:spPr>
          <a:xfrm>
            <a:off x="548640" y="3643884"/>
            <a:ext cx="100584" cy="100584"/>
          </a:xfrm>
          <a:prstGeom prst="rect">
            <a:avLst/>
          </a:prstGeom>
          <a:solidFill>
            <a:srgbClr val="C9A22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4" name="Text 32"/>
          <p:cNvSpPr/>
          <p:nvPr/>
        </p:nvSpPr>
        <p:spPr>
          <a:xfrm>
            <a:off x="749808" y="3547872"/>
            <a:ext cx="48280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字級 Typography</a:t>
            </a:r>
            <a:endParaRPr lang="en-US" sz="1300" dirty="0"/>
          </a:p>
        </p:txBody>
      </p:sp>
      <p:sp>
        <p:nvSpPr>
          <p:cNvPr id="35" name="線條"/>
          <p:cNvSpPr/>
          <p:nvPr/>
        </p:nvSpPr>
        <p:spPr>
          <a:xfrm>
            <a:off x="548640" y="3931920"/>
            <a:ext cx="5029200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548640" y="3931920"/>
            <a:ext cx="50292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F5D5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大標題文字</a:t>
            </a:r>
            <a:pPr algn="l" indent="0" marL="0">
              <a:buNone/>
            </a:pP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 40pt</a:t>
            </a:r>
            <a:endParaRPr lang="en-US" sz="1400" dirty="0"/>
          </a:p>
        </p:txBody>
      </p:sp>
      <p:sp>
        <p:nvSpPr>
          <p:cNvPr id="37" name="Text 35"/>
          <p:cNvSpPr/>
          <p:nvPr/>
        </p:nvSpPr>
        <p:spPr>
          <a:xfrm>
            <a:off x="548640" y="4590288"/>
            <a:ext cx="5029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rgbClr val="2F5D50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副標題・細字主色</a:t>
            </a:r>
            <a:pPr algn="l" indent="0" marL="0">
              <a:buNone/>
            </a:pP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 16pt</a:t>
            </a:r>
            <a:endParaRPr lang="en-US" sz="1400" dirty="0"/>
          </a:p>
        </p:txBody>
      </p:sp>
      <p:sp>
        <p:nvSpPr>
          <p:cNvPr id="38" name="Text 36"/>
          <p:cNvSpPr/>
          <p:nvPr/>
        </p:nvSpPr>
        <p:spPr>
          <a:xfrm>
            <a:off x="548640" y="4992624"/>
            <a:ext cx="5029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標籤與卡片標題</a:t>
            </a:r>
            <a:pPr algn="l" indent="0" marL="0">
              <a:buNone/>
            </a:pP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 16pt</a:t>
            </a:r>
            <a:endParaRPr lang="en-US" sz="1400" dirty="0"/>
          </a:p>
        </p:txBody>
      </p:sp>
      <p:sp>
        <p:nvSpPr>
          <p:cNvPr id="39" name="Text 37"/>
          <p:cNvSpPr/>
          <p:nvPr/>
        </p:nvSpPr>
        <p:spPr>
          <a:xfrm>
            <a:off x="548640" y="5376672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內文說明文字，灰色、行距寬鬆</a:t>
            </a:r>
            <a:pPr algn="l" indent="0" marL="0">
              <a:buNone/>
            </a:pP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 12pt</a:t>
            </a:r>
            <a:endParaRPr lang="en-US" sz="1400" dirty="0"/>
          </a:p>
        </p:txBody>
      </p:sp>
      <p:sp>
        <p:nvSpPr>
          <p:cNvPr id="40" name="Text 38"/>
          <p:cNvSpPr/>
          <p:nvPr/>
        </p:nvSpPr>
        <p:spPr>
          <a:xfrm>
            <a:off x="548640" y="5724144"/>
            <a:ext cx="5029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※ 註解文字以灰色呈現，10.5pt，放在版面下緣</a:t>
            </a:r>
            <a:endParaRPr lang="en-US" sz="1050" dirty="0"/>
          </a:p>
        </p:txBody>
      </p:sp>
      <p:sp>
        <p:nvSpPr>
          <p:cNvPr id="41" name="Text 39"/>
          <p:cNvSpPr/>
          <p:nvPr/>
        </p:nvSpPr>
        <p:spPr>
          <a:xfrm>
            <a:off x="6172200" y="1879092"/>
            <a:ext cx="100584" cy="100584"/>
          </a:xfrm>
          <a:prstGeom prst="rect">
            <a:avLst/>
          </a:prstGeom>
          <a:solidFill>
            <a:srgbClr val="C9A22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2" name="Text 40"/>
          <p:cNvSpPr/>
          <p:nvPr/>
        </p:nvSpPr>
        <p:spPr>
          <a:xfrm>
            <a:off x="6373368" y="1783080"/>
            <a:ext cx="5269687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元件語言 Shape Language</a:t>
            </a:r>
            <a:endParaRPr lang="en-US" sz="1300" dirty="0"/>
          </a:p>
        </p:txBody>
      </p:sp>
      <p:sp>
        <p:nvSpPr>
          <p:cNvPr id="43" name="線條"/>
          <p:cNvSpPr/>
          <p:nvPr/>
        </p:nvSpPr>
        <p:spPr>
          <a:xfrm>
            <a:off x="6172200" y="2167128"/>
            <a:ext cx="5470855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6172200" y="2331720"/>
            <a:ext cx="822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卡片</a:t>
            </a:r>
            <a:endParaRPr lang="en-US" sz="1300" dirty="0"/>
          </a:p>
        </p:txBody>
      </p:sp>
      <p:sp>
        <p:nvSpPr>
          <p:cNvPr id="45" name="Text 43"/>
          <p:cNvSpPr/>
          <p:nvPr/>
        </p:nvSpPr>
        <p:spPr>
          <a:xfrm>
            <a:off x="10012680" y="2331720"/>
            <a:ext cx="163037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白底外框 2.25pt</a:t>
            </a:r>
            <a:endParaRPr lang="en-US" sz="1000" dirty="0"/>
          </a:p>
        </p:txBody>
      </p:sp>
      <p:sp>
        <p:nvSpPr>
          <p:cNvPr id="46" name="卡片"/>
          <p:cNvSpPr/>
          <p:nvPr/>
        </p:nvSpPr>
        <p:spPr>
          <a:xfrm>
            <a:off x="7086600" y="2368296"/>
            <a:ext cx="1325880" cy="475488"/>
          </a:xfrm>
          <a:prstGeom prst="roundRect">
            <a:avLst>
              <a:gd name="adj" fmla="val 23077"/>
            </a:avLst>
          </a:prstGeom>
          <a:solidFill>
            <a:srgbClr val="FFFFFF"/>
          </a:solidFill>
          <a:ln w="28575">
            <a:solidFill>
              <a:srgbClr val="BFBFBF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7" name="卡片"/>
          <p:cNvSpPr/>
          <p:nvPr/>
        </p:nvSpPr>
        <p:spPr>
          <a:xfrm>
            <a:off x="8595360" y="2368296"/>
            <a:ext cx="1188720" cy="475488"/>
          </a:xfrm>
          <a:prstGeom prst="roundRect">
            <a:avLst>
              <a:gd name="adj" fmla="val 23077"/>
            </a:avLst>
          </a:prstGeom>
          <a:solidFill>
            <a:srgbClr val="FFFFFF"/>
          </a:solidFill>
          <a:ln w="28575">
            <a:solidFill>
              <a:srgbClr val="BFBFBF"/>
            </a:solidFill>
            <a:prstDash val="solid"/>
          </a:ln>
          <a:effectLst>
            <a:outerShdw blurRad="88900" dist="25400" dir="5400000" sx="100000" sy="100000" algn="ctr" rotWithShape="0">
              <a:srgbClr val="000000">
                <a:alpha val="25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8" name="Text 46"/>
          <p:cNvSpPr/>
          <p:nvPr/>
        </p:nvSpPr>
        <p:spPr>
          <a:xfrm>
            <a:off x="8595360" y="2368296"/>
            <a:ext cx="1188720" cy="164592"/>
          </a:xfrm>
          <a:custGeom>
            <a:avLst/>
            <a:gdLst/>
            <a:ahLst/>
            <a:cxnLst/>
            <a:rect l="l" t="t" r="r" b="b"/>
            <a:pathLst>
              <a:path w="1188720" h="164592">
                <a:moveTo>
                  <a:pt x="0" y="164592"/>
                </a:moveTo>
                <a:lnTo>
                  <a:pt x="0" y="109728"/>
                </a:lnTo>
                <a:arcTo hR="109728" wR="109728" stAng="10800000" swAng="5400000"/>
                <a:lnTo>
                  <a:pt x="1078992" y="0"/>
                </a:lnTo>
                <a:arcTo hR="109728" wR="109728" stAng="16200000" swAng="5400000"/>
                <a:lnTo>
                  <a:pt x="1188720" y="164592"/>
                </a:lnTo>
                <a:close/>
              </a:path>
            </a:pathLst>
          </a:custGeom>
          <a:solidFill>
            <a:srgbClr val="2F5D5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9" name="線條"/>
          <p:cNvSpPr/>
          <p:nvPr/>
        </p:nvSpPr>
        <p:spPr>
          <a:xfrm>
            <a:off x="6172200" y="2935224"/>
            <a:ext cx="5470855" cy="0"/>
          </a:xfrm>
          <a:prstGeom prst="line">
            <a:avLst/>
          </a:prstGeom>
          <a:noFill/>
          <a:ln w="6350">
            <a:solidFill>
              <a:srgbClr val="ECECEC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6172200" y="2980944"/>
            <a:ext cx="822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標籤</a:t>
            </a:r>
            <a:endParaRPr lang="en-US" sz="1300" dirty="0"/>
          </a:p>
        </p:txBody>
      </p:sp>
      <p:sp>
        <p:nvSpPr>
          <p:cNvPr id="51" name="Text 49"/>
          <p:cNvSpPr/>
          <p:nvPr/>
        </p:nvSpPr>
        <p:spPr>
          <a:xfrm>
            <a:off x="10012680" y="2980944"/>
            <a:ext cx="163037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小圓角方籤</a:t>
            </a:r>
            <a:endParaRPr lang="en-US" sz="1000" dirty="0"/>
          </a:p>
        </p:txBody>
      </p:sp>
      <p:sp>
        <p:nvSpPr>
          <p:cNvPr id="52" name="標籤"/>
          <p:cNvSpPr/>
          <p:nvPr/>
        </p:nvSpPr>
        <p:spPr>
          <a:xfrm>
            <a:off x="7086600" y="3108960"/>
            <a:ext cx="550591" cy="292608"/>
          </a:xfrm>
          <a:prstGeom prst="roundRect">
            <a:avLst>
              <a:gd name="adj" fmla="val 15625"/>
            </a:avLst>
          </a:prstGeom>
          <a:solidFill>
            <a:srgbClr val="2F5D50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主要</a:t>
            </a:r>
            <a:endParaRPr lang="en-US" sz="1200" dirty="0"/>
          </a:p>
        </p:txBody>
      </p:sp>
      <p:sp>
        <p:nvSpPr>
          <p:cNvPr id="53" name="標籤"/>
          <p:cNvSpPr/>
          <p:nvPr/>
        </p:nvSpPr>
        <p:spPr>
          <a:xfrm>
            <a:off x="7746919" y="3108960"/>
            <a:ext cx="550591" cy="292608"/>
          </a:xfrm>
          <a:prstGeom prst="roundRect">
            <a:avLst>
              <a:gd name="adj" fmla="val 15625"/>
            </a:avLst>
          </a:prstGeom>
          <a:solidFill>
            <a:srgbClr val="C9A227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輔助</a:t>
            </a:r>
            <a:endParaRPr lang="en-US" sz="1200" dirty="0"/>
          </a:p>
        </p:txBody>
      </p:sp>
      <p:sp>
        <p:nvSpPr>
          <p:cNvPr id="54" name="標籤"/>
          <p:cNvSpPr/>
          <p:nvPr/>
        </p:nvSpPr>
        <p:spPr>
          <a:xfrm>
            <a:off x="8407237" y="3108960"/>
            <a:ext cx="550591" cy="292608"/>
          </a:xfrm>
          <a:prstGeom prst="roundRect">
            <a:avLst>
              <a:gd name="adj" fmla="val 15625"/>
            </a:avLst>
          </a:prstGeom>
          <a:solidFill>
            <a:srgbClr val="DFDFDF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灰階</a:t>
            </a:r>
            <a:endParaRPr lang="en-US" sz="1200" dirty="0"/>
          </a:p>
        </p:txBody>
      </p:sp>
      <p:sp>
        <p:nvSpPr>
          <p:cNvPr id="55" name="線條"/>
          <p:cNvSpPr/>
          <p:nvPr/>
        </p:nvSpPr>
        <p:spPr>
          <a:xfrm>
            <a:off x="6172200" y="3584448"/>
            <a:ext cx="5470855" cy="0"/>
          </a:xfrm>
          <a:prstGeom prst="line">
            <a:avLst/>
          </a:prstGeom>
          <a:noFill/>
          <a:ln w="6350">
            <a:solidFill>
              <a:srgbClr val="ECECEC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6172200" y="3630168"/>
            <a:ext cx="822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編號</a:t>
            </a:r>
            <a:endParaRPr lang="en-US" sz="1300" dirty="0"/>
          </a:p>
        </p:txBody>
      </p:sp>
      <p:sp>
        <p:nvSpPr>
          <p:cNvPr id="57" name="Text 55"/>
          <p:cNvSpPr/>
          <p:nvPr/>
        </p:nvSpPr>
        <p:spPr>
          <a:xfrm>
            <a:off x="10012680" y="3630168"/>
            <a:ext cx="163037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圓角方塊</a:t>
            </a:r>
            <a:endParaRPr lang="en-US" sz="1000" dirty="0"/>
          </a:p>
        </p:txBody>
      </p:sp>
      <p:sp>
        <p:nvSpPr>
          <p:cNvPr id="58" name="編號"/>
          <p:cNvSpPr/>
          <p:nvPr/>
        </p:nvSpPr>
        <p:spPr>
          <a:xfrm>
            <a:off x="7123176" y="3721608"/>
            <a:ext cx="365760" cy="365760"/>
          </a:xfrm>
          <a:prstGeom prst="roundRect">
            <a:avLst>
              <a:gd name="adj" fmla="val 15000"/>
            </a:avLst>
          </a:prstGeom>
          <a:solidFill>
            <a:srgbClr val="2F5D5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</a:t>
            </a:r>
            <a:endParaRPr lang="en-US" sz="1200" dirty="0"/>
          </a:p>
        </p:txBody>
      </p:sp>
      <p:sp>
        <p:nvSpPr>
          <p:cNvPr id="59" name="編號"/>
          <p:cNvSpPr/>
          <p:nvPr/>
        </p:nvSpPr>
        <p:spPr>
          <a:xfrm>
            <a:off x="7690104" y="3721608"/>
            <a:ext cx="365760" cy="365760"/>
          </a:xfrm>
          <a:prstGeom prst="roundRect">
            <a:avLst>
              <a:gd name="adj" fmla="val 15000"/>
            </a:avLst>
          </a:prstGeom>
          <a:solidFill>
            <a:srgbClr val="2F5D5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</a:t>
            </a:r>
            <a:endParaRPr lang="en-US" sz="1200" dirty="0"/>
          </a:p>
        </p:txBody>
      </p:sp>
      <p:sp>
        <p:nvSpPr>
          <p:cNvPr id="60" name="編號"/>
          <p:cNvSpPr/>
          <p:nvPr/>
        </p:nvSpPr>
        <p:spPr>
          <a:xfrm>
            <a:off x="8257032" y="3721608"/>
            <a:ext cx="365760" cy="365760"/>
          </a:xfrm>
          <a:prstGeom prst="roundRect">
            <a:avLst>
              <a:gd name="adj" fmla="val 15000"/>
            </a:avLst>
          </a:prstGeom>
          <a:solidFill>
            <a:srgbClr val="2F5D5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3</a:t>
            </a:r>
            <a:endParaRPr lang="en-US" sz="1200" dirty="0"/>
          </a:p>
        </p:txBody>
      </p:sp>
      <p:sp>
        <p:nvSpPr>
          <p:cNvPr id="61" name="Text 59"/>
          <p:cNvSpPr/>
          <p:nvPr/>
        </p:nvSpPr>
        <p:spPr>
          <a:xfrm>
            <a:off x="8869680" y="3630168"/>
            <a:ext cx="1005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① ② ③</a:t>
            </a:r>
            <a:endParaRPr lang="en-US" sz="1400" dirty="0"/>
          </a:p>
        </p:txBody>
      </p:sp>
      <p:sp>
        <p:nvSpPr>
          <p:cNvPr id="62" name="線條"/>
          <p:cNvSpPr/>
          <p:nvPr/>
        </p:nvSpPr>
        <p:spPr>
          <a:xfrm>
            <a:off x="6172200" y="4233672"/>
            <a:ext cx="5470855" cy="0"/>
          </a:xfrm>
          <a:prstGeom prst="line">
            <a:avLst/>
          </a:prstGeom>
          <a:noFill/>
          <a:ln w="6350">
            <a:solidFill>
              <a:srgbClr val="ECECEC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6172200" y="4279392"/>
            <a:ext cx="822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分隔</a:t>
            </a:r>
            <a:endParaRPr lang="en-US" sz="1300" dirty="0"/>
          </a:p>
        </p:txBody>
      </p:sp>
      <p:sp>
        <p:nvSpPr>
          <p:cNvPr id="64" name="Text 62"/>
          <p:cNvSpPr/>
          <p:nvPr/>
        </p:nvSpPr>
        <p:spPr>
          <a:xfrm>
            <a:off x="10012680" y="4279392"/>
            <a:ext cx="163037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▶▶▶ 點狀</a:t>
            </a:r>
            <a:endParaRPr lang="en-US" sz="1000" dirty="0"/>
          </a:p>
        </p:txBody>
      </p:sp>
      <p:sp>
        <p:nvSpPr>
          <p:cNvPr id="65" name="Text 63"/>
          <p:cNvSpPr/>
          <p:nvPr/>
        </p:nvSpPr>
        <p:spPr>
          <a:xfrm>
            <a:off x="7086600" y="427939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輸入</a:t>
            </a:r>
            <a:endParaRPr lang="en-US" sz="1200" dirty="0"/>
          </a:p>
        </p:txBody>
      </p:sp>
      <p:sp>
        <p:nvSpPr>
          <p:cNvPr id="66" name="三角形"/>
          <p:cNvSpPr/>
          <p:nvPr/>
        </p:nvSpPr>
        <p:spPr>
          <a:xfrm>
            <a:off x="7735824" y="4494276"/>
            <a:ext cx="91440" cy="118872"/>
          </a:xfrm>
          <a:custGeom>
            <a:avLst/>
            <a:gdLst/>
            <a:ahLst/>
            <a:cxnLst/>
            <a:rect l="l" t="t" r="r" b="b"/>
            <a:pathLst>
              <a:path w="91440" h="118872">
                <a:moveTo>
                  <a:pt x="0" y="0"/>
                </a:moveTo>
                <a:lnTo>
                  <a:pt x="91440" y="59436"/>
                </a:lnTo>
                <a:lnTo>
                  <a:pt x="0" y="118872"/>
                </a:lnTo>
                <a:close/>
              </a:path>
            </a:pathLst>
          </a:custGeom>
          <a:solidFill>
            <a:srgbClr val="C9A22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7" name="三角形"/>
          <p:cNvSpPr/>
          <p:nvPr/>
        </p:nvSpPr>
        <p:spPr>
          <a:xfrm>
            <a:off x="7863840" y="4494276"/>
            <a:ext cx="91440" cy="118872"/>
          </a:xfrm>
          <a:custGeom>
            <a:avLst/>
            <a:gdLst/>
            <a:ahLst/>
            <a:cxnLst/>
            <a:rect l="l" t="t" r="r" b="b"/>
            <a:pathLst>
              <a:path w="91440" h="118872">
                <a:moveTo>
                  <a:pt x="0" y="0"/>
                </a:moveTo>
                <a:lnTo>
                  <a:pt x="91440" y="59436"/>
                </a:lnTo>
                <a:lnTo>
                  <a:pt x="0" y="118872"/>
                </a:lnTo>
                <a:close/>
              </a:path>
            </a:pathLst>
          </a:custGeom>
          <a:solidFill>
            <a:srgbClr val="C9A22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8" name="三角形"/>
          <p:cNvSpPr/>
          <p:nvPr/>
        </p:nvSpPr>
        <p:spPr>
          <a:xfrm>
            <a:off x="7991856" y="4494276"/>
            <a:ext cx="91440" cy="118872"/>
          </a:xfrm>
          <a:custGeom>
            <a:avLst/>
            <a:gdLst/>
            <a:ahLst/>
            <a:cxnLst/>
            <a:rect l="l" t="t" r="r" b="b"/>
            <a:pathLst>
              <a:path w="91440" h="118872">
                <a:moveTo>
                  <a:pt x="0" y="0"/>
                </a:moveTo>
                <a:lnTo>
                  <a:pt x="91440" y="59436"/>
                </a:lnTo>
                <a:lnTo>
                  <a:pt x="0" y="118872"/>
                </a:lnTo>
                <a:close/>
              </a:path>
            </a:pathLst>
          </a:custGeom>
          <a:solidFill>
            <a:srgbClr val="C9A22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9" name="Text 67"/>
          <p:cNvSpPr/>
          <p:nvPr/>
        </p:nvSpPr>
        <p:spPr>
          <a:xfrm>
            <a:off x="8183880" y="427939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處理</a:t>
            </a:r>
            <a:endParaRPr lang="en-US" sz="1200" dirty="0"/>
          </a:p>
        </p:txBody>
      </p:sp>
      <p:sp>
        <p:nvSpPr>
          <p:cNvPr id="70" name="三角形"/>
          <p:cNvSpPr/>
          <p:nvPr/>
        </p:nvSpPr>
        <p:spPr>
          <a:xfrm>
            <a:off x="8833104" y="4494276"/>
            <a:ext cx="91440" cy="118872"/>
          </a:xfrm>
          <a:custGeom>
            <a:avLst/>
            <a:gdLst/>
            <a:ahLst/>
            <a:cxnLst/>
            <a:rect l="l" t="t" r="r" b="b"/>
            <a:pathLst>
              <a:path w="91440" h="118872">
                <a:moveTo>
                  <a:pt x="0" y="0"/>
                </a:moveTo>
                <a:lnTo>
                  <a:pt x="91440" y="59436"/>
                </a:lnTo>
                <a:lnTo>
                  <a:pt x="0" y="118872"/>
                </a:lnTo>
                <a:close/>
              </a:path>
            </a:pathLst>
          </a:custGeom>
          <a:solidFill>
            <a:srgbClr val="C9A22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1" name="三角形"/>
          <p:cNvSpPr/>
          <p:nvPr/>
        </p:nvSpPr>
        <p:spPr>
          <a:xfrm>
            <a:off x="8961120" y="4494276"/>
            <a:ext cx="91440" cy="118872"/>
          </a:xfrm>
          <a:custGeom>
            <a:avLst/>
            <a:gdLst/>
            <a:ahLst/>
            <a:cxnLst/>
            <a:rect l="l" t="t" r="r" b="b"/>
            <a:pathLst>
              <a:path w="91440" h="118872">
                <a:moveTo>
                  <a:pt x="0" y="0"/>
                </a:moveTo>
                <a:lnTo>
                  <a:pt x="91440" y="59436"/>
                </a:lnTo>
                <a:lnTo>
                  <a:pt x="0" y="118872"/>
                </a:lnTo>
                <a:close/>
              </a:path>
            </a:pathLst>
          </a:custGeom>
          <a:solidFill>
            <a:srgbClr val="C9A22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2" name="三角形"/>
          <p:cNvSpPr/>
          <p:nvPr/>
        </p:nvSpPr>
        <p:spPr>
          <a:xfrm>
            <a:off x="9089136" y="4494276"/>
            <a:ext cx="91440" cy="118872"/>
          </a:xfrm>
          <a:custGeom>
            <a:avLst/>
            <a:gdLst/>
            <a:ahLst/>
            <a:cxnLst/>
            <a:rect l="l" t="t" r="r" b="b"/>
            <a:pathLst>
              <a:path w="91440" h="118872">
                <a:moveTo>
                  <a:pt x="0" y="0"/>
                </a:moveTo>
                <a:lnTo>
                  <a:pt x="91440" y="59436"/>
                </a:lnTo>
                <a:lnTo>
                  <a:pt x="0" y="118872"/>
                </a:lnTo>
                <a:close/>
              </a:path>
            </a:pathLst>
          </a:custGeom>
          <a:solidFill>
            <a:srgbClr val="C9A22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3" name="Text 71"/>
          <p:cNvSpPr/>
          <p:nvPr/>
        </p:nvSpPr>
        <p:spPr>
          <a:xfrm>
            <a:off x="9281160" y="427939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輸出</a:t>
            </a:r>
            <a:endParaRPr lang="en-US" sz="1200" dirty="0"/>
          </a:p>
        </p:txBody>
      </p:sp>
      <p:sp>
        <p:nvSpPr>
          <p:cNvPr id="74" name="線條"/>
          <p:cNvSpPr/>
          <p:nvPr/>
        </p:nvSpPr>
        <p:spPr>
          <a:xfrm>
            <a:off x="6172200" y="4882896"/>
            <a:ext cx="5470855" cy="0"/>
          </a:xfrm>
          <a:prstGeom prst="line">
            <a:avLst/>
          </a:prstGeom>
          <a:noFill/>
          <a:ln w="6350">
            <a:solidFill>
              <a:srgbClr val="ECECEC"/>
            </a:solidFill>
            <a:prstDash val="solid"/>
          </a:ln>
        </p:spPr>
      </p:sp>
      <p:sp>
        <p:nvSpPr>
          <p:cNvPr id="75" name="Text 73"/>
          <p:cNvSpPr/>
          <p:nvPr/>
        </p:nvSpPr>
        <p:spPr>
          <a:xfrm>
            <a:off x="6172200" y="4928616"/>
            <a:ext cx="822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連接線</a:t>
            </a:r>
            <a:endParaRPr lang="en-US" sz="1300" dirty="0"/>
          </a:p>
        </p:txBody>
      </p:sp>
      <p:sp>
        <p:nvSpPr>
          <p:cNvPr id="76" name="Text 74"/>
          <p:cNvSpPr/>
          <p:nvPr/>
        </p:nvSpPr>
        <p:spPr>
          <a:xfrm>
            <a:off x="10012680" y="4928616"/>
            <a:ext cx="163037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1.5pt 實線＋三角箭頭</a:t>
            </a:r>
            <a:endParaRPr lang="en-US" sz="1000" dirty="0"/>
          </a:p>
        </p:txBody>
      </p:sp>
      <p:sp>
        <p:nvSpPr>
          <p:cNvPr id="77" name="線條"/>
          <p:cNvSpPr/>
          <p:nvPr/>
        </p:nvSpPr>
        <p:spPr>
          <a:xfrm>
            <a:off x="7086600" y="5202936"/>
            <a:ext cx="1188720" cy="0"/>
          </a:xfrm>
          <a:prstGeom prst="line">
            <a:avLst/>
          </a:prstGeom>
          <a:noFill/>
          <a:ln w="19050">
            <a:solidFill>
              <a:srgbClr val="8C8C8C"/>
            </a:solidFill>
            <a:prstDash val="solid"/>
            <a:tailEnd type="triangle"/>
          </a:ln>
        </p:spPr>
      </p:sp>
      <p:sp>
        <p:nvSpPr>
          <p:cNvPr id="78" name="連接線"/>
          <p:cNvSpPr/>
          <p:nvPr/>
        </p:nvSpPr>
        <p:spPr>
          <a:xfrm>
            <a:off x="8549640" y="5001768"/>
            <a:ext cx="1234440" cy="402336"/>
          </a:xfrm>
          <a:custGeom>
            <a:avLst/>
            <a:gdLst/>
            <a:ahLst/>
            <a:cxnLst/>
            <a:rect l="l" t="t" r="r" b="b"/>
            <a:pathLst>
              <a:path w="1234440" h="402336">
                <a:moveTo>
                  <a:pt x="0" y="0"/>
                </a:moveTo>
                <a:lnTo>
                  <a:pt x="548640" y="0"/>
                </a:lnTo>
                <a:lnTo>
                  <a:pt x="548640" y="402336"/>
                </a:lnTo>
                <a:lnTo>
                  <a:pt x="1234440" y="402336"/>
                </a:lnTo>
              </a:path>
            </a:pathLst>
          </a:custGeom>
          <a:ln w="19050">
            <a:solidFill>
              <a:srgbClr val="8C8C8C"/>
            </a:solidFill>
            <a:prstDash val="solid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9" name="線條"/>
          <p:cNvSpPr/>
          <p:nvPr/>
        </p:nvSpPr>
        <p:spPr>
          <a:xfrm>
            <a:off x="6172200" y="5532120"/>
            <a:ext cx="5470855" cy="0"/>
          </a:xfrm>
          <a:prstGeom prst="line">
            <a:avLst/>
          </a:prstGeom>
          <a:noFill/>
          <a:ln w="6350">
            <a:solidFill>
              <a:srgbClr val="ECECEC"/>
            </a:solidFill>
            <a:prstDash val="solid"/>
          </a:ln>
        </p:spPr>
      </p:sp>
      <p:sp>
        <p:nvSpPr>
          <p:cNvPr id="80" name="Text 78"/>
          <p:cNvSpPr/>
          <p:nvPr/>
        </p:nvSpPr>
        <p:spPr>
          <a:xfrm>
            <a:off x="6172200" y="5577840"/>
            <a:ext cx="822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流程鏈</a:t>
            </a:r>
            <a:endParaRPr lang="en-US" sz="1300" dirty="0"/>
          </a:p>
        </p:txBody>
      </p:sp>
      <p:sp>
        <p:nvSpPr>
          <p:cNvPr id="81" name="Text 79"/>
          <p:cNvSpPr/>
          <p:nvPr/>
        </p:nvSpPr>
        <p:spPr>
          <a:xfrm>
            <a:off x="10012680" y="5577840"/>
            <a:ext cx="163037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六角形鏈</a:t>
            </a:r>
            <a:endParaRPr lang="en-US" sz="1000" dirty="0"/>
          </a:p>
        </p:txBody>
      </p:sp>
      <p:sp>
        <p:nvSpPr>
          <p:cNvPr id="82" name="流程鏈"/>
          <p:cNvSpPr/>
          <p:nvPr/>
        </p:nvSpPr>
        <p:spPr>
          <a:xfrm>
            <a:off x="7086600" y="5650992"/>
            <a:ext cx="579120" cy="402336"/>
          </a:xfrm>
          <a:prstGeom prst="hexagon">
            <a:avLst>
              <a:gd name="adj" fmla="val 28000"/>
            </a:avLst>
          </a:prstGeom>
          <a:solidFill>
            <a:srgbClr val="2F5D50"/>
          </a:solidFill>
          <a:ln/>
        </p:spPr>
        <p:txBody>
          <a:bodyPr wrap="square" lIns="12700" tIns="0" rIns="1270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規劃</a:t>
            </a:r>
            <a:endParaRPr lang="en-US" sz="1100" dirty="0"/>
          </a:p>
        </p:txBody>
      </p:sp>
      <p:sp>
        <p:nvSpPr>
          <p:cNvPr id="83" name="三角形"/>
          <p:cNvSpPr/>
          <p:nvPr/>
        </p:nvSpPr>
        <p:spPr>
          <a:xfrm>
            <a:off x="7743444" y="5792724"/>
            <a:ext cx="91440" cy="118872"/>
          </a:xfrm>
          <a:custGeom>
            <a:avLst/>
            <a:gdLst/>
            <a:ahLst/>
            <a:cxnLst/>
            <a:rect l="l" t="t" r="r" b="b"/>
            <a:pathLst>
              <a:path w="91440" h="118872">
                <a:moveTo>
                  <a:pt x="0" y="0"/>
                </a:moveTo>
                <a:lnTo>
                  <a:pt x="91440" y="59436"/>
                </a:lnTo>
                <a:lnTo>
                  <a:pt x="0" y="118872"/>
                </a:lnTo>
                <a:close/>
              </a:path>
            </a:pathLst>
          </a:custGeom>
          <a:solidFill>
            <a:srgbClr val="C9A22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4" name="三角形"/>
          <p:cNvSpPr/>
          <p:nvPr/>
        </p:nvSpPr>
        <p:spPr>
          <a:xfrm>
            <a:off x="7871460" y="5792724"/>
            <a:ext cx="91440" cy="118872"/>
          </a:xfrm>
          <a:custGeom>
            <a:avLst/>
            <a:gdLst/>
            <a:ahLst/>
            <a:cxnLst/>
            <a:rect l="l" t="t" r="r" b="b"/>
            <a:pathLst>
              <a:path w="91440" h="118872">
                <a:moveTo>
                  <a:pt x="0" y="0"/>
                </a:moveTo>
                <a:lnTo>
                  <a:pt x="91440" y="59436"/>
                </a:lnTo>
                <a:lnTo>
                  <a:pt x="0" y="118872"/>
                </a:lnTo>
                <a:close/>
              </a:path>
            </a:pathLst>
          </a:custGeom>
          <a:solidFill>
            <a:srgbClr val="C9A22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5" name="三角形"/>
          <p:cNvSpPr/>
          <p:nvPr/>
        </p:nvSpPr>
        <p:spPr>
          <a:xfrm>
            <a:off x="7999476" y="5792724"/>
            <a:ext cx="91440" cy="118872"/>
          </a:xfrm>
          <a:custGeom>
            <a:avLst/>
            <a:gdLst/>
            <a:ahLst/>
            <a:cxnLst/>
            <a:rect l="l" t="t" r="r" b="b"/>
            <a:pathLst>
              <a:path w="91440" h="118872">
                <a:moveTo>
                  <a:pt x="0" y="0"/>
                </a:moveTo>
                <a:lnTo>
                  <a:pt x="91440" y="59436"/>
                </a:lnTo>
                <a:lnTo>
                  <a:pt x="0" y="118872"/>
                </a:lnTo>
                <a:close/>
              </a:path>
            </a:pathLst>
          </a:custGeom>
          <a:solidFill>
            <a:srgbClr val="C9A22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6" name="流程鏈"/>
          <p:cNvSpPr/>
          <p:nvPr/>
        </p:nvSpPr>
        <p:spPr>
          <a:xfrm>
            <a:off x="8168640" y="5650992"/>
            <a:ext cx="579120" cy="402336"/>
          </a:xfrm>
          <a:prstGeom prst="hexagon">
            <a:avLst>
              <a:gd name="adj" fmla="val 28000"/>
            </a:avLst>
          </a:prstGeom>
          <a:solidFill>
            <a:srgbClr val="2F5D50"/>
          </a:solidFill>
          <a:ln/>
        </p:spPr>
        <p:txBody>
          <a:bodyPr wrap="square" lIns="12700" tIns="0" rIns="1270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執行</a:t>
            </a:r>
            <a:endParaRPr lang="en-US" sz="1100" dirty="0"/>
          </a:p>
        </p:txBody>
      </p:sp>
      <p:sp>
        <p:nvSpPr>
          <p:cNvPr id="87" name="三角形"/>
          <p:cNvSpPr/>
          <p:nvPr/>
        </p:nvSpPr>
        <p:spPr>
          <a:xfrm>
            <a:off x="8825484" y="5792724"/>
            <a:ext cx="91440" cy="118872"/>
          </a:xfrm>
          <a:custGeom>
            <a:avLst/>
            <a:gdLst/>
            <a:ahLst/>
            <a:cxnLst/>
            <a:rect l="l" t="t" r="r" b="b"/>
            <a:pathLst>
              <a:path w="91440" h="118872">
                <a:moveTo>
                  <a:pt x="0" y="0"/>
                </a:moveTo>
                <a:lnTo>
                  <a:pt x="91440" y="59436"/>
                </a:lnTo>
                <a:lnTo>
                  <a:pt x="0" y="118872"/>
                </a:lnTo>
                <a:close/>
              </a:path>
            </a:pathLst>
          </a:custGeom>
          <a:solidFill>
            <a:srgbClr val="C9A22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8" name="三角形"/>
          <p:cNvSpPr/>
          <p:nvPr/>
        </p:nvSpPr>
        <p:spPr>
          <a:xfrm>
            <a:off x="8953500" y="5792724"/>
            <a:ext cx="91440" cy="118872"/>
          </a:xfrm>
          <a:custGeom>
            <a:avLst/>
            <a:gdLst/>
            <a:ahLst/>
            <a:cxnLst/>
            <a:rect l="l" t="t" r="r" b="b"/>
            <a:pathLst>
              <a:path w="91440" h="118872">
                <a:moveTo>
                  <a:pt x="0" y="0"/>
                </a:moveTo>
                <a:lnTo>
                  <a:pt x="91440" y="59436"/>
                </a:lnTo>
                <a:lnTo>
                  <a:pt x="0" y="118872"/>
                </a:lnTo>
                <a:close/>
              </a:path>
            </a:pathLst>
          </a:custGeom>
          <a:solidFill>
            <a:srgbClr val="C9A22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9" name="三角形"/>
          <p:cNvSpPr/>
          <p:nvPr/>
        </p:nvSpPr>
        <p:spPr>
          <a:xfrm>
            <a:off x="9081516" y="5792724"/>
            <a:ext cx="91440" cy="118872"/>
          </a:xfrm>
          <a:custGeom>
            <a:avLst/>
            <a:gdLst/>
            <a:ahLst/>
            <a:cxnLst/>
            <a:rect l="l" t="t" r="r" b="b"/>
            <a:pathLst>
              <a:path w="91440" h="118872">
                <a:moveTo>
                  <a:pt x="0" y="0"/>
                </a:moveTo>
                <a:lnTo>
                  <a:pt x="91440" y="59436"/>
                </a:lnTo>
                <a:lnTo>
                  <a:pt x="0" y="118872"/>
                </a:lnTo>
                <a:close/>
              </a:path>
            </a:pathLst>
          </a:custGeom>
          <a:solidFill>
            <a:srgbClr val="C9A22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0" name="流程鏈"/>
          <p:cNvSpPr/>
          <p:nvPr/>
        </p:nvSpPr>
        <p:spPr>
          <a:xfrm>
            <a:off x="9250680" y="5650992"/>
            <a:ext cx="579120" cy="402336"/>
          </a:xfrm>
          <a:prstGeom prst="hexagon">
            <a:avLst>
              <a:gd name="adj" fmla="val 28000"/>
            </a:avLst>
          </a:prstGeom>
          <a:solidFill>
            <a:srgbClr val="2F5D50"/>
          </a:solidFill>
          <a:ln/>
        </p:spPr>
        <p:txBody>
          <a:bodyPr wrap="square" lIns="12700" tIns="0" rIns="1270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檢核</a:t>
            </a:r>
            <a:endParaRPr lang="en-US" sz="1100" dirty="0"/>
          </a:p>
        </p:txBody>
      </p:sp>
      <p:sp>
        <p:nvSpPr>
          <p:cNvPr id="91" name="Text 89"/>
          <p:cNvSpPr/>
          <p:nvPr/>
        </p:nvSpPr>
        <p:spPr>
          <a:xfrm>
            <a:off x="548640" y="6309360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墨綠筆記</a:t>
            </a:r>
            <a:pPr algn="l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900" dirty="0"/>
          </a:p>
        </p:txBody>
      </p:sp>
      <p:sp>
        <p:nvSpPr>
          <p:cNvPr id="92" name="Text 90"/>
          <p:cNvSpPr/>
          <p:nvPr/>
        </p:nvSpPr>
        <p:spPr>
          <a:xfrm>
            <a:off x="10271455" y="6309360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02 / 11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畫布面板"/>
          <p:cNvSpPr/>
          <p:nvPr/>
        </p:nvSpPr>
        <p:spPr>
          <a:xfrm>
            <a:off x="228600" y="228600"/>
            <a:ext cx="11734495" cy="6400800"/>
          </a:xfrm>
          <a:prstGeom prst="roundRect">
            <a:avLst>
              <a:gd name="adj" fmla="val 857"/>
            </a:avLst>
          </a:prstGeom>
          <a:solidFill>
            <a:srgbClr val="F4F4F1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標題"/>
          <p:cNvSpPr/>
          <p:nvPr/>
        </p:nvSpPr>
        <p:spPr>
          <a:xfrm>
            <a:off x="548640" y="329184"/>
            <a:ext cx="100584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2F5D5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卡片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548640" y="1069848"/>
            <a:ext cx="4136136" cy="365760"/>
          </a:xfrm>
          <a:prstGeom prst="rect">
            <a:avLst/>
          </a:prstGeom>
          <a:solidFill>
            <a:srgbClr val="2F5D50"/>
          </a:solidFill>
          <a:ln/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標題＋內文、角落標籤、表頭強調三種基本卡片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4748784" y="1069848"/>
            <a:ext cx="109728" cy="365760"/>
          </a:xfrm>
          <a:prstGeom prst="rect">
            <a:avLst/>
          </a:prstGeom>
          <a:solidFill>
            <a:srgbClr val="C9A22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卡片"/>
          <p:cNvSpPr/>
          <p:nvPr/>
        </p:nvSpPr>
        <p:spPr>
          <a:xfrm>
            <a:off x="548640" y="1874520"/>
            <a:ext cx="3410712" cy="2148840"/>
          </a:xfrm>
          <a:prstGeom prst="roundRect">
            <a:avLst>
              <a:gd name="adj" fmla="val 5106"/>
            </a:avLst>
          </a:prstGeom>
          <a:solidFill>
            <a:srgbClr val="FFFFFF"/>
          </a:solidFill>
          <a:ln w="28575">
            <a:solidFill>
              <a:srgbClr val="BFBFBF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786384" y="2020824"/>
            <a:ext cx="293522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2F5D5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標題＋內文</a:t>
            </a:r>
            <a:pPr algn="l" indent="0" marL="0">
              <a:buNone/>
            </a:pPr>
            <a:r>
              <a:rPr lang="en-US" sz="1000" b="1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Card</a:t>
            </a:r>
            <a:endParaRPr lang="en-US" sz="1600" dirty="0"/>
          </a:p>
        </p:txBody>
      </p:sp>
      <p:sp>
        <p:nvSpPr>
          <p:cNvPr id="8" name="線條"/>
          <p:cNvSpPr/>
          <p:nvPr/>
        </p:nvSpPr>
        <p:spPr>
          <a:xfrm>
            <a:off x="786384" y="2514600"/>
            <a:ext cx="2935224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86384" y="2660904"/>
            <a:ext cx="2935224" cy="11795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先用一句話說清楚重點，</a:t>
            </a:r>
            <a:endParaRPr lang="en-US" sz="12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再以兩到三行補充說明。</a:t>
            </a:r>
            <a:endParaRPr lang="en-US" sz="12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內文維持灰色、行距寬鬆，</a:t>
            </a:r>
            <a:endParaRPr lang="en-US" sz="12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留白讓卡片更好讀。</a:t>
            </a:r>
            <a:endParaRPr lang="en-US" sz="1200" dirty="0"/>
          </a:p>
        </p:txBody>
      </p:sp>
      <p:sp>
        <p:nvSpPr>
          <p:cNvPr id="10" name="卡片"/>
          <p:cNvSpPr/>
          <p:nvPr/>
        </p:nvSpPr>
        <p:spPr>
          <a:xfrm>
            <a:off x="4390492" y="1874520"/>
            <a:ext cx="3410712" cy="2148840"/>
          </a:xfrm>
          <a:prstGeom prst="roundRect">
            <a:avLst>
              <a:gd name="adj" fmla="val 5106"/>
            </a:avLst>
          </a:prstGeom>
          <a:solidFill>
            <a:srgbClr val="FFFFFF"/>
          </a:solidFill>
          <a:ln w="28575">
            <a:solidFill>
              <a:srgbClr val="BFBFBF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Text 9"/>
          <p:cNvSpPr/>
          <p:nvPr/>
        </p:nvSpPr>
        <p:spPr>
          <a:xfrm>
            <a:off x="4628236" y="2020824"/>
            <a:ext cx="293522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2F5D5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角落標籤卡片</a:t>
            </a:r>
            <a:endParaRPr lang="en-US" sz="1600" dirty="0"/>
          </a:p>
        </p:txBody>
      </p:sp>
      <p:sp>
        <p:nvSpPr>
          <p:cNvPr id="12" name="線條"/>
          <p:cNvSpPr/>
          <p:nvPr/>
        </p:nvSpPr>
        <p:spPr>
          <a:xfrm>
            <a:off x="4628236" y="2514600"/>
            <a:ext cx="2935224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28236" y="2660904"/>
            <a:ext cx="2935224" cy="11795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右上角的小標籤標示階段、</a:t>
            </a:r>
            <a:endParaRPr lang="en-US" sz="12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分類或狀態，跨在邊框上，</a:t>
            </a:r>
            <a:endParaRPr lang="en-US" sz="12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不佔用內文空間。</a:t>
            </a:r>
            <a:endParaRPr lang="en-US" sz="1200" dirty="0"/>
          </a:p>
        </p:txBody>
      </p:sp>
      <p:sp>
        <p:nvSpPr>
          <p:cNvPr id="14" name="標籤"/>
          <p:cNvSpPr/>
          <p:nvPr/>
        </p:nvSpPr>
        <p:spPr>
          <a:xfrm>
            <a:off x="6854292" y="1746504"/>
            <a:ext cx="745744" cy="256032"/>
          </a:xfrm>
          <a:prstGeom prst="roundRect">
            <a:avLst>
              <a:gd name="adj" fmla="val 17857"/>
            </a:avLst>
          </a:prstGeom>
          <a:solidFill>
            <a:srgbClr val="2F5D50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第一階段</a:t>
            </a:r>
            <a:endParaRPr lang="en-US" sz="1000" dirty="0"/>
          </a:p>
        </p:txBody>
      </p:sp>
      <p:sp>
        <p:nvSpPr>
          <p:cNvPr id="15" name="卡片"/>
          <p:cNvSpPr/>
          <p:nvPr/>
        </p:nvSpPr>
        <p:spPr>
          <a:xfrm>
            <a:off x="8232343" y="1874520"/>
            <a:ext cx="3410712" cy="2148840"/>
          </a:xfrm>
          <a:prstGeom prst="roundRect">
            <a:avLst>
              <a:gd name="adj" fmla="val 5106"/>
            </a:avLst>
          </a:prstGeom>
          <a:solidFill>
            <a:srgbClr val="FFFFFF"/>
          </a:solidFill>
          <a:ln w="28575">
            <a:solidFill>
              <a:srgbClr val="BFBFBF"/>
            </a:solidFill>
            <a:prstDash val="solid"/>
          </a:ln>
          <a:effectLst>
            <a:outerShdw blurRad="88900" dist="25400" dir="5400000" sx="100000" sy="100000" algn="ctr" rotWithShape="0">
              <a:srgbClr val="000000">
                <a:alpha val="25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表頭"/>
          <p:cNvSpPr/>
          <p:nvPr/>
        </p:nvSpPr>
        <p:spPr>
          <a:xfrm>
            <a:off x="8232343" y="1874520"/>
            <a:ext cx="3410712" cy="530352"/>
          </a:xfrm>
          <a:custGeom>
            <a:avLst/>
            <a:gdLst/>
            <a:ahLst/>
            <a:cxnLst/>
            <a:rect l="l" t="t" r="r" b="b"/>
            <a:pathLst>
              <a:path w="3410712" h="530352">
                <a:moveTo>
                  <a:pt x="0" y="530352"/>
                </a:moveTo>
                <a:lnTo>
                  <a:pt x="0" y="109728"/>
                </a:lnTo>
                <a:arcTo hR="109728" wR="109728" stAng="10800000" swAng="5400000"/>
                <a:lnTo>
                  <a:pt x="3300984" y="0"/>
                </a:lnTo>
                <a:arcTo hR="109728" wR="109728" stAng="16200000" swAng="5400000"/>
                <a:lnTo>
                  <a:pt x="3410712" y="530352"/>
                </a:lnTo>
                <a:close/>
              </a:path>
            </a:pathLst>
          </a:custGeom>
          <a:solidFill>
            <a:srgbClr val="2F5D5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" name="Text 15"/>
          <p:cNvSpPr/>
          <p:nvPr/>
        </p:nvSpPr>
        <p:spPr>
          <a:xfrm>
            <a:off x="8470087" y="1874520"/>
            <a:ext cx="293522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表頭強調卡片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8470087" y="2587752"/>
            <a:ext cx="2935224" cy="12527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以主色表頭強調，</a:t>
            </a:r>
            <a:endParaRPr lang="en-US" sz="12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用來標出最重要的一張卡。</a:t>
            </a:r>
            <a:endParaRPr lang="en-US" sz="12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同一頁建議只放一張。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548640" y="4187952"/>
            <a:ext cx="34107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A｜基本卡片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4390492" y="4187952"/>
            <a:ext cx="34107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B｜角標卡片</a:t>
            </a:r>
            <a:endParaRPr lang="en-US" sz="1050" dirty="0"/>
          </a:p>
        </p:txBody>
      </p:sp>
      <p:sp>
        <p:nvSpPr>
          <p:cNvPr id="21" name="Text 19"/>
          <p:cNvSpPr/>
          <p:nvPr/>
        </p:nvSpPr>
        <p:spPr>
          <a:xfrm>
            <a:off x="8232343" y="4187952"/>
            <a:ext cx="34107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C｜強調卡片（含陰影）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548640" y="4668012"/>
            <a:ext cx="100584" cy="100584"/>
          </a:xfrm>
          <a:prstGeom prst="rect">
            <a:avLst/>
          </a:prstGeom>
          <a:solidFill>
            <a:srgbClr val="C9A22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3" name="Text 21"/>
          <p:cNvSpPr/>
          <p:nvPr/>
        </p:nvSpPr>
        <p:spPr>
          <a:xfrm>
            <a:off x="749808" y="4572000"/>
            <a:ext cx="61996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標籤＋說明列</a:t>
            </a:r>
            <a:endParaRPr lang="en-US" sz="1300" dirty="0"/>
          </a:p>
        </p:txBody>
      </p:sp>
      <p:sp>
        <p:nvSpPr>
          <p:cNvPr id="24" name="線條"/>
          <p:cNvSpPr/>
          <p:nvPr/>
        </p:nvSpPr>
        <p:spPr>
          <a:xfrm>
            <a:off x="548640" y="4956048"/>
            <a:ext cx="6400800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25" name="標籤"/>
          <p:cNvSpPr/>
          <p:nvPr/>
        </p:nvSpPr>
        <p:spPr>
          <a:xfrm>
            <a:off x="548640" y="5102352"/>
            <a:ext cx="749808" cy="292608"/>
          </a:xfrm>
          <a:prstGeom prst="roundRect">
            <a:avLst>
              <a:gd name="adj" fmla="val 15625"/>
            </a:avLst>
          </a:prstGeom>
          <a:solidFill>
            <a:srgbClr val="2F5D50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簡潔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1463040" y="5102352"/>
            <a:ext cx="5303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一頁只講一個重點，讀者不費力</a:t>
            </a:r>
            <a:endParaRPr lang="en-US" sz="1300" dirty="0"/>
          </a:p>
        </p:txBody>
      </p:sp>
      <p:sp>
        <p:nvSpPr>
          <p:cNvPr id="27" name="標籤"/>
          <p:cNvSpPr/>
          <p:nvPr/>
        </p:nvSpPr>
        <p:spPr>
          <a:xfrm>
            <a:off x="548640" y="5486400"/>
            <a:ext cx="749808" cy="292608"/>
          </a:xfrm>
          <a:prstGeom prst="roundRect">
            <a:avLst>
              <a:gd name="adj" fmla="val 15625"/>
            </a:avLst>
          </a:prstGeom>
          <a:solidFill>
            <a:srgbClr val="C9A227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具體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1463040" y="5486400"/>
            <a:ext cx="5303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用例子與數字說話，避免空泛</a:t>
            </a:r>
            <a:endParaRPr lang="en-US" sz="1300" dirty="0"/>
          </a:p>
        </p:txBody>
      </p:sp>
      <p:sp>
        <p:nvSpPr>
          <p:cNvPr id="29" name="標籤"/>
          <p:cNvSpPr/>
          <p:nvPr/>
        </p:nvSpPr>
        <p:spPr>
          <a:xfrm>
            <a:off x="548640" y="5870448"/>
            <a:ext cx="749808" cy="292608"/>
          </a:xfrm>
          <a:prstGeom prst="roundRect">
            <a:avLst>
              <a:gd name="adj" fmla="val 15625"/>
            </a:avLst>
          </a:prstGeom>
          <a:solidFill>
            <a:srgbClr val="2F5D50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深入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1463040" y="5870448"/>
            <a:ext cx="5303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提出觀點與洞見，留下記憶點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7315200" y="4668012"/>
            <a:ext cx="100584" cy="100584"/>
          </a:xfrm>
          <a:prstGeom prst="rect">
            <a:avLst/>
          </a:prstGeom>
          <a:solidFill>
            <a:srgbClr val="C9A22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2" name="Text 30"/>
          <p:cNvSpPr/>
          <p:nvPr/>
        </p:nvSpPr>
        <p:spPr>
          <a:xfrm>
            <a:off x="7516368" y="4572000"/>
            <a:ext cx="4126687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註解 Note</a:t>
            </a:r>
            <a:endParaRPr lang="en-US" sz="1300" dirty="0"/>
          </a:p>
        </p:txBody>
      </p:sp>
      <p:sp>
        <p:nvSpPr>
          <p:cNvPr id="33" name="線條"/>
          <p:cNvSpPr/>
          <p:nvPr/>
        </p:nvSpPr>
        <p:spPr>
          <a:xfrm>
            <a:off x="7315200" y="4956048"/>
            <a:ext cx="4327855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7315200" y="5120640"/>
            <a:ext cx="43278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※ 註解用灰色小字，補充前提或資料來源。</a:t>
            </a:r>
            <a:endParaRPr lang="en-US" sz="1050" dirty="0"/>
          </a:p>
        </p:txBody>
      </p:sp>
      <p:sp>
        <p:nvSpPr>
          <p:cNvPr id="35" name="Text 33"/>
          <p:cNvSpPr/>
          <p:nvPr/>
        </p:nvSpPr>
        <p:spPr>
          <a:xfrm>
            <a:off x="7315200" y="5486400"/>
            <a:ext cx="43278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※ 每張卡片內文以 3–4 行為上限。</a:t>
            </a:r>
            <a:endParaRPr lang="en-US" sz="1050" dirty="0"/>
          </a:p>
        </p:txBody>
      </p:sp>
      <p:sp>
        <p:nvSpPr>
          <p:cNvPr id="36" name="Text 34"/>
          <p:cNvSpPr/>
          <p:nvPr/>
        </p:nvSpPr>
        <p:spPr>
          <a:xfrm>
            <a:off x="548640" y="6309360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墨綠筆記</a:t>
            </a:r>
            <a:pPr algn="l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10271455" y="6309360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03 / 11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畫布面板"/>
          <p:cNvSpPr/>
          <p:nvPr/>
        </p:nvSpPr>
        <p:spPr>
          <a:xfrm>
            <a:off x="228600" y="228600"/>
            <a:ext cx="11734495" cy="6400800"/>
          </a:xfrm>
          <a:prstGeom prst="roundRect">
            <a:avLst>
              <a:gd name="adj" fmla="val 857"/>
            </a:avLst>
          </a:prstGeom>
          <a:solidFill>
            <a:srgbClr val="F4F4F1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標題"/>
          <p:cNvSpPr/>
          <p:nvPr/>
        </p:nvSpPr>
        <p:spPr>
          <a:xfrm>
            <a:off x="548640" y="329184"/>
            <a:ext cx="100584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2F5D5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標籤與編號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548640" y="1069848"/>
            <a:ext cx="3780536" cy="365760"/>
          </a:xfrm>
          <a:prstGeom prst="rect">
            <a:avLst/>
          </a:prstGeom>
          <a:solidFill>
            <a:srgbClr val="2F5D50"/>
          </a:solidFill>
          <a:ln/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單一標籤、堆疊清單、編號徽章與圈號清單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4393184" y="1069848"/>
            <a:ext cx="109728" cy="365760"/>
          </a:xfrm>
          <a:prstGeom prst="rect">
            <a:avLst/>
          </a:prstGeom>
          <a:solidFill>
            <a:srgbClr val="C9A22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548640" y="1879092"/>
            <a:ext cx="100584" cy="100584"/>
          </a:xfrm>
          <a:prstGeom prst="rect">
            <a:avLst/>
          </a:prstGeom>
          <a:solidFill>
            <a:srgbClr val="C9A22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749808" y="1783080"/>
            <a:ext cx="10893247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單一標籤 Tags</a:t>
            </a:r>
            <a:endParaRPr lang="en-US" sz="1300" dirty="0"/>
          </a:p>
        </p:txBody>
      </p:sp>
      <p:sp>
        <p:nvSpPr>
          <p:cNvPr id="8" name="線條"/>
          <p:cNvSpPr/>
          <p:nvPr/>
        </p:nvSpPr>
        <p:spPr>
          <a:xfrm>
            <a:off x="548640" y="2167128"/>
            <a:ext cx="11094415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9" name="標籤"/>
          <p:cNvSpPr/>
          <p:nvPr/>
        </p:nvSpPr>
        <p:spPr>
          <a:xfrm>
            <a:off x="548640" y="2331720"/>
            <a:ext cx="952276" cy="347472"/>
          </a:xfrm>
          <a:prstGeom prst="roundRect">
            <a:avLst>
              <a:gd name="adj" fmla="val 13158"/>
            </a:avLst>
          </a:prstGeom>
          <a:solidFill>
            <a:srgbClr val="2F5D50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主要標籤</a:t>
            </a:r>
            <a:endParaRPr lang="en-US" sz="1300" dirty="0"/>
          </a:p>
        </p:txBody>
      </p:sp>
      <p:sp>
        <p:nvSpPr>
          <p:cNvPr id="10" name="標籤"/>
          <p:cNvSpPr/>
          <p:nvPr/>
        </p:nvSpPr>
        <p:spPr>
          <a:xfrm>
            <a:off x="1775236" y="2331720"/>
            <a:ext cx="952276" cy="347472"/>
          </a:xfrm>
          <a:prstGeom prst="roundRect">
            <a:avLst>
              <a:gd name="adj" fmla="val 13158"/>
            </a:avLst>
          </a:prstGeom>
          <a:solidFill>
            <a:srgbClr val="C9A227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輔助標籤</a:t>
            </a:r>
            <a:endParaRPr lang="en-US" sz="1300" dirty="0"/>
          </a:p>
        </p:txBody>
      </p:sp>
      <p:sp>
        <p:nvSpPr>
          <p:cNvPr id="11" name="標籤"/>
          <p:cNvSpPr/>
          <p:nvPr/>
        </p:nvSpPr>
        <p:spPr>
          <a:xfrm>
            <a:off x="3001833" y="2331720"/>
            <a:ext cx="952276" cy="347472"/>
          </a:xfrm>
          <a:prstGeom prst="roundRect">
            <a:avLst>
              <a:gd name="adj" fmla="val 13158"/>
            </a:avLst>
          </a:prstGeom>
          <a:solidFill>
            <a:srgbClr val="DFDFDF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灰階標籤</a:t>
            </a:r>
            <a:endParaRPr lang="en-US" sz="1300" dirty="0"/>
          </a:p>
        </p:txBody>
      </p:sp>
      <p:sp>
        <p:nvSpPr>
          <p:cNvPr id="12" name="標籤"/>
          <p:cNvSpPr/>
          <p:nvPr/>
        </p:nvSpPr>
        <p:spPr>
          <a:xfrm>
            <a:off x="4228429" y="2331720"/>
            <a:ext cx="952276" cy="347472"/>
          </a:xfrm>
          <a:prstGeom prst="roundRect">
            <a:avLst>
              <a:gd name="adj" fmla="val 13158"/>
            </a:avLst>
          </a:prstGeom>
          <a:solidFill>
            <a:srgbClr val="FFFFFF"/>
          </a:solidFill>
          <a:ln w="15875">
            <a:solidFill>
              <a:srgbClr val="BFBFBF"/>
            </a:solidFill>
            <a:prstDash val="solid"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外框標籤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5729346" y="2331720"/>
            <a:ext cx="822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小尺寸</a:t>
            </a:r>
            <a:endParaRPr lang="en-US" sz="1100" dirty="0"/>
          </a:p>
        </p:txBody>
      </p:sp>
      <p:sp>
        <p:nvSpPr>
          <p:cNvPr id="14" name="標籤"/>
          <p:cNvSpPr/>
          <p:nvPr/>
        </p:nvSpPr>
        <p:spPr>
          <a:xfrm>
            <a:off x="6460866" y="2368296"/>
            <a:ext cx="491744" cy="27432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5875">
            <a:solidFill>
              <a:srgbClr val="BFBFBF"/>
            </a:solidFill>
            <a:prstDash val="solid"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元素</a:t>
            </a:r>
            <a:endParaRPr lang="en-US" sz="1000" dirty="0"/>
          </a:p>
        </p:txBody>
      </p:sp>
      <p:sp>
        <p:nvSpPr>
          <p:cNvPr id="15" name="標籤"/>
          <p:cNvSpPr/>
          <p:nvPr/>
        </p:nvSpPr>
        <p:spPr>
          <a:xfrm>
            <a:off x="7089770" y="2368296"/>
            <a:ext cx="491744" cy="274320"/>
          </a:xfrm>
          <a:prstGeom prst="roundRect">
            <a:avLst>
              <a:gd name="adj" fmla="val 16667"/>
            </a:avLst>
          </a:prstGeom>
          <a:solidFill>
            <a:srgbClr val="DFDFDF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關聯</a:t>
            </a:r>
            <a:endParaRPr lang="en-US" sz="1000" dirty="0"/>
          </a:p>
        </p:txBody>
      </p:sp>
      <p:sp>
        <p:nvSpPr>
          <p:cNvPr id="16" name="標籤"/>
          <p:cNvSpPr/>
          <p:nvPr/>
        </p:nvSpPr>
        <p:spPr>
          <a:xfrm>
            <a:off x="7718674" y="2368296"/>
            <a:ext cx="491744" cy="274320"/>
          </a:xfrm>
          <a:prstGeom prst="roundRect">
            <a:avLst>
              <a:gd name="adj" fmla="val 16667"/>
            </a:avLst>
          </a:prstGeom>
          <a:solidFill>
            <a:srgbClr val="DFDFDF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因果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548640" y="3159252"/>
            <a:ext cx="100584" cy="100584"/>
          </a:xfrm>
          <a:prstGeom prst="rect">
            <a:avLst/>
          </a:prstGeom>
          <a:solidFill>
            <a:srgbClr val="C9A22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Text 16"/>
          <p:cNvSpPr/>
          <p:nvPr/>
        </p:nvSpPr>
        <p:spPr>
          <a:xfrm>
            <a:off x="749808" y="3063240"/>
            <a:ext cx="32644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堆疊清單 Stacked</a:t>
            </a:r>
            <a:endParaRPr lang="en-US" sz="1300" dirty="0"/>
          </a:p>
        </p:txBody>
      </p:sp>
      <p:sp>
        <p:nvSpPr>
          <p:cNvPr id="19" name="線條"/>
          <p:cNvSpPr/>
          <p:nvPr/>
        </p:nvSpPr>
        <p:spPr>
          <a:xfrm>
            <a:off x="548640" y="3447288"/>
            <a:ext cx="3465576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20" name="標籤"/>
          <p:cNvSpPr/>
          <p:nvPr/>
        </p:nvSpPr>
        <p:spPr>
          <a:xfrm>
            <a:off x="548640" y="3666744"/>
            <a:ext cx="2651760" cy="384048"/>
          </a:xfrm>
          <a:prstGeom prst="roundRect">
            <a:avLst>
              <a:gd name="adj" fmla="val 11905"/>
            </a:avLst>
          </a:prstGeom>
          <a:solidFill>
            <a:srgbClr val="2F5D50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釐清溝通目的</a:t>
            </a:r>
            <a:endParaRPr lang="en-US" sz="1300" dirty="0"/>
          </a:p>
        </p:txBody>
      </p:sp>
      <p:sp>
        <p:nvSpPr>
          <p:cNvPr id="21" name="標籤"/>
          <p:cNvSpPr/>
          <p:nvPr/>
        </p:nvSpPr>
        <p:spPr>
          <a:xfrm>
            <a:off x="548640" y="4233672"/>
            <a:ext cx="2651760" cy="384048"/>
          </a:xfrm>
          <a:prstGeom prst="roundRect">
            <a:avLst>
              <a:gd name="adj" fmla="val 11905"/>
            </a:avLst>
          </a:prstGeom>
          <a:solidFill>
            <a:srgbClr val="2F5D50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對齊彼此期待</a:t>
            </a:r>
            <a:endParaRPr lang="en-US" sz="1300" dirty="0"/>
          </a:p>
        </p:txBody>
      </p:sp>
      <p:sp>
        <p:nvSpPr>
          <p:cNvPr id="22" name="標籤"/>
          <p:cNvSpPr/>
          <p:nvPr/>
        </p:nvSpPr>
        <p:spPr>
          <a:xfrm>
            <a:off x="548640" y="4800600"/>
            <a:ext cx="2651760" cy="384048"/>
          </a:xfrm>
          <a:prstGeom prst="roundRect">
            <a:avLst>
              <a:gd name="adj" fmla="val 11905"/>
            </a:avLst>
          </a:prstGeom>
          <a:solidFill>
            <a:srgbClr val="2F5D50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降低理解門檻</a:t>
            </a:r>
            <a:endParaRPr lang="en-US" sz="1300" dirty="0"/>
          </a:p>
        </p:txBody>
      </p:sp>
      <p:sp>
        <p:nvSpPr>
          <p:cNvPr id="23" name="標籤"/>
          <p:cNvSpPr/>
          <p:nvPr/>
        </p:nvSpPr>
        <p:spPr>
          <a:xfrm>
            <a:off x="548640" y="5367528"/>
            <a:ext cx="2651760" cy="384048"/>
          </a:xfrm>
          <a:prstGeom prst="roundRect">
            <a:avLst>
              <a:gd name="adj" fmla="val 11905"/>
            </a:avLst>
          </a:prstGeom>
          <a:solidFill>
            <a:srgbClr val="2F5D50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提升決策效率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4363060" y="3159252"/>
            <a:ext cx="100584" cy="100584"/>
          </a:xfrm>
          <a:prstGeom prst="rect">
            <a:avLst/>
          </a:prstGeom>
          <a:solidFill>
            <a:srgbClr val="C9A22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5" name="Text 23"/>
          <p:cNvSpPr/>
          <p:nvPr/>
        </p:nvSpPr>
        <p:spPr>
          <a:xfrm>
            <a:off x="4564228" y="3063240"/>
            <a:ext cx="32644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編號 Badges</a:t>
            </a:r>
            <a:endParaRPr lang="en-US" sz="1300" dirty="0"/>
          </a:p>
        </p:txBody>
      </p:sp>
      <p:sp>
        <p:nvSpPr>
          <p:cNvPr id="26" name="線條"/>
          <p:cNvSpPr/>
          <p:nvPr/>
        </p:nvSpPr>
        <p:spPr>
          <a:xfrm>
            <a:off x="4363060" y="3447288"/>
            <a:ext cx="3465576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27" name="編號"/>
          <p:cNvSpPr/>
          <p:nvPr/>
        </p:nvSpPr>
        <p:spPr>
          <a:xfrm>
            <a:off x="4399636" y="3675888"/>
            <a:ext cx="384048" cy="384048"/>
          </a:xfrm>
          <a:prstGeom prst="roundRect">
            <a:avLst>
              <a:gd name="adj" fmla="val 14286"/>
            </a:avLst>
          </a:prstGeom>
          <a:solidFill>
            <a:srgbClr val="2F5D5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</a:t>
            </a:r>
            <a:endParaRPr lang="en-US" sz="1300" dirty="0"/>
          </a:p>
        </p:txBody>
      </p:sp>
      <p:sp>
        <p:nvSpPr>
          <p:cNvPr id="28" name="編號"/>
          <p:cNvSpPr/>
          <p:nvPr/>
        </p:nvSpPr>
        <p:spPr>
          <a:xfrm>
            <a:off x="4966564" y="3675888"/>
            <a:ext cx="384048" cy="384048"/>
          </a:xfrm>
          <a:prstGeom prst="roundRect">
            <a:avLst>
              <a:gd name="adj" fmla="val 14286"/>
            </a:avLst>
          </a:prstGeom>
          <a:solidFill>
            <a:srgbClr val="2F5D5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</a:t>
            </a:r>
            <a:endParaRPr lang="en-US" sz="1300" dirty="0"/>
          </a:p>
        </p:txBody>
      </p:sp>
      <p:sp>
        <p:nvSpPr>
          <p:cNvPr id="29" name="編號"/>
          <p:cNvSpPr/>
          <p:nvPr/>
        </p:nvSpPr>
        <p:spPr>
          <a:xfrm>
            <a:off x="5533492" y="3675888"/>
            <a:ext cx="384048" cy="384048"/>
          </a:xfrm>
          <a:prstGeom prst="roundRect">
            <a:avLst>
              <a:gd name="adj" fmla="val 14286"/>
            </a:avLst>
          </a:prstGeom>
          <a:solidFill>
            <a:srgbClr val="2F5D5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3</a:t>
            </a:r>
            <a:endParaRPr lang="en-US" sz="1300" dirty="0"/>
          </a:p>
        </p:txBody>
      </p:sp>
      <p:sp>
        <p:nvSpPr>
          <p:cNvPr id="30" name="編號"/>
          <p:cNvSpPr/>
          <p:nvPr/>
        </p:nvSpPr>
        <p:spPr>
          <a:xfrm>
            <a:off x="6100420" y="3675888"/>
            <a:ext cx="384048" cy="384048"/>
          </a:xfrm>
          <a:prstGeom prst="roundRect">
            <a:avLst>
              <a:gd name="adj" fmla="val 14286"/>
            </a:avLst>
          </a:prstGeom>
          <a:solidFill>
            <a:srgbClr val="C9A227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4</a:t>
            </a:r>
            <a:endParaRPr lang="en-US" sz="1300" dirty="0"/>
          </a:p>
        </p:txBody>
      </p:sp>
      <p:sp>
        <p:nvSpPr>
          <p:cNvPr id="31" name="編號"/>
          <p:cNvSpPr/>
          <p:nvPr/>
        </p:nvSpPr>
        <p:spPr>
          <a:xfrm>
            <a:off x="4427068" y="4517136"/>
            <a:ext cx="329184" cy="329184"/>
          </a:xfrm>
          <a:prstGeom prst="roundRect">
            <a:avLst>
              <a:gd name="adj" fmla="val 16667"/>
            </a:avLst>
          </a:prstGeom>
          <a:solidFill>
            <a:srgbClr val="2F5D5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4929988" y="4526280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界定問題</a:t>
            </a:r>
            <a:endParaRPr lang="en-US" sz="1300" dirty="0"/>
          </a:p>
        </p:txBody>
      </p:sp>
      <p:sp>
        <p:nvSpPr>
          <p:cNvPr id="33" name="Text 31"/>
          <p:cNvSpPr/>
          <p:nvPr/>
        </p:nvSpPr>
        <p:spPr>
          <a:xfrm>
            <a:off x="5963260" y="4526280"/>
            <a:ext cx="186537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先釐清要解決什麼</a:t>
            </a:r>
            <a:endParaRPr lang="en-US" sz="1100" dirty="0"/>
          </a:p>
        </p:txBody>
      </p:sp>
      <p:sp>
        <p:nvSpPr>
          <p:cNvPr id="34" name="編號"/>
          <p:cNvSpPr/>
          <p:nvPr/>
        </p:nvSpPr>
        <p:spPr>
          <a:xfrm>
            <a:off x="4427068" y="5084064"/>
            <a:ext cx="329184" cy="329184"/>
          </a:xfrm>
          <a:prstGeom prst="roundRect">
            <a:avLst>
              <a:gd name="adj" fmla="val 16667"/>
            </a:avLst>
          </a:prstGeom>
          <a:solidFill>
            <a:srgbClr val="2F5D5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</a:t>
            </a:r>
            <a:endParaRPr lang="en-US" sz="1100" dirty="0"/>
          </a:p>
        </p:txBody>
      </p:sp>
      <p:sp>
        <p:nvSpPr>
          <p:cNvPr id="35" name="Text 33"/>
          <p:cNvSpPr/>
          <p:nvPr/>
        </p:nvSpPr>
        <p:spPr>
          <a:xfrm>
            <a:off x="4929988" y="5093208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盤點現況</a:t>
            </a:r>
            <a:endParaRPr lang="en-US" sz="1300" dirty="0"/>
          </a:p>
        </p:txBody>
      </p:sp>
      <p:sp>
        <p:nvSpPr>
          <p:cNvPr id="36" name="Text 34"/>
          <p:cNvSpPr/>
          <p:nvPr/>
        </p:nvSpPr>
        <p:spPr>
          <a:xfrm>
            <a:off x="5963260" y="5093208"/>
            <a:ext cx="186537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蒐集事實與數據</a:t>
            </a:r>
            <a:endParaRPr lang="en-US" sz="1100" dirty="0"/>
          </a:p>
        </p:txBody>
      </p:sp>
      <p:sp>
        <p:nvSpPr>
          <p:cNvPr id="37" name="編號"/>
          <p:cNvSpPr/>
          <p:nvPr/>
        </p:nvSpPr>
        <p:spPr>
          <a:xfrm>
            <a:off x="4427068" y="5650992"/>
            <a:ext cx="329184" cy="329184"/>
          </a:xfrm>
          <a:prstGeom prst="roundRect">
            <a:avLst>
              <a:gd name="adj" fmla="val 16667"/>
            </a:avLst>
          </a:prstGeom>
          <a:solidFill>
            <a:srgbClr val="2F5D5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3</a:t>
            </a:r>
            <a:endParaRPr lang="en-US" sz="1100" dirty="0"/>
          </a:p>
        </p:txBody>
      </p:sp>
      <p:sp>
        <p:nvSpPr>
          <p:cNvPr id="38" name="Text 36"/>
          <p:cNvSpPr/>
          <p:nvPr/>
        </p:nvSpPr>
        <p:spPr>
          <a:xfrm>
            <a:off x="4929988" y="5660136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排序優先</a:t>
            </a:r>
            <a:endParaRPr lang="en-US" sz="1300" dirty="0"/>
          </a:p>
        </p:txBody>
      </p:sp>
      <p:sp>
        <p:nvSpPr>
          <p:cNvPr id="39" name="Text 37"/>
          <p:cNvSpPr/>
          <p:nvPr/>
        </p:nvSpPr>
        <p:spPr>
          <a:xfrm>
            <a:off x="5963260" y="5660136"/>
            <a:ext cx="186537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聚焦影響最大處</a:t>
            </a:r>
            <a:endParaRPr lang="en-US" sz="1100" dirty="0"/>
          </a:p>
        </p:txBody>
      </p:sp>
      <p:sp>
        <p:nvSpPr>
          <p:cNvPr id="40" name="Text 38"/>
          <p:cNvSpPr/>
          <p:nvPr/>
        </p:nvSpPr>
        <p:spPr>
          <a:xfrm>
            <a:off x="8177479" y="3159252"/>
            <a:ext cx="100584" cy="100584"/>
          </a:xfrm>
          <a:prstGeom prst="rect">
            <a:avLst/>
          </a:prstGeom>
          <a:solidFill>
            <a:srgbClr val="C9A22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1" name="Text 39"/>
          <p:cNvSpPr/>
          <p:nvPr/>
        </p:nvSpPr>
        <p:spPr>
          <a:xfrm>
            <a:off x="8378647" y="3063240"/>
            <a:ext cx="32644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圈號清單 ①②③</a:t>
            </a:r>
            <a:endParaRPr lang="en-US" sz="1300" dirty="0"/>
          </a:p>
        </p:txBody>
      </p:sp>
      <p:sp>
        <p:nvSpPr>
          <p:cNvPr id="42" name="線條"/>
          <p:cNvSpPr/>
          <p:nvPr/>
        </p:nvSpPr>
        <p:spPr>
          <a:xfrm>
            <a:off x="8177479" y="3447288"/>
            <a:ext cx="3465576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8177479" y="3657600"/>
            <a:ext cx="1645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① 釐清目的</a:t>
            </a:r>
            <a:endParaRPr lang="en-US" sz="1400" dirty="0"/>
          </a:p>
        </p:txBody>
      </p:sp>
      <p:sp>
        <p:nvSpPr>
          <p:cNvPr id="44" name="Text 42"/>
          <p:cNvSpPr/>
          <p:nvPr/>
        </p:nvSpPr>
        <p:spPr>
          <a:xfrm>
            <a:off x="8177479" y="4041648"/>
            <a:ext cx="1645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② 拆解結構</a:t>
            </a:r>
            <a:endParaRPr lang="en-US" sz="1400" dirty="0"/>
          </a:p>
        </p:txBody>
      </p:sp>
      <p:sp>
        <p:nvSpPr>
          <p:cNvPr id="45" name="Text 43"/>
          <p:cNvSpPr/>
          <p:nvPr/>
        </p:nvSpPr>
        <p:spPr>
          <a:xfrm>
            <a:off x="8177479" y="4425696"/>
            <a:ext cx="1645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③ 重新組合</a:t>
            </a:r>
            <a:endParaRPr lang="en-US" sz="1400" dirty="0"/>
          </a:p>
        </p:txBody>
      </p:sp>
      <p:sp>
        <p:nvSpPr>
          <p:cNvPr id="46" name="Text 44"/>
          <p:cNvSpPr/>
          <p:nvPr/>
        </p:nvSpPr>
        <p:spPr>
          <a:xfrm>
            <a:off x="8177479" y="4809744"/>
            <a:ext cx="1645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④ 檢查一致</a:t>
            </a:r>
            <a:endParaRPr lang="en-US" sz="1400" dirty="0"/>
          </a:p>
        </p:txBody>
      </p:sp>
      <p:sp>
        <p:nvSpPr>
          <p:cNvPr id="47" name="Text 45"/>
          <p:cNvSpPr/>
          <p:nvPr/>
        </p:nvSpPr>
        <p:spPr>
          <a:xfrm>
            <a:off x="10006279" y="3657600"/>
            <a:ext cx="163677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① 過濾數據</a:t>
            </a:r>
            <a:endParaRPr lang="en-US" sz="1200" dirty="0"/>
          </a:p>
        </p:txBody>
      </p:sp>
      <p:sp>
        <p:nvSpPr>
          <p:cNvPr id="48" name="Text 46"/>
          <p:cNvSpPr/>
          <p:nvPr/>
        </p:nvSpPr>
        <p:spPr>
          <a:xfrm>
            <a:off x="10006279" y="4041648"/>
            <a:ext cx="163677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② 確認關係</a:t>
            </a:r>
            <a:endParaRPr lang="en-US" sz="1200" dirty="0"/>
          </a:p>
        </p:txBody>
      </p:sp>
      <p:sp>
        <p:nvSpPr>
          <p:cNvPr id="49" name="Text 47"/>
          <p:cNvSpPr/>
          <p:nvPr/>
        </p:nvSpPr>
        <p:spPr>
          <a:xfrm>
            <a:off x="10006279" y="4425696"/>
            <a:ext cx="163677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③ 產出圖表</a:t>
            </a:r>
            <a:endParaRPr lang="en-US" sz="1200" dirty="0"/>
          </a:p>
        </p:txBody>
      </p:sp>
      <p:sp>
        <p:nvSpPr>
          <p:cNvPr id="50" name="Text 48"/>
          <p:cNvSpPr/>
          <p:nvPr/>
        </p:nvSpPr>
        <p:spPr>
          <a:xfrm>
            <a:off x="8177479" y="5303520"/>
            <a:ext cx="34655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※ 清單 3–5 項最易記</a:t>
            </a:r>
            <a:endParaRPr lang="en-US" sz="1050" dirty="0"/>
          </a:p>
        </p:txBody>
      </p:sp>
      <p:sp>
        <p:nvSpPr>
          <p:cNvPr id="51" name="Text 49"/>
          <p:cNvSpPr/>
          <p:nvPr/>
        </p:nvSpPr>
        <p:spPr>
          <a:xfrm>
            <a:off x="548640" y="6309360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墨綠筆記</a:t>
            </a:r>
            <a:pPr algn="l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900" dirty="0"/>
          </a:p>
        </p:txBody>
      </p:sp>
      <p:sp>
        <p:nvSpPr>
          <p:cNvPr id="52" name="Text 50"/>
          <p:cNvSpPr/>
          <p:nvPr/>
        </p:nvSpPr>
        <p:spPr>
          <a:xfrm>
            <a:off x="10271455" y="6309360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04 / 11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畫布面板"/>
          <p:cNvSpPr/>
          <p:nvPr/>
        </p:nvSpPr>
        <p:spPr>
          <a:xfrm>
            <a:off x="228600" y="228600"/>
            <a:ext cx="11734495" cy="6400800"/>
          </a:xfrm>
          <a:prstGeom prst="roundRect">
            <a:avLst>
              <a:gd name="adj" fmla="val 857"/>
            </a:avLst>
          </a:prstGeom>
          <a:solidFill>
            <a:srgbClr val="F4F4F1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標題"/>
          <p:cNvSpPr/>
          <p:nvPr/>
        </p:nvSpPr>
        <p:spPr>
          <a:xfrm>
            <a:off x="548640" y="329184"/>
            <a:ext cx="100584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2F5D5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圓形與流程鏈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548640" y="1069848"/>
            <a:ext cx="3602736" cy="365760"/>
          </a:xfrm>
          <a:prstGeom prst="rect">
            <a:avLst/>
          </a:prstGeom>
          <a:solidFill>
            <a:srgbClr val="2F5D50"/>
          </a:solidFill>
          <a:ln/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大外框圓＋疊放小圓，以及三段式流程鏈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4215384" y="1069848"/>
            <a:ext cx="109728" cy="365760"/>
          </a:xfrm>
          <a:prstGeom prst="rect">
            <a:avLst/>
          </a:prstGeom>
          <a:solidFill>
            <a:srgbClr val="C9A22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548640" y="1879092"/>
            <a:ext cx="100584" cy="100584"/>
          </a:xfrm>
          <a:prstGeom prst="rect">
            <a:avLst/>
          </a:prstGeom>
          <a:solidFill>
            <a:srgbClr val="C9A22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749808" y="1783080"/>
            <a:ext cx="49194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大圓＋疊圓 Circles</a:t>
            </a:r>
            <a:endParaRPr lang="en-US" sz="1300" dirty="0"/>
          </a:p>
        </p:txBody>
      </p:sp>
      <p:sp>
        <p:nvSpPr>
          <p:cNvPr id="8" name="線條"/>
          <p:cNvSpPr/>
          <p:nvPr/>
        </p:nvSpPr>
        <p:spPr>
          <a:xfrm>
            <a:off x="548640" y="2167128"/>
            <a:ext cx="5120640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9" name="大圓"/>
          <p:cNvSpPr/>
          <p:nvPr/>
        </p:nvSpPr>
        <p:spPr>
          <a:xfrm>
            <a:off x="1847088" y="2350008"/>
            <a:ext cx="2523744" cy="2523744"/>
          </a:xfrm>
          <a:prstGeom prst="ellipse">
            <a:avLst/>
          </a:prstGeom>
          <a:solidFill>
            <a:srgbClr val="FFFFFF"/>
          </a:solidFill>
          <a:ln w="28575">
            <a:solidFill>
              <a:srgbClr val="BFBFBF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1847088" y="2678095"/>
            <a:ext cx="2523744" cy="7823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1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How</a:t>
            </a:r>
            <a:endParaRPr lang="en-US" sz="4100" dirty="0"/>
          </a:p>
        </p:txBody>
      </p:sp>
      <p:sp>
        <p:nvSpPr>
          <p:cNvPr id="11" name="Text 9"/>
          <p:cNvSpPr/>
          <p:nvPr/>
        </p:nvSpPr>
        <p:spPr>
          <a:xfrm>
            <a:off x="2099462" y="3485693"/>
            <a:ext cx="2018995" cy="7066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500" b="1" dirty="0">
                <a:solidFill>
                  <a:srgbClr val="24483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如何做到</a:t>
            </a:r>
            <a:endParaRPr lang="en-US" sz="15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500" b="1" dirty="0">
                <a:solidFill>
                  <a:srgbClr val="24483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三個關鍵</a:t>
            </a:r>
            <a:endParaRPr lang="en-US" sz="1500" dirty="0"/>
          </a:p>
        </p:txBody>
      </p:sp>
      <p:sp>
        <p:nvSpPr>
          <p:cNvPr id="12" name="小圓"/>
          <p:cNvSpPr/>
          <p:nvPr/>
        </p:nvSpPr>
        <p:spPr>
          <a:xfrm>
            <a:off x="1717136" y="3987246"/>
            <a:ext cx="768096" cy="768096"/>
          </a:xfrm>
          <a:prstGeom prst="ellipse">
            <a:avLst/>
          </a:prstGeom>
          <a:solidFill>
            <a:srgbClr val="2F5D5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觀察</a:t>
            </a:r>
            <a:endParaRPr lang="en-US" sz="1600" dirty="0"/>
          </a:p>
        </p:txBody>
      </p:sp>
      <p:sp>
        <p:nvSpPr>
          <p:cNvPr id="13" name="小圓"/>
          <p:cNvSpPr/>
          <p:nvPr/>
        </p:nvSpPr>
        <p:spPr>
          <a:xfrm>
            <a:off x="2724912" y="4489704"/>
            <a:ext cx="768096" cy="768096"/>
          </a:xfrm>
          <a:prstGeom prst="ellipse">
            <a:avLst/>
          </a:prstGeom>
          <a:solidFill>
            <a:srgbClr val="2F5D5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分析</a:t>
            </a:r>
            <a:endParaRPr lang="en-US" sz="1600" dirty="0"/>
          </a:p>
        </p:txBody>
      </p:sp>
      <p:sp>
        <p:nvSpPr>
          <p:cNvPr id="14" name="小圓"/>
          <p:cNvSpPr/>
          <p:nvPr/>
        </p:nvSpPr>
        <p:spPr>
          <a:xfrm>
            <a:off x="3732688" y="3987246"/>
            <a:ext cx="768096" cy="768096"/>
          </a:xfrm>
          <a:prstGeom prst="ellipse">
            <a:avLst/>
          </a:prstGeom>
          <a:solidFill>
            <a:srgbClr val="2F5D5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表達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6309360" y="1879092"/>
            <a:ext cx="100584" cy="100584"/>
          </a:xfrm>
          <a:prstGeom prst="rect">
            <a:avLst/>
          </a:prstGeom>
          <a:solidFill>
            <a:srgbClr val="C9A22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Text 14"/>
          <p:cNvSpPr/>
          <p:nvPr/>
        </p:nvSpPr>
        <p:spPr>
          <a:xfrm>
            <a:off x="6510528" y="1783080"/>
            <a:ext cx="5132527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流程鏈 Chain</a:t>
            </a:r>
            <a:endParaRPr lang="en-US" sz="1300" dirty="0"/>
          </a:p>
        </p:txBody>
      </p:sp>
      <p:sp>
        <p:nvSpPr>
          <p:cNvPr id="17" name="線條"/>
          <p:cNvSpPr/>
          <p:nvPr/>
        </p:nvSpPr>
        <p:spPr>
          <a:xfrm>
            <a:off x="6309360" y="2167128"/>
            <a:ext cx="5333695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18" name="流程鏈"/>
          <p:cNvSpPr/>
          <p:nvPr/>
        </p:nvSpPr>
        <p:spPr>
          <a:xfrm>
            <a:off x="6309360" y="2395728"/>
            <a:ext cx="1442618" cy="658368"/>
          </a:xfrm>
          <a:prstGeom prst="hexagon">
            <a:avLst>
              <a:gd name="adj" fmla="val 28000"/>
            </a:avLst>
          </a:prstGeom>
          <a:solidFill>
            <a:srgbClr val="2F5D50"/>
          </a:solidFill>
          <a:ln/>
        </p:spPr>
        <p:txBody>
          <a:bodyPr wrap="square" lIns="12700" tIns="0" rIns="1270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主題思考</a:t>
            </a:r>
            <a:endParaRPr lang="en-US" sz="1600" dirty="0"/>
          </a:p>
        </p:txBody>
      </p:sp>
      <p:sp>
        <p:nvSpPr>
          <p:cNvPr id="19" name="三角形"/>
          <p:cNvSpPr/>
          <p:nvPr/>
        </p:nvSpPr>
        <p:spPr>
          <a:xfrm>
            <a:off x="7829702" y="2665476"/>
            <a:ext cx="91440" cy="118872"/>
          </a:xfrm>
          <a:custGeom>
            <a:avLst/>
            <a:gdLst/>
            <a:ahLst/>
            <a:cxnLst/>
            <a:rect l="l" t="t" r="r" b="b"/>
            <a:pathLst>
              <a:path w="91440" h="118872">
                <a:moveTo>
                  <a:pt x="0" y="0"/>
                </a:moveTo>
                <a:lnTo>
                  <a:pt x="91440" y="59436"/>
                </a:lnTo>
                <a:lnTo>
                  <a:pt x="0" y="118872"/>
                </a:lnTo>
                <a:close/>
              </a:path>
            </a:pathLst>
          </a:custGeom>
          <a:solidFill>
            <a:srgbClr val="C9A22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0" name="三角形"/>
          <p:cNvSpPr/>
          <p:nvPr/>
        </p:nvSpPr>
        <p:spPr>
          <a:xfrm>
            <a:off x="7957718" y="2665476"/>
            <a:ext cx="91440" cy="118872"/>
          </a:xfrm>
          <a:custGeom>
            <a:avLst/>
            <a:gdLst/>
            <a:ahLst/>
            <a:cxnLst/>
            <a:rect l="l" t="t" r="r" b="b"/>
            <a:pathLst>
              <a:path w="91440" h="118872">
                <a:moveTo>
                  <a:pt x="0" y="0"/>
                </a:moveTo>
                <a:lnTo>
                  <a:pt x="91440" y="59436"/>
                </a:lnTo>
                <a:lnTo>
                  <a:pt x="0" y="118872"/>
                </a:lnTo>
                <a:close/>
              </a:path>
            </a:pathLst>
          </a:custGeom>
          <a:solidFill>
            <a:srgbClr val="C9A22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1" name="三角形"/>
          <p:cNvSpPr/>
          <p:nvPr/>
        </p:nvSpPr>
        <p:spPr>
          <a:xfrm>
            <a:off x="8085734" y="2665476"/>
            <a:ext cx="91440" cy="118872"/>
          </a:xfrm>
          <a:custGeom>
            <a:avLst/>
            <a:gdLst/>
            <a:ahLst/>
            <a:cxnLst/>
            <a:rect l="l" t="t" r="r" b="b"/>
            <a:pathLst>
              <a:path w="91440" h="118872">
                <a:moveTo>
                  <a:pt x="0" y="0"/>
                </a:moveTo>
                <a:lnTo>
                  <a:pt x="91440" y="59436"/>
                </a:lnTo>
                <a:lnTo>
                  <a:pt x="0" y="118872"/>
                </a:lnTo>
                <a:close/>
              </a:path>
            </a:pathLst>
          </a:custGeom>
          <a:solidFill>
            <a:srgbClr val="C9A22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2" name="流程鏈"/>
          <p:cNvSpPr/>
          <p:nvPr/>
        </p:nvSpPr>
        <p:spPr>
          <a:xfrm>
            <a:off x="8254898" y="2395728"/>
            <a:ext cx="1442618" cy="658368"/>
          </a:xfrm>
          <a:prstGeom prst="hexagon">
            <a:avLst>
              <a:gd name="adj" fmla="val 28000"/>
            </a:avLst>
          </a:prstGeom>
          <a:solidFill>
            <a:srgbClr val="2F5D50"/>
          </a:solidFill>
          <a:ln/>
        </p:spPr>
        <p:txBody>
          <a:bodyPr wrap="square" lIns="12700" tIns="0" rIns="1270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主題定位</a:t>
            </a:r>
            <a:endParaRPr lang="en-US" sz="1600" dirty="0"/>
          </a:p>
        </p:txBody>
      </p:sp>
      <p:sp>
        <p:nvSpPr>
          <p:cNvPr id="23" name="三角形"/>
          <p:cNvSpPr/>
          <p:nvPr/>
        </p:nvSpPr>
        <p:spPr>
          <a:xfrm>
            <a:off x="9775241" y="2665476"/>
            <a:ext cx="91440" cy="118872"/>
          </a:xfrm>
          <a:custGeom>
            <a:avLst/>
            <a:gdLst/>
            <a:ahLst/>
            <a:cxnLst/>
            <a:rect l="l" t="t" r="r" b="b"/>
            <a:pathLst>
              <a:path w="91440" h="118872">
                <a:moveTo>
                  <a:pt x="0" y="0"/>
                </a:moveTo>
                <a:lnTo>
                  <a:pt x="91440" y="59436"/>
                </a:lnTo>
                <a:lnTo>
                  <a:pt x="0" y="118872"/>
                </a:lnTo>
                <a:close/>
              </a:path>
            </a:pathLst>
          </a:custGeom>
          <a:solidFill>
            <a:srgbClr val="C9A22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4" name="三角形"/>
          <p:cNvSpPr/>
          <p:nvPr/>
        </p:nvSpPr>
        <p:spPr>
          <a:xfrm>
            <a:off x="9903257" y="2665476"/>
            <a:ext cx="91440" cy="118872"/>
          </a:xfrm>
          <a:custGeom>
            <a:avLst/>
            <a:gdLst/>
            <a:ahLst/>
            <a:cxnLst/>
            <a:rect l="l" t="t" r="r" b="b"/>
            <a:pathLst>
              <a:path w="91440" h="118872">
                <a:moveTo>
                  <a:pt x="0" y="0"/>
                </a:moveTo>
                <a:lnTo>
                  <a:pt x="91440" y="59436"/>
                </a:lnTo>
                <a:lnTo>
                  <a:pt x="0" y="118872"/>
                </a:lnTo>
                <a:close/>
              </a:path>
            </a:pathLst>
          </a:custGeom>
          <a:solidFill>
            <a:srgbClr val="C9A22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5" name="三角形"/>
          <p:cNvSpPr/>
          <p:nvPr/>
        </p:nvSpPr>
        <p:spPr>
          <a:xfrm>
            <a:off x="10031273" y="2665476"/>
            <a:ext cx="91440" cy="118872"/>
          </a:xfrm>
          <a:custGeom>
            <a:avLst/>
            <a:gdLst/>
            <a:ahLst/>
            <a:cxnLst/>
            <a:rect l="l" t="t" r="r" b="b"/>
            <a:pathLst>
              <a:path w="91440" h="118872">
                <a:moveTo>
                  <a:pt x="0" y="0"/>
                </a:moveTo>
                <a:lnTo>
                  <a:pt x="91440" y="59436"/>
                </a:lnTo>
                <a:lnTo>
                  <a:pt x="0" y="118872"/>
                </a:lnTo>
                <a:close/>
              </a:path>
            </a:pathLst>
          </a:custGeom>
          <a:solidFill>
            <a:srgbClr val="C9A22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6" name="流程鏈"/>
          <p:cNvSpPr/>
          <p:nvPr/>
        </p:nvSpPr>
        <p:spPr>
          <a:xfrm>
            <a:off x="10200437" y="2395728"/>
            <a:ext cx="1442618" cy="658368"/>
          </a:xfrm>
          <a:prstGeom prst="hexagon">
            <a:avLst>
              <a:gd name="adj" fmla="val 28000"/>
            </a:avLst>
          </a:prstGeom>
          <a:solidFill>
            <a:srgbClr val="2F5D50"/>
          </a:solidFill>
          <a:ln/>
        </p:spPr>
        <p:txBody>
          <a:bodyPr wrap="square" lIns="12700" tIns="0" rIns="1270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內容產出</a:t>
            </a:r>
            <a:endParaRPr lang="en-US" sz="1600" dirty="0"/>
          </a:p>
        </p:txBody>
      </p:sp>
      <p:sp>
        <p:nvSpPr>
          <p:cNvPr id="27" name="流程鏈"/>
          <p:cNvSpPr/>
          <p:nvPr/>
        </p:nvSpPr>
        <p:spPr>
          <a:xfrm>
            <a:off x="6309360" y="3520440"/>
            <a:ext cx="752917" cy="512064"/>
          </a:xfrm>
          <a:prstGeom prst="hexagon">
            <a:avLst>
              <a:gd name="adj" fmla="val 28000"/>
            </a:avLst>
          </a:prstGeom>
          <a:solidFill>
            <a:srgbClr val="2F5D50"/>
          </a:solidFill>
          <a:ln/>
        </p:spPr>
        <p:txBody>
          <a:bodyPr wrap="square" lIns="12700" tIns="0" rIns="1270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願景</a:t>
            </a:r>
            <a:endParaRPr lang="en-US" sz="1400" dirty="0"/>
          </a:p>
        </p:txBody>
      </p:sp>
      <p:sp>
        <p:nvSpPr>
          <p:cNvPr id="28" name="三角形"/>
          <p:cNvSpPr/>
          <p:nvPr/>
        </p:nvSpPr>
        <p:spPr>
          <a:xfrm>
            <a:off x="7084680" y="3717036"/>
            <a:ext cx="91440" cy="118872"/>
          </a:xfrm>
          <a:custGeom>
            <a:avLst/>
            <a:gdLst/>
            <a:ahLst/>
            <a:cxnLst/>
            <a:rect l="l" t="t" r="r" b="b"/>
            <a:pathLst>
              <a:path w="91440" h="118872">
                <a:moveTo>
                  <a:pt x="0" y="0"/>
                </a:moveTo>
                <a:lnTo>
                  <a:pt x="91440" y="59436"/>
                </a:lnTo>
                <a:lnTo>
                  <a:pt x="0" y="118872"/>
                </a:lnTo>
                <a:close/>
              </a:path>
            </a:pathLst>
          </a:custGeom>
          <a:solidFill>
            <a:srgbClr val="C9A22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9" name="三角形"/>
          <p:cNvSpPr/>
          <p:nvPr/>
        </p:nvSpPr>
        <p:spPr>
          <a:xfrm>
            <a:off x="7212696" y="3717036"/>
            <a:ext cx="91440" cy="118872"/>
          </a:xfrm>
          <a:custGeom>
            <a:avLst/>
            <a:gdLst/>
            <a:ahLst/>
            <a:cxnLst/>
            <a:rect l="l" t="t" r="r" b="b"/>
            <a:pathLst>
              <a:path w="91440" h="118872">
                <a:moveTo>
                  <a:pt x="0" y="0"/>
                </a:moveTo>
                <a:lnTo>
                  <a:pt x="91440" y="59436"/>
                </a:lnTo>
                <a:lnTo>
                  <a:pt x="0" y="118872"/>
                </a:lnTo>
                <a:close/>
              </a:path>
            </a:pathLst>
          </a:custGeom>
          <a:solidFill>
            <a:srgbClr val="C9A22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0" name="三角形"/>
          <p:cNvSpPr/>
          <p:nvPr/>
        </p:nvSpPr>
        <p:spPr>
          <a:xfrm>
            <a:off x="7340712" y="3717036"/>
            <a:ext cx="91440" cy="118872"/>
          </a:xfrm>
          <a:custGeom>
            <a:avLst/>
            <a:gdLst/>
            <a:ahLst/>
            <a:cxnLst/>
            <a:rect l="l" t="t" r="r" b="b"/>
            <a:pathLst>
              <a:path w="91440" h="118872">
                <a:moveTo>
                  <a:pt x="0" y="0"/>
                </a:moveTo>
                <a:lnTo>
                  <a:pt x="91440" y="59436"/>
                </a:lnTo>
                <a:lnTo>
                  <a:pt x="0" y="118872"/>
                </a:lnTo>
                <a:close/>
              </a:path>
            </a:pathLst>
          </a:custGeom>
          <a:solidFill>
            <a:srgbClr val="C9A22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1" name="流程鏈"/>
          <p:cNvSpPr/>
          <p:nvPr/>
        </p:nvSpPr>
        <p:spPr>
          <a:xfrm>
            <a:off x="7454555" y="3520440"/>
            <a:ext cx="752917" cy="512064"/>
          </a:xfrm>
          <a:prstGeom prst="hexagon">
            <a:avLst>
              <a:gd name="adj" fmla="val 28000"/>
            </a:avLst>
          </a:prstGeom>
          <a:solidFill>
            <a:srgbClr val="2F5D50"/>
          </a:solidFill>
          <a:ln/>
        </p:spPr>
        <p:txBody>
          <a:bodyPr wrap="square" lIns="12700" tIns="0" rIns="1270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使命</a:t>
            </a:r>
            <a:endParaRPr lang="en-US" sz="1400" dirty="0"/>
          </a:p>
        </p:txBody>
      </p:sp>
      <p:sp>
        <p:nvSpPr>
          <p:cNvPr id="32" name="三角形"/>
          <p:cNvSpPr/>
          <p:nvPr/>
        </p:nvSpPr>
        <p:spPr>
          <a:xfrm>
            <a:off x="8229874" y="3717036"/>
            <a:ext cx="91440" cy="118872"/>
          </a:xfrm>
          <a:custGeom>
            <a:avLst/>
            <a:gdLst/>
            <a:ahLst/>
            <a:cxnLst/>
            <a:rect l="l" t="t" r="r" b="b"/>
            <a:pathLst>
              <a:path w="91440" h="118872">
                <a:moveTo>
                  <a:pt x="0" y="0"/>
                </a:moveTo>
                <a:lnTo>
                  <a:pt x="91440" y="59436"/>
                </a:lnTo>
                <a:lnTo>
                  <a:pt x="0" y="118872"/>
                </a:lnTo>
                <a:close/>
              </a:path>
            </a:pathLst>
          </a:custGeom>
          <a:solidFill>
            <a:srgbClr val="C9A22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3" name="三角形"/>
          <p:cNvSpPr/>
          <p:nvPr/>
        </p:nvSpPr>
        <p:spPr>
          <a:xfrm>
            <a:off x="8357890" y="3717036"/>
            <a:ext cx="91440" cy="118872"/>
          </a:xfrm>
          <a:custGeom>
            <a:avLst/>
            <a:gdLst/>
            <a:ahLst/>
            <a:cxnLst/>
            <a:rect l="l" t="t" r="r" b="b"/>
            <a:pathLst>
              <a:path w="91440" h="118872">
                <a:moveTo>
                  <a:pt x="0" y="0"/>
                </a:moveTo>
                <a:lnTo>
                  <a:pt x="91440" y="59436"/>
                </a:lnTo>
                <a:lnTo>
                  <a:pt x="0" y="118872"/>
                </a:lnTo>
                <a:close/>
              </a:path>
            </a:pathLst>
          </a:custGeom>
          <a:solidFill>
            <a:srgbClr val="C9A22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4" name="三角形"/>
          <p:cNvSpPr/>
          <p:nvPr/>
        </p:nvSpPr>
        <p:spPr>
          <a:xfrm>
            <a:off x="8485906" y="3717036"/>
            <a:ext cx="91440" cy="118872"/>
          </a:xfrm>
          <a:custGeom>
            <a:avLst/>
            <a:gdLst/>
            <a:ahLst/>
            <a:cxnLst/>
            <a:rect l="l" t="t" r="r" b="b"/>
            <a:pathLst>
              <a:path w="91440" h="118872">
                <a:moveTo>
                  <a:pt x="0" y="0"/>
                </a:moveTo>
                <a:lnTo>
                  <a:pt x="91440" y="59436"/>
                </a:lnTo>
                <a:lnTo>
                  <a:pt x="0" y="118872"/>
                </a:lnTo>
                <a:close/>
              </a:path>
            </a:pathLst>
          </a:custGeom>
          <a:solidFill>
            <a:srgbClr val="C9A22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5" name="流程鏈"/>
          <p:cNvSpPr/>
          <p:nvPr/>
        </p:nvSpPr>
        <p:spPr>
          <a:xfrm>
            <a:off x="8599749" y="3520440"/>
            <a:ext cx="752917" cy="512064"/>
          </a:xfrm>
          <a:prstGeom prst="hexagon">
            <a:avLst>
              <a:gd name="adj" fmla="val 28000"/>
            </a:avLst>
          </a:prstGeom>
          <a:solidFill>
            <a:srgbClr val="2F5D50"/>
          </a:solidFill>
          <a:ln/>
        </p:spPr>
        <p:txBody>
          <a:bodyPr wrap="square" lIns="12700" tIns="0" rIns="1270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目標</a:t>
            </a:r>
            <a:endParaRPr lang="en-US" sz="1400" dirty="0"/>
          </a:p>
        </p:txBody>
      </p:sp>
      <p:sp>
        <p:nvSpPr>
          <p:cNvPr id="36" name="三角形"/>
          <p:cNvSpPr/>
          <p:nvPr/>
        </p:nvSpPr>
        <p:spPr>
          <a:xfrm>
            <a:off x="9375069" y="3717036"/>
            <a:ext cx="91440" cy="118872"/>
          </a:xfrm>
          <a:custGeom>
            <a:avLst/>
            <a:gdLst/>
            <a:ahLst/>
            <a:cxnLst/>
            <a:rect l="l" t="t" r="r" b="b"/>
            <a:pathLst>
              <a:path w="91440" h="118872">
                <a:moveTo>
                  <a:pt x="0" y="0"/>
                </a:moveTo>
                <a:lnTo>
                  <a:pt x="91440" y="59436"/>
                </a:lnTo>
                <a:lnTo>
                  <a:pt x="0" y="118872"/>
                </a:lnTo>
                <a:close/>
              </a:path>
            </a:pathLst>
          </a:custGeom>
          <a:solidFill>
            <a:srgbClr val="C9A22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7" name="三角形"/>
          <p:cNvSpPr/>
          <p:nvPr/>
        </p:nvSpPr>
        <p:spPr>
          <a:xfrm>
            <a:off x="9503085" y="3717036"/>
            <a:ext cx="91440" cy="118872"/>
          </a:xfrm>
          <a:custGeom>
            <a:avLst/>
            <a:gdLst/>
            <a:ahLst/>
            <a:cxnLst/>
            <a:rect l="l" t="t" r="r" b="b"/>
            <a:pathLst>
              <a:path w="91440" h="118872">
                <a:moveTo>
                  <a:pt x="0" y="0"/>
                </a:moveTo>
                <a:lnTo>
                  <a:pt x="91440" y="59436"/>
                </a:lnTo>
                <a:lnTo>
                  <a:pt x="0" y="118872"/>
                </a:lnTo>
                <a:close/>
              </a:path>
            </a:pathLst>
          </a:custGeom>
          <a:solidFill>
            <a:srgbClr val="C9A22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8" name="三角形"/>
          <p:cNvSpPr/>
          <p:nvPr/>
        </p:nvSpPr>
        <p:spPr>
          <a:xfrm>
            <a:off x="9631101" y="3717036"/>
            <a:ext cx="91440" cy="118872"/>
          </a:xfrm>
          <a:custGeom>
            <a:avLst/>
            <a:gdLst/>
            <a:ahLst/>
            <a:cxnLst/>
            <a:rect l="l" t="t" r="r" b="b"/>
            <a:pathLst>
              <a:path w="91440" h="118872">
                <a:moveTo>
                  <a:pt x="0" y="0"/>
                </a:moveTo>
                <a:lnTo>
                  <a:pt x="91440" y="59436"/>
                </a:lnTo>
                <a:lnTo>
                  <a:pt x="0" y="118872"/>
                </a:lnTo>
                <a:close/>
              </a:path>
            </a:pathLst>
          </a:custGeom>
          <a:solidFill>
            <a:srgbClr val="C9A22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9" name="流程鏈"/>
          <p:cNvSpPr/>
          <p:nvPr/>
        </p:nvSpPr>
        <p:spPr>
          <a:xfrm>
            <a:off x="9744944" y="3520440"/>
            <a:ext cx="752917" cy="512064"/>
          </a:xfrm>
          <a:prstGeom prst="hexagon">
            <a:avLst>
              <a:gd name="adj" fmla="val 28000"/>
            </a:avLst>
          </a:prstGeom>
          <a:solidFill>
            <a:srgbClr val="2F5D50"/>
          </a:solidFill>
          <a:ln/>
        </p:spPr>
        <p:txBody>
          <a:bodyPr wrap="square" lIns="12700" tIns="0" rIns="1270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策略</a:t>
            </a:r>
            <a:endParaRPr lang="en-US" sz="1400" dirty="0"/>
          </a:p>
        </p:txBody>
      </p:sp>
      <p:sp>
        <p:nvSpPr>
          <p:cNvPr id="40" name="三角形"/>
          <p:cNvSpPr/>
          <p:nvPr/>
        </p:nvSpPr>
        <p:spPr>
          <a:xfrm>
            <a:off x="10520263" y="3717036"/>
            <a:ext cx="91440" cy="118872"/>
          </a:xfrm>
          <a:custGeom>
            <a:avLst/>
            <a:gdLst/>
            <a:ahLst/>
            <a:cxnLst/>
            <a:rect l="l" t="t" r="r" b="b"/>
            <a:pathLst>
              <a:path w="91440" h="118872">
                <a:moveTo>
                  <a:pt x="0" y="0"/>
                </a:moveTo>
                <a:lnTo>
                  <a:pt x="91440" y="59436"/>
                </a:lnTo>
                <a:lnTo>
                  <a:pt x="0" y="118872"/>
                </a:lnTo>
                <a:close/>
              </a:path>
            </a:pathLst>
          </a:custGeom>
          <a:solidFill>
            <a:srgbClr val="C9A22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1" name="三角形"/>
          <p:cNvSpPr/>
          <p:nvPr/>
        </p:nvSpPr>
        <p:spPr>
          <a:xfrm>
            <a:off x="10648279" y="3717036"/>
            <a:ext cx="91440" cy="118872"/>
          </a:xfrm>
          <a:custGeom>
            <a:avLst/>
            <a:gdLst/>
            <a:ahLst/>
            <a:cxnLst/>
            <a:rect l="l" t="t" r="r" b="b"/>
            <a:pathLst>
              <a:path w="91440" h="118872">
                <a:moveTo>
                  <a:pt x="0" y="0"/>
                </a:moveTo>
                <a:lnTo>
                  <a:pt x="91440" y="59436"/>
                </a:lnTo>
                <a:lnTo>
                  <a:pt x="0" y="118872"/>
                </a:lnTo>
                <a:close/>
              </a:path>
            </a:pathLst>
          </a:custGeom>
          <a:solidFill>
            <a:srgbClr val="C9A22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2" name="三角形"/>
          <p:cNvSpPr/>
          <p:nvPr/>
        </p:nvSpPr>
        <p:spPr>
          <a:xfrm>
            <a:off x="10776295" y="3717036"/>
            <a:ext cx="91440" cy="118872"/>
          </a:xfrm>
          <a:custGeom>
            <a:avLst/>
            <a:gdLst/>
            <a:ahLst/>
            <a:cxnLst/>
            <a:rect l="l" t="t" r="r" b="b"/>
            <a:pathLst>
              <a:path w="91440" h="118872">
                <a:moveTo>
                  <a:pt x="0" y="0"/>
                </a:moveTo>
                <a:lnTo>
                  <a:pt x="91440" y="59436"/>
                </a:lnTo>
                <a:lnTo>
                  <a:pt x="0" y="118872"/>
                </a:lnTo>
                <a:close/>
              </a:path>
            </a:pathLst>
          </a:custGeom>
          <a:solidFill>
            <a:srgbClr val="C9A22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3" name="流程鏈"/>
          <p:cNvSpPr/>
          <p:nvPr/>
        </p:nvSpPr>
        <p:spPr>
          <a:xfrm>
            <a:off x="10890138" y="3520440"/>
            <a:ext cx="752917" cy="512064"/>
          </a:xfrm>
          <a:prstGeom prst="hexagon">
            <a:avLst>
              <a:gd name="adj" fmla="val 28000"/>
            </a:avLst>
          </a:prstGeom>
          <a:solidFill>
            <a:srgbClr val="2F5D50"/>
          </a:solidFill>
          <a:ln/>
        </p:spPr>
        <p:txBody>
          <a:bodyPr wrap="square" lIns="12700" tIns="0" rIns="1270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戰術</a:t>
            </a:r>
            <a:endParaRPr lang="en-US" sz="1400" dirty="0"/>
          </a:p>
        </p:txBody>
      </p:sp>
      <p:sp>
        <p:nvSpPr>
          <p:cNvPr id="44" name="流程鏈"/>
          <p:cNvSpPr/>
          <p:nvPr/>
        </p:nvSpPr>
        <p:spPr>
          <a:xfrm>
            <a:off x="6309360" y="4526280"/>
            <a:ext cx="956234" cy="512064"/>
          </a:xfrm>
          <a:prstGeom prst="hexagon">
            <a:avLst>
              <a:gd name="adj" fmla="val 28000"/>
            </a:avLst>
          </a:prstGeom>
          <a:solidFill>
            <a:srgbClr val="2F5D50"/>
          </a:solidFill>
          <a:ln/>
        </p:spPr>
        <p:txBody>
          <a:bodyPr wrap="square" lIns="12700" tIns="0" rIns="1270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規劃</a:t>
            </a:r>
            <a:endParaRPr lang="en-US" sz="1400" dirty="0"/>
          </a:p>
        </p:txBody>
      </p:sp>
      <p:sp>
        <p:nvSpPr>
          <p:cNvPr id="45" name="三角形"/>
          <p:cNvSpPr/>
          <p:nvPr/>
        </p:nvSpPr>
        <p:spPr>
          <a:xfrm>
            <a:off x="7343318" y="4722876"/>
            <a:ext cx="91440" cy="118872"/>
          </a:xfrm>
          <a:custGeom>
            <a:avLst/>
            <a:gdLst/>
            <a:ahLst/>
            <a:cxnLst/>
            <a:rect l="l" t="t" r="r" b="b"/>
            <a:pathLst>
              <a:path w="91440" h="118872">
                <a:moveTo>
                  <a:pt x="0" y="0"/>
                </a:moveTo>
                <a:lnTo>
                  <a:pt x="91440" y="59436"/>
                </a:lnTo>
                <a:lnTo>
                  <a:pt x="0" y="118872"/>
                </a:lnTo>
                <a:close/>
              </a:path>
            </a:pathLst>
          </a:custGeom>
          <a:solidFill>
            <a:srgbClr val="C9A22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6" name="三角形"/>
          <p:cNvSpPr/>
          <p:nvPr/>
        </p:nvSpPr>
        <p:spPr>
          <a:xfrm>
            <a:off x="7471334" y="4722876"/>
            <a:ext cx="91440" cy="118872"/>
          </a:xfrm>
          <a:custGeom>
            <a:avLst/>
            <a:gdLst/>
            <a:ahLst/>
            <a:cxnLst/>
            <a:rect l="l" t="t" r="r" b="b"/>
            <a:pathLst>
              <a:path w="91440" h="118872">
                <a:moveTo>
                  <a:pt x="0" y="0"/>
                </a:moveTo>
                <a:lnTo>
                  <a:pt x="91440" y="59436"/>
                </a:lnTo>
                <a:lnTo>
                  <a:pt x="0" y="118872"/>
                </a:lnTo>
                <a:close/>
              </a:path>
            </a:pathLst>
          </a:custGeom>
          <a:solidFill>
            <a:srgbClr val="C9A22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7" name="三角形"/>
          <p:cNvSpPr/>
          <p:nvPr/>
        </p:nvSpPr>
        <p:spPr>
          <a:xfrm>
            <a:off x="7599350" y="4722876"/>
            <a:ext cx="91440" cy="118872"/>
          </a:xfrm>
          <a:custGeom>
            <a:avLst/>
            <a:gdLst/>
            <a:ahLst/>
            <a:cxnLst/>
            <a:rect l="l" t="t" r="r" b="b"/>
            <a:pathLst>
              <a:path w="91440" h="118872">
                <a:moveTo>
                  <a:pt x="0" y="0"/>
                </a:moveTo>
                <a:lnTo>
                  <a:pt x="91440" y="59436"/>
                </a:lnTo>
                <a:lnTo>
                  <a:pt x="0" y="118872"/>
                </a:lnTo>
                <a:close/>
              </a:path>
            </a:pathLst>
          </a:custGeom>
          <a:solidFill>
            <a:srgbClr val="C9A22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8" name="流程鏈"/>
          <p:cNvSpPr/>
          <p:nvPr/>
        </p:nvSpPr>
        <p:spPr>
          <a:xfrm>
            <a:off x="7768514" y="4526280"/>
            <a:ext cx="956234" cy="512064"/>
          </a:xfrm>
          <a:prstGeom prst="hexagon">
            <a:avLst>
              <a:gd name="adj" fmla="val 28000"/>
            </a:avLst>
          </a:prstGeom>
          <a:solidFill>
            <a:srgbClr val="2F5D50"/>
          </a:solidFill>
          <a:ln/>
        </p:spPr>
        <p:txBody>
          <a:bodyPr wrap="square" lIns="12700" tIns="0" rIns="1270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設計</a:t>
            </a:r>
            <a:endParaRPr lang="en-US" sz="1400" dirty="0"/>
          </a:p>
        </p:txBody>
      </p:sp>
      <p:sp>
        <p:nvSpPr>
          <p:cNvPr id="49" name="三角形"/>
          <p:cNvSpPr/>
          <p:nvPr/>
        </p:nvSpPr>
        <p:spPr>
          <a:xfrm>
            <a:off x="8802472" y="4722876"/>
            <a:ext cx="91440" cy="118872"/>
          </a:xfrm>
          <a:custGeom>
            <a:avLst/>
            <a:gdLst/>
            <a:ahLst/>
            <a:cxnLst/>
            <a:rect l="l" t="t" r="r" b="b"/>
            <a:pathLst>
              <a:path w="91440" h="118872">
                <a:moveTo>
                  <a:pt x="0" y="0"/>
                </a:moveTo>
                <a:lnTo>
                  <a:pt x="91440" y="59436"/>
                </a:lnTo>
                <a:lnTo>
                  <a:pt x="0" y="118872"/>
                </a:lnTo>
                <a:close/>
              </a:path>
            </a:pathLst>
          </a:custGeom>
          <a:solidFill>
            <a:srgbClr val="C9A22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0" name="三角形"/>
          <p:cNvSpPr/>
          <p:nvPr/>
        </p:nvSpPr>
        <p:spPr>
          <a:xfrm>
            <a:off x="8930488" y="4722876"/>
            <a:ext cx="91440" cy="118872"/>
          </a:xfrm>
          <a:custGeom>
            <a:avLst/>
            <a:gdLst/>
            <a:ahLst/>
            <a:cxnLst/>
            <a:rect l="l" t="t" r="r" b="b"/>
            <a:pathLst>
              <a:path w="91440" h="118872">
                <a:moveTo>
                  <a:pt x="0" y="0"/>
                </a:moveTo>
                <a:lnTo>
                  <a:pt x="91440" y="59436"/>
                </a:lnTo>
                <a:lnTo>
                  <a:pt x="0" y="118872"/>
                </a:lnTo>
                <a:close/>
              </a:path>
            </a:pathLst>
          </a:custGeom>
          <a:solidFill>
            <a:srgbClr val="C9A22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1" name="三角形"/>
          <p:cNvSpPr/>
          <p:nvPr/>
        </p:nvSpPr>
        <p:spPr>
          <a:xfrm>
            <a:off x="9058504" y="4722876"/>
            <a:ext cx="91440" cy="118872"/>
          </a:xfrm>
          <a:custGeom>
            <a:avLst/>
            <a:gdLst/>
            <a:ahLst/>
            <a:cxnLst/>
            <a:rect l="l" t="t" r="r" b="b"/>
            <a:pathLst>
              <a:path w="91440" h="118872">
                <a:moveTo>
                  <a:pt x="0" y="0"/>
                </a:moveTo>
                <a:lnTo>
                  <a:pt x="91440" y="59436"/>
                </a:lnTo>
                <a:lnTo>
                  <a:pt x="0" y="118872"/>
                </a:lnTo>
                <a:close/>
              </a:path>
            </a:pathLst>
          </a:custGeom>
          <a:solidFill>
            <a:srgbClr val="C9A22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2" name="流程鏈"/>
          <p:cNvSpPr/>
          <p:nvPr/>
        </p:nvSpPr>
        <p:spPr>
          <a:xfrm>
            <a:off x="9227668" y="4526280"/>
            <a:ext cx="956234" cy="512064"/>
          </a:xfrm>
          <a:prstGeom prst="hexagon">
            <a:avLst>
              <a:gd name="adj" fmla="val 28000"/>
            </a:avLst>
          </a:prstGeom>
          <a:solidFill>
            <a:srgbClr val="2F5D50"/>
          </a:solidFill>
          <a:ln/>
        </p:spPr>
        <p:txBody>
          <a:bodyPr wrap="square" lIns="12700" tIns="0" rIns="1270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執行</a:t>
            </a:r>
            <a:endParaRPr lang="en-US" sz="1400" dirty="0"/>
          </a:p>
        </p:txBody>
      </p:sp>
      <p:sp>
        <p:nvSpPr>
          <p:cNvPr id="53" name="三角形"/>
          <p:cNvSpPr/>
          <p:nvPr/>
        </p:nvSpPr>
        <p:spPr>
          <a:xfrm>
            <a:off x="10261625" y="4722876"/>
            <a:ext cx="91440" cy="118872"/>
          </a:xfrm>
          <a:custGeom>
            <a:avLst/>
            <a:gdLst/>
            <a:ahLst/>
            <a:cxnLst/>
            <a:rect l="l" t="t" r="r" b="b"/>
            <a:pathLst>
              <a:path w="91440" h="118872">
                <a:moveTo>
                  <a:pt x="0" y="0"/>
                </a:moveTo>
                <a:lnTo>
                  <a:pt x="91440" y="59436"/>
                </a:lnTo>
                <a:lnTo>
                  <a:pt x="0" y="118872"/>
                </a:lnTo>
                <a:close/>
              </a:path>
            </a:pathLst>
          </a:custGeom>
          <a:solidFill>
            <a:srgbClr val="C9A22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4" name="三角形"/>
          <p:cNvSpPr/>
          <p:nvPr/>
        </p:nvSpPr>
        <p:spPr>
          <a:xfrm>
            <a:off x="10389641" y="4722876"/>
            <a:ext cx="91440" cy="118872"/>
          </a:xfrm>
          <a:custGeom>
            <a:avLst/>
            <a:gdLst/>
            <a:ahLst/>
            <a:cxnLst/>
            <a:rect l="l" t="t" r="r" b="b"/>
            <a:pathLst>
              <a:path w="91440" h="118872">
                <a:moveTo>
                  <a:pt x="0" y="0"/>
                </a:moveTo>
                <a:lnTo>
                  <a:pt x="91440" y="59436"/>
                </a:lnTo>
                <a:lnTo>
                  <a:pt x="0" y="118872"/>
                </a:lnTo>
                <a:close/>
              </a:path>
            </a:pathLst>
          </a:custGeom>
          <a:solidFill>
            <a:srgbClr val="C9A22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5" name="三角形"/>
          <p:cNvSpPr/>
          <p:nvPr/>
        </p:nvSpPr>
        <p:spPr>
          <a:xfrm>
            <a:off x="10517657" y="4722876"/>
            <a:ext cx="91440" cy="118872"/>
          </a:xfrm>
          <a:custGeom>
            <a:avLst/>
            <a:gdLst/>
            <a:ahLst/>
            <a:cxnLst/>
            <a:rect l="l" t="t" r="r" b="b"/>
            <a:pathLst>
              <a:path w="91440" h="118872">
                <a:moveTo>
                  <a:pt x="0" y="0"/>
                </a:moveTo>
                <a:lnTo>
                  <a:pt x="91440" y="59436"/>
                </a:lnTo>
                <a:lnTo>
                  <a:pt x="0" y="118872"/>
                </a:lnTo>
                <a:close/>
              </a:path>
            </a:pathLst>
          </a:custGeom>
          <a:solidFill>
            <a:srgbClr val="C9A22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6" name="流程鏈"/>
          <p:cNvSpPr/>
          <p:nvPr/>
        </p:nvSpPr>
        <p:spPr>
          <a:xfrm>
            <a:off x="10686821" y="4526280"/>
            <a:ext cx="956234" cy="512064"/>
          </a:xfrm>
          <a:prstGeom prst="hexagon">
            <a:avLst>
              <a:gd name="adj" fmla="val 28000"/>
            </a:avLst>
          </a:prstGeom>
          <a:solidFill>
            <a:srgbClr val="2F5D50"/>
          </a:solidFill>
          <a:ln/>
        </p:spPr>
        <p:txBody>
          <a:bodyPr wrap="square" lIns="12700" tIns="0" rIns="1270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檢討</a:t>
            </a:r>
            <a:endParaRPr lang="en-US" sz="1400" dirty="0"/>
          </a:p>
        </p:txBody>
      </p:sp>
      <p:sp>
        <p:nvSpPr>
          <p:cNvPr id="57" name="Text 55"/>
          <p:cNvSpPr/>
          <p:nvPr/>
        </p:nvSpPr>
        <p:spPr>
          <a:xfrm>
            <a:off x="6309360" y="5138928"/>
            <a:ext cx="95623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界定範圍</a:t>
            </a:r>
            <a:endParaRPr lang="en-US" sz="1100" dirty="0"/>
          </a:p>
        </p:txBody>
      </p:sp>
      <p:sp>
        <p:nvSpPr>
          <p:cNvPr id="58" name="Text 56"/>
          <p:cNvSpPr/>
          <p:nvPr/>
        </p:nvSpPr>
        <p:spPr>
          <a:xfrm>
            <a:off x="7768514" y="5138928"/>
            <a:ext cx="95623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產出方案</a:t>
            </a:r>
            <a:endParaRPr lang="en-US" sz="1100" dirty="0"/>
          </a:p>
        </p:txBody>
      </p:sp>
      <p:sp>
        <p:nvSpPr>
          <p:cNvPr id="59" name="Text 57"/>
          <p:cNvSpPr/>
          <p:nvPr/>
        </p:nvSpPr>
        <p:spPr>
          <a:xfrm>
            <a:off x="9227668" y="5138928"/>
            <a:ext cx="95623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落實計畫</a:t>
            </a:r>
            <a:endParaRPr lang="en-US" sz="1100" dirty="0"/>
          </a:p>
        </p:txBody>
      </p:sp>
      <p:sp>
        <p:nvSpPr>
          <p:cNvPr id="60" name="Text 58"/>
          <p:cNvSpPr/>
          <p:nvPr/>
        </p:nvSpPr>
        <p:spPr>
          <a:xfrm>
            <a:off x="10686821" y="5138928"/>
            <a:ext cx="95623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回顧改善</a:t>
            </a:r>
            <a:endParaRPr lang="en-US" sz="1100" dirty="0"/>
          </a:p>
        </p:txBody>
      </p:sp>
      <p:sp>
        <p:nvSpPr>
          <p:cNvPr id="61" name="Text 59"/>
          <p:cNvSpPr/>
          <p:nvPr/>
        </p:nvSpPr>
        <p:spPr>
          <a:xfrm>
            <a:off x="6309360" y="5760720"/>
            <a:ext cx="533369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※ 流程鏈以 3–5 個步驟為佳，重點步驟可用強調色</a:t>
            </a:r>
            <a:endParaRPr lang="en-US" sz="1050" dirty="0"/>
          </a:p>
        </p:txBody>
      </p:sp>
      <p:sp>
        <p:nvSpPr>
          <p:cNvPr id="62" name="Text 60"/>
          <p:cNvSpPr/>
          <p:nvPr/>
        </p:nvSpPr>
        <p:spPr>
          <a:xfrm>
            <a:off x="548640" y="6309360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墨綠筆記</a:t>
            </a:r>
            <a:pPr algn="l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900" dirty="0"/>
          </a:p>
        </p:txBody>
      </p:sp>
      <p:sp>
        <p:nvSpPr>
          <p:cNvPr id="63" name="Text 61"/>
          <p:cNvSpPr/>
          <p:nvPr/>
        </p:nvSpPr>
        <p:spPr>
          <a:xfrm>
            <a:off x="10271455" y="6309360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05 / 11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畫布面板"/>
          <p:cNvSpPr/>
          <p:nvPr/>
        </p:nvSpPr>
        <p:spPr>
          <a:xfrm>
            <a:off x="228600" y="228600"/>
            <a:ext cx="11734495" cy="6400800"/>
          </a:xfrm>
          <a:prstGeom prst="roundRect">
            <a:avLst>
              <a:gd name="adj" fmla="val 857"/>
            </a:avLst>
          </a:prstGeom>
          <a:solidFill>
            <a:srgbClr val="F4F4F1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標題"/>
          <p:cNvSpPr/>
          <p:nvPr/>
        </p:nvSpPr>
        <p:spPr>
          <a:xfrm>
            <a:off x="548640" y="329184"/>
            <a:ext cx="100584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2F5D5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連接線與箭頭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548640" y="1069848"/>
            <a:ext cx="4545076" cy="365760"/>
          </a:xfrm>
          <a:prstGeom prst="rect">
            <a:avLst/>
          </a:prstGeom>
          <a:solidFill>
            <a:srgbClr val="2F5D50"/>
          </a:solidFill>
          <a:ln/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細直線、折線、點狀線、曲線、▶ 小三角與區塊箭號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5157724" y="1069848"/>
            <a:ext cx="109728" cy="365760"/>
          </a:xfrm>
          <a:prstGeom prst="rect">
            <a:avLst/>
          </a:prstGeom>
          <a:solidFill>
            <a:srgbClr val="C9A22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548640" y="1879092"/>
            <a:ext cx="100584" cy="100584"/>
          </a:xfrm>
          <a:prstGeom prst="rect">
            <a:avLst/>
          </a:prstGeom>
          <a:solidFill>
            <a:srgbClr val="C9A22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749808" y="1783080"/>
            <a:ext cx="23529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細直線 Straight</a:t>
            </a:r>
            <a:endParaRPr lang="en-US" sz="1300" dirty="0"/>
          </a:p>
        </p:txBody>
      </p:sp>
      <p:sp>
        <p:nvSpPr>
          <p:cNvPr id="8" name="線條"/>
          <p:cNvSpPr/>
          <p:nvPr/>
        </p:nvSpPr>
        <p:spPr>
          <a:xfrm>
            <a:off x="548640" y="2167128"/>
            <a:ext cx="2554148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9" name="處理"/>
          <p:cNvSpPr/>
          <p:nvPr/>
        </p:nvSpPr>
        <p:spPr>
          <a:xfrm>
            <a:off x="548640" y="2807208"/>
            <a:ext cx="822960" cy="420624"/>
          </a:xfrm>
          <a:prstGeom prst="roundRect">
            <a:avLst>
              <a:gd name="adj" fmla="val 26087"/>
            </a:avLst>
          </a:prstGeom>
          <a:solidFill>
            <a:srgbClr val="FFFFFF"/>
          </a:solidFill>
          <a:ln w="28575">
            <a:solidFill>
              <a:srgbClr val="BFBFBF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</a:t>
            </a:r>
            <a:endParaRPr lang="en-US" sz="1300" dirty="0"/>
          </a:p>
        </p:txBody>
      </p:sp>
      <p:sp>
        <p:nvSpPr>
          <p:cNvPr id="10" name="處理"/>
          <p:cNvSpPr/>
          <p:nvPr/>
        </p:nvSpPr>
        <p:spPr>
          <a:xfrm>
            <a:off x="2279828" y="2807208"/>
            <a:ext cx="822960" cy="420624"/>
          </a:xfrm>
          <a:prstGeom prst="roundRect">
            <a:avLst>
              <a:gd name="adj" fmla="val 26087"/>
            </a:avLst>
          </a:prstGeom>
          <a:solidFill>
            <a:srgbClr val="FFFFFF"/>
          </a:solidFill>
          <a:ln w="28575">
            <a:solidFill>
              <a:srgbClr val="BFBFBF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B</a:t>
            </a:r>
            <a:endParaRPr lang="en-US" sz="1300" dirty="0"/>
          </a:p>
        </p:txBody>
      </p:sp>
      <p:sp>
        <p:nvSpPr>
          <p:cNvPr id="11" name="線條"/>
          <p:cNvSpPr/>
          <p:nvPr/>
        </p:nvSpPr>
        <p:spPr>
          <a:xfrm>
            <a:off x="1426464" y="3017520"/>
            <a:ext cx="798500" cy="0"/>
          </a:xfrm>
          <a:prstGeom prst="line">
            <a:avLst/>
          </a:prstGeom>
          <a:noFill/>
          <a:ln w="19050">
            <a:solidFill>
              <a:srgbClr val="8C8C8C"/>
            </a:solidFill>
            <a:prstDash val="solid"/>
            <a:tailEnd type="triangle"/>
          </a:ln>
        </p:spPr>
      </p:sp>
      <p:sp>
        <p:nvSpPr>
          <p:cNvPr id="12" name="Text 10"/>
          <p:cNvSpPr/>
          <p:nvPr/>
        </p:nvSpPr>
        <p:spPr>
          <a:xfrm>
            <a:off x="3395396" y="1879092"/>
            <a:ext cx="100584" cy="100584"/>
          </a:xfrm>
          <a:prstGeom prst="rect">
            <a:avLst/>
          </a:prstGeom>
          <a:solidFill>
            <a:srgbClr val="C9A22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" name="Text 11"/>
          <p:cNvSpPr/>
          <p:nvPr/>
        </p:nvSpPr>
        <p:spPr>
          <a:xfrm>
            <a:off x="3596564" y="1783080"/>
            <a:ext cx="23529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折線 Elbow</a:t>
            </a:r>
            <a:endParaRPr lang="en-US" sz="1300" dirty="0"/>
          </a:p>
        </p:txBody>
      </p:sp>
      <p:sp>
        <p:nvSpPr>
          <p:cNvPr id="14" name="線條"/>
          <p:cNvSpPr/>
          <p:nvPr/>
        </p:nvSpPr>
        <p:spPr>
          <a:xfrm>
            <a:off x="3395396" y="2167128"/>
            <a:ext cx="2554148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15" name="處理"/>
          <p:cNvSpPr/>
          <p:nvPr/>
        </p:nvSpPr>
        <p:spPr>
          <a:xfrm>
            <a:off x="3395396" y="2468880"/>
            <a:ext cx="822960" cy="420624"/>
          </a:xfrm>
          <a:prstGeom prst="roundRect">
            <a:avLst>
              <a:gd name="adj" fmla="val 26087"/>
            </a:avLst>
          </a:prstGeom>
          <a:solidFill>
            <a:srgbClr val="FFFFFF"/>
          </a:solidFill>
          <a:ln w="28575">
            <a:solidFill>
              <a:srgbClr val="BFBFBF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</a:t>
            </a:r>
            <a:endParaRPr lang="en-US" sz="1300" dirty="0"/>
          </a:p>
        </p:txBody>
      </p:sp>
      <p:sp>
        <p:nvSpPr>
          <p:cNvPr id="16" name="處理"/>
          <p:cNvSpPr/>
          <p:nvPr/>
        </p:nvSpPr>
        <p:spPr>
          <a:xfrm>
            <a:off x="5126584" y="3383280"/>
            <a:ext cx="822960" cy="420624"/>
          </a:xfrm>
          <a:prstGeom prst="roundRect">
            <a:avLst>
              <a:gd name="adj" fmla="val 26087"/>
            </a:avLst>
          </a:prstGeom>
          <a:solidFill>
            <a:srgbClr val="FFFFFF"/>
          </a:solidFill>
          <a:ln w="28575">
            <a:solidFill>
              <a:srgbClr val="BFBFBF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B</a:t>
            </a:r>
            <a:endParaRPr lang="en-US" sz="1300" dirty="0"/>
          </a:p>
        </p:txBody>
      </p:sp>
      <p:sp>
        <p:nvSpPr>
          <p:cNvPr id="17" name="連接線"/>
          <p:cNvSpPr/>
          <p:nvPr/>
        </p:nvSpPr>
        <p:spPr>
          <a:xfrm>
            <a:off x="4273220" y="2679192"/>
            <a:ext cx="798500" cy="914400"/>
          </a:xfrm>
          <a:custGeom>
            <a:avLst/>
            <a:gdLst/>
            <a:ahLst/>
            <a:cxnLst/>
            <a:rect l="l" t="t" r="r" b="b"/>
            <a:pathLst>
              <a:path w="798500" h="914400">
                <a:moveTo>
                  <a:pt x="0" y="0"/>
                </a:moveTo>
                <a:lnTo>
                  <a:pt x="399250" y="0"/>
                </a:lnTo>
                <a:lnTo>
                  <a:pt x="399250" y="914400"/>
                </a:lnTo>
                <a:lnTo>
                  <a:pt x="798500" y="914400"/>
                </a:lnTo>
              </a:path>
            </a:pathLst>
          </a:custGeom>
          <a:ln w="19050">
            <a:solidFill>
              <a:srgbClr val="8C8C8C"/>
            </a:solidFill>
            <a:prstDash val="solid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Text 16"/>
          <p:cNvSpPr/>
          <p:nvPr/>
        </p:nvSpPr>
        <p:spPr>
          <a:xfrm>
            <a:off x="6242152" y="1879092"/>
            <a:ext cx="100584" cy="100584"/>
          </a:xfrm>
          <a:prstGeom prst="rect">
            <a:avLst/>
          </a:prstGeom>
          <a:solidFill>
            <a:srgbClr val="C9A22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" name="Text 17"/>
          <p:cNvSpPr/>
          <p:nvPr/>
        </p:nvSpPr>
        <p:spPr>
          <a:xfrm>
            <a:off x="6443320" y="1783080"/>
            <a:ext cx="23529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點狀線 Dotted</a:t>
            </a:r>
            <a:endParaRPr lang="en-US" sz="1300" dirty="0"/>
          </a:p>
        </p:txBody>
      </p:sp>
      <p:sp>
        <p:nvSpPr>
          <p:cNvPr id="20" name="線條"/>
          <p:cNvSpPr/>
          <p:nvPr/>
        </p:nvSpPr>
        <p:spPr>
          <a:xfrm>
            <a:off x="6242152" y="2167128"/>
            <a:ext cx="2554148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21" name="處理"/>
          <p:cNvSpPr/>
          <p:nvPr/>
        </p:nvSpPr>
        <p:spPr>
          <a:xfrm>
            <a:off x="6242152" y="2807208"/>
            <a:ext cx="822960" cy="420624"/>
          </a:xfrm>
          <a:prstGeom prst="roundRect">
            <a:avLst>
              <a:gd name="adj" fmla="val 26087"/>
            </a:avLst>
          </a:prstGeom>
          <a:solidFill>
            <a:srgbClr val="FFFFFF"/>
          </a:solidFill>
          <a:ln w="28575">
            <a:solidFill>
              <a:srgbClr val="BFBFBF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</a:t>
            </a:r>
            <a:endParaRPr lang="en-US" sz="1300" dirty="0"/>
          </a:p>
        </p:txBody>
      </p:sp>
      <p:sp>
        <p:nvSpPr>
          <p:cNvPr id="22" name="處理"/>
          <p:cNvSpPr/>
          <p:nvPr/>
        </p:nvSpPr>
        <p:spPr>
          <a:xfrm>
            <a:off x="7973339" y="2807208"/>
            <a:ext cx="822960" cy="420624"/>
          </a:xfrm>
          <a:prstGeom prst="roundRect">
            <a:avLst>
              <a:gd name="adj" fmla="val 26087"/>
            </a:avLst>
          </a:prstGeom>
          <a:solidFill>
            <a:srgbClr val="FFFFFF"/>
          </a:solidFill>
          <a:ln w="28575">
            <a:solidFill>
              <a:srgbClr val="BFBFBF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B</a:t>
            </a:r>
            <a:endParaRPr lang="en-US" sz="1300" dirty="0"/>
          </a:p>
        </p:txBody>
      </p:sp>
      <p:sp>
        <p:nvSpPr>
          <p:cNvPr id="23" name="線條"/>
          <p:cNvSpPr/>
          <p:nvPr/>
        </p:nvSpPr>
        <p:spPr>
          <a:xfrm>
            <a:off x="7119976" y="3017520"/>
            <a:ext cx="798500" cy="0"/>
          </a:xfrm>
          <a:prstGeom prst="line">
            <a:avLst/>
          </a:prstGeom>
          <a:noFill/>
          <a:ln w="19050">
            <a:solidFill>
              <a:srgbClr val="8C8C8C"/>
            </a:solidFill>
            <a:prstDash val="sysDot"/>
            <a:tailEnd type="triangle"/>
          </a:ln>
        </p:spPr>
      </p:sp>
      <p:sp>
        <p:nvSpPr>
          <p:cNvPr id="24" name="Text 22"/>
          <p:cNvSpPr/>
          <p:nvPr/>
        </p:nvSpPr>
        <p:spPr>
          <a:xfrm>
            <a:off x="9088907" y="1879092"/>
            <a:ext cx="100584" cy="100584"/>
          </a:xfrm>
          <a:prstGeom prst="rect">
            <a:avLst/>
          </a:prstGeom>
          <a:solidFill>
            <a:srgbClr val="C9A22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5" name="Text 23"/>
          <p:cNvSpPr/>
          <p:nvPr/>
        </p:nvSpPr>
        <p:spPr>
          <a:xfrm>
            <a:off x="9290075" y="1783080"/>
            <a:ext cx="23529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曲線 Curved</a:t>
            </a:r>
            <a:endParaRPr lang="en-US" sz="1300" dirty="0"/>
          </a:p>
        </p:txBody>
      </p:sp>
      <p:sp>
        <p:nvSpPr>
          <p:cNvPr id="26" name="線條"/>
          <p:cNvSpPr/>
          <p:nvPr/>
        </p:nvSpPr>
        <p:spPr>
          <a:xfrm>
            <a:off x="9088907" y="2167128"/>
            <a:ext cx="2554148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27" name="處理"/>
          <p:cNvSpPr/>
          <p:nvPr/>
        </p:nvSpPr>
        <p:spPr>
          <a:xfrm>
            <a:off x="9088907" y="3246120"/>
            <a:ext cx="822960" cy="420624"/>
          </a:xfrm>
          <a:prstGeom prst="roundRect">
            <a:avLst>
              <a:gd name="adj" fmla="val 26087"/>
            </a:avLst>
          </a:prstGeom>
          <a:solidFill>
            <a:srgbClr val="FFFFFF"/>
          </a:solidFill>
          <a:ln w="28575">
            <a:solidFill>
              <a:srgbClr val="BFBFBF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</a:t>
            </a:r>
            <a:endParaRPr lang="en-US" sz="1300" dirty="0"/>
          </a:p>
        </p:txBody>
      </p:sp>
      <p:sp>
        <p:nvSpPr>
          <p:cNvPr id="28" name="處理"/>
          <p:cNvSpPr/>
          <p:nvPr/>
        </p:nvSpPr>
        <p:spPr>
          <a:xfrm>
            <a:off x="10820095" y="3246120"/>
            <a:ext cx="822960" cy="420624"/>
          </a:xfrm>
          <a:prstGeom prst="roundRect">
            <a:avLst>
              <a:gd name="adj" fmla="val 26087"/>
            </a:avLst>
          </a:prstGeom>
          <a:solidFill>
            <a:srgbClr val="FFFFFF"/>
          </a:solidFill>
          <a:ln w="28575">
            <a:solidFill>
              <a:srgbClr val="BFBFBF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B</a:t>
            </a:r>
            <a:endParaRPr lang="en-US" sz="1300" dirty="0"/>
          </a:p>
        </p:txBody>
      </p:sp>
      <p:sp>
        <p:nvSpPr>
          <p:cNvPr id="29" name="曲線箭頭"/>
          <p:cNvSpPr/>
          <p:nvPr/>
        </p:nvSpPr>
        <p:spPr>
          <a:xfrm>
            <a:off x="9500387" y="2423160"/>
            <a:ext cx="1731188" cy="768096"/>
          </a:xfrm>
          <a:custGeom>
            <a:avLst/>
            <a:gdLst/>
            <a:ahLst/>
            <a:cxnLst/>
            <a:rect l="l" t="t" r="r" b="b"/>
            <a:pathLst>
              <a:path w="1731188" h="768096">
                <a:moveTo>
                  <a:pt x="0" y="768096"/>
                </a:moveTo>
                <a:cubicBezTo>
                  <a:pt x="0" y="0"/>
                  <a:pt x="1731188" y="0"/>
                  <a:pt x="1731188" y="768096"/>
                </a:cubicBezTo>
              </a:path>
            </a:pathLst>
          </a:custGeom>
          <a:ln w="19050">
            <a:solidFill>
              <a:srgbClr val="8C8C8C"/>
            </a:solidFill>
            <a:prstDash val="sysDash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0" name="Text 28"/>
          <p:cNvSpPr/>
          <p:nvPr/>
        </p:nvSpPr>
        <p:spPr>
          <a:xfrm>
            <a:off x="548640" y="4027932"/>
            <a:ext cx="100584" cy="100584"/>
          </a:xfrm>
          <a:prstGeom prst="rect">
            <a:avLst/>
          </a:prstGeom>
          <a:solidFill>
            <a:srgbClr val="C9A22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1" name="Text 29"/>
          <p:cNvSpPr/>
          <p:nvPr/>
        </p:nvSpPr>
        <p:spPr>
          <a:xfrm>
            <a:off x="749808" y="3931920"/>
            <a:ext cx="23529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▶ 小三角分隔</a:t>
            </a:r>
            <a:endParaRPr lang="en-US" sz="1300" dirty="0"/>
          </a:p>
        </p:txBody>
      </p:sp>
      <p:sp>
        <p:nvSpPr>
          <p:cNvPr id="32" name="線條"/>
          <p:cNvSpPr/>
          <p:nvPr/>
        </p:nvSpPr>
        <p:spPr>
          <a:xfrm>
            <a:off x="548640" y="4315968"/>
            <a:ext cx="2554148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548640" y="4983480"/>
            <a:ext cx="5669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輸入</a:t>
            </a:r>
            <a:endParaRPr lang="en-US" sz="1300" dirty="0"/>
          </a:p>
        </p:txBody>
      </p:sp>
      <p:sp>
        <p:nvSpPr>
          <p:cNvPr id="34" name="三角形"/>
          <p:cNvSpPr/>
          <p:nvPr/>
        </p:nvSpPr>
        <p:spPr>
          <a:xfrm>
            <a:off x="1155173" y="5106924"/>
            <a:ext cx="91440" cy="118872"/>
          </a:xfrm>
          <a:custGeom>
            <a:avLst/>
            <a:gdLst/>
            <a:ahLst/>
            <a:cxnLst/>
            <a:rect l="l" t="t" r="r" b="b"/>
            <a:pathLst>
              <a:path w="91440" h="118872">
                <a:moveTo>
                  <a:pt x="0" y="0"/>
                </a:moveTo>
                <a:lnTo>
                  <a:pt x="91440" y="59436"/>
                </a:lnTo>
                <a:lnTo>
                  <a:pt x="0" y="118872"/>
                </a:lnTo>
                <a:close/>
              </a:path>
            </a:pathLst>
          </a:custGeom>
          <a:solidFill>
            <a:srgbClr val="C9A22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5" name="三角形"/>
          <p:cNvSpPr/>
          <p:nvPr/>
        </p:nvSpPr>
        <p:spPr>
          <a:xfrm>
            <a:off x="1283189" y="5106924"/>
            <a:ext cx="91440" cy="118872"/>
          </a:xfrm>
          <a:custGeom>
            <a:avLst/>
            <a:gdLst/>
            <a:ahLst/>
            <a:cxnLst/>
            <a:rect l="l" t="t" r="r" b="b"/>
            <a:pathLst>
              <a:path w="91440" h="118872">
                <a:moveTo>
                  <a:pt x="0" y="0"/>
                </a:moveTo>
                <a:lnTo>
                  <a:pt x="91440" y="59436"/>
                </a:lnTo>
                <a:lnTo>
                  <a:pt x="0" y="118872"/>
                </a:lnTo>
                <a:close/>
              </a:path>
            </a:pathLst>
          </a:custGeom>
          <a:solidFill>
            <a:srgbClr val="C9A22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6" name="三角形"/>
          <p:cNvSpPr/>
          <p:nvPr/>
        </p:nvSpPr>
        <p:spPr>
          <a:xfrm>
            <a:off x="1411205" y="5106924"/>
            <a:ext cx="91440" cy="118872"/>
          </a:xfrm>
          <a:custGeom>
            <a:avLst/>
            <a:gdLst/>
            <a:ahLst/>
            <a:cxnLst/>
            <a:rect l="l" t="t" r="r" b="b"/>
            <a:pathLst>
              <a:path w="91440" h="118872">
                <a:moveTo>
                  <a:pt x="0" y="0"/>
                </a:moveTo>
                <a:lnTo>
                  <a:pt x="91440" y="59436"/>
                </a:lnTo>
                <a:lnTo>
                  <a:pt x="0" y="118872"/>
                </a:lnTo>
                <a:close/>
              </a:path>
            </a:pathLst>
          </a:custGeom>
          <a:solidFill>
            <a:srgbClr val="C9A22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7" name="Text 35"/>
          <p:cNvSpPr/>
          <p:nvPr/>
        </p:nvSpPr>
        <p:spPr>
          <a:xfrm>
            <a:off x="1542250" y="4983480"/>
            <a:ext cx="5669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處理</a:t>
            </a:r>
            <a:endParaRPr lang="en-US" sz="1300" dirty="0"/>
          </a:p>
        </p:txBody>
      </p:sp>
      <p:sp>
        <p:nvSpPr>
          <p:cNvPr id="38" name="三角形"/>
          <p:cNvSpPr/>
          <p:nvPr/>
        </p:nvSpPr>
        <p:spPr>
          <a:xfrm>
            <a:off x="2148783" y="5106924"/>
            <a:ext cx="91440" cy="118872"/>
          </a:xfrm>
          <a:custGeom>
            <a:avLst/>
            <a:gdLst/>
            <a:ahLst/>
            <a:cxnLst/>
            <a:rect l="l" t="t" r="r" b="b"/>
            <a:pathLst>
              <a:path w="91440" h="118872">
                <a:moveTo>
                  <a:pt x="0" y="0"/>
                </a:moveTo>
                <a:lnTo>
                  <a:pt x="91440" y="59436"/>
                </a:lnTo>
                <a:lnTo>
                  <a:pt x="0" y="118872"/>
                </a:lnTo>
                <a:close/>
              </a:path>
            </a:pathLst>
          </a:custGeom>
          <a:solidFill>
            <a:srgbClr val="C9A22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9" name="三角形"/>
          <p:cNvSpPr/>
          <p:nvPr/>
        </p:nvSpPr>
        <p:spPr>
          <a:xfrm>
            <a:off x="2276799" y="5106924"/>
            <a:ext cx="91440" cy="118872"/>
          </a:xfrm>
          <a:custGeom>
            <a:avLst/>
            <a:gdLst/>
            <a:ahLst/>
            <a:cxnLst/>
            <a:rect l="l" t="t" r="r" b="b"/>
            <a:pathLst>
              <a:path w="91440" h="118872">
                <a:moveTo>
                  <a:pt x="0" y="0"/>
                </a:moveTo>
                <a:lnTo>
                  <a:pt x="91440" y="59436"/>
                </a:lnTo>
                <a:lnTo>
                  <a:pt x="0" y="118872"/>
                </a:lnTo>
                <a:close/>
              </a:path>
            </a:pathLst>
          </a:custGeom>
          <a:solidFill>
            <a:srgbClr val="C9A22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0" name="三角形"/>
          <p:cNvSpPr/>
          <p:nvPr/>
        </p:nvSpPr>
        <p:spPr>
          <a:xfrm>
            <a:off x="2404815" y="5106924"/>
            <a:ext cx="91440" cy="118872"/>
          </a:xfrm>
          <a:custGeom>
            <a:avLst/>
            <a:gdLst/>
            <a:ahLst/>
            <a:cxnLst/>
            <a:rect l="l" t="t" r="r" b="b"/>
            <a:pathLst>
              <a:path w="91440" h="118872">
                <a:moveTo>
                  <a:pt x="0" y="0"/>
                </a:moveTo>
                <a:lnTo>
                  <a:pt x="91440" y="59436"/>
                </a:lnTo>
                <a:lnTo>
                  <a:pt x="0" y="118872"/>
                </a:lnTo>
                <a:close/>
              </a:path>
            </a:pathLst>
          </a:custGeom>
          <a:solidFill>
            <a:srgbClr val="C9A22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1" name="Text 39"/>
          <p:cNvSpPr/>
          <p:nvPr/>
        </p:nvSpPr>
        <p:spPr>
          <a:xfrm>
            <a:off x="2535860" y="4983480"/>
            <a:ext cx="5669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輸出</a:t>
            </a:r>
            <a:endParaRPr lang="en-US" sz="1300" dirty="0"/>
          </a:p>
        </p:txBody>
      </p:sp>
      <p:sp>
        <p:nvSpPr>
          <p:cNvPr id="42" name="Text 40"/>
          <p:cNvSpPr/>
          <p:nvPr/>
        </p:nvSpPr>
        <p:spPr>
          <a:xfrm>
            <a:off x="3395396" y="4027932"/>
            <a:ext cx="100584" cy="100584"/>
          </a:xfrm>
          <a:prstGeom prst="rect">
            <a:avLst/>
          </a:prstGeom>
          <a:solidFill>
            <a:srgbClr val="C9A22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3" name="Text 41"/>
          <p:cNvSpPr/>
          <p:nvPr/>
        </p:nvSpPr>
        <p:spPr>
          <a:xfrm>
            <a:off x="3596564" y="3931920"/>
            <a:ext cx="23529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▶▶▶ 點狀箭號</a:t>
            </a:r>
            <a:endParaRPr lang="en-US" sz="1300" dirty="0"/>
          </a:p>
        </p:txBody>
      </p:sp>
      <p:sp>
        <p:nvSpPr>
          <p:cNvPr id="44" name="線條"/>
          <p:cNvSpPr/>
          <p:nvPr/>
        </p:nvSpPr>
        <p:spPr>
          <a:xfrm>
            <a:off x="3395396" y="4315968"/>
            <a:ext cx="2554148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45" name="處理"/>
          <p:cNvSpPr/>
          <p:nvPr/>
        </p:nvSpPr>
        <p:spPr>
          <a:xfrm>
            <a:off x="3395396" y="4956048"/>
            <a:ext cx="822960" cy="420624"/>
          </a:xfrm>
          <a:prstGeom prst="roundRect">
            <a:avLst>
              <a:gd name="adj" fmla="val 26087"/>
            </a:avLst>
          </a:prstGeom>
          <a:solidFill>
            <a:srgbClr val="FFFFFF"/>
          </a:solidFill>
          <a:ln w="28575">
            <a:solidFill>
              <a:srgbClr val="BFBFBF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</a:t>
            </a:r>
            <a:endParaRPr lang="en-US" sz="1300" dirty="0"/>
          </a:p>
        </p:txBody>
      </p:sp>
      <p:sp>
        <p:nvSpPr>
          <p:cNvPr id="46" name="處理"/>
          <p:cNvSpPr/>
          <p:nvPr/>
        </p:nvSpPr>
        <p:spPr>
          <a:xfrm>
            <a:off x="5126584" y="4956048"/>
            <a:ext cx="822960" cy="420624"/>
          </a:xfrm>
          <a:prstGeom prst="roundRect">
            <a:avLst>
              <a:gd name="adj" fmla="val 26087"/>
            </a:avLst>
          </a:prstGeom>
          <a:solidFill>
            <a:srgbClr val="FFFFFF"/>
          </a:solidFill>
          <a:ln w="28575">
            <a:solidFill>
              <a:srgbClr val="BFBFBF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B</a:t>
            </a:r>
            <a:endParaRPr lang="en-US" sz="1300" dirty="0"/>
          </a:p>
        </p:txBody>
      </p:sp>
      <p:sp>
        <p:nvSpPr>
          <p:cNvPr id="47" name="三角形"/>
          <p:cNvSpPr/>
          <p:nvPr/>
        </p:nvSpPr>
        <p:spPr>
          <a:xfrm>
            <a:off x="4463987" y="5095037"/>
            <a:ext cx="109728" cy="142646"/>
          </a:xfrm>
          <a:custGeom>
            <a:avLst/>
            <a:gdLst/>
            <a:ahLst/>
            <a:cxnLst/>
            <a:rect l="l" t="t" r="r" b="b"/>
            <a:pathLst>
              <a:path w="109728" h="142646">
                <a:moveTo>
                  <a:pt x="0" y="0"/>
                </a:moveTo>
                <a:lnTo>
                  <a:pt x="109728" y="71323"/>
                </a:lnTo>
                <a:lnTo>
                  <a:pt x="0" y="142646"/>
                </a:lnTo>
                <a:close/>
              </a:path>
            </a:pathLst>
          </a:custGeom>
          <a:solidFill>
            <a:srgbClr val="C9A22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8" name="三角形"/>
          <p:cNvSpPr/>
          <p:nvPr/>
        </p:nvSpPr>
        <p:spPr>
          <a:xfrm>
            <a:off x="4617606" y="5095037"/>
            <a:ext cx="109728" cy="142646"/>
          </a:xfrm>
          <a:custGeom>
            <a:avLst/>
            <a:gdLst/>
            <a:ahLst/>
            <a:cxnLst/>
            <a:rect l="l" t="t" r="r" b="b"/>
            <a:pathLst>
              <a:path w="109728" h="142646">
                <a:moveTo>
                  <a:pt x="0" y="0"/>
                </a:moveTo>
                <a:lnTo>
                  <a:pt x="109728" y="71323"/>
                </a:lnTo>
                <a:lnTo>
                  <a:pt x="0" y="142646"/>
                </a:lnTo>
                <a:close/>
              </a:path>
            </a:pathLst>
          </a:custGeom>
          <a:solidFill>
            <a:srgbClr val="C9A22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9" name="三角形"/>
          <p:cNvSpPr/>
          <p:nvPr/>
        </p:nvSpPr>
        <p:spPr>
          <a:xfrm>
            <a:off x="4771225" y="5095037"/>
            <a:ext cx="109728" cy="142646"/>
          </a:xfrm>
          <a:custGeom>
            <a:avLst/>
            <a:gdLst/>
            <a:ahLst/>
            <a:cxnLst/>
            <a:rect l="l" t="t" r="r" b="b"/>
            <a:pathLst>
              <a:path w="109728" h="142646">
                <a:moveTo>
                  <a:pt x="0" y="0"/>
                </a:moveTo>
                <a:lnTo>
                  <a:pt x="109728" y="71323"/>
                </a:lnTo>
                <a:lnTo>
                  <a:pt x="0" y="142646"/>
                </a:lnTo>
                <a:close/>
              </a:path>
            </a:pathLst>
          </a:custGeom>
          <a:solidFill>
            <a:srgbClr val="C9A22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0" name="Text 48"/>
          <p:cNvSpPr/>
          <p:nvPr/>
        </p:nvSpPr>
        <p:spPr>
          <a:xfrm>
            <a:off x="6242152" y="4027932"/>
            <a:ext cx="100584" cy="100584"/>
          </a:xfrm>
          <a:prstGeom prst="rect">
            <a:avLst/>
          </a:prstGeom>
          <a:solidFill>
            <a:srgbClr val="C9A22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1" name="Text 49"/>
          <p:cNvSpPr/>
          <p:nvPr/>
        </p:nvSpPr>
        <p:spPr>
          <a:xfrm>
            <a:off x="6443320" y="3931920"/>
            <a:ext cx="23529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區塊箭號 Chevron</a:t>
            </a:r>
            <a:endParaRPr lang="en-US" sz="1300" dirty="0"/>
          </a:p>
        </p:txBody>
      </p:sp>
      <p:sp>
        <p:nvSpPr>
          <p:cNvPr id="52" name="線條"/>
          <p:cNvSpPr/>
          <p:nvPr/>
        </p:nvSpPr>
        <p:spPr>
          <a:xfrm>
            <a:off x="6242152" y="4315968"/>
            <a:ext cx="2554148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53" name="區塊箭號"/>
          <p:cNvSpPr/>
          <p:nvPr/>
        </p:nvSpPr>
        <p:spPr>
          <a:xfrm>
            <a:off x="6242152" y="4919472"/>
            <a:ext cx="961111" cy="493776"/>
          </a:xfrm>
          <a:prstGeom prst="homePlate">
            <a:avLst>
              <a:gd name="adj" fmla="val 33333"/>
            </a:avLst>
          </a:prstGeom>
          <a:solidFill>
            <a:srgbClr val="2F5D50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一</a:t>
            </a:r>
            <a:endParaRPr lang="en-US" sz="1300" dirty="0"/>
          </a:p>
        </p:txBody>
      </p:sp>
      <p:sp>
        <p:nvSpPr>
          <p:cNvPr id="54" name="區塊箭號"/>
          <p:cNvSpPr/>
          <p:nvPr/>
        </p:nvSpPr>
        <p:spPr>
          <a:xfrm>
            <a:off x="7075246" y="4919472"/>
            <a:ext cx="961111" cy="493776"/>
          </a:xfrm>
          <a:prstGeom prst="chevron">
            <a:avLst>
              <a:gd name="adj" fmla="val 33333"/>
            </a:avLst>
          </a:prstGeom>
          <a:solidFill>
            <a:srgbClr val="63867C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二</a:t>
            </a:r>
            <a:endParaRPr lang="en-US" sz="1300" dirty="0"/>
          </a:p>
        </p:txBody>
      </p:sp>
      <p:sp>
        <p:nvSpPr>
          <p:cNvPr id="55" name="區塊箭號"/>
          <p:cNvSpPr/>
          <p:nvPr/>
        </p:nvSpPr>
        <p:spPr>
          <a:xfrm>
            <a:off x="7908341" y="4919472"/>
            <a:ext cx="961111" cy="493776"/>
          </a:xfrm>
          <a:prstGeom prst="chevron">
            <a:avLst>
              <a:gd name="adj" fmla="val 33333"/>
            </a:avLst>
          </a:prstGeom>
          <a:solidFill>
            <a:srgbClr val="C9A227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三</a:t>
            </a:r>
            <a:endParaRPr lang="en-US" sz="1300" dirty="0"/>
          </a:p>
        </p:txBody>
      </p:sp>
      <p:sp>
        <p:nvSpPr>
          <p:cNvPr id="56" name="Text 54"/>
          <p:cNvSpPr/>
          <p:nvPr/>
        </p:nvSpPr>
        <p:spPr>
          <a:xfrm>
            <a:off x="9088907" y="4027932"/>
            <a:ext cx="100584" cy="100584"/>
          </a:xfrm>
          <a:prstGeom prst="rect">
            <a:avLst/>
          </a:prstGeom>
          <a:solidFill>
            <a:srgbClr val="C9A22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7" name="Text 55"/>
          <p:cNvSpPr/>
          <p:nvPr/>
        </p:nvSpPr>
        <p:spPr>
          <a:xfrm>
            <a:off x="9290075" y="3931920"/>
            <a:ext cx="23529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分支 Branch</a:t>
            </a:r>
            <a:endParaRPr lang="en-US" sz="1300" dirty="0"/>
          </a:p>
        </p:txBody>
      </p:sp>
      <p:sp>
        <p:nvSpPr>
          <p:cNvPr id="58" name="線條"/>
          <p:cNvSpPr/>
          <p:nvPr/>
        </p:nvSpPr>
        <p:spPr>
          <a:xfrm>
            <a:off x="9088907" y="4315968"/>
            <a:ext cx="2554148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59" name="處理"/>
          <p:cNvSpPr/>
          <p:nvPr/>
        </p:nvSpPr>
        <p:spPr>
          <a:xfrm>
            <a:off x="9088907" y="4956048"/>
            <a:ext cx="822960" cy="420624"/>
          </a:xfrm>
          <a:prstGeom prst="roundRect">
            <a:avLst>
              <a:gd name="adj" fmla="val 26087"/>
            </a:avLst>
          </a:prstGeom>
          <a:solidFill>
            <a:srgbClr val="FFFFFF"/>
          </a:solidFill>
          <a:ln w="28575">
            <a:solidFill>
              <a:srgbClr val="BFBFBF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</a:t>
            </a:r>
            <a:endParaRPr lang="en-US" sz="1300" dirty="0"/>
          </a:p>
        </p:txBody>
      </p:sp>
      <p:sp>
        <p:nvSpPr>
          <p:cNvPr id="60" name="處理"/>
          <p:cNvSpPr/>
          <p:nvPr/>
        </p:nvSpPr>
        <p:spPr>
          <a:xfrm>
            <a:off x="10820095" y="4572000"/>
            <a:ext cx="822960" cy="420624"/>
          </a:xfrm>
          <a:prstGeom prst="roundRect">
            <a:avLst>
              <a:gd name="adj" fmla="val 26087"/>
            </a:avLst>
          </a:prstGeom>
          <a:solidFill>
            <a:srgbClr val="FFFFFF"/>
          </a:solidFill>
          <a:ln w="28575">
            <a:solidFill>
              <a:srgbClr val="BFBFBF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B1</a:t>
            </a:r>
            <a:endParaRPr lang="en-US" sz="1300" dirty="0"/>
          </a:p>
        </p:txBody>
      </p:sp>
      <p:sp>
        <p:nvSpPr>
          <p:cNvPr id="61" name="處理"/>
          <p:cNvSpPr/>
          <p:nvPr/>
        </p:nvSpPr>
        <p:spPr>
          <a:xfrm>
            <a:off x="10820095" y="5340096"/>
            <a:ext cx="822960" cy="420624"/>
          </a:xfrm>
          <a:prstGeom prst="roundRect">
            <a:avLst>
              <a:gd name="adj" fmla="val 26087"/>
            </a:avLst>
          </a:prstGeom>
          <a:solidFill>
            <a:srgbClr val="FFFFFF"/>
          </a:solidFill>
          <a:ln w="28575">
            <a:solidFill>
              <a:srgbClr val="BFBFBF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B2</a:t>
            </a:r>
            <a:endParaRPr lang="en-US" sz="1300" dirty="0"/>
          </a:p>
        </p:txBody>
      </p:sp>
      <p:sp>
        <p:nvSpPr>
          <p:cNvPr id="62" name="線條"/>
          <p:cNvSpPr/>
          <p:nvPr/>
        </p:nvSpPr>
        <p:spPr>
          <a:xfrm>
            <a:off x="9966731" y="5166360"/>
            <a:ext cx="399250" cy="0"/>
          </a:xfrm>
          <a:prstGeom prst="line">
            <a:avLst/>
          </a:prstGeom>
          <a:noFill/>
          <a:ln w="19050">
            <a:solidFill>
              <a:srgbClr val="8C8C8C"/>
            </a:solidFill>
            <a:prstDash val="solid"/>
          </a:ln>
        </p:spPr>
      </p:sp>
      <p:sp>
        <p:nvSpPr>
          <p:cNvPr id="63" name="連接線"/>
          <p:cNvSpPr/>
          <p:nvPr/>
        </p:nvSpPr>
        <p:spPr>
          <a:xfrm>
            <a:off x="10365981" y="4782312"/>
            <a:ext cx="399250" cy="384048"/>
          </a:xfrm>
          <a:custGeom>
            <a:avLst/>
            <a:gdLst/>
            <a:ahLst/>
            <a:cxnLst/>
            <a:rect l="l" t="t" r="r" b="b"/>
            <a:pathLst>
              <a:path w="399250" h="384048">
                <a:moveTo>
                  <a:pt x="0" y="384048"/>
                </a:moveTo>
                <a:lnTo>
                  <a:pt x="0" y="0"/>
                </a:lnTo>
                <a:lnTo>
                  <a:pt x="399250" y="0"/>
                </a:lnTo>
              </a:path>
            </a:pathLst>
          </a:custGeom>
          <a:ln w="19050">
            <a:solidFill>
              <a:srgbClr val="8C8C8C"/>
            </a:solidFill>
            <a:prstDash val="solid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4" name="連接線"/>
          <p:cNvSpPr/>
          <p:nvPr/>
        </p:nvSpPr>
        <p:spPr>
          <a:xfrm>
            <a:off x="10365981" y="5166360"/>
            <a:ext cx="399250" cy="384048"/>
          </a:xfrm>
          <a:custGeom>
            <a:avLst/>
            <a:gdLst/>
            <a:ahLst/>
            <a:cxnLst/>
            <a:rect l="l" t="t" r="r" b="b"/>
            <a:pathLst>
              <a:path w="399250" h="384048">
                <a:moveTo>
                  <a:pt x="0" y="0"/>
                </a:moveTo>
                <a:lnTo>
                  <a:pt x="0" y="384048"/>
                </a:lnTo>
                <a:lnTo>
                  <a:pt x="399250" y="384048"/>
                </a:lnTo>
              </a:path>
            </a:pathLst>
          </a:custGeom>
          <a:ln w="19050">
            <a:solidFill>
              <a:srgbClr val="8C8C8C"/>
            </a:solidFill>
            <a:prstDash val="solid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5" name="Text 63"/>
          <p:cNvSpPr/>
          <p:nvPr/>
        </p:nvSpPr>
        <p:spPr>
          <a:xfrm>
            <a:off x="548640" y="5943600"/>
            <a:ext cx="1109441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※ 連接線為獨立線條，移動圖形後需手動調整；建議先排好圖形再拉線</a:t>
            </a:r>
            <a:endParaRPr lang="en-US" sz="1050" dirty="0"/>
          </a:p>
        </p:txBody>
      </p:sp>
      <p:sp>
        <p:nvSpPr>
          <p:cNvPr id="66" name="Text 64"/>
          <p:cNvSpPr/>
          <p:nvPr/>
        </p:nvSpPr>
        <p:spPr>
          <a:xfrm>
            <a:off x="548640" y="6309360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墨綠筆記</a:t>
            </a:r>
            <a:pPr algn="l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900" dirty="0"/>
          </a:p>
        </p:txBody>
      </p:sp>
      <p:sp>
        <p:nvSpPr>
          <p:cNvPr id="67" name="Text 65"/>
          <p:cNvSpPr/>
          <p:nvPr/>
        </p:nvSpPr>
        <p:spPr>
          <a:xfrm>
            <a:off x="10271455" y="6309360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06 / 11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畫布面板"/>
          <p:cNvSpPr/>
          <p:nvPr/>
        </p:nvSpPr>
        <p:spPr>
          <a:xfrm>
            <a:off x="228600" y="228600"/>
            <a:ext cx="11734495" cy="6400800"/>
          </a:xfrm>
          <a:prstGeom prst="roundRect">
            <a:avLst>
              <a:gd name="adj" fmla="val 857"/>
            </a:avLst>
          </a:prstGeom>
          <a:solidFill>
            <a:srgbClr val="F4F4F1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標題"/>
          <p:cNvSpPr/>
          <p:nvPr/>
        </p:nvSpPr>
        <p:spPr>
          <a:xfrm>
            <a:off x="548640" y="329184"/>
            <a:ext cx="100584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2F5D5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流程圖符號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548640" y="1069848"/>
            <a:ext cx="4491736" cy="365760"/>
          </a:xfrm>
          <a:prstGeom prst="rect">
            <a:avLst/>
          </a:prstGeom>
          <a:solidFill>
            <a:srgbClr val="2F5D50"/>
          </a:solidFill>
          <a:ln/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開始／結束、處理、判斷、輸入輸出、文件、資料庫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5104384" y="1069848"/>
            <a:ext cx="109728" cy="365760"/>
          </a:xfrm>
          <a:prstGeom prst="rect">
            <a:avLst/>
          </a:prstGeom>
          <a:solidFill>
            <a:srgbClr val="C9A22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開始／結束"/>
          <p:cNvSpPr/>
          <p:nvPr/>
        </p:nvSpPr>
        <p:spPr>
          <a:xfrm>
            <a:off x="787375" y="2231136"/>
            <a:ext cx="1371600" cy="566928"/>
          </a:xfrm>
          <a:prstGeom prst="roundRect">
            <a:avLst>
              <a:gd name="adj" fmla="val 50000"/>
            </a:avLst>
          </a:prstGeom>
          <a:solidFill>
            <a:srgbClr val="2F5D50"/>
          </a:solidFill>
          <a:ln/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開始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548640" y="3127248"/>
            <a:ext cx="1849069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開始／結束</a:t>
            </a:r>
            <a:endParaRPr lang="en-US" sz="14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Terminator</a:t>
            </a:r>
            <a:endParaRPr lang="en-US" sz="1400" dirty="0"/>
          </a:p>
        </p:txBody>
      </p:sp>
      <p:sp>
        <p:nvSpPr>
          <p:cNvPr id="8" name="處理"/>
          <p:cNvSpPr/>
          <p:nvPr/>
        </p:nvSpPr>
        <p:spPr>
          <a:xfrm>
            <a:off x="2590724" y="2185416"/>
            <a:ext cx="1463040" cy="658368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28575">
            <a:solidFill>
              <a:srgbClr val="BFBFBF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處理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2397709" y="3127248"/>
            <a:ext cx="1849069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處理</a:t>
            </a:r>
            <a:endParaRPr lang="en-US" sz="14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Process</a:t>
            </a:r>
            <a:endParaRPr lang="en-US" sz="1400" dirty="0"/>
          </a:p>
        </p:txBody>
      </p:sp>
      <p:sp>
        <p:nvSpPr>
          <p:cNvPr id="10" name="判斷"/>
          <p:cNvSpPr/>
          <p:nvPr/>
        </p:nvSpPr>
        <p:spPr>
          <a:xfrm>
            <a:off x="4485513" y="2057400"/>
            <a:ext cx="1371600" cy="914400"/>
          </a:xfrm>
          <a:prstGeom prst="diamond">
            <a:avLst/>
          </a:prstGeom>
          <a:solidFill>
            <a:srgbClr val="FFFFFF"/>
          </a:solidFill>
          <a:ln w="28575">
            <a:solidFill>
              <a:srgbClr val="C9A227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判斷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4246778" y="3127248"/>
            <a:ext cx="1849069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判斷</a:t>
            </a:r>
            <a:endParaRPr lang="en-US" sz="14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Decision</a:t>
            </a:r>
            <a:endParaRPr lang="en-US" sz="1400" dirty="0"/>
          </a:p>
        </p:txBody>
      </p:sp>
      <p:sp>
        <p:nvSpPr>
          <p:cNvPr id="12" name="輸入輸出"/>
          <p:cNvSpPr/>
          <p:nvPr/>
        </p:nvSpPr>
        <p:spPr>
          <a:xfrm>
            <a:off x="6243142" y="2185416"/>
            <a:ext cx="1554480" cy="658368"/>
          </a:xfrm>
          <a:prstGeom prst="parallelogram">
            <a:avLst>
              <a:gd name="adj" fmla="val 42000"/>
            </a:avLst>
          </a:prstGeom>
          <a:solidFill>
            <a:srgbClr val="FFFFFF"/>
          </a:solidFill>
          <a:ln w="28575">
            <a:solidFill>
              <a:srgbClr val="BFBFBF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輸入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6095848" y="3127248"/>
            <a:ext cx="1849069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輸入／輸出</a:t>
            </a:r>
            <a:endParaRPr lang="en-US" sz="14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Input / Output</a:t>
            </a:r>
            <a:endParaRPr lang="en-US" sz="1400" dirty="0"/>
          </a:p>
        </p:txBody>
      </p:sp>
      <p:sp>
        <p:nvSpPr>
          <p:cNvPr id="14" name="文件"/>
          <p:cNvSpPr/>
          <p:nvPr/>
        </p:nvSpPr>
        <p:spPr>
          <a:xfrm>
            <a:off x="8183651" y="2125980"/>
            <a:ext cx="1371600" cy="777240"/>
          </a:xfrm>
          <a:custGeom>
            <a:avLst/>
            <a:gdLst/>
            <a:ahLst/>
            <a:cxnLst/>
            <a:rect l="l" t="t" r="r" b="b"/>
            <a:pathLst>
              <a:path w="1371600" h="777240">
                <a:moveTo>
                  <a:pt x="0" y="0"/>
                </a:moveTo>
                <a:lnTo>
                  <a:pt x="1371600" y="0"/>
                </a:lnTo>
                <a:lnTo>
                  <a:pt x="1371600" y="623346"/>
                </a:lnTo>
                <a:cubicBezTo>
                  <a:pt x="685800" y="623346"/>
                  <a:pt x="685800" y="860793"/>
                  <a:pt x="0" y="725942"/>
                </a:cubicBezTo>
                <a:close/>
              </a:path>
            </a:pathLst>
          </a:custGeom>
          <a:solidFill>
            <a:srgbClr val="FFFFFF"/>
          </a:solidFill>
          <a:ln w="28575">
            <a:solidFill>
              <a:srgbClr val="BFBFBF"/>
            </a:solidFill>
            <a:prstDash val="solid"/>
          </a:ln>
        </p:spPr>
        <p:txBody>
          <a:bodyPr wrap="square" lIns="38100" tIns="0" rIns="38100" bIns="155448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文件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7944917" y="3127248"/>
            <a:ext cx="1849069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文件</a:t>
            </a:r>
            <a:endParaRPr lang="en-US" sz="14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Document</a:t>
            </a:r>
            <a:endParaRPr lang="en-US" sz="1400" dirty="0"/>
          </a:p>
        </p:txBody>
      </p:sp>
      <p:sp>
        <p:nvSpPr>
          <p:cNvPr id="16" name="資料庫"/>
          <p:cNvSpPr/>
          <p:nvPr/>
        </p:nvSpPr>
        <p:spPr>
          <a:xfrm>
            <a:off x="10215601" y="2057400"/>
            <a:ext cx="1005840" cy="914400"/>
          </a:xfrm>
          <a:prstGeom prst="can">
            <a:avLst>
              <a:gd name="adj" fmla="val 13000"/>
            </a:avLst>
          </a:prstGeom>
          <a:solidFill>
            <a:srgbClr val="FFFFFF"/>
          </a:solidFill>
          <a:ln w="28575">
            <a:solidFill>
              <a:srgbClr val="BFBFBF"/>
            </a:solidFill>
            <a:prstDash val="solid"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資料庫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9793986" y="3127248"/>
            <a:ext cx="1849069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資料庫</a:t>
            </a:r>
            <a:endParaRPr lang="en-US" sz="14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Database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548640" y="3863340"/>
            <a:ext cx="100584" cy="100584"/>
          </a:xfrm>
          <a:prstGeom prst="rect">
            <a:avLst/>
          </a:prstGeom>
          <a:solidFill>
            <a:srgbClr val="C9A22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" name="Text 17"/>
          <p:cNvSpPr/>
          <p:nvPr/>
        </p:nvSpPr>
        <p:spPr>
          <a:xfrm>
            <a:off x="749808" y="3767328"/>
            <a:ext cx="10893247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基本流程範例</a:t>
            </a:r>
            <a:endParaRPr lang="en-US" sz="1300" dirty="0"/>
          </a:p>
        </p:txBody>
      </p:sp>
      <p:sp>
        <p:nvSpPr>
          <p:cNvPr id="20" name="線條"/>
          <p:cNvSpPr/>
          <p:nvPr/>
        </p:nvSpPr>
        <p:spPr>
          <a:xfrm>
            <a:off x="548640" y="4151376"/>
            <a:ext cx="11094415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21" name="開始／結束"/>
          <p:cNvSpPr/>
          <p:nvPr/>
        </p:nvSpPr>
        <p:spPr>
          <a:xfrm>
            <a:off x="548640" y="4434840"/>
            <a:ext cx="1143000" cy="548640"/>
          </a:xfrm>
          <a:prstGeom prst="roundRect">
            <a:avLst>
              <a:gd name="adj" fmla="val 50000"/>
            </a:avLst>
          </a:prstGeom>
          <a:solidFill>
            <a:srgbClr val="2F5D50"/>
          </a:solidFill>
          <a:ln/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開始</a:t>
            </a:r>
            <a:endParaRPr lang="en-US" sz="1400" dirty="0"/>
          </a:p>
        </p:txBody>
      </p:sp>
      <p:sp>
        <p:nvSpPr>
          <p:cNvPr id="22" name="輸入輸出"/>
          <p:cNvSpPr/>
          <p:nvPr/>
        </p:nvSpPr>
        <p:spPr>
          <a:xfrm>
            <a:off x="2228027" y="4398264"/>
            <a:ext cx="1645920" cy="621792"/>
          </a:xfrm>
          <a:prstGeom prst="parallelogram">
            <a:avLst>
              <a:gd name="adj" fmla="val 42000"/>
            </a:avLst>
          </a:prstGeom>
          <a:solidFill>
            <a:srgbClr val="FFFFFF"/>
          </a:solidFill>
          <a:ln w="28575">
            <a:solidFill>
              <a:srgbClr val="BFBFBF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輸入需求</a:t>
            </a:r>
            <a:endParaRPr lang="en-US" sz="1400" dirty="0"/>
          </a:p>
        </p:txBody>
      </p:sp>
      <p:sp>
        <p:nvSpPr>
          <p:cNvPr id="23" name="判斷"/>
          <p:cNvSpPr/>
          <p:nvPr/>
        </p:nvSpPr>
        <p:spPr>
          <a:xfrm>
            <a:off x="4410334" y="4251960"/>
            <a:ext cx="1554480" cy="914400"/>
          </a:xfrm>
          <a:prstGeom prst="diamond">
            <a:avLst/>
          </a:prstGeom>
          <a:solidFill>
            <a:srgbClr val="FFFFFF"/>
          </a:solidFill>
          <a:ln w="28575">
            <a:solidFill>
              <a:srgbClr val="C9A227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是否可行？</a:t>
            </a:r>
            <a:endParaRPr lang="en-US" sz="1300" dirty="0"/>
          </a:p>
        </p:txBody>
      </p:sp>
      <p:sp>
        <p:nvSpPr>
          <p:cNvPr id="24" name="處理"/>
          <p:cNvSpPr/>
          <p:nvPr/>
        </p:nvSpPr>
        <p:spPr>
          <a:xfrm>
            <a:off x="6501201" y="4398264"/>
            <a:ext cx="1463040" cy="621792"/>
          </a:xfrm>
          <a:prstGeom prst="roundRect">
            <a:avLst>
              <a:gd name="adj" fmla="val 17647"/>
            </a:avLst>
          </a:prstGeom>
          <a:solidFill>
            <a:srgbClr val="FFFFFF"/>
          </a:solidFill>
          <a:ln w="28575">
            <a:solidFill>
              <a:srgbClr val="BFBFBF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執行處理</a:t>
            </a:r>
            <a:endParaRPr lang="en-US" sz="1400" dirty="0"/>
          </a:p>
        </p:txBody>
      </p:sp>
      <p:sp>
        <p:nvSpPr>
          <p:cNvPr id="25" name="文件"/>
          <p:cNvSpPr/>
          <p:nvPr/>
        </p:nvSpPr>
        <p:spPr>
          <a:xfrm>
            <a:off x="8500628" y="4343400"/>
            <a:ext cx="1463040" cy="731520"/>
          </a:xfrm>
          <a:custGeom>
            <a:avLst/>
            <a:gdLst/>
            <a:ahLst/>
            <a:cxnLst/>
            <a:rect l="l" t="t" r="r" b="b"/>
            <a:pathLst>
              <a:path w="1463040" h="731520">
                <a:moveTo>
                  <a:pt x="0" y="0"/>
                </a:moveTo>
                <a:lnTo>
                  <a:pt x="1463040" y="0"/>
                </a:lnTo>
                <a:lnTo>
                  <a:pt x="1463040" y="586679"/>
                </a:lnTo>
                <a:cubicBezTo>
                  <a:pt x="731520" y="586679"/>
                  <a:pt x="731520" y="810158"/>
                  <a:pt x="0" y="683240"/>
                </a:cubicBezTo>
                <a:close/>
              </a:path>
            </a:pathLst>
          </a:custGeom>
          <a:solidFill>
            <a:srgbClr val="FFFFFF"/>
          </a:solidFill>
          <a:ln w="28575">
            <a:solidFill>
              <a:srgbClr val="BFBFBF"/>
            </a:solidFill>
            <a:prstDash val="solid"/>
          </a:ln>
        </p:spPr>
        <p:txBody>
          <a:bodyPr wrap="square" lIns="38100" tIns="0" rIns="38100" bIns="146304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產出報告</a:t>
            </a:r>
            <a:endParaRPr lang="en-US" sz="1400" dirty="0"/>
          </a:p>
        </p:txBody>
      </p:sp>
      <p:sp>
        <p:nvSpPr>
          <p:cNvPr id="26" name="開始／結束"/>
          <p:cNvSpPr/>
          <p:nvPr/>
        </p:nvSpPr>
        <p:spPr>
          <a:xfrm>
            <a:off x="10500055" y="4434840"/>
            <a:ext cx="1143000" cy="548640"/>
          </a:xfrm>
          <a:prstGeom prst="roundRect">
            <a:avLst>
              <a:gd name="adj" fmla="val 50000"/>
            </a:avLst>
          </a:prstGeom>
          <a:solidFill>
            <a:srgbClr val="2F5D50"/>
          </a:solidFill>
          <a:ln/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結束</a:t>
            </a:r>
            <a:endParaRPr lang="en-US" sz="1400" dirty="0"/>
          </a:p>
        </p:txBody>
      </p:sp>
      <p:sp>
        <p:nvSpPr>
          <p:cNvPr id="27" name="線條"/>
          <p:cNvSpPr/>
          <p:nvPr/>
        </p:nvSpPr>
        <p:spPr>
          <a:xfrm>
            <a:off x="1755648" y="4709160"/>
            <a:ext cx="499811" cy="0"/>
          </a:xfrm>
          <a:prstGeom prst="line">
            <a:avLst/>
          </a:prstGeom>
          <a:noFill/>
          <a:ln w="19050">
            <a:solidFill>
              <a:srgbClr val="8C8C8C"/>
            </a:solidFill>
            <a:prstDash val="solid"/>
            <a:tailEnd type="triangle"/>
          </a:ln>
        </p:spPr>
      </p:sp>
      <p:sp>
        <p:nvSpPr>
          <p:cNvPr id="28" name="線條"/>
          <p:cNvSpPr/>
          <p:nvPr/>
        </p:nvSpPr>
        <p:spPr>
          <a:xfrm>
            <a:off x="3828227" y="4709160"/>
            <a:ext cx="518099" cy="0"/>
          </a:xfrm>
          <a:prstGeom prst="line">
            <a:avLst/>
          </a:prstGeom>
          <a:noFill/>
          <a:ln w="19050">
            <a:solidFill>
              <a:srgbClr val="8C8C8C"/>
            </a:solidFill>
            <a:prstDash val="solid"/>
            <a:tailEnd type="triangle"/>
          </a:ln>
        </p:spPr>
      </p:sp>
      <p:sp>
        <p:nvSpPr>
          <p:cNvPr id="29" name="線條"/>
          <p:cNvSpPr/>
          <p:nvPr/>
        </p:nvSpPr>
        <p:spPr>
          <a:xfrm>
            <a:off x="6028822" y="4709160"/>
            <a:ext cx="408371" cy="0"/>
          </a:xfrm>
          <a:prstGeom prst="line">
            <a:avLst/>
          </a:prstGeom>
          <a:noFill/>
          <a:ln w="19050">
            <a:solidFill>
              <a:srgbClr val="8C8C8C"/>
            </a:solidFill>
            <a:prstDash val="solid"/>
            <a:tailEnd type="triangle"/>
          </a:ln>
        </p:spPr>
      </p:sp>
      <p:sp>
        <p:nvSpPr>
          <p:cNvPr id="30" name="線條"/>
          <p:cNvSpPr/>
          <p:nvPr/>
        </p:nvSpPr>
        <p:spPr>
          <a:xfrm>
            <a:off x="8028249" y="4709160"/>
            <a:ext cx="408371" cy="0"/>
          </a:xfrm>
          <a:prstGeom prst="line">
            <a:avLst/>
          </a:prstGeom>
          <a:noFill/>
          <a:ln w="19050">
            <a:solidFill>
              <a:srgbClr val="8C8C8C"/>
            </a:solidFill>
            <a:prstDash val="solid"/>
            <a:tailEnd type="triangle"/>
          </a:ln>
        </p:spPr>
      </p:sp>
      <p:sp>
        <p:nvSpPr>
          <p:cNvPr id="31" name="線條"/>
          <p:cNvSpPr/>
          <p:nvPr/>
        </p:nvSpPr>
        <p:spPr>
          <a:xfrm>
            <a:off x="10027676" y="4709160"/>
            <a:ext cx="408371" cy="0"/>
          </a:xfrm>
          <a:prstGeom prst="line">
            <a:avLst/>
          </a:prstGeom>
          <a:noFill/>
          <a:ln w="19050">
            <a:solidFill>
              <a:srgbClr val="8C8C8C"/>
            </a:solidFill>
            <a:prstDash val="solid"/>
            <a:tailEnd type="triangle"/>
          </a:ln>
        </p:spPr>
      </p:sp>
      <p:sp>
        <p:nvSpPr>
          <p:cNvPr id="32" name="Text 30"/>
          <p:cNvSpPr/>
          <p:nvPr/>
        </p:nvSpPr>
        <p:spPr>
          <a:xfrm>
            <a:off x="5983102" y="4325112"/>
            <a:ext cx="536387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是</a:t>
            </a:r>
            <a:endParaRPr lang="en-US" sz="1100" dirty="0"/>
          </a:p>
        </p:txBody>
      </p:sp>
      <p:sp>
        <p:nvSpPr>
          <p:cNvPr id="33" name="資料庫"/>
          <p:cNvSpPr/>
          <p:nvPr/>
        </p:nvSpPr>
        <p:spPr>
          <a:xfrm>
            <a:off x="6775521" y="5413248"/>
            <a:ext cx="914400" cy="749808"/>
          </a:xfrm>
          <a:prstGeom prst="can">
            <a:avLst>
              <a:gd name="adj" fmla="val 13000"/>
            </a:avLst>
          </a:prstGeom>
          <a:solidFill>
            <a:srgbClr val="FFFFFF"/>
          </a:solidFill>
          <a:ln w="28575">
            <a:solidFill>
              <a:srgbClr val="BFBFBF"/>
            </a:solidFill>
            <a:prstDash val="solid"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資料庫</a:t>
            </a:r>
            <a:endParaRPr lang="en-US" sz="1200" dirty="0"/>
          </a:p>
        </p:txBody>
      </p:sp>
      <p:sp>
        <p:nvSpPr>
          <p:cNvPr id="34" name="線條"/>
          <p:cNvSpPr/>
          <p:nvPr/>
        </p:nvSpPr>
        <p:spPr>
          <a:xfrm>
            <a:off x="7232721" y="5074920"/>
            <a:ext cx="0" cy="283464"/>
          </a:xfrm>
          <a:prstGeom prst="line">
            <a:avLst/>
          </a:prstGeom>
          <a:noFill/>
          <a:ln w="19050">
            <a:solidFill>
              <a:srgbClr val="8C8C8C"/>
            </a:solidFill>
            <a:prstDash val="sysDash"/>
            <a:headEnd type="triangle"/>
            <a:tailEnd type="triangle"/>
          </a:ln>
        </p:spPr>
      </p:sp>
      <p:sp>
        <p:nvSpPr>
          <p:cNvPr id="35" name="連接線"/>
          <p:cNvSpPr/>
          <p:nvPr/>
        </p:nvSpPr>
        <p:spPr>
          <a:xfrm>
            <a:off x="3050987" y="5074920"/>
            <a:ext cx="2136587" cy="777240"/>
          </a:xfrm>
          <a:custGeom>
            <a:avLst/>
            <a:gdLst/>
            <a:ahLst/>
            <a:cxnLst/>
            <a:rect l="l" t="t" r="r" b="b"/>
            <a:pathLst>
              <a:path w="2136587" h="777240">
                <a:moveTo>
                  <a:pt x="2136587" y="146304"/>
                </a:moveTo>
                <a:lnTo>
                  <a:pt x="2136587" y="777240"/>
                </a:lnTo>
                <a:lnTo>
                  <a:pt x="0" y="777240"/>
                </a:lnTo>
                <a:lnTo>
                  <a:pt x="0" y="0"/>
                </a:lnTo>
              </a:path>
            </a:pathLst>
          </a:custGeom>
          <a:ln w="19050">
            <a:solidFill>
              <a:srgbClr val="8C8C8C"/>
            </a:solidFill>
            <a:prstDash val="solid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6" name="Text 34"/>
          <p:cNvSpPr/>
          <p:nvPr/>
        </p:nvSpPr>
        <p:spPr>
          <a:xfrm>
            <a:off x="5279014" y="527608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否</a:t>
            </a:r>
            <a:endParaRPr lang="en-US" sz="1100" dirty="0"/>
          </a:p>
        </p:txBody>
      </p:sp>
      <p:sp>
        <p:nvSpPr>
          <p:cNvPr id="37" name="Text 35"/>
          <p:cNvSpPr/>
          <p:nvPr/>
        </p:nvSpPr>
        <p:spPr>
          <a:xfrm>
            <a:off x="548640" y="6309360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墨綠筆記</a:t>
            </a:r>
            <a:pPr algn="l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10271455" y="6309360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07 / 11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畫布面板"/>
          <p:cNvSpPr/>
          <p:nvPr/>
        </p:nvSpPr>
        <p:spPr>
          <a:xfrm>
            <a:off x="228600" y="228600"/>
            <a:ext cx="11734495" cy="6400800"/>
          </a:xfrm>
          <a:prstGeom prst="roundRect">
            <a:avLst>
              <a:gd name="adj" fmla="val 857"/>
            </a:avLst>
          </a:prstGeom>
          <a:solidFill>
            <a:srgbClr val="F4F4F1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標題"/>
          <p:cNvSpPr/>
          <p:nvPr/>
        </p:nvSpPr>
        <p:spPr>
          <a:xfrm>
            <a:off x="548640" y="329184"/>
            <a:ext cx="100584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2F5D5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結構元件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548640" y="1069848"/>
            <a:ext cx="3247136" cy="365760"/>
          </a:xfrm>
          <a:prstGeom prst="rect">
            <a:avLst/>
          </a:prstGeom>
          <a:solidFill>
            <a:srgbClr val="2F5D50"/>
          </a:solidFill>
          <a:ln/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樹狀分支、十字矩陣與半透明寬欄條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3859784" y="1069848"/>
            <a:ext cx="109728" cy="365760"/>
          </a:xfrm>
          <a:prstGeom prst="rect">
            <a:avLst/>
          </a:prstGeom>
          <a:solidFill>
            <a:srgbClr val="C9A22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548640" y="1879092"/>
            <a:ext cx="100584" cy="100584"/>
          </a:xfrm>
          <a:prstGeom prst="rect">
            <a:avLst/>
          </a:prstGeom>
          <a:solidFill>
            <a:srgbClr val="C9A22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749808" y="1783080"/>
            <a:ext cx="5010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樹狀分支 Tree</a:t>
            </a:r>
            <a:endParaRPr lang="en-US" sz="1300" dirty="0"/>
          </a:p>
        </p:txBody>
      </p:sp>
      <p:sp>
        <p:nvSpPr>
          <p:cNvPr id="8" name="線條"/>
          <p:cNvSpPr/>
          <p:nvPr/>
        </p:nvSpPr>
        <p:spPr>
          <a:xfrm>
            <a:off x="548640" y="2167128"/>
            <a:ext cx="5212080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9" name="處理"/>
          <p:cNvSpPr/>
          <p:nvPr/>
        </p:nvSpPr>
        <p:spPr>
          <a:xfrm>
            <a:off x="548640" y="3794760"/>
            <a:ext cx="749808" cy="457200"/>
          </a:xfrm>
          <a:prstGeom prst="roundRect">
            <a:avLst>
              <a:gd name="adj" fmla="val 24000"/>
            </a:avLst>
          </a:prstGeom>
          <a:solidFill>
            <a:srgbClr val="FFFFFF"/>
          </a:solidFill>
          <a:ln w="28575">
            <a:solidFill>
              <a:srgbClr val="BFBFBF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起點</a:t>
            </a:r>
            <a:endParaRPr lang="en-US" sz="1300" dirty="0"/>
          </a:p>
        </p:txBody>
      </p:sp>
      <p:sp>
        <p:nvSpPr>
          <p:cNvPr id="10" name="處理"/>
          <p:cNvSpPr/>
          <p:nvPr/>
        </p:nvSpPr>
        <p:spPr>
          <a:xfrm>
            <a:off x="1874520" y="3063240"/>
            <a:ext cx="841248" cy="457200"/>
          </a:xfrm>
          <a:prstGeom prst="roundRect">
            <a:avLst>
              <a:gd name="adj" fmla="val 24000"/>
            </a:avLst>
          </a:prstGeom>
          <a:solidFill>
            <a:srgbClr val="FFFFFF"/>
          </a:solidFill>
          <a:ln w="28575">
            <a:solidFill>
              <a:srgbClr val="BFBFBF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分支一</a:t>
            </a:r>
            <a:endParaRPr lang="en-US" sz="1200" dirty="0"/>
          </a:p>
        </p:txBody>
      </p:sp>
      <p:sp>
        <p:nvSpPr>
          <p:cNvPr id="11" name="處理"/>
          <p:cNvSpPr/>
          <p:nvPr/>
        </p:nvSpPr>
        <p:spPr>
          <a:xfrm>
            <a:off x="1874520" y="4526280"/>
            <a:ext cx="841248" cy="457200"/>
          </a:xfrm>
          <a:prstGeom prst="roundRect">
            <a:avLst>
              <a:gd name="adj" fmla="val 24000"/>
            </a:avLst>
          </a:prstGeom>
          <a:solidFill>
            <a:srgbClr val="FFFFFF"/>
          </a:solidFill>
          <a:ln w="28575">
            <a:solidFill>
              <a:srgbClr val="BFBFBF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分支二</a:t>
            </a:r>
            <a:endParaRPr lang="en-US" sz="1200" dirty="0"/>
          </a:p>
        </p:txBody>
      </p:sp>
      <p:sp>
        <p:nvSpPr>
          <p:cNvPr id="12" name="處理"/>
          <p:cNvSpPr/>
          <p:nvPr/>
        </p:nvSpPr>
        <p:spPr>
          <a:xfrm>
            <a:off x="3291840" y="3794760"/>
            <a:ext cx="749808" cy="457200"/>
          </a:xfrm>
          <a:prstGeom prst="roundRect">
            <a:avLst>
              <a:gd name="adj" fmla="val 24000"/>
            </a:avLst>
          </a:prstGeom>
          <a:solidFill>
            <a:srgbClr val="2F5D50"/>
          </a:solidFill>
          <a:ln/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整合</a:t>
            </a:r>
            <a:endParaRPr lang="en-US" sz="1300" dirty="0"/>
          </a:p>
        </p:txBody>
      </p:sp>
      <p:sp>
        <p:nvSpPr>
          <p:cNvPr id="13" name="處理"/>
          <p:cNvSpPr/>
          <p:nvPr/>
        </p:nvSpPr>
        <p:spPr>
          <a:xfrm>
            <a:off x="4617720" y="2606040"/>
            <a:ext cx="1143000" cy="457200"/>
          </a:xfrm>
          <a:prstGeom prst="roundRect">
            <a:avLst>
              <a:gd name="adj" fmla="val 24000"/>
            </a:avLst>
          </a:prstGeom>
          <a:solidFill>
            <a:srgbClr val="FFFFFF"/>
          </a:solidFill>
          <a:ln w="28575">
            <a:solidFill>
              <a:srgbClr val="BFBFBF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結果 A</a:t>
            </a:r>
            <a:endParaRPr lang="en-US" sz="1200" dirty="0"/>
          </a:p>
        </p:txBody>
      </p:sp>
      <p:sp>
        <p:nvSpPr>
          <p:cNvPr id="14" name="處理"/>
          <p:cNvSpPr/>
          <p:nvPr/>
        </p:nvSpPr>
        <p:spPr>
          <a:xfrm>
            <a:off x="4617720" y="3794760"/>
            <a:ext cx="1143000" cy="457200"/>
          </a:xfrm>
          <a:prstGeom prst="roundRect">
            <a:avLst>
              <a:gd name="adj" fmla="val 24000"/>
            </a:avLst>
          </a:prstGeom>
          <a:solidFill>
            <a:srgbClr val="FFFFFF"/>
          </a:solidFill>
          <a:ln w="28575">
            <a:solidFill>
              <a:srgbClr val="BFBFBF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結果 B</a:t>
            </a:r>
            <a:endParaRPr lang="en-US" sz="1200" dirty="0"/>
          </a:p>
        </p:txBody>
      </p:sp>
      <p:sp>
        <p:nvSpPr>
          <p:cNvPr id="15" name="處理"/>
          <p:cNvSpPr/>
          <p:nvPr/>
        </p:nvSpPr>
        <p:spPr>
          <a:xfrm>
            <a:off x="4617720" y="4983480"/>
            <a:ext cx="1143000" cy="457200"/>
          </a:xfrm>
          <a:prstGeom prst="roundRect">
            <a:avLst>
              <a:gd name="adj" fmla="val 24000"/>
            </a:avLst>
          </a:prstGeom>
          <a:solidFill>
            <a:srgbClr val="FFFFFF"/>
          </a:solidFill>
          <a:ln w="28575">
            <a:solidFill>
              <a:srgbClr val="BFBFBF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結果 C</a:t>
            </a:r>
            <a:endParaRPr lang="en-US" sz="1200" dirty="0"/>
          </a:p>
        </p:txBody>
      </p:sp>
      <p:sp>
        <p:nvSpPr>
          <p:cNvPr id="16" name="連接線"/>
          <p:cNvSpPr/>
          <p:nvPr/>
        </p:nvSpPr>
        <p:spPr>
          <a:xfrm>
            <a:off x="1353312" y="3291840"/>
            <a:ext cx="466344" cy="731520"/>
          </a:xfrm>
          <a:custGeom>
            <a:avLst/>
            <a:gdLst/>
            <a:ahLst/>
            <a:cxnLst/>
            <a:rect l="l" t="t" r="r" b="b"/>
            <a:pathLst>
              <a:path w="466344" h="731520">
                <a:moveTo>
                  <a:pt x="0" y="731520"/>
                </a:moveTo>
                <a:lnTo>
                  <a:pt x="233172" y="731520"/>
                </a:lnTo>
                <a:lnTo>
                  <a:pt x="233172" y="0"/>
                </a:lnTo>
                <a:lnTo>
                  <a:pt x="466344" y="0"/>
                </a:lnTo>
              </a:path>
            </a:pathLst>
          </a:custGeom>
          <a:ln w="19050">
            <a:solidFill>
              <a:srgbClr val="8C8C8C"/>
            </a:solidFill>
            <a:prstDash val="solid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" name="連接線"/>
          <p:cNvSpPr/>
          <p:nvPr/>
        </p:nvSpPr>
        <p:spPr>
          <a:xfrm>
            <a:off x="1353312" y="4023360"/>
            <a:ext cx="466344" cy="731520"/>
          </a:xfrm>
          <a:custGeom>
            <a:avLst/>
            <a:gdLst/>
            <a:ahLst/>
            <a:cxnLst/>
            <a:rect l="l" t="t" r="r" b="b"/>
            <a:pathLst>
              <a:path w="466344" h="731520">
                <a:moveTo>
                  <a:pt x="0" y="0"/>
                </a:moveTo>
                <a:lnTo>
                  <a:pt x="233172" y="0"/>
                </a:lnTo>
                <a:lnTo>
                  <a:pt x="233172" y="731520"/>
                </a:lnTo>
                <a:lnTo>
                  <a:pt x="466344" y="731520"/>
                </a:lnTo>
              </a:path>
            </a:pathLst>
          </a:custGeom>
          <a:ln w="19050">
            <a:solidFill>
              <a:srgbClr val="8C8C8C"/>
            </a:solidFill>
            <a:prstDash val="solid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連接線"/>
          <p:cNvSpPr/>
          <p:nvPr/>
        </p:nvSpPr>
        <p:spPr>
          <a:xfrm>
            <a:off x="2770632" y="3291840"/>
            <a:ext cx="466344" cy="731520"/>
          </a:xfrm>
          <a:custGeom>
            <a:avLst/>
            <a:gdLst/>
            <a:ahLst/>
            <a:cxnLst/>
            <a:rect l="l" t="t" r="r" b="b"/>
            <a:pathLst>
              <a:path w="466344" h="731520">
                <a:moveTo>
                  <a:pt x="0" y="0"/>
                </a:moveTo>
                <a:lnTo>
                  <a:pt x="233172" y="0"/>
                </a:lnTo>
                <a:lnTo>
                  <a:pt x="233172" y="731520"/>
                </a:lnTo>
                <a:lnTo>
                  <a:pt x="466344" y="731520"/>
                </a:lnTo>
              </a:path>
            </a:pathLst>
          </a:custGeom>
          <a:ln w="19050">
            <a:solidFill>
              <a:srgbClr val="8C8C8C"/>
            </a:solidFill>
            <a:prstDash val="solid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" name="連接線"/>
          <p:cNvSpPr/>
          <p:nvPr/>
        </p:nvSpPr>
        <p:spPr>
          <a:xfrm>
            <a:off x="2770632" y="4023360"/>
            <a:ext cx="466344" cy="731520"/>
          </a:xfrm>
          <a:custGeom>
            <a:avLst/>
            <a:gdLst/>
            <a:ahLst/>
            <a:cxnLst/>
            <a:rect l="l" t="t" r="r" b="b"/>
            <a:pathLst>
              <a:path w="466344" h="731520">
                <a:moveTo>
                  <a:pt x="0" y="731520"/>
                </a:moveTo>
                <a:lnTo>
                  <a:pt x="233172" y="731520"/>
                </a:lnTo>
                <a:lnTo>
                  <a:pt x="233172" y="0"/>
                </a:lnTo>
                <a:lnTo>
                  <a:pt x="466344" y="0"/>
                </a:lnTo>
              </a:path>
            </a:pathLst>
          </a:custGeom>
          <a:ln w="19050">
            <a:solidFill>
              <a:srgbClr val="8C8C8C"/>
            </a:solidFill>
            <a:prstDash val="solid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0" name="連接線"/>
          <p:cNvSpPr/>
          <p:nvPr/>
        </p:nvSpPr>
        <p:spPr>
          <a:xfrm>
            <a:off x="4096512" y="2834640"/>
            <a:ext cx="466344" cy="1188720"/>
          </a:xfrm>
          <a:custGeom>
            <a:avLst/>
            <a:gdLst/>
            <a:ahLst/>
            <a:cxnLst/>
            <a:rect l="l" t="t" r="r" b="b"/>
            <a:pathLst>
              <a:path w="466344" h="1188720">
                <a:moveTo>
                  <a:pt x="0" y="1188720"/>
                </a:moveTo>
                <a:lnTo>
                  <a:pt x="233172" y="1188720"/>
                </a:lnTo>
                <a:lnTo>
                  <a:pt x="233172" y="0"/>
                </a:lnTo>
                <a:lnTo>
                  <a:pt x="466344" y="0"/>
                </a:lnTo>
              </a:path>
            </a:pathLst>
          </a:custGeom>
          <a:ln w="19050">
            <a:solidFill>
              <a:srgbClr val="8C8C8C"/>
            </a:solidFill>
            <a:prstDash val="solid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1" name="線條"/>
          <p:cNvSpPr/>
          <p:nvPr/>
        </p:nvSpPr>
        <p:spPr>
          <a:xfrm>
            <a:off x="4096512" y="4023360"/>
            <a:ext cx="466344" cy="0"/>
          </a:xfrm>
          <a:prstGeom prst="line">
            <a:avLst/>
          </a:prstGeom>
          <a:noFill/>
          <a:ln w="19050">
            <a:solidFill>
              <a:srgbClr val="8C8C8C"/>
            </a:solidFill>
            <a:prstDash val="solid"/>
            <a:tailEnd type="triangle"/>
          </a:ln>
        </p:spPr>
      </p:sp>
      <p:sp>
        <p:nvSpPr>
          <p:cNvPr id="22" name="連接線"/>
          <p:cNvSpPr/>
          <p:nvPr/>
        </p:nvSpPr>
        <p:spPr>
          <a:xfrm>
            <a:off x="4096512" y="4023360"/>
            <a:ext cx="466344" cy="1188720"/>
          </a:xfrm>
          <a:custGeom>
            <a:avLst/>
            <a:gdLst/>
            <a:ahLst/>
            <a:cxnLst/>
            <a:rect l="l" t="t" r="r" b="b"/>
            <a:pathLst>
              <a:path w="466344" h="1188720">
                <a:moveTo>
                  <a:pt x="0" y="0"/>
                </a:moveTo>
                <a:lnTo>
                  <a:pt x="233172" y="0"/>
                </a:lnTo>
                <a:lnTo>
                  <a:pt x="233172" y="1188720"/>
                </a:lnTo>
                <a:lnTo>
                  <a:pt x="466344" y="1188720"/>
                </a:lnTo>
              </a:path>
            </a:pathLst>
          </a:custGeom>
          <a:ln w="19050">
            <a:solidFill>
              <a:srgbClr val="8C8C8C"/>
            </a:solidFill>
            <a:prstDash val="solid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3" name="Text 21"/>
          <p:cNvSpPr/>
          <p:nvPr/>
        </p:nvSpPr>
        <p:spPr>
          <a:xfrm>
            <a:off x="6172200" y="1879092"/>
            <a:ext cx="100584" cy="100584"/>
          </a:xfrm>
          <a:prstGeom prst="rect">
            <a:avLst/>
          </a:prstGeom>
          <a:solidFill>
            <a:srgbClr val="C9A22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4" name="Text 22"/>
          <p:cNvSpPr/>
          <p:nvPr/>
        </p:nvSpPr>
        <p:spPr>
          <a:xfrm>
            <a:off x="6373368" y="1783080"/>
            <a:ext cx="24963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十字矩陣 2×2</a:t>
            </a:r>
            <a:endParaRPr lang="en-US" sz="1300" dirty="0"/>
          </a:p>
        </p:txBody>
      </p:sp>
      <p:sp>
        <p:nvSpPr>
          <p:cNvPr id="25" name="線條"/>
          <p:cNvSpPr/>
          <p:nvPr/>
        </p:nvSpPr>
        <p:spPr>
          <a:xfrm>
            <a:off x="6172200" y="2167128"/>
            <a:ext cx="2697480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26" name="線條"/>
          <p:cNvSpPr/>
          <p:nvPr/>
        </p:nvSpPr>
        <p:spPr>
          <a:xfrm>
            <a:off x="6556248" y="4023360"/>
            <a:ext cx="1929384" cy="0"/>
          </a:xfrm>
          <a:prstGeom prst="line">
            <a:avLst/>
          </a:prstGeom>
          <a:noFill/>
          <a:ln w="12700">
            <a:solidFill>
              <a:srgbClr val="BFBFBF"/>
            </a:solidFill>
            <a:prstDash val="solid"/>
          </a:ln>
        </p:spPr>
      </p:sp>
      <p:sp>
        <p:nvSpPr>
          <p:cNvPr id="27" name="線條"/>
          <p:cNvSpPr/>
          <p:nvPr/>
        </p:nvSpPr>
        <p:spPr>
          <a:xfrm>
            <a:off x="7520940" y="2697480"/>
            <a:ext cx="0" cy="2651760"/>
          </a:xfrm>
          <a:prstGeom prst="line">
            <a:avLst/>
          </a:prstGeom>
          <a:noFill/>
          <a:ln w="12700">
            <a:solidFill>
              <a:srgbClr val="BFBFBF"/>
            </a:solidFill>
            <a:prstDash val="solid"/>
          </a:ln>
        </p:spPr>
      </p:sp>
      <p:sp>
        <p:nvSpPr>
          <p:cNvPr id="28" name="中心圓"/>
          <p:cNvSpPr/>
          <p:nvPr/>
        </p:nvSpPr>
        <p:spPr>
          <a:xfrm>
            <a:off x="7100316" y="3602736"/>
            <a:ext cx="841248" cy="841248"/>
          </a:xfrm>
          <a:prstGeom prst="ellipse">
            <a:avLst/>
          </a:prstGeom>
          <a:solidFill>
            <a:srgbClr val="2F5D50"/>
          </a:solidFill>
          <a:ln w="25400">
            <a:solidFill>
              <a:srgbClr val="FFFFFF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定位</a:t>
            </a:r>
            <a:endParaRPr lang="en-US" sz="120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核心</a:t>
            </a:r>
            <a:endParaRPr lang="en-US" sz="1200" dirty="0"/>
          </a:p>
        </p:txBody>
      </p:sp>
      <p:sp>
        <p:nvSpPr>
          <p:cNvPr id="29" name="標籤"/>
          <p:cNvSpPr/>
          <p:nvPr/>
        </p:nvSpPr>
        <p:spPr>
          <a:xfrm>
            <a:off x="6549136" y="3227832"/>
            <a:ext cx="517144" cy="274320"/>
          </a:xfrm>
          <a:prstGeom prst="roundRect">
            <a:avLst>
              <a:gd name="adj" fmla="val 16667"/>
            </a:avLst>
          </a:prstGeom>
          <a:solidFill>
            <a:srgbClr val="DFDFDF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吸引</a:t>
            </a:r>
            <a:endParaRPr lang="en-US" sz="1100" dirty="0"/>
          </a:p>
        </p:txBody>
      </p:sp>
      <p:sp>
        <p:nvSpPr>
          <p:cNvPr id="30" name="標籤"/>
          <p:cNvSpPr/>
          <p:nvPr/>
        </p:nvSpPr>
        <p:spPr>
          <a:xfrm>
            <a:off x="7975600" y="3227832"/>
            <a:ext cx="517144" cy="274320"/>
          </a:xfrm>
          <a:prstGeom prst="roundRect">
            <a:avLst>
              <a:gd name="adj" fmla="val 16667"/>
            </a:avLst>
          </a:prstGeom>
          <a:solidFill>
            <a:srgbClr val="2F5D50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實用</a:t>
            </a:r>
            <a:endParaRPr lang="en-US" sz="1100" dirty="0"/>
          </a:p>
        </p:txBody>
      </p:sp>
      <p:sp>
        <p:nvSpPr>
          <p:cNvPr id="31" name="標籤"/>
          <p:cNvSpPr/>
          <p:nvPr/>
        </p:nvSpPr>
        <p:spPr>
          <a:xfrm>
            <a:off x="6549136" y="4544568"/>
            <a:ext cx="517144" cy="274320"/>
          </a:xfrm>
          <a:prstGeom prst="roundRect">
            <a:avLst>
              <a:gd name="adj" fmla="val 16667"/>
            </a:avLst>
          </a:prstGeom>
          <a:solidFill>
            <a:srgbClr val="DFDFDF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好記</a:t>
            </a:r>
            <a:endParaRPr lang="en-US" sz="1100" dirty="0"/>
          </a:p>
        </p:txBody>
      </p:sp>
      <p:sp>
        <p:nvSpPr>
          <p:cNvPr id="32" name="標籤"/>
          <p:cNvSpPr/>
          <p:nvPr/>
        </p:nvSpPr>
        <p:spPr>
          <a:xfrm>
            <a:off x="7975600" y="4544568"/>
            <a:ext cx="517144" cy="274320"/>
          </a:xfrm>
          <a:prstGeom prst="roundRect">
            <a:avLst>
              <a:gd name="adj" fmla="val 16667"/>
            </a:avLst>
          </a:prstGeom>
          <a:solidFill>
            <a:srgbClr val="DFDFDF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可信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6972300" y="237744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具體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6972300" y="539496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抽象</a:t>
            </a:r>
            <a:endParaRPr lang="en-US" sz="1100" dirty="0"/>
          </a:p>
        </p:txBody>
      </p:sp>
      <p:sp>
        <p:nvSpPr>
          <p:cNvPr id="35" name="Text 33"/>
          <p:cNvSpPr/>
          <p:nvPr/>
        </p:nvSpPr>
        <p:spPr>
          <a:xfrm>
            <a:off x="6126480" y="3886200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感性</a:t>
            </a:r>
            <a:endParaRPr lang="en-US" sz="1100" dirty="0"/>
          </a:p>
        </p:txBody>
      </p:sp>
      <p:sp>
        <p:nvSpPr>
          <p:cNvPr id="36" name="Text 34"/>
          <p:cNvSpPr/>
          <p:nvPr/>
        </p:nvSpPr>
        <p:spPr>
          <a:xfrm>
            <a:off x="8503920" y="3886200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理性</a:t>
            </a:r>
            <a:endParaRPr lang="en-US" sz="1100" dirty="0"/>
          </a:p>
        </p:txBody>
      </p:sp>
      <p:sp>
        <p:nvSpPr>
          <p:cNvPr id="37" name="Text 35"/>
          <p:cNvSpPr/>
          <p:nvPr/>
        </p:nvSpPr>
        <p:spPr>
          <a:xfrm>
            <a:off x="9235440" y="1879092"/>
            <a:ext cx="100584" cy="100584"/>
          </a:xfrm>
          <a:prstGeom prst="rect">
            <a:avLst/>
          </a:prstGeom>
          <a:solidFill>
            <a:srgbClr val="C9A22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8" name="Text 36"/>
          <p:cNvSpPr/>
          <p:nvPr/>
        </p:nvSpPr>
        <p:spPr>
          <a:xfrm>
            <a:off x="9436608" y="1783080"/>
            <a:ext cx="2206447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寬欄透明條 Columns</a:t>
            </a:r>
            <a:endParaRPr lang="en-US" sz="1300" dirty="0"/>
          </a:p>
        </p:txBody>
      </p:sp>
      <p:sp>
        <p:nvSpPr>
          <p:cNvPr id="39" name="線條"/>
          <p:cNvSpPr/>
          <p:nvPr/>
        </p:nvSpPr>
        <p:spPr>
          <a:xfrm>
            <a:off x="9235440" y="2167128"/>
            <a:ext cx="2407615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9966960" y="2286000"/>
            <a:ext cx="9326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輸入</a:t>
            </a:r>
            <a:endParaRPr lang="en-US" sz="1100" dirty="0"/>
          </a:p>
        </p:txBody>
      </p:sp>
      <p:sp>
        <p:nvSpPr>
          <p:cNvPr id="41" name="Text 39"/>
          <p:cNvSpPr/>
          <p:nvPr/>
        </p:nvSpPr>
        <p:spPr>
          <a:xfrm>
            <a:off x="10744200" y="2286000"/>
            <a:ext cx="9326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輸出</a:t>
            </a:r>
            <a:endParaRPr lang="en-US" sz="1100" dirty="0"/>
          </a:p>
        </p:txBody>
      </p:sp>
      <p:sp>
        <p:nvSpPr>
          <p:cNvPr id="42" name="寬欄條"/>
          <p:cNvSpPr/>
          <p:nvPr/>
        </p:nvSpPr>
        <p:spPr>
          <a:xfrm>
            <a:off x="10149840" y="2606040"/>
            <a:ext cx="566928" cy="3108960"/>
          </a:xfrm>
          <a:prstGeom prst="roundRect">
            <a:avLst>
              <a:gd name="adj" fmla="val 19355"/>
            </a:avLst>
          </a:prstGeom>
          <a:solidFill>
            <a:srgbClr val="A6A6A6">
              <a:alpha val="38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3" name="寬欄條"/>
          <p:cNvSpPr/>
          <p:nvPr/>
        </p:nvSpPr>
        <p:spPr>
          <a:xfrm>
            <a:off x="10927080" y="2606040"/>
            <a:ext cx="566928" cy="3108960"/>
          </a:xfrm>
          <a:prstGeom prst="roundRect">
            <a:avLst>
              <a:gd name="adj" fmla="val 19355"/>
            </a:avLst>
          </a:prstGeom>
          <a:solidFill>
            <a:srgbClr val="A6A6A6">
              <a:alpha val="38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4" name="Text 42"/>
          <p:cNvSpPr/>
          <p:nvPr/>
        </p:nvSpPr>
        <p:spPr>
          <a:xfrm>
            <a:off x="9235440" y="3044952"/>
            <a:ext cx="822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階段一</a:t>
            </a:r>
            <a:endParaRPr lang="en-US" sz="1100" dirty="0"/>
          </a:p>
        </p:txBody>
      </p:sp>
      <p:sp>
        <p:nvSpPr>
          <p:cNvPr id="45" name="編號"/>
          <p:cNvSpPr/>
          <p:nvPr/>
        </p:nvSpPr>
        <p:spPr>
          <a:xfrm>
            <a:off x="10222992" y="2990088"/>
            <a:ext cx="420624" cy="420624"/>
          </a:xfrm>
          <a:prstGeom prst="roundRect">
            <a:avLst>
              <a:gd name="adj" fmla="val 13043"/>
            </a:avLst>
          </a:prstGeom>
          <a:solidFill>
            <a:srgbClr val="2F5D5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看</a:t>
            </a:r>
            <a:endParaRPr lang="en-US" sz="1300" dirty="0"/>
          </a:p>
        </p:txBody>
      </p:sp>
      <p:sp>
        <p:nvSpPr>
          <p:cNvPr id="46" name="編號"/>
          <p:cNvSpPr/>
          <p:nvPr/>
        </p:nvSpPr>
        <p:spPr>
          <a:xfrm>
            <a:off x="11000232" y="2990088"/>
            <a:ext cx="420624" cy="420624"/>
          </a:xfrm>
          <a:prstGeom prst="roundRect">
            <a:avLst>
              <a:gd name="adj" fmla="val 13043"/>
            </a:avLst>
          </a:prstGeom>
          <a:solidFill>
            <a:srgbClr val="2F5D5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練</a:t>
            </a:r>
            <a:endParaRPr lang="en-US" sz="1300" dirty="0"/>
          </a:p>
        </p:txBody>
      </p:sp>
      <p:sp>
        <p:nvSpPr>
          <p:cNvPr id="47" name="Text 45"/>
          <p:cNvSpPr/>
          <p:nvPr/>
        </p:nvSpPr>
        <p:spPr>
          <a:xfrm>
            <a:off x="9235440" y="4005072"/>
            <a:ext cx="822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階段二</a:t>
            </a:r>
            <a:endParaRPr lang="en-US" sz="1100" dirty="0"/>
          </a:p>
        </p:txBody>
      </p:sp>
      <p:sp>
        <p:nvSpPr>
          <p:cNvPr id="48" name="編號"/>
          <p:cNvSpPr/>
          <p:nvPr/>
        </p:nvSpPr>
        <p:spPr>
          <a:xfrm>
            <a:off x="10222992" y="3950208"/>
            <a:ext cx="420624" cy="420624"/>
          </a:xfrm>
          <a:prstGeom prst="roundRect">
            <a:avLst>
              <a:gd name="adj" fmla="val 13043"/>
            </a:avLst>
          </a:prstGeom>
          <a:solidFill>
            <a:srgbClr val="2F5D5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問</a:t>
            </a:r>
            <a:endParaRPr lang="en-US" sz="1300" dirty="0"/>
          </a:p>
        </p:txBody>
      </p:sp>
      <p:sp>
        <p:nvSpPr>
          <p:cNvPr id="49" name="編號"/>
          <p:cNvSpPr/>
          <p:nvPr/>
        </p:nvSpPr>
        <p:spPr>
          <a:xfrm>
            <a:off x="11000232" y="3950208"/>
            <a:ext cx="420624" cy="420624"/>
          </a:xfrm>
          <a:prstGeom prst="roundRect">
            <a:avLst>
              <a:gd name="adj" fmla="val 13043"/>
            </a:avLst>
          </a:prstGeom>
          <a:solidFill>
            <a:srgbClr val="2F5D5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談</a:t>
            </a:r>
            <a:endParaRPr lang="en-US" sz="1300" dirty="0"/>
          </a:p>
        </p:txBody>
      </p:sp>
      <p:sp>
        <p:nvSpPr>
          <p:cNvPr id="50" name="Text 48"/>
          <p:cNvSpPr/>
          <p:nvPr/>
        </p:nvSpPr>
        <p:spPr>
          <a:xfrm>
            <a:off x="9235440" y="4965192"/>
            <a:ext cx="822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階段三</a:t>
            </a:r>
            <a:endParaRPr lang="en-US" sz="1100" dirty="0"/>
          </a:p>
        </p:txBody>
      </p:sp>
      <p:sp>
        <p:nvSpPr>
          <p:cNvPr id="51" name="編號"/>
          <p:cNvSpPr/>
          <p:nvPr/>
        </p:nvSpPr>
        <p:spPr>
          <a:xfrm>
            <a:off x="10222992" y="4910328"/>
            <a:ext cx="420624" cy="420624"/>
          </a:xfrm>
          <a:prstGeom prst="roundRect">
            <a:avLst>
              <a:gd name="adj" fmla="val 13043"/>
            </a:avLst>
          </a:prstGeom>
          <a:solidFill>
            <a:srgbClr val="2F5D5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想</a:t>
            </a:r>
            <a:endParaRPr lang="en-US" sz="1300" dirty="0"/>
          </a:p>
        </p:txBody>
      </p:sp>
      <p:sp>
        <p:nvSpPr>
          <p:cNvPr id="52" name="編號"/>
          <p:cNvSpPr/>
          <p:nvPr/>
        </p:nvSpPr>
        <p:spPr>
          <a:xfrm>
            <a:off x="11000232" y="4910328"/>
            <a:ext cx="420624" cy="420624"/>
          </a:xfrm>
          <a:prstGeom prst="roundRect">
            <a:avLst>
              <a:gd name="adj" fmla="val 13043"/>
            </a:avLst>
          </a:prstGeom>
          <a:solidFill>
            <a:srgbClr val="2F5D5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寫</a:t>
            </a:r>
            <a:endParaRPr lang="en-US" sz="1300" dirty="0"/>
          </a:p>
        </p:txBody>
      </p:sp>
      <p:sp>
        <p:nvSpPr>
          <p:cNvPr id="53" name="Text 51"/>
          <p:cNvSpPr/>
          <p:nvPr/>
        </p:nvSpPr>
        <p:spPr>
          <a:xfrm>
            <a:off x="548640" y="6309360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墨綠筆記</a:t>
            </a:r>
            <a:pPr algn="l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900" dirty="0"/>
          </a:p>
        </p:txBody>
      </p:sp>
      <p:sp>
        <p:nvSpPr>
          <p:cNvPr id="54" name="Text 52"/>
          <p:cNvSpPr/>
          <p:nvPr/>
        </p:nvSpPr>
        <p:spPr>
          <a:xfrm>
            <a:off x="10271455" y="6309360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08 / 11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畫布面板"/>
          <p:cNvSpPr/>
          <p:nvPr/>
        </p:nvSpPr>
        <p:spPr>
          <a:xfrm>
            <a:off x="228600" y="228600"/>
            <a:ext cx="11734495" cy="6400800"/>
          </a:xfrm>
          <a:prstGeom prst="roundRect">
            <a:avLst>
              <a:gd name="adj" fmla="val 857"/>
            </a:avLst>
          </a:prstGeom>
          <a:solidFill>
            <a:srgbClr val="F4F4F1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標題"/>
          <p:cNvSpPr/>
          <p:nvPr/>
        </p:nvSpPr>
        <p:spPr>
          <a:xfrm>
            <a:off x="548640" y="329184"/>
            <a:ext cx="100584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2F5D5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高效溝通：讓想法被看見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548640" y="1069848"/>
            <a:ext cx="3602736" cy="365760"/>
          </a:xfrm>
          <a:prstGeom prst="rect">
            <a:avLst/>
          </a:prstGeom>
          <a:solidFill>
            <a:srgbClr val="2F5D50"/>
          </a:solidFill>
          <a:ln/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關鍵在於把資訊整理成對方能理解的結構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4215384" y="1069848"/>
            <a:ext cx="109728" cy="365760"/>
          </a:xfrm>
          <a:prstGeom prst="rect">
            <a:avLst/>
          </a:prstGeom>
          <a:solidFill>
            <a:srgbClr val="C9A22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大圓"/>
          <p:cNvSpPr/>
          <p:nvPr/>
        </p:nvSpPr>
        <p:spPr>
          <a:xfrm>
            <a:off x="1208989" y="1828800"/>
            <a:ext cx="2377440" cy="2377440"/>
          </a:xfrm>
          <a:prstGeom prst="ellipse">
            <a:avLst/>
          </a:prstGeom>
          <a:solidFill>
            <a:srgbClr val="FFFFFF"/>
          </a:solidFill>
          <a:ln w="28575">
            <a:solidFill>
              <a:srgbClr val="BFBFBF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1208989" y="2137867"/>
            <a:ext cx="2377440" cy="7370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Why</a:t>
            </a:r>
            <a:endParaRPr lang="en-US" sz="3900" dirty="0"/>
          </a:p>
        </p:txBody>
      </p:sp>
      <p:sp>
        <p:nvSpPr>
          <p:cNvPr id="8" name="Text 6"/>
          <p:cNvSpPr/>
          <p:nvPr/>
        </p:nvSpPr>
        <p:spPr>
          <a:xfrm>
            <a:off x="1446733" y="2898648"/>
            <a:ext cx="1901952" cy="66568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500" b="1" dirty="0">
                <a:solidFill>
                  <a:srgbClr val="24483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為何要重視</a:t>
            </a:r>
            <a:endParaRPr lang="en-US" sz="15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500" b="1" dirty="0">
                <a:solidFill>
                  <a:srgbClr val="24483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溝通品質</a:t>
            </a:r>
            <a:endParaRPr lang="en-US" sz="1500" dirty="0"/>
          </a:p>
        </p:txBody>
      </p:sp>
      <p:sp>
        <p:nvSpPr>
          <p:cNvPr id="9" name="大圓"/>
          <p:cNvSpPr/>
          <p:nvPr/>
        </p:nvSpPr>
        <p:spPr>
          <a:xfrm>
            <a:off x="4907128" y="1828800"/>
            <a:ext cx="2377440" cy="2377440"/>
          </a:xfrm>
          <a:prstGeom prst="ellipse">
            <a:avLst/>
          </a:prstGeom>
          <a:solidFill>
            <a:srgbClr val="FFFFFF"/>
          </a:solidFill>
          <a:ln w="28575">
            <a:solidFill>
              <a:srgbClr val="BFBFBF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4907128" y="2137867"/>
            <a:ext cx="2377440" cy="7370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How</a:t>
            </a:r>
            <a:endParaRPr lang="en-US" sz="3900" dirty="0"/>
          </a:p>
        </p:txBody>
      </p:sp>
      <p:sp>
        <p:nvSpPr>
          <p:cNvPr id="11" name="Text 9"/>
          <p:cNvSpPr/>
          <p:nvPr/>
        </p:nvSpPr>
        <p:spPr>
          <a:xfrm>
            <a:off x="5144872" y="2898648"/>
            <a:ext cx="1901952" cy="66568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500" b="1" dirty="0">
                <a:solidFill>
                  <a:srgbClr val="24483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溝通的</a:t>
            </a:r>
            <a:endParaRPr lang="en-US" sz="15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500" b="1" dirty="0">
                <a:solidFill>
                  <a:srgbClr val="24483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三個關鍵</a:t>
            </a:r>
            <a:endParaRPr lang="en-US" sz="1500" dirty="0"/>
          </a:p>
        </p:txBody>
      </p:sp>
      <p:sp>
        <p:nvSpPr>
          <p:cNvPr id="12" name="大圓"/>
          <p:cNvSpPr/>
          <p:nvPr/>
        </p:nvSpPr>
        <p:spPr>
          <a:xfrm>
            <a:off x="8605266" y="1828800"/>
            <a:ext cx="2377440" cy="2377440"/>
          </a:xfrm>
          <a:prstGeom prst="ellipse">
            <a:avLst/>
          </a:prstGeom>
          <a:solidFill>
            <a:srgbClr val="FFFFFF"/>
          </a:solidFill>
          <a:ln w="28575">
            <a:solidFill>
              <a:srgbClr val="BFBFBF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" name="Text 11"/>
          <p:cNvSpPr/>
          <p:nvPr/>
        </p:nvSpPr>
        <p:spPr>
          <a:xfrm>
            <a:off x="8605266" y="2137867"/>
            <a:ext cx="2377440" cy="7370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What</a:t>
            </a:r>
            <a:endParaRPr lang="en-US" sz="3900" dirty="0"/>
          </a:p>
        </p:txBody>
      </p:sp>
      <p:sp>
        <p:nvSpPr>
          <p:cNvPr id="14" name="Text 12"/>
          <p:cNvSpPr/>
          <p:nvPr/>
        </p:nvSpPr>
        <p:spPr>
          <a:xfrm>
            <a:off x="8843010" y="2898648"/>
            <a:ext cx="1901952" cy="66568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500" b="1" dirty="0">
                <a:solidFill>
                  <a:srgbClr val="24483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呈現的</a:t>
            </a:r>
            <a:endParaRPr lang="en-US" sz="15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500" b="1" dirty="0">
                <a:solidFill>
                  <a:srgbClr val="24483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三個層次</a:t>
            </a:r>
            <a:endParaRPr lang="en-US" sz="1500" dirty="0"/>
          </a:p>
        </p:txBody>
      </p:sp>
      <p:sp>
        <p:nvSpPr>
          <p:cNvPr id="15" name="三角形"/>
          <p:cNvSpPr/>
          <p:nvPr/>
        </p:nvSpPr>
        <p:spPr>
          <a:xfrm>
            <a:off x="4038295" y="2946197"/>
            <a:ext cx="109728" cy="142646"/>
          </a:xfrm>
          <a:custGeom>
            <a:avLst/>
            <a:gdLst/>
            <a:ahLst/>
            <a:cxnLst/>
            <a:rect l="l" t="t" r="r" b="b"/>
            <a:pathLst>
              <a:path w="109728" h="142646">
                <a:moveTo>
                  <a:pt x="0" y="0"/>
                </a:moveTo>
                <a:lnTo>
                  <a:pt x="109728" y="71323"/>
                </a:lnTo>
                <a:lnTo>
                  <a:pt x="0" y="142646"/>
                </a:lnTo>
                <a:close/>
              </a:path>
            </a:pathLst>
          </a:custGeom>
          <a:solidFill>
            <a:srgbClr val="C9A22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三角形"/>
          <p:cNvSpPr/>
          <p:nvPr/>
        </p:nvSpPr>
        <p:spPr>
          <a:xfrm>
            <a:off x="4191914" y="2946197"/>
            <a:ext cx="109728" cy="142646"/>
          </a:xfrm>
          <a:custGeom>
            <a:avLst/>
            <a:gdLst/>
            <a:ahLst/>
            <a:cxnLst/>
            <a:rect l="l" t="t" r="r" b="b"/>
            <a:pathLst>
              <a:path w="109728" h="142646">
                <a:moveTo>
                  <a:pt x="0" y="0"/>
                </a:moveTo>
                <a:lnTo>
                  <a:pt x="109728" y="71323"/>
                </a:lnTo>
                <a:lnTo>
                  <a:pt x="0" y="142646"/>
                </a:lnTo>
                <a:close/>
              </a:path>
            </a:pathLst>
          </a:custGeom>
          <a:solidFill>
            <a:srgbClr val="C9A22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" name="三角形"/>
          <p:cNvSpPr/>
          <p:nvPr/>
        </p:nvSpPr>
        <p:spPr>
          <a:xfrm>
            <a:off x="4345534" y="2946197"/>
            <a:ext cx="109728" cy="142646"/>
          </a:xfrm>
          <a:custGeom>
            <a:avLst/>
            <a:gdLst/>
            <a:ahLst/>
            <a:cxnLst/>
            <a:rect l="l" t="t" r="r" b="b"/>
            <a:pathLst>
              <a:path w="109728" h="142646">
                <a:moveTo>
                  <a:pt x="0" y="0"/>
                </a:moveTo>
                <a:lnTo>
                  <a:pt x="109728" y="71323"/>
                </a:lnTo>
                <a:lnTo>
                  <a:pt x="0" y="142646"/>
                </a:lnTo>
                <a:close/>
              </a:path>
            </a:pathLst>
          </a:custGeom>
          <a:solidFill>
            <a:srgbClr val="C9A22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三角形"/>
          <p:cNvSpPr/>
          <p:nvPr/>
        </p:nvSpPr>
        <p:spPr>
          <a:xfrm>
            <a:off x="7736434" y="2946197"/>
            <a:ext cx="109728" cy="142646"/>
          </a:xfrm>
          <a:custGeom>
            <a:avLst/>
            <a:gdLst/>
            <a:ahLst/>
            <a:cxnLst/>
            <a:rect l="l" t="t" r="r" b="b"/>
            <a:pathLst>
              <a:path w="109728" h="142646">
                <a:moveTo>
                  <a:pt x="0" y="0"/>
                </a:moveTo>
                <a:lnTo>
                  <a:pt x="109728" y="71323"/>
                </a:lnTo>
                <a:lnTo>
                  <a:pt x="0" y="142646"/>
                </a:lnTo>
                <a:close/>
              </a:path>
            </a:pathLst>
          </a:custGeom>
          <a:solidFill>
            <a:srgbClr val="C9A22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" name="三角形"/>
          <p:cNvSpPr/>
          <p:nvPr/>
        </p:nvSpPr>
        <p:spPr>
          <a:xfrm>
            <a:off x="7890053" y="2946197"/>
            <a:ext cx="109728" cy="142646"/>
          </a:xfrm>
          <a:custGeom>
            <a:avLst/>
            <a:gdLst/>
            <a:ahLst/>
            <a:cxnLst/>
            <a:rect l="l" t="t" r="r" b="b"/>
            <a:pathLst>
              <a:path w="109728" h="142646">
                <a:moveTo>
                  <a:pt x="0" y="0"/>
                </a:moveTo>
                <a:lnTo>
                  <a:pt x="109728" y="71323"/>
                </a:lnTo>
                <a:lnTo>
                  <a:pt x="0" y="142646"/>
                </a:lnTo>
                <a:close/>
              </a:path>
            </a:pathLst>
          </a:custGeom>
          <a:solidFill>
            <a:srgbClr val="C9A22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0" name="三角形"/>
          <p:cNvSpPr/>
          <p:nvPr/>
        </p:nvSpPr>
        <p:spPr>
          <a:xfrm>
            <a:off x="8043672" y="2946197"/>
            <a:ext cx="109728" cy="142646"/>
          </a:xfrm>
          <a:custGeom>
            <a:avLst/>
            <a:gdLst/>
            <a:ahLst/>
            <a:cxnLst/>
            <a:rect l="l" t="t" r="r" b="b"/>
            <a:pathLst>
              <a:path w="109728" h="142646">
                <a:moveTo>
                  <a:pt x="0" y="0"/>
                </a:moveTo>
                <a:lnTo>
                  <a:pt x="109728" y="71323"/>
                </a:lnTo>
                <a:lnTo>
                  <a:pt x="0" y="142646"/>
                </a:lnTo>
                <a:close/>
              </a:path>
            </a:pathLst>
          </a:custGeom>
          <a:solidFill>
            <a:srgbClr val="C9A22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1" name="小圓"/>
          <p:cNvSpPr/>
          <p:nvPr/>
        </p:nvSpPr>
        <p:spPr>
          <a:xfrm>
            <a:off x="4780734" y="3367150"/>
            <a:ext cx="731520" cy="731520"/>
          </a:xfrm>
          <a:prstGeom prst="ellipse">
            <a:avLst/>
          </a:prstGeom>
          <a:solidFill>
            <a:srgbClr val="2F5D5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觀察</a:t>
            </a:r>
            <a:endParaRPr lang="en-US" sz="1600" dirty="0"/>
          </a:p>
        </p:txBody>
      </p:sp>
      <p:sp>
        <p:nvSpPr>
          <p:cNvPr id="22" name="小圓"/>
          <p:cNvSpPr/>
          <p:nvPr/>
        </p:nvSpPr>
        <p:spPr>
          <a:xfrm>
            <a:off x="5730088" y="3840480"/>
            <a:ext cx="731520" cy="731520"/>
          </a:xfrm>
          <a:prstGeom prst="ellipse">
            <a:avLst/>
          </a:prstGeom>
          <a:solidFill>
            <a:srgbClr val="2F5D5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分析</a:t>
            </a:r>
            <a:endParaRPr lang="en-US" sz="1600" dirty="0"/>
          </a:p>
        </p:txBody>
      </p:sp>
      <p:sp>
        <p:nvSpPr>
          <p:cNvPr id="23" name="小圓"/>
          <p:cNvSpPr/>
          <p:nvPr/>
        </p:nvSpPr>
        <p:spPr>
          <a:xfrm>
            <a:off x="6679442" y="3367150"/>
            <a:ext cx="731520" cy="731520"/>
          </a:xfrm>
          <a:prstGeom prst="ellipse">
            <a:avLst/>
          </a:prstGeom>
          <a:solidFill>
            <a:srgbClr val="2F5D5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表達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4762446" y="4709160"/>
            <a:ext cx="8686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① 蒐集</a:t>
            </a:r>
            <a:endParaRPr lang="en-US" sz="115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② 篩選</a:t>
            </a:r>
            <a:endParaRPr lang="en-US" sz="115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③ 歸納</a:t>
            </a:r>
            <a:endParaRPr lang="en-US" sz="1150" dirty="0"/>
          </a:p>
        </p:txBody>
      </p:sp>
      <p:sp>
        <p:nvSpPr>
          <p:cNvPr id="25" name="Text 23"/>
          <p:cNvSpPr/>
          <p:nvPr/>
        </p:nvSpPr>
        <p:spPr>
          <a:xfrm>
            <a:off x="5711800" y="4709160"/>
            <a:ext cx="8686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① 比較</a:t>
            </a:r>
            <a:endParaRPr lang="en-US" sz="115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② 拆解</a:t>
            </a:r>
            <a:endParaRPr lang="en-US" sz="115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③ 連結</a:t>
            </a:r>
            <a:endParaRPr lang="en-US" sz="1150" dirty="0"/>
          </a:p>
        </p:txBody>
      </p:sp>
      <p:sp>
        <p:nvSpPr>
          <p:cNvPr id="26" name="Text 24"/>
          <p:cNvSpPr/>
          <p:nvPr/>
        </p:nvSpPr>
        <p:spPr>
          <a:xfrm>
            <a:off x="6661154" y="4709160"/>
            <a:ext cx="8686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① 聚焦</a:t>
            </a:r>
            <a:endParaRPr lang="en-US" sz="115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② 排序</a:t>
            </a:r>
            <a:endParaRPr lang="en-US" sz="115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③ 呈現</a:t>
            </a:r>
            <a:endParaRPr lang="en-US" sz="1150" dirty="0"/>
          </a:p>
        </p:txBody>
      </p:sp>
      <p:sp>
        <p:nvSpPr>
          <p:cNvPr id="27" name="標籤"/>
          <p:cNvSpPr/>
          <p:nvPr/>
        </p:nvSpPr>
        <p:spPr>
          <a:xfrm>
            <a:off x="1346149" y="4572000"/>
            <a:ext cx="2103120" cy="384048"/>
          </a:xfrm>
          <a:prstGeom prst="roundRect">
            <a:avLst>
              <a:gd name="adj" fmla="val 11905"/>
            </a:avLst>
          </a:prstGeom>
          <a:solidFill>
            <a:srgbClr val="2F5D50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節省理解時間</a:t>
            </a:r>
            <a:endParaRPr lang="en-US" sz="1300" dirty="0"/>
          </a:p>
        </p:txBody>
      </p:sp>
      <p:sp>
        <p:nvSpPr>
          <p:cNvPr id="28" name="標籤"/>
          <p:cNvSpPr/>
          <p:nvPr/>
        </p:nvSpPr>
        <p:spPr>
          <a:xfrm>
            <a:off x="1346149" y="5074920"/>
            <a:ext cx="2103120" cy="384048"/>
          </a:xfrm>
          <a:prstGeom prst="roundRect">
            <a:avLst>
              <a:gd name="adj" fmla="val 11905"/>
            </a:avLst>
          </a:prstGeom>
          <a:solidFill>
            <a:srgbClr val="2F5D50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對齊彼此認知</a:t>
            </a:r>
            <a:endParaRPr lang="en-US" sz="1300" dirty="0"/>
          </a:p>
        </p:txBody>
      </p:sp>
      <p:sp>
        <p:nvSpPr>
          <p:cNvPr id="29" name="標籤"/>
          <p:cNvSpPr/>
          <p:nvPr/>
        </p:nvSpPr>
        <p:spPr>
          <a:xfrm>
            <a:off x="1346149" y="5577840"/>
            <a:ext cx="2103120" cy="384048"/>
          </a:xfrm>
          <a:prstGeom prst="roundRect">
            <a:avLst>
              <a:gd name="adj" fmla="val 11905"/>
            </a:avLst>
          </a:prstGeom>
          <a:solidFill>
            <a:srgbClr val="2F5D50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提升決策效率</a:t>
            </a:r>
            <a:endParaRPr lang="en-US" sz="1300" dirty="0"/>
          </a:p>
        </p:txBody>
      </p:sp>
      <p:sp>
        <p:nvSpPr>
          <p:cNvPr id="30" name="標籤"/>
          <p:cNvSpPr/>
          <p:nvPr/>
        </p:nvSpPr>
        <p:spPr>
          <a:xfrm>
            <a:off x="8742426" y="4572000"/>
            <a:ext cx="2103120" cy="384048"/>
          </a:xfrm>
          <a:prstGeom prst="roundRect">
            <a:avLst>
              <a:gd name="adj" fmla="val 11905"/>
            </a:avLst>
          </a:prstGeom>
          <a:solidFill>
            <a:srgbClr val="2F5D50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資料</a:t>
            </a:r>
            <a:endParaRPr lang="en-US" sz="1300" dirty="0"/>
          </a:p>
        </p:txBody>
      </p:sp>
      <p:sp>
        <p:nvSpPr>
          <p:cNvPr id="31" name="標籤"/>
          <p:cNvSpPr/>
          <p:nvPr/>
        </p:nvSpPr>
        <p:spPr>
          <a:xfrm>
            <a:off x="8742426" y="5074920"/>
            <a:ext cx="2103120" cy="384048"/>
          </a:xfrm>
          <a:prstGeom prst="roundRect">
            <a:avLst>
              <a:gd name="adj" fmla="val 11905"/>
            </a:avLst>
          </a:prstGeom>
          <a:solidFill>
            <a:srgbClr val="2F5D50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資訊</a:t>
            </a:r>
            <a:endParaRPr lang="en-US" sz="1300" dirty="0"/>
          </a:p>
        </p:txBody>
      </p:sp>
      <p:sp>
        <p:nvSpPr>
          <p:cNvPr id="32" name="標籤"/>
          <p:cNvSpPr/>
          <p:nvPr/>
        </p:nvSpPr>
        <p:spPr>
          <a:xfrm>
            <a:off x="8742426" y="5577840"/>
            <a:ext cx="2103120" cy="384048"/>
          </a:xfrm>
          <a:prstGeom prst="roundRect">
            <a:avLst>
              <a:gd name="adj" fmla="val 11905"/>
            </a:avLst>
          </a:prstGeom>
          <a:solidFill>
            <a:srgbClr val="2F5D50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洞見</a:t>
            </a:r>
            <a:endParaRPr lang="en-US" sz="1300" dirty="0"/>
          </a:p>
        </p:txBody>
      </p:sp>
      <p:sp>
        <p:nvSpPr>
          <p:cNvPr id="33" name="Text 31"/>
          <p:cNvSpPr/>
          <p:nvPr/>
        </p:nvSpPr>
        <p:spPr>
          <a:xfrm>
            <a:off x="548640" y="6016752"/>
            <a:ext cx="1109441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※ 三個圓依序回答 Why／How／What，中間的小圓拆出方法，左右兩側以清單補充</a:t>
            </a:r>
            <a:endParaRPr lang="en-US" sz="1050" dirty="0"/>
          </a:p>
        </p:txBody>
      </p:sp>
      <p:sp>
        <p:nvSpPr>
          <p:cNvPr id="34" name="Text 32"/>
          <p:cNvSpPr/>
          <p:nvPr/>
        </p:nvSpPr>
        <p:spPr>
          <a:xfrm>
            <a:off x="548640" y="6309360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墨綠筆記</a:t>
            </a:r>
            <a:pPr algn="l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10271455" y="6309360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09 / 11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畫布面板"/>
          <p:cNvSpPr/>
          <p:nvPr/>
        </p:nvSpPr>
        <p:spPr>
          <a:xfrm>
            <a:off x="228600" y="228600"/>
            <a:ext cx="11734495" cy="6400800"/>
          </a:xfrm>
          <a:prstGeom prst="roundRect">
            <a:avLst>
              <a:gd name="adj" fmla="val 857"/>
            </a:avLst>
          </a:prstGeom>
          <a:solidFill>
            <a:srgbClr val="F4F4F1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標題"/>
          <p:cNvSpPr/>
          <p:nvPr/>
        </p:nvSpPr>
        <p:spPr>
          <a:xfrm>
            <a:off x="548640" y="329184"/>
            <a:ext cx="100584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2F5D5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策略規劃框架地圖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548640" y="1069848"/>
            <a:ext cx="3247136" cy="365760"/>
          </a:xfrm>
          <a:prstGeom prst="rect">
            <a:avLst/>
          </a:prstGeom>
          <a:solidFill>
            <a:srgbClr val="2F5D50"/>
          </a:solidFill>
          <a:ln/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從現況、課題到行動方案的思考路徑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3859784" y="1069848"/>
            <a:ext cx="109728" cy="365760"/>
          </a:xfrm>
          <a:prstGeom prst="rect">
            <a:avLst/>
          </a:prstGeom>
          <a:solidFill>
            <a:srgbClr val="C9A22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卡片"/>
          <p:cNvSpPr/>
          <p:nvPr/>
        </p:nvSpPr>
        <p:spPr>
          <a:xfrm>
            <a:off x="548640" y="3931920"/>
            <a:ext cx="1882384" cy="841248"/>
          </a:xfrm>
          <a:prstGeom prst="roundRect">
            <a:avLst>
              <a:gd name="adj" fmla="val 13043"/>
            </a:avLst>
          </a:prstGeom>
          <a:solidFill>
            <a:srgbClr val="FFFFFF"/>
          </a:solidFill>
          <a:ln w="28575">
            <a:solidFill>
              <a:srgbClr val="BFBFBF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548640" y="3931920"/>
            <a:ext cx="1882384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2000" b="1" dirty="0">
                <a:solidFill>
                  <a:srgbClr val="24483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願景</a:t>
            </a:r>
            <a:endParaRPr lang="en-US" sz="140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Vision</a:t>
            </a:r>
            <a:endParaRPr lang="en-US" sz="1400" dirty="0"/>
          </a:p>
        </p:txBody>
      </p:sp>
      <p:sp>
        <p:nvSpPr>
          <p:cNvPr id="8" name="三角形"/>
          <p:cNvSpPr/>
          <p:nvPr/>
        </p:nvSpPr>
        <p:spPr>
          <a:xfrm>
            <a:off x="2467600" y="4293108"/>
            <a:ext cx="91440" cy="118872"/>
          </a:xfrm>
          <a:custGeom>
            <a:avLst/>
            <a:gdLst/>
            <a:ahLst/>
            <a:cxnLst/>
            <a:rect l="l" t="t" r="r" b="b"/>
            <a:pathLst>
              <a:path w="91440" h="118872">
                <a:moveTo>
                  <a:pt x="0" y="0"/>
                </a:moveTo>
                <a:lnTo>
                  <a:pt x="91440" y="59436"/>
                </a:lnTo>
                <a:lnTo>
                  <a:pt x="0" y="118872"/>
                </a:lnTo>
                <a:close/>
              </a:path>
            </a:pathLst>
          </a:custGeom>
          <a:solidFill>
            <a:srgbClr val="C9A22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三角形"/>
          <p:cNvSpPr/>
          <p:nvPr/>
        </p:nvSpPr>
        <p:spPr>
          <a:xfrm>
            <a:off x="2595616" y="4293108"/>
            <a:ext cx="91440" cy="118872"/>
          </a:xfrm>
          <a:custGeom>
            <a:avLst/>
            <a:gdLst/>
            <a:ahLst/>
            <a:cxnLst/>
            <a:rect l="l" t="t" r="r" b="b"/>
            <a:pathLst>
              <a:path w="91440" h="118872">
                <a:moveTo>
                  <a:pt x="0" y="0"/>
                </a:moveTo>
                <a:lnTo>
                  <a:pt x="91440" y="59436"/>
                </a:lnTo>
                <a:lnTo>
                  <a:pt x="0" y="118872"/>
                </a:lnTo>
                <a:close/>
              </a:path>
            </a:pathLst>
          </a:custGeom>
          <a:solidFill>
            <a:srgbClr val="C9A22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三角形"/>
          <p:cNvSpPr/>
          <p:nvPr/>
        </p:nvSpPr>
        <p:spPr>
          <a:xfrm>
            <a:off x="2723632" y="4293108"/>
            <a:ext cx="91440" cy="118872"/>
          </a:xfrm>
          <a:custGeom>
            <a:avLst/>
            <a:gdLst/>
            <a:ahLst/>
            <a:cxnLst/>
            <a:rect l="l" t="t" r="r" b="b"/>
            <a:pathLst>
              <a:path w="91440" h="118872">
                <a:moveTo>
                  <a:pt x="0" y="0"/>
                </a:moveTo>
                <a:lnTo>
                  <a:pt x="91440" y="59436"/>
                </a:lnTo>
                <a:lnTo>
                  <a:pt x="0" y="118872"/>
                </a:lnTo>
                <a:close/>
              </a:path>
            </a:pathLst>
          </a:custGeom>
          <a:solidFill>
            <a:srgbClr val="C9A22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卡片"/>
          <p:cNvSpPr/>
          <p:nvPr/>
        </p:nvSpPr>
        <p:spPr>
          <a:xfrm>
            <a:off x="2851648" y="3931920"/>
            <a:ext cx="1882384" cy="841248"/>
          </a:xfrm>
          <a:prstGeom prst="roundRect">
            <a:avLst>
              <a:gd name="adj" fmla="val 13043"/>
            </a:avLst>
          </a:prstGeom>
          <a:solidFill>
            <a:srgbClr val="FFFFFF"/>
          </a:solidFill>
          <a:ln w="28575">
            <a:solidFill>
              <a:srgbClr val="BFBFBF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" name="Text 10"/>
          <p:cNvSpPr/>
          <p:nvPr/>
        </p:nvSpPr>
        <p:spPr>
          <a:xfrm>
            <a:off x="2851648" y="3931920"/>
            <a:ext cx="1882384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2000" b="1" dirty="0">
                <a:solidFill>
                  <a:srgbClr val="24483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使命</a:t>
            </a:r>
            <a:endParaRPr lang="en-US" sz="140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Mission</a:t>
            </a:r>
            <a:endParaRPr lang="en-US" sz="1400" dirty="0"/>
          </a:p>
        </p:txBody>
      </p:sp>
      <p:sp>
        <p:nvSpPr>
          <p:cNvPr id="13" name="三角形"/>
          <p:cNvSpPr/>
          <p:nvPr/>
        </p:nvSpPr>
        <p:spPr>
          <a:xfrm>
            <a:off x="4770608" y="4293108"/>
            <a:ext cx="91440" cy="118872"/>
          </a:xfrm>
          <a:custGeom>
            <a:avLst/>
            <a:gdLst/>
            <a:ahLst/>
            <a:cxnLst/>
            <a:rect l="l" t="t" r="r" b="b"/>
            <a:pathLst>
              <a:path w="91440" h="118872">
                <a:moveTo>
                  <a:pt x="0" y="0"/>
                </a:moveTo>
                <a:lnTo>
                  <a:pt x="91440" y="59436"/>
                </a:lnTo>
                <a:lnTo>
                  <a:pt x="0" y="118872"/>
                </a:lnTo>
                <a:close/>
              </a:path>
            </a:pathLst>
          </a:custGeom>
          <a:solidFill>
            <a:srgbClr val="C9A22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" name="三角形"/>
          <p:cNvSpPr/>
          <p:nvPr/>
        </p:nvSpPr>
        <p:spPr>
          <a:xfrm>
            <a:off x="4898624" y="4293108"/>
            <a:ext cx="91440" cy="118872"/>
          </a:xfrm>
          <a:custGeom>
            <a:avLst/>
            <a:gdLst/>
            <a:ahLst/>
            <a:cxnLst/>
            <a:rect l="l" t="t" r="r" b="b"/>
            <a:pathLst>
              <a:path w="91440" h="118872">
                <a:moveTo>
                  <a:pt x="0" y="0"/>
                </a:moveTo>
                <a:lnTo>
                  <a:pt x="91440" y="59436"/>
                </a:lnTo>
                <a:lnTo>
                  <a:pt x="0" y="118872"/>
                </a:lnTo>
                <a:close/>
              </a:path>
            </a:pathLst>
          </a:custGeom>
          <a:solidFill>
            <a:srgbClr val="C9A22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5" name="三角形"/>
          <p:cNvSpPr/>
          <p:nvPr/>
        </p:nvSpPr>
        <p:spPr>
          <a:xfrm>
            <a:off x="5026640" y="4293108"/>
            <a:ext cx="91440" cy="118872"/>
          </a:xfrm>
          <a:custGeom>
            <a:avLst/>
            <a:gdLst/>
            <a:ahLst/>
            <a:cxnLst/>
            <a:rect l="l" t="t" r="r" b="b"/>
            <a:pathLst>
              <a:path w="91440" h="118872">
                <a:moveTo>
                  <a:pt x="0" y="0"/>
                </a:moveTo>
                <a:lnTo>
                  <a:pt x="91440" y="59436"/>
                </a:lnTo>
                <a:lnTo>
                  <a:pt x="0" y="118872"/>
                </a:lnTo>
                <a:close/>
              </a:path>
            </a:pathLst>
          </a:custGeom>
          <a:solidFill>
            <a:srgbClr val="C9A22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重點卡片"/>
          <p:cNvSpPr/>
          <p:nvPr/>
        </p:nvSpPr>
        <p:spPr>
          <a:xfrm>
            <a:off x="5154656" y="3931920"/>
            <a:ext cx="1882384" cy="841248"/>
          </a:xfrm>
          <a:prstGeom prst="roundRect">
            <a:avLst>
              <a:gd name="adj" fmla="val 13043"/>
            </a:avLst>
          </a:prstGeom>
          <a:solidFill>
            <a:srgbClr val="2F5D50"/>
          </a:solidFill>
          <a:ln/>
        </p:spPr>
        <p:txBody>
          <a:bodyPr wrap="square" lIns="38100" tIns="38100" rIns="38100" bIns="3810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2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目標</a:t>
            </a:r>
            <a:endParaRPr lang="en-US" sz="140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1000" dirty="0">
                <a:solidFill>
                  <a:srgbClr val="C1CEC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Objective</a:t>
            </a:r>
            <a:endParaRPr lang="en-US" sz="1400" dirty="0"/>
          </a:p>
        </p:txBody>
      </p:sp>
      <p:sp>
        <p:nvSpPr>
          <p:cNvPr id="17" name="三角形"/>
          <p:cNvSpPr/>
          <p:nvPr/>
        </p:nvSpPr>
        <p:spPr>
          <a:xfrm>
            <a:off x="7073616" y="4293108"/>
            <a:ext cx="91440" cy="118872"/>
          </a:xfrm>
          <a:custGeom>
            <a:avLst/>
            <a:gdLst/>
            <a:ahLst/>
            <a:cxnLst/>
            <a:rect l="l" t="t" r="r" b="b"/>
            <a:pathLst>
              <a:path w="91440" h="118872">
                <a:moveTo>
                  <a:pt x="0" y="0"/>
                </a:moveTo>
                <a:lnTo>
                  <a:pt x="91440" y="59436"/>
                </a:lnTo>
                <a:lnTo>
                  <a:pt x="0" y="118872"/>
                </a:lnTo>
                <a:close/>
              </a:path>
            </a:pathLst>
          </a:custGeom>
          <a:solidFill>
            <a:srgbClr val="C9A22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三角形"/>
          <p:cNvSpPr/>
          <p:nvPr/>
        </p:nvSpPr>
        <p:spPr>
          <a:xfrm>
            <a:off x="7201632" y="4293108"/>
            <a:ext cx="91440" cy="118872"/>
          </a:xfrm>
          <a:custGeom>
            <a:avLst/>
            <a:gdLst/>
            <a:ahLst/>
            <a:cxnLst/>
            <a:rect l="l" t="t" r="r" b="b"/>
            <a:pathLst>
              <a:path w="91440" h="118872">
                <a:moveTo>
                  <a:pt x="0" y="0"/>
                </a:moveTo>
                <a:lnTo>
                  <a:pt x="91440" y="59436"/>
                </a:lnTo>
                <a:lnTo>
                  <a:pt x="0" y="118872"/>
                </a:lnTo>
                <a:close/>
              </a:path>
            </a:pathLst>
          </a:custGeom>
          <a:solidFill>
            <a:srgbClr val="C9A22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" name="三角形"/>
          <p:cNvSpPr/>
          <p:nvPr/>
        </p:nvSpPr>
        <p:spPr>
          <a:xfrm>
            <a:off x="7329648" y="4293108"/>
            <a:ext cx="91440" cy="118872"/>
          </a:xfrm>
          <a:custGeom>
            <a:avLst/>
            <a:gdLst/>
            <a:ahLst/>
            <a:cxnLst/>
            <a:rect l="l" t="t" r="r" b="b"/>
            <a:pathLst>
              <a:path w="91440" h="118872">
                <a:moveTo>
                  <a:pt x="0" y="0"/>
                </a:moveTo>
                <a:lnTo>
                  <a:pt x="91440" y="59436"/>
                </a:lnTo>
                <a:lnTo>
                  <a:pt x="0" y="118872"/>
                </a:lnTo>
                <a:close/>
              </a:path>
            </a:pathLst>
          </a:custGeom>
          <a:solidFill>
            <a:srgbClr val="C9A22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0" name="卡片"/>
          <p:cNvSpPr/>
          <p:nvPr/>
        </p:nvSpPr>
        <p:spPr>
          <a:xfrm>
            <a:off x="7457664" y="3931920"/>
            <a:ext cx="1882384" cy="841248"/>
          </a:xfrm>
          <a:prstGeom prst="roundRect">
            <a:avLst>
              <a:gd name="adj" fmla="val 13043"/>
            </a:avLst>
          </a:prstGeom>
          <a:solidFill>
            <a:srgbClr val="FFFFFF"/>
          </a:solidFill>
          <a:ln w="28575">
            <a:solidFill>
              <a:srgbClr val="BFBFBF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1" name="Text 19"/>
          <p:cNvSpPr/>
          <p:nvPr/>
        </p:nvSpPr>
        <p:spPr>
          <a:xfrm>
            <a:off x="7457664" y="3931920"/>
            <a:ext cx="1882384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2000" b="1" dirty="0">
                <a:solidFill>
                  <a:srgbClr val="24483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策略</a:t>
            </a:r>
            <a:endParaRPr lang="en-US" sz="140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Strategy</a:t>
            </a:r>
            <a:endParaRPr lang="en-US" sz="1400" dirty="0"/>
          </a:p>
        </p:txBody>
      </p:sp>
      <p:sp>
        <p:nvSpPr>
          <p:cNvPr id="22" name="三角形"/>
          <p:cNvSpPr/>
          <p:nvPr/>
        </p:nvSpPr>
        <p:spPr>
          <a:xfrm>
            <a:off x="9376623" y="4293108"/>
            <a:ext cx="91440" cy="118872"/>
          </a:xfrm>
          <a:custGeom>
            <a:avLst/>
            <a:gdLst/>
            <a:ahLst/>
            <a:cxnLst/>
            <a:rect l="l" t="t" r="r" b="b"/>
            <a:pathLst>
              <a:path w="91440" h="118872">
                <a:moveTo>
                  <a:pt x="0" y="0"/>
                </a:moveTo>
                <a:lnTo>
                  <a:pt x="91440" y="59436"/>
                </a:lnTo>
                <a:lnTo>
                  <a:pt x="0" y="118872"/>
                </a:lnTo>
                <a:close/>
              </a:path>
            </a:pathLst>
          </a:custGeom>
          <a:solidFill>
            <a:srgbClr val="C9A22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3" name="三角形"/>
          <p:cNvSpPr/>
          <p:nvPr/>
        </p:nvSpPr>
        <p:spPr>
          <a:xfrm>
            <a:off x="9504639" y="4293108"/>
            <a:ext cx="91440" cy="118872"/>
          </a:xfrm>
          <a:custGeom>
            <a:avLst/>
            <a:gdLst/>
            <a:ahLst/>
            <a:cxnLst/>
            <a:rect l="l" t="t" r="r" b="b"/>
            <a:pathLst>
              <a:path w="91440" h="118872">
                <a:moveTo>
                  <a:pt x="0" y="0"/>
                </a:moveTo>
                <a:lnTo>
                  <a:pt x="91440" y="59436"/>
                </a:lnTo>
                <a:lnTo>
                  <a:pt x="0" y="118872"/>
                </a:lnTo>
                <a:close/>
              </a:path>
            </a:pathLst>
          </a:custGeom>
          <a:solidFill>
            <a:srgbClr val="C9A22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4" name="三角形"/>
          <p:cNvSpPr/>
          <p:nvPr/>
        </p:nvSpPr>
        <p:spPr>
          <a:xfrm>
            <a:off x="9632655" y="4293108"/>
            <a:ext cx="91440" cy="118872"/>
          </a:xfrm>
          <a:custGeom>
            <a:avLst/>
            <a:gdLst/>
            <a:ahLst/>
            <a:cxnLst/>
            <a:rect l="l" t="t" r="r" b="b"/>
            <a:pathLst>
              <a:path w="91440" h="118872">
                <a:moveTo>
                  <a:pt x="0" y="0"/>
                </a:moveTo>
                <a:lnTo>
                  <a:pt x="91440" y="59436"/>
                </a:lnTo>
                <a:lnTo>
                  <a:pt x="0" y="118872"/>
                </a:lnTo>
                <a:close/>
              </a:path>
            </a:pathLst>
          </a:custGeom>
          <a:solidFill>
            <a:srgbClr val="C9A22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5" name="卡片"/>
          <p:cNvSpPr/>
          <p:nvPr/>
        </p:nvSpPr>
        <p:spPr>
          <a:xfrm>
            <a:off x="9760671" y="3931920"/>
            <a:ext cx="1882384" cy="841248"/>
          </a:xfrm>
          <a:prstGeom prst="roundRect">
            <a:avLst>
              <a:gd name="adj" fmla="val 13043"/>
            </a:avLst>
          </a:prstGeom>
          <a:solidFill>
            <a:srgbClr val="FFFFFF"/>
          </a:solidFill>
          <a:ln w="28575">
            <a:solidFill>
              <a:srgbClr val="BFBFBF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6" name="Text 24"/>
          <p:cNvSpPr/>
          <p:nvPr/>
        </p:nvSpPr>
        <p:spPr>
          <a:xfrm>
            <a:off x="9760671" y="3931920"/>
            <a:ext cx="1882384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2000" b="1" dirty="0">
                <a:solidFill>
                  <a:srgbClr val="24483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戰術</a:t>
            </a:r>
            <a:endParaRPr lang="en-US" sz="140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Tactic</a:t>
            </a:r>
            <a:endParaRPr lang="en-US" sz="1400" dirty="0"/>
          </a:p>
        </p:txBody>
      </p:sp>
      <p:sp>
        <p:nvSpPr>
          <p:cNvPr id="27" name="卡片"/>
          <p:cNvSpPr/>
          <p:nvPr/>
        </p:nvSpPr>
        <p:spPr>
          <a:xfrm>
            <a:off x="5154656" y="1828800"/>
            <a:ext cx="1882384" cy="82296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28575">
            <a:solidFill>
              <a:srgbClr val="BFBFBF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8" name="Text 26"/>
          <p:cNvSpPr/>
          <p:nvPr/>
        </p:nvSpPr>
        <p:spPr>
          <a:xfrm>
            <a:off x="5154656" y="1828800"/>
            <a:ext cx="188238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2000" b="1" dirty="0">
                <a:solidFill>
                  <a:srgbClr val="24483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現況</a:t>
            </a:r>
            <a:endParaRPr lang="en-US" sz="140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Situation</a:t>
            </a:r>
            <a:endParaRPr lang="en-US" sz="1400" dirty="0"/>
          </a:p>
        </p:txBody>
      </p:sp>
      <p:sp>
        <p:nvSpPr>
          <p:cNvPr id="29" name="卡片"/>
          <p:cNvSpPr/>
          <p:nvPr/>
        </p:nvSpPr>
        <p:spPr>
          <a:xfrm>
            <a:off x="2668768" y="2788920"/>
            <a:ext cx="1543555" cy="658368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28575">
            <a:solidFill>
              <a:srgbClr val="BFBFBF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0" name="Text 28"/>
          <p:cNvSpPr/>
          <p:nvPr/>
        </p:nvSpPr>
        <p:spPr>
          <a:xfrm>
            <a:off x="2668768" y="2788920"/>
            <a:ext cx="15435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600" b="1" dirty="0">
                <a:solidFill>
                  <a:srgbClr val="24483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問題</a:t>
            </a:r>
            <a:endParaRPr lang="en-US" sz="140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Problem</a:t>
            </a:r>
            <a:endParaRPr lang="en-US" sz="1400" dirty="0"/>
          </a:p>
        </p:txBody>
      </p:sp>
      <p:sp>
        <p:nvSpPr>
          <p:cNvPr id="31" name="卡片"/>
          <p:cNvSpPr/>
          <p:nvPr/>
        </p:nvSpPr>
        <p:spPr>
          <a:xfrm>
            <a:off x="7979373" y="2788920"/>
            <a:ext cx="1543555" cy="658368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28575">
            <a:solidFill>
              <a:srgbClr val="BFBFBF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2" name="Text 30"/>
          <p:cNvSpPr/>
          <p:nvPr/>
        </p:nvSpPr>
        <p:spPr>
          <a:xfrm>
            <a:off x="7979373" y="2788920"/>
            <a:ext cx="15435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600" b="1" dirty="0">
                <a:solidFill>
                  <a:srgbClr val="24483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課題</a:t>
            </a:r>
            <a:endParaRPr lang="en-US" sz="140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Question</a:t>
            </a:r>
            <a:endParaRPr lang="en-US" sz="1400" dirty="0"/>
          </a:p>
        </p:txBody>
      </p:sp>
      <p:sp>
        <p:nvSpPr>
          <p:cNvPr id="33" name="曲線箭頭"/>
          <p:cNvSpPr/>
          <p:nvPr/>
        </p:nvSpPr>
        <p:spPr>
          <a:xfrm>
            <a:off x="3440545" y="2240280"/>
            <a:ext cx="1640958" cy="493776"/>
          </a:xfrm>
          <a:custGeom>
            <a:avLst/>
            <a:gdLst/>
            <a:ahLst/>
            <a:cxnLst/>
            <a:rect l="l" t="t" r="r" b="b"/>
            <a:pathLst>
              <a:path w="1640958" h="493776">
                <a:moveTo>
                  <a:pt x="0" y="493776"/>
                </a:moveTo>
                <a:cubicBezTo>
                  <a:pt x="0" y="0"/>
                  <a:pt x="274320" y="0"/>
                  <a:pt x="1640958" y="0"/>
                </a:cubicBezTo>
              </a:path>
            </a:pathLst>
          </a:custGeom>
          <a:ln w="19050">
            <a:solidFill>
              <a:srgbClr val="8C8C8C"/>
            </a:solidFill>
            <a:prstDash val="sysDash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4" name="曲線箭頭"/>
          <p:cNvSpPr/>
          <p:nvPr/>
        </p:nvSpPr>
        <p:spPr>
          <a:xfrm>
            <a:off x="7110192" y="2240280"/>
            <a:ext cx="1640958" cy="493776"/>
          </a:xfrm>
          <a:custGeom>
            <a:avLst/>
            <a:gdLst/>
            <a:ahLst/>
            <a:cxnLst/>
            <a:rect l="l" t="t" r="r" b="b"/>
            <a:pathLst>
              <a:path w="1640958" h="493776">
                <a:moveTo>
                  <a:pt x="0" y="0"/>
                </a:moveTo>
                <a:cubicBezTo>
                  <a:pt x="1366638" y="0"/>
                  <a:pt x="1640958" y="0"/>
                  <a:pt x="1640958" y="493776"/>
                </a:cubicBezTo>
              </a:path>
            </a:pathLst>
          </a:custGeom>
          <a:ln w="19050">
            <a:solidFill>
              <a:srgbClr val="8C8C8C"/>
            </a:solidFill>
            <a:prstDash val="sysDash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5" name="線條"/>
          <p:cNvSpPr/>
          <p:nvPr/>
        </p:nvSpPr>
        <p:spPr>
          <a:xfrm>
            <a:off x="4285475" y="3118104"/>
            <a:ext cx="3620746" cy="0"/>
          </a:xfrm>
          <a:prstGeom prst="line">
            <a:avLst/>
          </a:prstGeom>
          <a:noFill/>
          <a:ln w="19050">
            <a:solidFill>
              <a:srgbClr val="A6A6A6"/>
            </a:solidFill>
            <a:prstDash val="sysDash"/>
            <a:headEnd type="triangle"/>
            <a:tailEnd type="triangle"/>
          </a:ln>
        </p:spPr>
      </p:sp>
      <p:sp>
        <p:nvSpPr>
          <p:cNvPr id="36" name="編號"/>
          <p:cNvSpPr/>
          <p:nvPr/>
        </p:nvSpPr>
        <p:spPr>
          <a:xfrm>
            <a:off x="548640" y="1865376"/>
            <a:ext cx="310896" cy="310896"/>
          </a:xfrm>
          <a:prstGeom prst="roundRect">
            <a:avLst>
              <a:gd name="adj" fmla="val 17647"/>
            </a:avLst>
          </a:prstGeom>
          <a:solidFill>
            <a:srgbClr val="2F5D5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01</a:t>
            </a:r>
            <a:endParaRPr lang="en-US" sz="1100" dirty="0"/>
          </a:p>
        </p:txBody>
      </p:sp>
      <p:sp>
        <p:nvSpPr>
          <p:cNvPr id="37" name="編號"/>
          <p:cNvSpPr/>
          <p:nvPr/>
        </p:nvSpPr>
        <p:spPr>
          <a:xfrm>
            <a:off x="923544" y="1865376"/>
            <a:ext cx="310896" cy="310896"/>
          </a:xfrm>
          <a:prstGeom prst="roundRect">
            <a:avLst>
              <a:gd name="adj" fmla="val 17647"/>
            </a:avLst>
          </a:prstGeom>
          <a:solidFill>
            <a:srgbClr val="2F5D5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02</a:t>
            </a:r>
            <a:endParaRPr lang="en-US" sz="1100" dirty="0"/>
          </a:p>
        </p:txBody>
      </p:sp>
      <p:sp>
        <p:nvSpPr>
          <p:cNvPr id="38" name="標籤"/>
          <p:cNvSpPr/>
          <p:nvPr/>
        </p:nvSpPr>
        <p:spPr>
          <a:xfrm>
            <a:off x="1325880" y="1874520"/>
            <a:ext cx="804591" cy="292608"/>
          </a:xfrm>
          <a:prstGeom prst="roundRect">
            <a:avLst>
              <a:gd name="adj" fmla="val 15625"/>
            </a:avLst>
          </a:prstGeom>
          <a:solidFill>
            <a:srgbClr val="2F5D50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界定問題</a:t>
            </a:r>
            <a:endParaRPr lang="en-US" sz="1100" dirty="0"/>
          </a:p>
        </p:txBody>
      </p:sp>
      <p:sp>
        <p:nvSpPr>
          <p:cNvPr id="39" name="編號"/>
          <p:cNvSpPr/>
          <p:nvPr/>
        </p:nvSpPr>
        <p:spPr>
          <a:xfrm>
            <a:off x="548640" y="2322576"/>
            <a:ext cx="310896" cy="310896"/>
          </a:xfrm>
          <a:prstGeom prst="roundRect">
            <a:avLst>
              <a:gd name="adj" fmla="val 17647"/>
            </a:avLst>
          </a:prstGeom>
          <a:solidFill>
            <a:srgbClr val="2F5D5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03</a:t>
            </a:r>
            <a:endParaRPr lang="en-US" sz="1100" dirty="0"/>
          </a:p>
        </p:txBody>
      </p:sp>
      <p:sp>
        <p:nvSpPr>
          <p:cNvPr id="40" name="編號"/>
          <p:cNvSpPr/>
          <p:nvPr/>
        </p:nvSpPr>
        <p:spPr>
          <a:xfrm>
            <a:off x="923544" y="2322576"/>
            <a:ext cx="310896" cy="310896"/>
          </a:xfrm>
          <a:prstGeom prst="roundRect">
            <a:avLst>
              <a:gd name="adj" fmla="val 17647"/>
            </a:avLst>
          </a:prstGeom>
          <a:solidFill>
            <a:srgbClr val="2F5D5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04</a:t>
            </a:r>
            <a:endParaRPr lang="en-US" sz="1100" dirty="0"/>
          </a:p>
        </p:txBody>
      </p:sp>
      <p:sp>
        <p:nvSpPr>
          <p:cNvPr id="41" name="標籤"/>
          <p:cNvSpPr/>
          <p:nvPr/>
        </p:nvSpPr>
        <p:spPr>
          <a:xfrm>
            <a:off x="1325880" y="2331720"/>
            <a:ext cx="804591" cy="292608"/>
          </a:xfrm>
          <a:prstGeom prst="roundRect">
            <a:avLst>
              <a:gd name="adj" fmla="val 15625"/>
            </a:avLst>
          </a:prstGeom>
          <a:solidFill>
            <a:srgbClr val="2F5D50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排序優先</a:t>
            </a:r>
            <a:endParaRPr lang="en-US" sz="1100" dirty="0"/>
          </a:p>
        </p:txBody>
      </p:sp>
      <p:sp>
        <p:nvSpPr>
          <p:cNvPr id="42" name="編號"/>
          <p:cNvSpPr/>
          <p:nvPr/>
        </p:nvSpPr>
        <p:spPr>
          <a:xfrm>
            <a:off x="9669231" y="1865376"/>
            <a:ext cx="310896" cy="310896"/>
          </a:xfrm>
          <a:prstGeom prst="roundRect">
            <a:avLst>
              <a:gd name="adj" fmla="val 17647"/>
            </a:avLst>
          </a:prstGeom>
          <a:solidFill>
            <a:srgbClr val="2F5D5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05</a:t>
            </a:r>
            <a:endParaRPr lang="en-US" sz="1100" dirty="0"/>
          </a:p>
        </p:txBody>
      </p:sp>
      <p:sp>
        <p:nvSpPr>
          <p:cNvPr id="43" name="編號"/>
          <p:cNvSpPr/>
          <p:nvPr/>
        </p:nvSpPr>
        <p:spPr>
          <a:xfrm>
            <a:off x="10044135" y="1865376"/>
            <a:ext cx="310896" cy="310896"/>
          </a:xfrm>
          <a:prstGeom prst="roundRect">
            <a:avLst>
              <a:gd name="adj" fmla="val 17647"/>
            </a:avLst>
          </a:prstGeom>
          <a:solidFill>
            <a:srgbClr val="2F5D5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06</a:t>
            </a:r>
            <a:endParaRPr lang="en-US" sz="1100" dirty="0"/>
          </a:p>
        </p:txBody>
      </p:sp>
      <p:sp>
        <p:nvSpPr>
          <p:cNvPr id="44" name="標籤"/>
          <p:cNvSpPr/>
          <p:nvPr/>
        </p:nvSpPr>
        <p:spPr>
          <a:xfrm>
            <a:off x="10446471" y="1874520"/>
            <a:ext cx="804591" cy="292608"/>
          </a:xfrm>
          <a:prstGeom prst="roundRect">
            <a:avLst>
              <a:gd name="adj" fmla="val 15625"/>
            </a:avLst>
          </a:prstGeom>
          <a:solidFill>
            <a:srgbClr val="DFDFDF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設定目標</a:t>
            </a:r>
            <a:endParaRPr lang="en-US" sz="1100" dirty="0"/>
          </a:p>
        </p:txBody>
      </p:sp>
      <p:sp>
        <p:nvSpPr>
          <p:cNvPr id="45" name="編號"/>
          <p:cNvSpPr/>
          <p:nvPr/>
        </p:nvSpPr>
        <p:spPr>
          <a:xfrm>
            <a:off x="9669231" y="2322576"/>
            <a:ext cx="310896" cy="310896"/>
          </a:xfrm>
          <a:prstGeom prst="roundRect">
            <a:avLst>
              <a:gd name="adj" fmla="val 17647"/>
            </a:avLst>
          </a:prstGeom>
          <a:solidFill>
            <a:srgbClr val="2F5D5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07</a:t>
            </a:r>
            <a:endParaRPr lang="en-US" sz="1100" dirty="0"/>
          </a:p>
        </p:txBody>
      </p:sp>
      <p:sp>
        <p:nvSpPr>
          <p:cNvPr id="46" name="編號"/>
          <p:cNvSpPr/>
          <p:nvPr/>
        </p:nvSpPr>
        <p:spPr>
          <a:xfrm>
            <a:off x="10044135" y="2322576"/>
            <a:ext cx="310896" cy="310896"/>
          </a:xfrm>
          <a:prstGeom prst="roundRect">
            <a:avLst>
              <a:gd name="adj" fmla="val 17647"/>
            </a:avLst>
          </a:prstGeom>
          <a:solidFill>
            <a:srgbClr val="2F5D5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08</a:t>
            </a:r>
            <a:endParaRPr lang="en-US" sz="1100" dirty="0"/>
          </a:p>
        </p:txBody>
      </p:sp>
      <p:sp>
        <p:nvSpPr>
          <p:cNvPr id="47" name="標籤"/>
          <p:cNvSpPr/>
          <p:nvPr/>
        </p:nvSpPr>
        <p:spPr>
          <a:xfrm>
            <a:off x="10446471" y="2331720"/>
            <a:ext cx="804591" cy="292608"/>
          </a:xfrm>
          <a:prstGeom prst="roundRect">
            <a:avLst>
              <a:gd name="adj" fmla="val 15625"/>
            </a:avLst>
          </a:prstGeom>
          <a:solidFill>
            <a:srgbClr val="DFDFDF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規劃路徑</a:t>
            </a:r>
            <a:endParaRPr lang="en-US" sz="1100" dirty="0"/>
          </a:p>
        </p:txBody>
      </p:sp>
      <p:sp>
        <p:nvSpPr>
          <p:cNvPr id="48" name="卡片"/>
          <p:cNvSpPr/>
          <p:nvPr/>
        </p:nvSpPr>
        <p:spPr>
          <a:xfrm>
            <a:off x="548640" y="5074920"/>
            <a:ext cx="11094415" cy="54864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28575">
            <a:solidFill>
              <a:srgbClr val="BFBFBF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9" name="Text 47"/>
          <p:cNvSpPr/>
          <p:nvPr/>
        </p:nvSpPr>
        <p:spPr>
          <a:xfrm>
            <a:off x="548640" y="5074920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組織</a:t>
            </a:r>
            <a:pPr algn="ctr" indent="0" marL="0">
              <a:buNone/>
            </a:pPr>
            <a:r>
              <a:rPr lang="en-US" sz="11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Organization</a:t>
            </a:r>
            <a:endParaRPr lang="en-US" sz="1400" dirty="0"/>
          </a:p>
        </p:txBody>
      </p:sp>
      <p:sp>
        <p:nvSpPr>
          <p:cNvPr id="50" name="編號"/>
          <p:cNvSpPr/>
          <p:nvPr/>
        </p:nvSpPr>
        <p:spPr>
          <a:xfrm>
            <a:off x="1144527" y="5815584"/>
            <a:ext cx="310896" cy="310896"/>
          </a:xfrm>
          <a:prstGeom prst="roundRect">
            <a:avLst>
              <a:gd name="adj" fmla="val 17647"/>
            </a:avLst>
          </a:prstGeom>
          <a:solidFill>
            <a:srgbClr val="2F5D5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09</a:t>
            </a:r>
            <a:endParaRPr lang="en-US" sz="1100" dirty="0"/>
          </a:p>
        </p:txBody>
      </p:sp>
      <p:sp>
        <p:nvSpPr>
          <p:cNvPr id="51" name="編號"/>
          <p:cNvSpPr/>
          <p:nvPr/>
        </p:nvSpPr>
        <p:spPr>
          <a:xfrm>
            <a:off x="1519431" y="5815584"/>
            <a:ext cx="310896" cy="310896"/>
          </a:xfrm>
          <a:prstGeom prst="roundRect">
            <a:avLst>
              <a:gd name="adj" fmla="val 17647"/>
            </a:avLst>
          </a:prstGeom>
          <a:solidFill>
            <a:srgbClr val="2F5D5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10</a:t>
            </a:r>
            <a:endParaRPr lang="en-US" sz="1100" dirty="0"/>
          </a:p>
        </p:txBody>
      </p:sp>
      <p:sp>
        <p:nvSpPr>
          <p:cNvPr id="52" name="標籤"/>
          <p:cNvSpPr/>
          <p:nvPr/>
        </p:nvSpPr>
        <p:spPr>
          <a:xfrm>
            <a:off x="1921767" y="5824728"/>
            <a:ext cx="804591" cy="292608"/>
          </a:xfrm>
          <a:prstGeom prst="roundRect">
            <a:avLst>
              <a:gd name="adj" fmla="val 15625"/>
            </a:avLst>
          </a:prstGeom>
          <a:solidFill>
            <a:srgbClr val="2F5D50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凝聚共識</a:t>
            </a:r>
            <a:endParaRPr lang="en-US" sz="1100" dirty="0"/>
          </a:p>
        </p:txBody>
      </p:sp>
      <p:sp>
        <p:nvSpPr>
          <p:cNvPr id="53" name="編號"/>
          <p:cNvSpPr/>
          <p:nvPr/>
        </p:nvSpPr>
        <p:spPr>
          <a:xfrm>
            <a:off x="3918130" y="5815584"/>
            <a:ext cx="310896" cy="310896"/>
          </a:xfrm>
          <a:prstGeom prst="roundRect">
            <a:avLst>
              <a:gd name="adj" fmla="val 17647"/>
            </a:avLst>
          </a:prstGeom>
          <a:solidFill>
            <a:srgbClr val="2F5D5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11</a:t>
            </a:r>
            <a:endParaRPr lang="en-US" sz="1100" dirty="0"/>
          </a:p>
        </p:txBody>
      </p:sp>
      <p:sp>
        <p:nvSpPr>
          <p:cNvPr id="54" name="編號"/>
          <p:cNvSpPr/>
          <p:nvPr/>
        </p:nvSpPr>
        <p:spPr>
          <a:xfrm>
            <a:off x="4293034" y="5815584"/>
            <a:ext cx="310896" cy="310896"/>
          </a:xfrm>
          <a:prstGeom prst="roundRect">
            <a:avLst>
              <a:gd name="adj" fmla="val 17647"/>
            </a:avLst>
          </a:prstGeom>
          <a:solidFill>
            <a:srgbClr val="2F5D5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12</a:t>
            </a:r>
            <a:endParaRPr lang="en-US" sz="1100" dirty="0"/>
          </a:p>
        </p:txBody>
      </p:sp>
      <p:sp>
        <p:nvSpPr>
          <p:cNvPr id="55" name="標籤"/>
          <p:cNvSpPr/>
          <p:nvPr/>
        </p:nvSpPr>
        <p:spPr>
          <a:xfrm>
            <a:off x="4695370" y="5824728"/>
            <a:ext cx="804591" cy="292608"/>
          </a:xfrm>
          <a:prstGeom prst="roundRect">
            <a:avLst>
              <a:gd name="adj" fmla="val 15625"/>
            </a:avLst>
          </a:prstGeom>
          <a:solidFill>
            <a:srgbClr val="DFDFDF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提升能力</a:t>
            </a:r>
            <a:endParaRPr lang="en-US" sz="1100" dirty="0"/>
          </a:p>
        </p:txBody>
      </p:sp>
      <p:sp>
        <p:nvSpPr>
          <p:cNvPr id="56" name="編號"/>
          <p:cNvSpPr/>
          <p:nvPr/>
        </p:nvSpPr>
        <p:spPr>
          <a:xfrm>
            <a:off x="6879186" y="5815584"/>
            <a:ext cx="310896" cy="310896"/>
          </a:xfrm>
          <a:prstGeom prst="roundRect">
            <a:avLst>
              <a:gd name="adj" fmla="val 17647"/>
            </a:avLst>
          </a:prstGeom>
          <a:solidFill>
            <a:srgbClr val="2F5D5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13</a:t>
            </a:r>
            <a:endParaRPr lang="en-US" sz="1100" dirty="0"/>
          </a:p>
        </p:txBody>
      </p:sp>
      <p:sp>
        <p:nvSpPr>
          <p:cNvPr id="57" name="標籤"/>
          <p:cNvSpPr/>
          <p:nvPr/>
        </p:nvSpPr>
        <p:spPr>
          <a:xfrm>
            <a:off x="7281522" y="5824728"/>
            <a:ext cx="804591" cy="292608"/>
          </a:xfrm>
          <a:prstGeom prst="roundRect">
            <a:avLst>
              <a:gd name="adj" fmla="val 15625"/>
            </a:avLst>
          </a:prstGeom>
          <a:solidFill>
            <a:srgbClr val="2F5D50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資訊透明</a:t>
            </a:r>
            <a:endParaRPr lang="en-US" sz="1100" dirty="0"/>
          </a:p>
        </p:txBody>
      </p:sp>
      <p:sp>
        <p:nvSpPr>
          <p:cNvPr id="58" name="編號"/>
          <p:cNvSpPr/>
          <p:nvPr/>
        </p:nvSpPr>
        <p:spPr>
          <a:xfrm>
            <a:off x="9465338" y="5815584"/>
            <a:ext cx="310896" cy="310896"/>
          </a:xfrm>
          <a:prstGeom prst="roundRect">
            <a:avLst>
              <a:gd name="adj" fmla="val 17647"/>
            </a:avLst>
          </a:prstGeom>
          <a:solidFill>
            <a:srgbClr val="2F5D5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14</a:t>
            </a:r>
            <a:endParaRPr lang="en-US" sz="1100" dirty="0"/>
          </a:p>
        </p:txBody>
      </p:sp>
      <p:sp>
        <p:nvSpPr>
          <p:cNvPr id="59" name="編號"/>
          <p:cNvSpPr/>
          <p:nvPr/>
        </p:nvSpPr>
        <p:spPr>
          <a:xfrm>
            <a:off x="9840242" y="5815584"/>
            <a:ext cx="310896" cy="310896"/>
          </a:xfrm>
          <a:prstGeom prst="roundRect">
            <a:avLst>
              <a:gd name="adj" fmla="val 17647"/>
            </a:avLst>
          </a:prstGeom>
          <a:solidFill>
            <a:srgbClr val="2F5D5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15</a:t>
            </a:r>
            <a:endParaRPr lang="en-US" sz="1100" dirty="0"/>
          </a:p>
        </p:txBody>
      </p:sp>
      <p:sp>
        <p:nvSpPr>
          <p:cNvPr id="60" name="標籤"/>
          <p:cNvSpPr/>
          <p:nvPr/>
        </p:nvSpPr>
        <p:spPr>
          <a:xfrm>
            <a:off x="10242578" y="5824728"/>
            <a:ext cx="804591" cy="292608"/>
          </a:xfrm>
          <a:prstGeom prst="roundRect">
            <a:avLst>
              <a:gd name="adj" fmla="val 15625"/>
            </a:avLst>
          </a:prstGeom>
          <a:solidFill>
            <a:srgbClr val="DFDFDF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激勵動機</a:t>
            </a:r>
            <a:endParaRPr lang="en-US" sz="1100" dirty="0"/>
          </a:p>
        </p:txBody>
      </p:sp>
      <p:sp>
        <p:nvSpPr>
          <p:cNvPr id="61" name="Text 59"/>
          <p:cNvSpPr/>
          <p:nvPr/>
        </p:nvSpPr>
        <p:spPr>
          <a:xfrm>
            <a:off x="548640" y="6309360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墨綠筆記</a:t>
            </a:r>
            <a:pPr algn="l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900" dirty="0"/>
          </a:p>
        </p:txBody>
      </p:sp>
      <p:sp>
        <p:nvSpPr>
          <p:cNvPr id="62" name="Text 60"/>
          <p:cNvSpPr/>
          <p:nvPr/>
        </p:nvSpPr>
        <p:spPr>
          <a:xfrm>
            <a:off x="10271455" y="6309360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10 / 11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畫布面板"/>
          <p:cNvSpPr/>
          <p:nvPr/>
        </p:nvSpPr>
        <p:spPr>
          <a:xfrm>
            <a:off x="228600" y="228600"/>
            <a:ext cx="11734495" cy="6400800"/>
          </a:xfrm>
          <a:prstGeom prst="roundRect">
            <a:avLst>
              <a:gd name="adj" fmla="val 857"/>
            </a:avLst>
          </a:prstGeom>
          <a:solidFill>
            <a:srgbClr val="F4F4F1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標題"/>
          <p:cNvSpPr/>
          <p:nvPr/>
        </p:nvSpPr>
        <p:spPr>
          <a:xfrm>
            <a:off x="548640" y="329184"/>
            <a:ext cx="100584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2F5D5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能力成長地圖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548640" y="1069848"/>
            <a:ext cx="3424936" cy="365760"/>
          </a:xfrm>
          <a:prstGeom prst="rect">
            <a:avLst/>
          </a:prstGeom>
          <a:solidFill>
            <a:srgbClr val="2F5D50"/>
          </a:solidFill>
          <a:ln/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從個人特質到可遷移能力的三階段路徑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4037584" y="1069848"/>
            <a:ext cx="109728" cy="365760"/>
          </a:xfrm>
          <a:prstGeom prst="rect">
            <a:avLst/>
          </a:prstGeom>
          <a:solidFill>
            <a:srgbClr val="C9A22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漸隱箭頭"/>
          <p:cNvSpPr/>
          <p:nvPr/>
        </p:nvSpPr>
        <p:spPr>
          <a:xfrm>
            <a:off x="5737860" y="2331720"/>
            <a:ext cx="356616" cy="3361700"/>
          </a:xfrm>
          <a:prstGeom prst="rect">
            <a:avLst/>
          </a:prstGeom>
          <a:solidFill>
            <a:srgbClr val="C9A227">
              <a:alpha val="12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漸隱箭頭"/>
          <p:cNvSpPr/>
          <p:nvPr/>
        </p:nvSpPr>
        <p:spPr>
          <a:xfrm>
            <a:off x="5737860" y="2890479"/>
            <a:ext cx="356616" cy="2802941"/>
          </a:xfrm>
          <a:prstGeom prst="rect">
            <a:avLst/>
          </a:prstGeom>
          <a:solidFill>
            <a:srgbClr val="C9A227">
              <a:alpha val="12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漸隱箭頭"/>
          <p:cNvSpPr/>
          <p:nvPr/>
        </p:nvSpPr>
        <p:spPr>
          <a:xfrm>
            <a:off x="5737860" y="3449239"/>
            <a:ext cx="356616" cy="2244181"/>
          </a:xfrm>
          <a:prstGeom prst="rect">
            <a:avLst/>
          </a:prstGeom>
          <a:solidFill>
            <a:srgbClr val="C9A227">
              <a:alpha val="12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漸隱箭頭"/>
          <p:cNvSpPr/>
          <p:nvPr/>
        </p:nvSpPr>
        <p:spPr>
          <a:xfrm>
            <a:off x="5737860" y="4007998"/>
            <a:ext cx="356616" cy="1685422"/>
          </a:xfrm>
          <a:prstGeom prst="rect">
            <a:avLst/>
          </a:prstGeom>
          <a:solidFill>
            <a:srgbClr val="C9A227">
              <a:alpha val="12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漸隱箭頭"/>
          <p:cNvSpPr/>
          <p:nvPr/>
        </p:nvSpPr>
        <p:spPr>
          <a:xfrm>
            <a:off x="5737860" y="4566757"/>
            <a:ext cx="356616" cy="1126663"/>
          </a:xfrm>
          <a:prstGeom prst="rect">
            <a:avLst/>
          </a:prstGeom>
          <a:solidFill>
            <a:srgbClr val="C9A227">
              <a:alpha val="12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漸隱箭頭"/>
          <p:cNvSpPr/>
          <p:nvPr/>
        </p:nvSpPr>
        <p:spPr>
          <a:xfrm>
            <a:off x="5737860" y="5125517"/>
            <a:ext cx="356616" cy="567903"/>
          </a:xfrm>
          <a:prstGeom prst="rect">
            <a:avLst/>
          </a:prstGeom>
          <a:solidFill>
            <a:srgbClr val="C9A227">
              <a:alpha val="12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" name="漸隱箭頭"/>
          <p:cNvSpPr/>
          <p:nvPr/>
        </p:nvSpPr>
        <p:spPr>
          <a:xfrm>
            <a:off x="5559552" y="5684276"/>
            <a:ext cx="713232" cy="442204"/>
          </a:xfrm>
          <a:custGeom>
            <a:avLst/>
            <a:gdLst/>
            <a:ahLst/>
            <a:cxnLst/>
            <a:rect l="l" t="t" r="r" b="b"/>
            <a:pathLst>
              <a:path w="713232" h="442204">
                <a:moveTo>
                  <a:pt x="0" y="0"/>
                </a:moveTo>
                <a:lnTo>
                  <a:pt x="713232" y="0"/>
                </a:lnTo>
                <a:lnTo>
                  <a:pt x="356616" y="442204"/>
                </a:lnTo>
                <a:close/>
              </a:path>
            </a:pathLst>
          </a:custGeom>
          <a:solidFill>
            <a:srgbClr val="C9A227">
              <a:alpha val="54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" name="Text 11"/>
          <p:cNvSpPr/>
          <p:nvPr/>
        </p:nvSpPr>
        <p:spPr>
          <a:xfrm>
            <a:off x="6382512" y="5760720"/>
            <a:ext cx="1188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C9A22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成長路徑</a:t>
            </a:r>
            <a:endParaRPr lang="en-US" sz="1200" dirty="0"/>
          </a:p>
        </p:txBody>
      </p:sp>
      <p:sp>
        <p:nvSpPr>
          <p:cNvPr id="14" name="處理"/>
          <p:cNvSpPr/>
          <p:nvPr/>
        </p:nvSpPr>
        <p:spPr>
          <a:xfrm>
            <a:off x="548640" y="3794760"/>
            <a:ext cx="868680" cy="54864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28575">
            <a:solidFill>
              <a:srgbClr val="BFBFBF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特質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457200" y="4416552"/>
            <a:ext cx="1051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個性、動機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與價值觀</a:t>
            </a:r>
            <a:endParaRPr lang="en-US" sz="1050" dirty="0"/>
          </a:p>
        </p:txBody>
      </p:sp>
      <p:sp>
        <p:nvSpPr>
          <p:cNvPr id="16" name="處理"/>
          <p:cNvSpPr/>
          <p:nvPr/>
        </p:nvSpPr>
        <p:spPr>
          <a:xfrm>
            <a:off x="1874520" y="2999232"/>
            <a:ext cx="914400" cy="493776"/>
          </a:xfrm>
          <a:prstGeom prst="roundRect">
            <a:avLst>
              <a:gd name="adj" fmla="val 22222"/>
            </a:avLst>
          </a:prstGeom>
          <a:solidFill>
            <a:srgbClr val="FFFFFF"/>
          </a:solidFill>
          <a:ln w="28575">
            <a:solidFill>
              <a:srgbClr val="BFBFBF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知識</a:t>
            </a:r>
            <a:endParaRPr lang="en-US" sz="1400" dirty="0"/>
          </a:p>
        </p:txBody>
      </p:sp>
      <p:sp>
        <p:nvSpPr>
          <p:cNvPr id="17" name="處理"/>
          <p:cNvSpPr/>
          <p:nvPr/>
        </p:nvSpPr>
        <p:spPr>
          <a:xfrm>
            <a:off x="1874520" y="4645152"/>
            <a:ext cx="914400" cy="493776"/>
          </a:xfrm>
          <a:prstGeom prst="roundRect">
            <a:avLst>
              <a:gd name="adj" fmla="val 22222"/>
            </a:avLst>
          </a:prstGeom>
          <a:solidFill>
            <a:srgbClr val="FFFFFF"/>
          </a:solidFill>
          <a:ln w="28575">
            <a:solidFill>
              <a:srgbClr val="BFBFBF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技能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828800" y="2743200"/>
            <a:ext cx="1005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知道是什麼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1828800" y="5175504"/>
            <a:ext cx="1005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知道怎麼做</a:t>
            </a:r>
            <a:endParaRPr lang="en-US" sz="1050" dirty="0"/>
          </a:p>
        </p:txBody>
      </p:sp>
      <p:sp>
        <p:nvSpPr>
          <p:cNvPr id="20" name="處理"/>
          <p:cNvSpPr/>
          <p:nvPr/>
        </p:nvSpPr>
        <p:spPr>
          <a:xfrm>
            <a:off x="3246120" y="3794760"/>
            <a:ext cx="868680" cy="548640"/>
          </a:xfrm>
          <a:prstGeom prst="roundRect">
            <a:avLst>
              <a:gd name="adj" fmla="val 20000"/>
            </a:avLst>
          </a:prstGeom>
          <a:solidFill>
            <a:srgbClr val="2F5D50"/>
          </a:solidFill>
          <a:ln/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能力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3154680" y="4416552"/>
            <a:ext cx="10515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能產生價值</a:t>
            </a:r>
            <a:endParaRPr lang="en-US" sz="1050" dirty="0"/>
          </a:p>
        </p:txBody>
      </p:sp>
      <p:sp>
        <p:nvSpPr>
          <p:cNvPr id="22" name="連接線"/>
          <p:cNvSpPr/>
          <p:nvPr/>
        </p:nvSpPr>
        <p:spPr>
          <a:xfrm>
            <a:off x="1472184" y="3246120"/>
            <a:ext cx="347472" cy="822960"/>
          </a:xfrm>
          <a:custGeom>
            <a:avLst/>
            <a:gdLst/>
            <a:ahLst/>
            <a:cxnLst/>
            <a:rect l="l" t="t" r="r" b="b"/>
            <a:pathLst>
              <a:path w="347472" h="822960">
                <a:moveTo>
                  <a:pt x="0" y="822960"/>
                </a:moveTo>
                <a:lnTo>
                  <a:pt x="173736" y="822960"/>
                </a:lnTo>
                <a:lnTo>
                  <a:pt x="173736" y="0"/>
                </a:lnTo>
                <a:lnTo>
                  <a:pt x="347472" y="0"/>
                </a:lnTo>
              </a:path>
            </a:pathLst>
          </a:custGeom>
          <a:ln w="19050">
            <a:solidFill>
              <a:srgbClr val="8C8C8C"/>
            </a:solidFill>
            <a:prstDash val="solid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3" name="連接線"/>
          <p:cNvSpPr/>
          <p:nvPr/>
        </p:nvSpPr>
        <p:spPr>
          <a:xfrm>
            <a:off x="1472184" y="4069080"/>
            <a:ext cx="347472" cy="822960"/>
          </a:xfrm>
          <a:custGeom>
            <a:avLst/>
            <a:gdLst/>
            <a:ahLst/>
            <a:cxnLst/>
            <a:rect l="l" t="t" r="r" b="b"/>
            <a:pathLst>
              <a:path w="347472" h="822960">
                <a:moveTo>
                  <a:pt x="0" y="0"/>
                </a:moveTo>
                <a:lnTo>
                  <a:pt x="173736" y="0"/>
                </a:lnTo>
                <a:lnTo>
                  <a:pt x="173736" y="822960"/>
                </a:lnTo>
                <a:lnTo>
                  <a:pt x="347472" y="822960"/>
                </a:lnTo>
              </a:path>
            </a:pathLst>
          </a:custGeom>
          <a:ln w="19050">
            <a:solidFill>
              <a:srgbClr val="8C8C8C"/>
            </a:solidFill>
            <a:prstDash val="solid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4" name="連接線"/>
          <p:cNvSpPr/>
          <p:nvPr/>
        </p:nvSpPr>
        <p:spPr>
          <a:xfrm>
            <a:off x="2843784" y="3246120"/>
            <a:ext cx="347472" cy="822960"/>
          </a:xfrm>
          <a:custGeom>
            <a:avLst/>
            <a:gdLst/>
            <a:ahLst/>
            <a:cxnLst/>
            <a:rect l="l" t="t" r="r" b="b"/>
            <a:pathLst>
              <a:path w="347472" h="822960">
                <a:moveTo>
                  <a:pt x="0" y="0"/>
                </a:moveTo>
                <a:lnTo>
                  <a:pt x="173736" y="0"/>
                </a:lnTo>
                <a:lnTo>
                  <a:pt x="173736" y="822960"/>
                </a:lnTo>
                <a:lnTo>
                  <a:pt x="347472" y="822960"/>
                </a:lnTo>
              </a:path>
            </a:pathLst>
          </a:custGeom>
          <a:ln w="19050">
            <a:solidFill>
              <a:srgbClr val="8C8C8C"/>
            </a:solidFill>
            <a:prstDash val="solid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5" name="連接線"/>
          <p:cNvSpPr/>
          <p:nvPr/>
        </p:nvSpPr>
        <p:spPr>
          <a:xfrm>
            <a:off x="2843784" y="4069080"/>
            <a:ext cx="347472" cy="822960"/>
          </a:xfrm>
          <a:custGeom>
            <a:avLst/>
            <a:gdLst/>
            <a:ahLst/>
            <a:cxnLst/>
            <a:rect l="l" t="t" r="r" b="b"/>
            <a:pathLst>
              <a:path w="347472" h="822960">
                <a:moveTo>
                  <a:pt x="0" y="822960"/>
                </a:moveTo>
                <a:lnTo>
                  <a:pt x="173736" y="822960"/>
                </a:lnTo>
                <a:lnTo>
                  <a:pt x="173736" y="0"/>
                </a:lnTo>
                <a:lnTo>
                  <a:pt x="347472" y="0"/>
                </a:lnTo>
              </a:path>
            </a:pathLst>
          </a:custGeom>
          <a:ln w="19050">
            <a:solidFill>
              <a:srgbClr val="8C8C8C"/>
            </a:solidFill>
            <a:prstDash val="solid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6" name="連接線"/>
          <p:cNvSpPr/>
          <p:nvPr/>
        </p:nvSpPr>
        <p:spPr>
          <a:xfrm>
            <a:off x="4169664" y="2743200"/>
            <a:ext cx="576072" cy="1325880"/>
          </a:xfrm>
          <a:custGeom>
            <a:avLst/>
            <a:gdLst/>
            <a:ahLst/>
            <a:cxnLst/>
            <a:rect l="l" t="t" r="r" b="b"/>
            <a:pathLst>
              <a:path w="576072" h="1325880">
                <a:moveTo>
                  <a:pt x="0" y="1325880"/>
                </a:moveTo>
                <a:lnTo>
                  <a:pt x="288036" y="1325880"/>
                </a:lnTo>
                <a:lnTo>
                  <a:pt x="288036" y="0"/>
                </a:lnTo>
                <a:lnTo>
                  <a:pt x="576072" y="0"/>
                </a:lnTo>
              </a:path>
            </a:pathLst>
          </a:custGeom>
          <a:ln w="19050">
            <a:solidFill>
              <a:srgbClr val="8C8C8C"/>
            </a:solidFill>
            <a:prstDash val="solid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7" name="線條"/>
          <p:cNvSpPr/>
          <p:nvPr/>
        </p:nvSpPr>
        <p:spPr>
          <a:xfrm>
            <a:off x="4169664" y="4069080"/>
            <a:ext cx="576072" cy="0"/>
          </a:xfrm>
          <a:prstGeom prst="line">
            <a:avLst/>
          </a:prstGeom>
          <a:noFill/>
          <a:ln w="19050">
            <a:solidFill>
              <a:srgbClr val="8C8C8C"/>
            </a:solidFill>
            <a:prstDash val="solid"/>
            <a:tailEnd type="triangle"/>
          </a:ln>
        </p:spPr>
      </p:sp>
      <p:sp>
        <p:nvSpPr>
          <p:cNvPr id="28" name="連接線"/>
          <p:cNvSpPr/>
          <p:nvPr/>
        </p:nvSpPr>
        <p:spPr>
          <a:xfrm>
            <a:off x="4169664" y="4069080"/>
            <a:ext cx="576072" cy="1325880"/>
          </a:xfrm>
          <a:custGeom>
            <a:avLst/>
            <a:gdLst/>
            <a:ahLst/>
            <a:cxnLst/>
            <a:rect l="l" t="t" r="r" b="b"/>
            <a:pathLst>
              <a:path w="576072" h="1325880">
                <a:moveTo>
                  <a:pt x="0" y="0"/>
                </a:moveTo>
                <a:lnTo>
                  <a:pt x="288036" y="0"/>
                </a:lnTo>
                <a:lnTo>
                  <a:pt x="288036" y="1325880"/>
                </a:lnTo>
                <a:lnTo>
                  <a:pt x="576072" y="1325880"/>
                </a:lnTo>
              </a:path>
            </a:pathLst>
          </a:custGeom>
          <a:ln w="19050">
            <a:solidFill>
              <a:srgbClr val="8C8C8C"/>
            </a:solidFill>
            <a:prstDash val="solid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9" name="卡片"/>
          <p:cNvSpPr/>
          <p:nvPr/>
        </p:nvSpPr>
        <p:spPr>
          <a:xfrm>
            <a:off x="4800600" y="2414016"/>
            <a:ext cx="1828800" cy="658368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28575">
            <a:solidFill>
              <a:srgbClr val="BFBFBF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0" name="Text 28"/>
          <p:cNvSpPr/>
          <p:nvPr/>
        </p:nvSpPr>
        <p:spPr>
          <a:xfrm>
            <a:off x="4800600" y="2414016"/>
            <a:ext cx="18288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4483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執行實踐</a:t>
            </a:r>
            <a:endParaRPr lang="en-US" sz="1600" dirty="0"/>
          </a:p>
        </p:txBody>
      </p:sp>
      <p:sp>
        <p:nvSpPr>
          <p:cNvPr id="31" name="標籤"/>
          <p:cNvSpPr/>
          <p:nvPr/>
        </p:nvSpPr>
        <p:spPr>
          <a:xfrm>
            <a:off x="6000496" y="2286000"/>
            <a:ext cx="491744" cy="256032"/>
          </a:xfrm>
          <a:prstGeom prst="roundRect">
            <a:avLst>
              <a:gd name="adj" fmla="val 17857"/>
            </a:avLst>
          </a:prstGeom>
          <a:solidFill>
            <a:srgbClr val="2F5D50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前期</a:t>
            </a:r>
            <a:endParaRPr lang="en-US" sz="1000" dirty="0"/>
          </a:p>
        </p:txBody>
      </p:sp>
      <p:sp>
        <p:nvSpPr>
          <p:cNvPr id="32" name="標籤"/>
          <p:cNvSpPr/>
          <p:nvPr/>
        </p:nvSpPr>
        <p:spPr>
          <a:xfrm>
            <a:off x="4937760" y="2944368"/>
            <a:ext cx="618744" cy="256032"/>
          </a:xfrm>
          <a:prstGeom prst="roundRect">
            <a:avLst>
              <a:gd name="adj" fmla="val 17857"/>
            </a:avLst>
          </a:prstGeom>
          <a:solidFill>
            <a:srgbClr val="DFDFDF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打基礎</a:t>
            </a:r>
            <a:endParaRPr lang="en-US" sz="1000" dirty="0"/>
          </a:p>
        </p:txBody>
      </p:sp>
      <p:sp>
        <p:nvSpPr>
          <p:cNvPr id="33" name="卡片"/>
          <p:cNvSpPr/>
          <p:nvPr/>
        </p:nvSpPr>
        <p:spPr>
          <a:xfrm>
            <a:off x="4800600" y="3739896"/>
            <a:ext cx="1828800" cy="658368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28575">
            <a:solidFill>
              <a:srgbClr val="BFBFBF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4" name="Text 32"/>
          <p:cNvSpPr/>
          <p:nvPr/>
        </p:nvSpPr>
        <p:spPr>
          <a:xfrm>
            <a:off x="4800600" y="3739896"/>
            <a:ext cx="18288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4483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溝通協作</a:t>
            </a:r>
            <a:endParaRPr lang="en-US" sz="1600" dirty="0"/>
          </a:p>
        </p:txBody>
      </p:sp>
      <p:sp>
        <p:nvSpPr>
          <p:cNvPr id="35" name="標籤"/>
          <p:cNvSpPr/>
          <p:nvPr/>
        </p:nvSpPr>
        <p:spPr>
          <a:xfrm>
            <a:off x="6000496" y="3611880"/>
            <a:ext cx="491744" cy="256032"/>
          </a:xfrm>
          <a:prstGeom prst="roundRect">
            <a:avLst>
              <a:gd name="adj" fmla="val 17857"/>
            </a:avLst>
          </a:prstGeom>
          <a:solidFill>
            <a:srgbClr val="2F5D50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中期</a:t>
            </a:r>
            <a:endParaRPr lang="en-US" sz="1000" dirty="0"/>
          </a:p>
        </p:txBody>
      </p:sp>
      <p:sp>
        <p:nvSpPr>
          <p:cNvPr id="36" name="標籤"/>
          <p:cNvSpPr/>
          <p:nvPr/>
        </p:nvSpPr>
        <p:spPr>
          <a:xfrm>
            <a:off x="4937760" y="4270248"/>
            <a:ext cx="618744" cy="256032"/>
          </a:xfrm>
          <a:prstGeom prst="roundRect">
            <a:avLst>
              <a:gd name="adj" fmla="val 17857"/>
            </a:avLst>
          </a:prstGeom>
          <a:solidFill>
            <a:srgbClr val="DFDFDF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擴影響</a:t>
            </a:r>
            <a:endParaRPr lang="en-US" sz="1000" dirty="0"/>
          </a:p>
        </p:txBody>
      </p:sp>
      <p:sp>
        <p:nvSpPr>
          <p:cNvPr id="37" name="卡片"/>
          <p:cNvSpPr/>
          <p:nvPr/>
        </p:nvSpPr>
        <p:spPr>
          <a:xfrm>
            <a:off x="4800600" y="5065776"/>
            <a:ext cx="1828800" cy="658368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28575">
            <a:solidFill>
              <a:srgbClr val="BFBFBF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8" name="Text 36"/>
          <p:cNvSpPr/>
          <p:nvPr/>
        </p:nvSpPr>
        <p:spPr>
          <a:xfrm>
            <a:off x="4800600" y="5065776"/>
            <a:ext cx="18288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4483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整合創新</a:t>
            </a:r>
            <a:endParaRPr lang="en-US" sz="1600" dirty="0"/>
          </a:p>
        </p:txBody>
      </p:sp>
      <p:sp>
        <p:nvSpPr>
          <p:cNvPr id="39" name="標籤"/>
          <p:cNvSpPr/>
          <p:nvPr/>
        </p:nvSpPr>
        <p:spPr>
          <a:xfrm>
            <a:off x="6000496" y="4937760"/>
            <a:ext cx="491744" cy="256032"/>
          </a:xfrm>
          <a:prstGeom prst="roundRect">
            <a:avLst>
              <a:gd name="adj" fmla="val 17857"/>
            </a:avLst>
          </a:prstGeom>
          <a:solidFill>
            <a:srgbClr val="2F5D50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後期</a:t>
            </a:r>
            <a:endParaRPr lang="en-US" sz="1000" dirty="0"/>
          </a:p>
        </p:txBody>
      </p:sp>
      <p:sp>
        <p:nvSpPr>
          <p:cNvPr id="40" name="標籤"/>
          <p:cNvSpPr/>
          <p:nvPr/>
        </p:nvSpPr>
        <p:spPr>
          <a:xfrm>
            <a:off x="4937760" y="5596128"/>
            <a:ext cx="618744" cy="256032"/>
          </a:xfrm>
          <a:prstGeom prst="roundRect">
            <a:avLst>
              <a:gd name="adj" fmla="val 17857"/>
            </a:avLst>
          </a:prstGeom>
          <a:solidFill>
            <a:srgbClr val="DFDFDF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建槓桿</a:t>
            </a:r>
            <a:endParaRPr lang="en-US" sz="1000" dirty="0"/>
          </a:p>
        </p:txBody>
      </p:sp>
      <p:sp>
        <p:nvSpPr>
          <p:cNvPr id="41" name="寬欄條"/>
          <p:cNvSpPr/>
          <p:nvPr/>
        </p:nvSpPr>
        <p:spPr>
          <a:xfrm>
            <a:off x="7086600" y="2057400"/>
            <a:ext cx="548640" cy="3886200"/>
          </a:xfrm>
          <a:prstGeom prst="roundRect">
            <a:avLst>
              <a:gd name="adj" fmla="val 20000"/>
            </a:avLst>
          </a:prstGeom>
          <a:solidFill>
            <a:srgbClr val="A6A6A6">
              <a:alpha val="38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2" name="寬欄條"/>
          <p:cNvSpPr/>
          <p:nvPr/>
        </p:nvSpPr>
        <p:spPr>
          <a:xfrm>
            <a:off x="7818120" y="2057400"/>
            <a:ext cx="548640" cy="3886200"/>
          </a:xfrm>
          <a:prstGeom prst="roundRect">
            <a:avLst>
              <a:gd name="adj" fmla="val 20000"/>
            </a:avLst>
          </a:prstGeom>
          <a:solidFill>
            <a:srgbClr val="A6A6A6">
              <a:alpha val="38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3" name="Text 41"/>
          <p:cNvSpPr/>
          <p:nvPr/>
        </p:nvSpPr>
        <p:spPr>
          <a:xfrm>
            <a:off x="6766560" y="1755648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吸收　／　產出</a:t>
            </a:r>
            <a:endParaRPr lang="en-US" sz="1100" dirty="0"/>
          </a:p>
        </p:txBody>
      </p:sp>
      <p:sp>
        <p:nvSpPr>
          <p:cNvPr id="44" name="編號"/>
          <p:cNvSpPr/>
          <p:nvPr/>
        </p:nvSpPr>
        <p:spPr>
          <a:xfrm>
            <a:off x="7141464" y="2523744"/>
            <a:ext cx="438912" cy="438912"/>
          </a:xfrm>
          <a:prstGeom prst="roundRect">
            <a:avLst>
              <a:gd name="adj" fmla="val 12500"/>
            </a:avLst>
          </a:prstGeom>
          <a:solidFill>
            <a:srgbClr val="2F5D5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看</a:t>
            </a:r>
            <a:endParaRPr lang="en-US" sz="1400" dirty="0"/>
          </a:p>
        </p:txBody>
      </p:sp>
      <p:sp>
        <p:nvSpPr>
          <p:cNvPr id="45" name="編號"/>
          <p:cNvSpPr/>
          <p:nvPr/>
        </p:nvSpPr>
        <p:spPr>
          <a:xfrm>
            <a:off x="7872984" y="2523744"/>
            <a:ext cx="438912" cy="438912"/>
          </a:xfrm>
          <a:prstGeom prst="roundRect">
            <a:avLst>
              <a:gd name="adj" fmla="val 12500"/>
            </a:avLst>
          </a:prstGeom>
          <a:solidFill>
            <a:srgbClr val="2F5D5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練</a:t>
            </a:r>
            <a:endParaRPr lang="en-US" sz="1400" dirty="0"/>
          </a:p>
        </p:txBody>
      </p:sp>
      <p:sp>
        <p:nvSpPr>
          <p:cNvPr id="46" name="線條"/>
          <p:cNvSpPr/>
          <p:nvPr/>
        </p:nvSpPr>
        <p:spPr>
          <a:xfrm>
            <a:off x="6702552" y="2743200"/>
            <a:ext cx="384048" cy="0"/>
          </a:xfrm>
          <a:prstGeom prst="line">
            <a:avLst/>
          </a:prstGeom>
          <a:noFill/>
          <a:ln w="12700">
            <a:solidFill>
              <a:srgbClr val="BFBFBF"/>
            </a:solidFill>
            <a:prstDash val="solid"/>
          </a:ln>
        </p:spPr>
      </p:sp>
      <p:sp>
        <p:nvSpPr>
          <p:cNvPr id="47" name="編號"/>
          <p:cNvSpPr/>
          <p:nvPr/>
        </p:nvSpPr>
        <p:spPr>
          <a:xfrm>
            <a:off x="7141464" y="3849624"/>
            <a:ext cx="438912" cy="438912"/>
          </a:xfrm>
          <a:prstGeom prst="roundRect">
            <a:avLst>
              <a:gd name="adj" fmla="val 12500"/>
            </a:avLst>
          </a:prstGeom>
          <a:solidFill>
            <a:srgbClr val="2F5D5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問</a:t>
            </a:r>
            <a:endParaRPr lang="en-US" sz="1400" dirty="0"/>
          </a:p>
        </p:txBody>
      </p:sp>
      <p:sp>
        <p:nvSpPr>
          <p:cNvPr id="48" name="編號"/>
          <p:cNvSpPr/>
          <p:nvPr/>
        </p:nvSpPr>
        <p:spPr>
          <a:xfrm>
            <a:off x="7872984" y="3849624"/>
            <a:ext cx="438912" cy="438912"/>
          </a:xfrm>
          <a:prstGeom prst="roundRect">
            <a:avLst>
              <a:gd name="adj" fmla="val 12500"/>
            </a:avLst>
          </a:prstGeom>
          <a:solidFill>
            <a:srgbClr val="2F5D5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談</a:t>
            </a:r>
            <a:endParaRPr lang="en-US" sz="1400" dirty="0"/>
          </a:p>
        </p:txBody>
      </p:sp>
      <p:sp>
        <p:nvSpPr>
          <p:cNvPr id="49" name="線條"/>
          <p:cNvSpPr/>
          <p:nvPr/>
        </p:nvSpPr>
        <p:spPr>
          <a:xfrm>
            <a:off x="6702552" y="4069080"/>
            <a:ext cx="384048" cy="0"/>
          </a:xfrm>
          <a:prstGeom prst="line">
            <a:avLst/>
          </a:prstGeom>
          <a:noFill/>
          <a:ln w="12700">
            <a:solidFill>
              <a:srgbClr val="BFBFBF"/>
            </a:solidFill>
            <a:prstDash val="solid"/>
          </a:ln>
        </p:spPr>
      </p:sp>
      <p:sp>
        <p:nvSpPr>
          <p:cNvPr id="50" name="編號"/>
          <p:cNvSpPr/>
          <p:nvPr/>
        </p:nvSpPr>
        <p:spPr>
          <a:xfrm>
            <a:off x="7141464" y="5175504"/>
            <a:ext cx="438912" cy="438912"/>
          </a:xfrm>
          <a:prstGeom prst="roundRect">
            <a:avLst>
              <a:gd name="adj" fmla="val 12500"/>
            </a:avLst>
          </a:prstGeom>
          <a:solidFill>
            <a:srgbClr val="2F5D5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想</a:t>
            </a:r>
            <a:endParaRPr lang="en-US" sz="1400" dirty="0"/>
          </a:p>
        </p:txBody>
      </p:sp>
      <p:sp>
        <p:nvSpPr>
          <p:cNvPr id="51" name="編號"/>
          <p:cNvSpPr/>
          <p:nvPr/>
        </p:nvSpPr>
        <p:spPr>
          <a:xfrm>
            <a:off x="7872984" y="5175504"/>
            <a:ext cx="438912" cy="438912"/>
          </a:xfrm>
          <a:prstGeom prst="roundRect">
            <a:avLst>
              <a:gd name="adj" fmla="val 12500"/>
            </a:avLst>
          </a:prstGeom>
          <a:solidFill>
            <a:srgbClr val="2F5D5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寫</a:t>
            </a:r>
            <a:endParaRPr lang="en-US" sz="1400" dirty="0"/>
          </a:p>
        </p:txBody>
      </p:sp>
      <p:sp>
        <p:nvSpPr>
          <p:cNvPr id="52" name="線條"/>
          <p:cNvSpPr/>
          <p:nvPr/>
        </p:nvSpPr>
        <p:spPr>
          <a:xfrm>
            <a:off x="6702552" y="5394960"/>
            <a:ext cx="384048" cy="0"/>
          </a:xfrm>
          <a:prstGeom prst="line">
            <a:avLst/>
          </a:prstGeom>
          <a:noFill/>
          <a:ln w="12700">
            <a:solidFill>
              <a:srgbClr val="BFBFBF"/>
            </a:solidFill>
            <a:prstDash val="solid"/>
          </a:ln>
        </p:spPr>
      </p:sp>
      <p:sp>
        <p:nvSpPr>
          <p:cNvPr id="53" name="線條"/>
          <p:cNvSpPr/>
          <p:nvPr/>
        </p:nvSpPr>
        <p:spPr>
          <a:xfrm>
            <a:off x="8366760" y="2743200"/>
            <a:ext cx="228600" cy="0"/>
          </a:xfrm>
          <a:prstGeom prst="line">
            <a:avLst/>
          </a:prstGeom>
          <a:noFill/>
          <a:ln w="19050">
            <a:solidFill>
              <a:srgbClr val="8C8C8C"/>
            </a:solidFill>
            <a:prstDash val="solid"/>
          </a:ln>
        </p:spPr>
      </p:sp>
      <p:sp>
        <p:nvSpPr>
          <p:cNvPr id="54" name="連接線"/>
          <p:cNvSpPr/>
          <p:nvPr/>
        </p:nvSpPr>
        <p:spPr>
          <a:xfrm>
            <a:off x="8595360" y="2450592"/>
            <a:ext cx="246888" cy="292608"/>
          </a:xfrm>
          <a:custGeom>
            <a:avLst/>
            <a:gdLst/>
            <a:ahLst/>
            <a:cxnLst/>
            <a:rect l="l" t="t" r="r" b="b"/>
            <a:pathLst>
              <a:path w="246888" h="292608">
                <a:moveTo>
                  <a:pt x="0" y="292608"/>
                </a:moveTo>
                <a:lnTo>
                  <a:pt x="0" y="0"/>
                </a:lnTo>
                <a:lnTo>
                  <a:pt x="246888" y="0"/>
                </a:lnTo>
              </a:path>
            </a:pathLst>
          </a:custGeom>
          <a:ln w="19050">
            <a:solidFill>
              <a:srgbClr val="8C8C8C"/>
            </a:solidFill>
            <a:prstDash val="solid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5" name="Text 53"/>
          <p:cNvSpPr/>
          <p:nvPr/>
        </p:nvSpPr>
        <p:spPr>
          <a:xfrm>
            <a:off x="8915400" y="2313432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流程操作、工具使用</a:t>
            </a:r>
            <a:endParaRPr lang="en-US" sz="1100" dirty="0"/>
          </a:p>
        </p:txBody>
      </p:sp>
      <p:sp>
        <p:nvSpPr>
          <p:cNvPr id="56" name="連接線"/>
          <p:cNvSpPr/>
          <p:nvPr/>
        </p:nvSpPr>
        <p:spPr>
          <a:xfrm>
            <a:off x="8595360" y="2743200"/>
            <a:ext cx="246888" cy="292608"/>
          </a:xfrm>
          <a:custGeom>
            <a:avLst/>
            <a:gdLst/>
            <a:ahLst/>
            <a:cxnLst/>
            <a:rect l="l" t="t" r="r" b="b"/>
            <a:pathLst>
              <a:path w="246888" h="292608">
                <a:moveTo>
                  <a:pt x="0" y="0"/>
                </a:moveTo>
                <a:lnTo>
                  <a:pt x="0" y="292608"/>
                </a:lnTo>
                <a:lnTo>
                  <a:pt x="246888" y="292608"/>
                </a:lnTo>
              </a:path>
            </a:pathLst>
          </a:custGeom>
          <a:ln w="19050">
            <a:solidFill>
              <a:srgbClr val="8C8C8C"/>
            </a:solidFill>
            <a:prstDash val="solid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7" name="Text 55"/>
          <p:cNvSpPr/>
          <p:nvPr/>
        </p:nvSpPr>
        <p:spPr>
          <a:xfrm>
            <a:off x="8915400" y="2898648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標準作業與規範</a:t>
            </a:r>
            <a:endParaRPr lang="en-US" sz="1100" dirty="0"/>
          </a:p>
        </p:txBody>
      </p:sp>
      <p:sp>
        <p:nvSpPr>
          <p:cNvPr id="58" name="線條"/>
          <p:cNvSpPr/>
          <p:nvPr/>
        </p:nvSpPr>
        <p:spPr>
          <a:xfrm>
            <a:off x="8366760" y="4069080"/>
            <a:ext cx="228600" cy="0"/>
          </a:xfrm>
          <a:prstGeom prst="line">
            <a:avLst/>
          </a:prstGeom>
          <a:noFill/>
          <a:ln w="19050">
            <a:solidFill>
              <a:srgbClr val="8C8C8C"/>
            </a:solidFill>
            <a:prstDash val="solid"/>
          </a:ln>
        </p:spPr>
      </p:sp>
      <p:sp>
        <p:nvSpPr>
          <p:cNvPr id="59" name="連接線"/>
          <p:cNvSpPr/>
          <p:nvPr/>
        </p:nvSpPr>
        <p:spPr>
          <a:xfrm>
            <a:off x="8595360" y="3776472"/>
            <a:ext cx="246888" cy="292608"/>
          </a:xfrm>
          <a:custGeom>
            <a:avLst/>
            <a:gdLst/>
            <a:ahLst/>
            <a:cxnLst/>
            <a:rect l="l" t="t" r="r" b="b"/>
            <a:pathLst>
              <a:path w="246888" h="292608">
                <a:moveTo>
                  <a:pt x="0" y="292608"/>
                </a:moveTo>
                <a:lnTo>
                  <a:pt x="0" y="0"/>
                </a:lnTo>
                <a:lnTo>
                  <a:pt x="246888" y="0"/>
                </a:lnTo>
              </a:path>
            </a:pathLst>
          </a:custGeom>
          <a:ln w="19050">
            <a:solidFill>
              <a:srgbClr val="8C8C8C"/>
            </a:solidFill>
            <a:prstDash val="solid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0" name="Text 58"/>
          <p:cNvSpPr/>
          <p:nvPr/>
        </p:nvSpPr>
        <p:spPr>
          <a:xfrm>
            <a:off x="8915400" y="3639312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表達、傾聽、協調</a:t>
            </a:r>
            <a:endParaRPr lang="en-US" sz="1100" dirty="0"/>
          </a:p>
        </p:txBody>
      </p:sp>
      <p:sp>
        <p:nvSpPr>
          <p:cNvPr id="61" name="連接線"/>
          <p:cNvSpPr/>
          <p:nvPr/>
        </p:nvSpPr>
        <p:spPr>
          <a:xfrm>
            <a:off x="8595360" y="4069080"/>
            <a:ext cx="246888" cy="292608"/>
          </a:xfrm>
          <a:custGeom>
            <a:avLst/>
            <a:gdLst/>
            <a:ahLst/>
            <a:cxnLst/>
            <a:rect l="l" t="t" r="r" b="b"/>
            <a:pathLst>
              <a:path w="246888" h="292608">
                <a:moveTo>
                  <a:pt x="0" y="0"/>
                </a:moveTo>
                <a:lnTo>
                  <a:pt x="0" y="292608"/>
                </a:lnTo>
                <a:lnTo>
                  <a:pt x="246888" y="292608"/>
                </a:lnTo>
              </a:path>
            </a:pathLst>
          </a:custGeom>
          <a:ln w="19050">
            <a:solidFill>
              <a:srgbClr val="8C8C8C"/>
            </a:solidFill>
            <a:prstDash val="solid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2" name="Text 60"/>
          <p:cNvSpPr/>
          <p:nvPr/>
        </p:nvSpPr>
        <p:spPr>
          <a:xfrm>
            <a:off x="8915400" y="4224528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提案、談判、領導</a:t>
            </a:r>
            <a:endParaRPr lang="en-US" sz="1100" dirty="0"/>
          </a:p>
        </p:txBody>
      </p:sp>
      <p:sp>
        <p:nvSpPr>
          <p:cNvPr id="63" name="線條"/>
          <p:cNvSpPr/>
          <p:nvPr/>
        </p:nvSpPr>
        <p:spPr>
          <a:xfrm>
            <a:off x="8366760" y="5394960"/>
            <a:ext cx="228600" cy="0"/>
          </a:xfrm>
          <a:prstGeom prst="line">
            <a:avLst/>
          </a:prstGeom>
          <a:noFill/>
          <a:ln w="19050">
            <a:solidFill>
              <a:srgbClr val="8C8C8C"/>
            </a:solidFill>
            <a:prstDash val="solid"/>
          </a:ln>
        </p:spPr>
      </p:sp>
      <p:sp>
        <p:nvSpPr>
          <p:cNvPr id="64" name="連接線"/>
          <p:cNvSpPr/>
          <p:nvPr/>
        </p:nvSpPr>
        <p:spPr>
          <a:xfrm>
            <a:off x="8595360" y="5102352"/>
            <a:ext cx="246888" cy="292608"/>
          </a:xfrm>
          <a:custGeom>
            <a:avLst/>
            <a:gdLst/>
            <a:ahLst/>
            <a:cxnLst/>
            <a:rect l="l" t="t" r="r" b="b"/>
            <a:pathLst>
              <a:path w="246888" h="292608">
                <a:moveTo>
                  <a:pt x="0" y="292608"/>
                </a:moveTo>
                <a:lnTo>
                  <a:pt x="0" y="0"/>
                </a:lnTo>
                <a:lnTo>
                  <a:pt x="246888" y="0"/>
                </a:lnTo>
              </a:path>
            </a:pathLst>
          </a:custGeom>
          <a:ln w="19050">
            <a:solidFill>
              <a:srgbClr val="8C8C8C"/>
            </a:solidFill>
            <a:prstDash val="solid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5" name="Text 63"/>
          <p:cNvSpPr/>
          <p:nvPr/>
        </p:nvSpPr>
        <p:spPr>
          <a:xfrm>
            <a:off x="8915400" y="4965192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結構思考、問題解決</a:t>
            </a:r>
            <a:endParaRPr lang="en-US" sz="1100" dirty="0"/>
          </a:p>
        </p:txBody>
      </p:sp>
      <p:sp>
        <p:nvSpPr>
          <p:cNvPr id="66" name="連接線"/>
          <p:cNvSpPr/>
          <p:nvPr/>
        </p:nvSpPr>
        <p:spPr>
          <a:xfrm>
            <a:off x="8595360" y="5394960"/>
            <a:ext cx="246888" cy="292608"/>
          </a:xfrm>
          <a:custGeom>
            <a:avLst/>
            <a:gdLst/>
            <a:ahLst/>
            <a:cxnLst/>
            <a:rect l="l" t="t" r="r" b="b"/>
            <a:pathLst>
              <a:path w="246888" h="292608">
                <a:moveTo>
                  <a:pt x="0" y="0"/>
                </a:moveTo>
                <a:lnTo>
                  <a:pt x="0" y="292608"/>
                </a:lnTo>
                <a:lnTo>
                  <a:pt x="246888" y="292608"/>
                </a:lnTo>
              </a:path>
            </a:pathLst>
          </a:custGeom>
          <a:ln w="19050">
            <a:solidFill>
              <a:srgbClr val="8C8C8C"/>
            </a:solidFill>
            <a:prstDash val="solid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7" name="Text 65"/>
          <p:cNvSpPr/>
          <p:nvPr/>
        </p:nvSpPr>
        <p:spPr>
          <a:xfrm>
            <a:off x="8915400" y="5550408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資源整合、創新</a:t>
            </a:r>
            <a:endParaRPr lang="en-US" sz="1100" dirty="0"/>
          </a:p>
        </p:txBody>
      </p:sp>
      <p:sp>
        <p:nvSpPr>
          <p:cNvPr id="68" name="漸隱直條"/>
          <p:cNvSpPr/>
          <p:nvPr/>
        </p:nvSpPr>
        <p:spPr>
          <a:xfrm>
            <a:off x="11333988" y="2248510"/>
            <a:ext cx="173736" cy="3513125"/>
          </a:xfrm>
          <a:prstGeom prst="rect">
            <a:avLst/>
          </a:prstGeom>
          <a:solidFill>
            <a:srgbClr val="A6A6A6">
              <a:alpha val="11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9" name="漸隱直條"/>
          <p:cNvSpPr/>
          <p:nvPr/>
        </p:nvSpPr>
        <p:spPr>
          <a:xfrm>
            <a:off x="11333988" y="2540508"/>
            <a:ext cx="173736" cy="2929128"/>
          </a:xfrm>
          <a:prstGeom prst="rect">
            <a:avLst/>
          </a:prstGeom>
          <a:solidFill>
            <a:srgbClr val="A6A6A6">
              <a:alpha val="11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0" name="漸隱直條"/>
          <p:cNvSpPr/>
          <p:nvPr/>
        </p:nvSpPr>
        <p:spPr>
          <a:xfrm>
            <a:off x="11333988" y="2832506"/>
            <a:ext cx="173736" cy="2345131"/>
          </a:xfrm>
          <a:prstGeom prst="rect">
            <a:avLst/>
          </a:prstGeom>
          <a:solidFill>
            <a:srgbClr val="A6A6A6">
              <a:alpha val="11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1" name="漸隱直條"/>
          <p:cNvSpPr/>
          <p:nvPr/>
        </p:nvSpPr>
        <p:spPr>
          <a:xfrm>
            <a:off x="11333988" y="3124505"/>
            <a:ext cx="173736" cy="1761134"/>
          </a:xfrm>
          <a:prstGeom prst="rect">
            <a:avLst/>
          </a:prstGeom>
          <a:solidFill>
            <a:srgbClr val="A6A6A6">
              <a:alpha val="11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2" name="漸隱直條"/>
          <p:cNvSpPr/>
          <p:nvPr/>
        </p:nvSpPr>
        <p:spPr>
          <a:xfrm>
            <a:off x="11333988" y="3416503"/>
            <a:ext cx="173736" cy="1177138"/>
          </a:xfrm>
          <a:prstGeom prst="rect">
            <a:avLst/>
          </a:prstGeom>
          <a:solidFill>
            <a:srgbClr val="A6A6A6">
              <a:alpha val="11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3" name="漸隱直條"/>
          <p:cNvSpPr/>
          <p:nvPr/>
        </p:nvSpPr>
        <p:spPr>
          <a:xfrm>
            <a:off x="11333988" y="3708502"/>
            <a:ext cx="173736" cy="593141"/>
          </a:xfrm>
          <a:prstGeom prst="rect">
            <a:avLst/>
          </a:prstGeom>
          <a:solidFill>
            <a:srgbClr val="A6A6A6">
              <a:alpha val="11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4" name="Text 72"/>
          <p:cNvSpPr/>
          <p:nvPr/>
        </p:nvSpPr>
        <p:spPr>
          <a:xfrm>
            <a:off x="11247120" y="2057400"/>
            <a:ext cx="347472" cy="191110"/>
          </a:xfrm>
          <a:custGeom>
            <a:avLst/>
            <a:gdLst/>
            <a:ahLst/>
            <a:cxnLst/>
            <a:rect l="l" t="t" r="r" b="b"/>
            <a:pathLst>
              <a:path w="347472" h="191110">
                <a:moveTo>
                  <a:pt x="0" y="191110"/>
                </a:moveTo>
                <a:lnTo>
                  <a:pt x="173736" y="0"/>
                </a:lnTo>
                <a:lnTo>
                  <a:pt x="347472" y="191110"/>
                </a:lnTo>
                <a:close/>
              </a:path>
            </a:pathLst>
          </a:custGeom>
          <a:solidFill>
            <a:srgbClr val="A6A6A6">
              <a:alpha val="11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5" name="Text 73"/>
          <p:cNvSpPr/>
          <p:nvPr/>
        </p:nvSpPr>
        <p:spPr>
          <a:xfrm>
            <a:off x="11247120" y="5752490"/>
            <a:ext cx="347472" cy="191110"/>
          </a:xfrm>
          <a:custGeom>
            <a:avLst/>
            <a:gdLst/>
            <a:ahLst/>
            <a:cxnLst/>
            <a:rect l="l" t="t" r="r" b="b"/>
            <a:pathLst>
              <a:path w="347472" h="191110">
                <a:moveTo>
                  <a:pt x="0" y="0"/>
                </a:moveTo>
                <a:lnTo>
                  <a:pt x="347472" y="0"/>
                </a:lnTo>
                <a:lnTo>
                  <a:pt x="173736" y="191110"/>
                </a:lnTo>
                <a:close/>
              </a:path>
            </a:pathLst>
          </a:custGeom>
          <a:solidFill>
            <a:srgbClr val="A6A6A6">
              <a:alpha val="50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6" name="Text 74"/>
          <p:cNvSpPr/>
          <p:nvPr/>
        </p:nvSpPr>
        <p:spPr>
          <a:xfrm>
            <a:off x="10378440" y="1755648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情境限定</a:t>
            </a:r>
            <a:endParaRPr lang="en-US" sz="1000" dirty="0"/>
          </a:p>
        </p:txBody>
      </p:sp>
      <p:sp>
        <p:nvSpPr>
          <p:cNvPr id="77" name="Text 75"/>
          <p:cNvSpPr/>
          <p:nvPr/>
        </p:nvSpPr>
        <p:spPr>
          <a:xfrm>
            <a:off x="10378440" y="5989320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C9A22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跨域通用</a:t>
            </a:r>
            <a:endParaRPr lang="en-US" sz="1000" dirty="0"/>
          </a:p>
        </p:txBody>
      </p:sp>
      <p:sp>
        <p:nvSpPr>
          <p:cNvPr id="78" name="Text 76"/>
          <p:cNvSpPr/>
          <p:nvPr/>
        </p:nvSpPr>
        <p:spPr>
          <a:xfrm>
            <a:off x="548640" y="6309360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墨綠筆記</a:t>
            </a:r>
            <a:pPr algn="l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900" dirty="0"/>
          </a:p>
        </p:txBody>
      </p:sp>
      <p:sp>
        <p:nvSpPr>
          <p:cNvPr id="79" name="Text 77"/>
          <p:cNvSpPr/>
          <p:nvPr/>
        </p:nvSpPr>
        <p:spPr>
          <a:xfrm>
            <a:off x="10271455" y="6309360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11 / 11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精緻圖解元件庫 · 墨綠筆記</dc:title>
  <dc:subject>PptxGenJS Presentation</dc:subject>
  <dc:creator>PPT Style Studio</dc:creator>
  <cp:lastModifiedBy>PPT Style Studio</cp:lastModifiedBy>
  <cp:revision>1</cp:revision>
  <dcterms:created xsi:type="dcterms:W3CDTF">2026-10-08T23:05:43Z</dcterms:created>
  <dcterms:modified xsi:type="dcterms:W3CDTF">2026-10-08T23:05:43Z</dcterms:modified>
</cp:coreProperties>
</file>