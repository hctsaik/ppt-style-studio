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元件總表 Element Catalog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一頁看完本風格的所有元件變化：挑好樣式，直接複製圖形使用</a:t>
            </a:r>
            <a:endParaRPr lang="en-US" sz="1600" dirty="0"/>
          </a:p>
        </p:txBody>
      </p:sp>
      <p:sp>
        <p:nvSpPr>
          <p:cNvPr id="5" name="類別"/>
          <p:cNvSpPr/>
          <p:nvPr/>
        </p:nvSpPr>
        <p:spPr>
          <a:xfrm>
            <a:off x="548640" y="174193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流程方塊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400" dirty="0"/>
          </a:p>
        </p:txBody>
      </p:sp>
      <p:sp>
        <p:nvSpPr>
          <p:cNvPr id="6" name="流程方塊"/>
          <p:cNvSpPr/>
          <p:nvPr/>
        </p:nvSpPr>
        <p:spPr>
          <a:xfrm>
            <a:off x="1998160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7" name="圖說"/>
          <p:cNvSpPr/>
          <p:nvPr/>
        </p:nvSpPr>
        <p:spPr>
          <a:xfrm>
            <a:off x="1874520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無陰影・外框</a:t>
            </a:r>
            <a:endParaRPr lang="en-US" sz="850" dirty="0"/>
          </a:p>
        </p:txBody>
      </p:sp>
      <p:sp>
        <p:nvSpPr>
          <p:cNvPr id="8" name="流程方塊"/>
          <p:cNvSpPr/>
          <p:nvPr/>
        </p:nvSpPr>
        <p:spPr>
          <a:xfrm>
            <a:off x="3397584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9" name="圖說"/>
          <p:cNvSpPr/>
          <p:nvPr/>
        </p:nvSpPr>
        <p:spPr>
          <a:xfrm>
            <a:off x="3273944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10" name="流程方塊"/>
          <p:cNvSpPr/>
          <p:nvPr/>
        </p:nvSpPr>
        <p:spPr>
          <a:xfrm>
            <a:off x="4797008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E0F0F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1" name="圖說"/>
          <p:cNvSpPr/>
          <p:nvPr/>
        </p:nvSpPr>
        <p:spPr>
          <a:xfrm>
            <a:off x="4673368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12" name="流程方塊"/>
          <p:cNvSpPr/>
          <p:nvPr/>
        </p:nvSpPr>
        <p:spPr>
          <a:xfrm>
            <a:off x="6196432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3" name="圖說"/>
          <p:cNvSpPr/>
          <p:nvPr/>
        </p:nvSpPr>
        <p:spPr>
          <a:xfrm>
            <a:off x="6072792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850" dirty="0"/>
          </a:p>
        </p:txBody>
      </p:sp>
      <p:sp>
        <p:nvSpPr>
          <p:cNvPr id="14" name="流程方塊"/>
          <p:cNvSpPr/>
          <p:nvPr/>
        </p:nvSpPr>
        <p:spPr>
          <a:xfrm>
            <a:off x="7595855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22225">
            <a:solidFill>
              <a:srgbClr val="0F7C80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5" name="圖說"/>
          <p:cNvSpPr/>
          <p:nvPr/>
        </p:nvSpPr>
        <p:spPr>
          <a:xfrm>
            <a:off x="7472216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主色粗外框</a:t>
            </a:r>
            <a:endParaRPr lang="en-US" sz="850" dirty="0"/>
          </a:p>
        </p:txBody>
      </p:sp>
      <p:sp>
        <p:nvSpPr>
          <p:cNvPr id="16" name="流程方塊"/>
          <p:cNvSpPr/>
          <p:nvPr/>
        </p:nvSpPr>
        <p:spPr>
          <a:xfrm>
            <a:off x="8995279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0F7C8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關鍵步驟</a:t>
            </a:r>
            <a:endParaRPr lang="en-US" sz="1150" dirty="0"/>
          </a:p>
        </p:txBody>
      </p:sp>
      <p:sp>
        <p:nvSpPr>
          <p:cNvPr id="17" name="圖說"/>
          <p:cNvSpPr/>
          <p:nvPr/>
        </p:nvSpPr>
        <p:spPr>
          <a:xfrm>
            <a:off x="8871639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18" name="流程方塊"/>
          <p:cNvSpPr/>
          <p:nvPr/>
        </p:nvSpPr>
        <p:spPr>
          <a:xfrm>
            <a:off x="10394703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待定步驟</a:t>
            </a:r>
            <a:endParaRPr lang="en-US" sz="1150" dirty="0"/>
          </a:p>
        </p:txBody>
      </p:sp>
      <p:sp>
        <p:nvSpPr>
          <p:cNvPr id="19" name="圖說"/>
          <p:cNvSpPr/>
          <p:nvPr/>
        </p:nvSpPr>
        <p:spPr>
          <a:xfrm>
            <a:off x="10271063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虛線・待定</a:t>
            </a:r>
            <a:endParaRPr lang="en-US" sz="850" dirty="0"/>
          </a:p>
        </p:txBody>
      </p:sp>
      <p:sp>
        <p:nvSpPr>
          <p:cNvPr id="20" name="線條"/>
          <p:cNvSpPr/>
          <p:nvPr/>
        </p:nvSpPr>
        <p:spPr>
          <a:xfrm>
            <a:off x="548640" y="226314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21" name="類別"/>
          <p:cNvSpPr/>
          <p:nvPr/>
        </p:nvSpPr>
        <p:spPr>
          <a:xfrm>
            <a:off x="548640" y="242773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判斷菱形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400" dirty="0"/>
          </a:p>
        </p:txBody>
      </p:sp>
      <p:sp>
        <p:nvSpPr>
          <p:cNvPr id="22" name="判斷菱形"/>
          <p:cNvSpPr/>
          <p:nvPr/>
        </p:nvSpPr>
        <p:spPr>
          <a:xfrm>
            <a:off x="2066740" y="231343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3" name="圖說"/>
          <p:cNvSpPr/>
          <p:nvPr/>
        </p:nvSpPr>
        <p:spPr>
          <a:xfrm>
            <a:off x="1874520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850" dirty="0"/>
          </a:p>
        </p:txBody>
      </p:sp>
      <p:sp>
        <p:nvSpPr>
          <p:cNvPr id="24" name="判斷菱形"/>
          <p:cNvSpPr/>
          <p:nvPr/>
        </p:nvSpPr>
        <p:spPr>
          <a:xfrm>
            <a:off x="3466164" y="2313432"/>
            <a:ext cx="960120" cy="475488"/>
          </a:xfrm>
          <a:prstGeom prst="diamond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5" name="圖說"/>
          <p:cNvSpPr/>
          <p:nvPr/>
        </p:nvSpPr>
        <p:spPr>
          <a:xfrm>
            <a:off x="3273944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26" name="判斷菱形"/>
          <p:cNvSpPr/>
          <p:nvPr/>
        </p:nvSpPr>
        <p:spPr>
          <a:xfrm>
            <a:off x="4865588" y="2313432"/>
            <a:ext cx="960120" cy="475488"/>
          </a:xfrm>
          <a:prstGeom prst="diamond">
            <a:avLst/>
          </a:prstGeom>
          <a:solidFill>
            <a:srgbClr val="E0F0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7" name="圖說"/>
          <p:cNvSpPr/>
          <p:nvPr/>
        </p:nvSpPr>
        <p:spPr>
          <a:xfrm>
            <a:off x="4673368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28" name="判斷菱形"/>
          <p:cNvSpPr/>
          <p:nvPr/>
        </p:nvSpPr>
        <p:spPr>
          <a:xfrm>
            <a:off x="6265012" y="2313432"/>
            <a:ext cx="960120" cy="475488"/>
          </a:xfrm>
          <a:prstGeom prst="diamond">
            <a:avLst/>
          </a:prstGeom>
          <a:solidFill>
            <a:srgbClr val="FFFFFF"/>
          </a:solidFill>
          <a:ln w="19050">
            <a:solidFill>
              <a:srgbClr val="0F7C8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9" name="圖說"/>
          <p:cNvSpPr/>
          <p:nvPr/>
        </p:nvSpPr>
        <p:spPr>
          <a:xfrm>
            <a:off x="6072792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主色外框</a:t>
            </a:r>
            <a:endParaRPr lang="en-US" sz="850" dirty="0"/>
          </a:p>
        </p:txBody>
      </p:sp>
      <p:sp>
        <p:nvSpPr>
          <p:cNvPr id="30" name="判斷菱形"/>
          <p:cNvSpPr/>
          <p:nvPr/>
        </p:nvSpPr>
        <p:spPr>
          <a:xfrm>
            <a:off x="7664435" y="2313432"/>
            <a:ext cx="960120" cy="475488"/>
          </a:xfrm>
          <a:prstGeom prst="diamond">
            <a:avLst/>
          </a:prstGeom>
          <a:solidFill>
            <a:srgbClr val="0F7C8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1" name="圖說"/>
          <p:cNvSpPr/>
          <p:nvPr/>
        </p:nvSpPr>
        <p:spPr>
          <a:xfrm>
            <a:off x="7472216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32" name="判斷菱形"/>
          <p:cNvSpPr/>
          <p:nvPr/>
        </p:nvSpPr>
        <p:spPr>
          <a:xfrm>
            <a:off x="9063859" y="231343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3" name="圖說"/>
          <p:cNvSpPr/>
          <p:nvPr/>
        </p:nvSpPr>
        <p:spPr>
          <a:xfrm>
            <a:off x="8871639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虛線・待確認</a:t>
            </a:r>
            <a:endParaRPr lang="en-US" sz="850" dirty="0"/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10330695" y="2313432"/>
            <a:ext cx="1115568" cy="475488"/>
            <a:chOff x="10330695" y="2313432"/>
            <a:chExt cx="1115568" cy="475488"/>
          </a:xfrm>
        </p:grpSpPr>
        <p:sp>
          <p:nvSpPr>
            <p:cNvPr id="34" name="判斷菱形"/>
            <p:cNvSpPr/>
            <p:nvPr/>
          </p:nvSpPr>
          <p:spPr>
            <a:xfrm>
              <a:off x="10330695" y="2313432"/>
              <a:ext cx="566928" cy="475488"/>
            </a:xfrm>
            <a:prstGeom prst="diamond">
              <a:avLst/>
            </a:prstGeom>
            <a:solidFill>
              <a:srgbClr val="FFFFFF"/>
            </a:solidFill>
            <a:ln w="15875">
              <a:solidFill>
                <a:srgbClr val="0F7C80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35" name="線條"/>
            <p:cNvSpPr/>
            <p:nvPr/>
          </p:nvSpPr>
          <p:spPr>
            <a:xfrm>
              <a:off x="10897623" y="2551176"/>
              <a:ext cx="548640" cy="0"/>
            </a:xfrm>
            <a:prstGeom prst="line">
              <a:avLst/>
            </a:prstGeom>
            <a:noFill/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sp>
        <p:sp>
          <p:nvSpPr>
            <p:cNvPr id="36" name="標註"/>
            <p:cNvSpPr/>
            <p:nvPr/>
          </p:nvSpPr>
          <p:spPr>
            <a:xfrm>
              <a:off x="10915911" y="2368296"/>
              <a:ext cx="274320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800" dirty="0"/>
            </a:p>
          </p:txBody>
        </p:sp>
      </p:grpSp>
      <p:sp>
        <p:nvSpPr>
          <p:cNvPr id="37" name="圖說"/>
          <p:cNvSpPr/>
          <p:nvPr/>
        </p:nvSpPr>
        <p:spPr>
          <a:xfrm>
            <a:off x="10271063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判斷＋分岔箭頭</a:t>
            </a:r>
            <a:endParaRPr lang="en-US" sz="850" dirty="0"/>
          </a:p>
        </p:txBody>
      </p:sp>
      <p:sp>
        <p:nvSpPr>
          <p:cNvPr id="38" name="線條"/>
          <p:cNvSpPr/>
          <p:nvPr/>
        </p:nvSpPr>
        <p:spPr>
          <a:xfrm>
            <a:off x="548640" y="299466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39" name="類別"/>
          <p:cNvSpPr/>
          <p:nvPr/>
        </p:nvSpPr>
        <p:spPr>
          <a:xfrm>
            <a:off x="548640" y="3095244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Start / End</a:t>
            </a:r>
            <a:endParaRPr lang="en-US" sz="1400" dirty="0"/>
          </a:p>
        </p:txBody>
      </p:sp>
      <p:sp>
        <p:nvSpPr>
          <p:cNvPr id="40" name="開始／結束"/>
          <p:cNvSpPr/>
          <p:nvPr/>
        </p:nvSpPr>
        <p:spPr>
          <a:xfrm>
            <a:off x="1998160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0F7C80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1" name="圖說"/>
          <p:cNvSpPr/>
          <p:nvPr/>
        </p:nvSpPr>
        <p:spPr>
          <a:xfrm>
            <a:off x="1874520" y="342442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850" dirty="0"/>
          </a:p>
        </p:txBody>
      </p:sp>
      <p:sp>
        <p:nvSpPr>
          <p:cNvPr id="42" name="開始／結束"/>
          <p:cNvSpPr/>
          <p:nvPr/>
        </p:nvSpPr>
        <p:spPr>
          <a:xfrm>
            <a:off x="3397584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3" name="圖說"/>
          <p:cNvSpPr/>
          <p:nvPr/>
        </p:nvSpPr>
        <p:spPr>
          <a:xfrm>
            <a:off x="3273944" y="342442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44" name="開始／結束"/>
          <p:cNvSpPr/>
          <p:nvPr/>
        </p:nvSpPr>
        <p:spPr>
          <a:xfrm>
            <a:off x="4797008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5" name="圖說"/>
          <p:cNvSpPr/>
          <p:nvPr/>
        </p:nvSpPr>
        <p:spPr>
          <a:xfrm>
            <a:off x="4673368" y="342442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850" dirty="0"/>
          </a:p>
        </p:txBody>
      </p:sp>
      <p:sp>
        <p:nvSpPr>
          <p:cNvPr id="46" name="開始／結束"/>
          <p:cNvSpPr/>
          <p:nvPr/>
        </p:nvSpPr>
        <p:spPr>
          <a:xfrm>
            <a:off x="6196432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7" name="圖說"/>
          <p:cNvSpPr/>
          <p:nvPr/>
        </p:nvSpPr>
        <p:spPr>
          <a:xfrm>
            <a:off x="6072792" y="342442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48" name="開始／結束"/>
          <p:cNvSpPr/>
          <p:nvPr/>
        </p:nvSpPr>
        <p:spPr>
          <a:xfrm>
            <a:off x="7595855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50" dirty="0"/>
          </a:p>
        </p:txBody>
      </p:sp>
      <p:sp>
        <p:nvSpPr>
          <p:cNvPr id="49" name="圖說"/>
          <p:cNvSpPr/>
          <p:nvPr/>
        </p:nvSpPr>
        <p:spPr>
          <a:xfrm>
            <a:off x="7472216" y="342442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50" name="開始／結束"/>
          <p:cNvSpPr/>
          <p:nvPr/>
        </p:nvSpPr>
        <p:spPr>
          <a:xfrm>
            <a:off x="8995279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50" dirty="0"/>
          </a:p>
        </p:txBody>
      </p:sp>
      <p:sp>
        <p:nvSpPr>
          <p:cNvPr id="51" name="圖說"/>
          <p:cNvSpPr/>
          <p:nvPr/>
        </p:nvSpPr>
        <p:spPr>
          <a:xfrm>
            <a:off x="8871639" y="342442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強調色</a:t>
            </a:r>
            <a:endParaRPr lang="en-US" sz="850" dirty="0"/>
          </a:p>
        </p:txBody>
      </p:sp>
      <p:sp>
        <p:nvSpPr>
          <p:cNvPr id="52" name="線條"/>
          <p:cNvSpPr/>
          <p:nvPr/>
        </p:nvSpPr>
        <p:spPr>
          <a:xfrm>
            <a:off x="548640" y="359816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53" name="類別"/>
          <p:cNvSpPr/>
          <p:nvPr/>
        </p:nvSpPr>
        <p:spPr>
          <a:xfrm>
            <a:off x="548640" y="370789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箭頭與連接線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Arrows</a:t>
            </a:r>
            <a:endParaRPr lang="en-US" sz="1400" dirty="0"/>
          </a:p>
        </p:txBody>
      </p:sp>
      <p:sp>
        <p:nvSpPr>
          <p:cNvPr id="54" name="線條"/>
          <p:cNvSpPr/>
          <p:nvPr/>
        </p:nvSpPr>
        <p:spPr>
          <a:xfrm>
            <a:off x="2016448" y="3831336"/>
            <a:ext cx="1060704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olid"/>
            <a:tailEnd type="triangle" w="lg" len="lg"/>
          </a:ln>
        </p:spPr>
      </p:sp>
      <p:sp>
        <p:nvSpPr>
          <p:cNvPr id="55" name="圖說"/>
          <p:cNvSpPr/>
          <p:nvPr/>
        </p:nvSpPr>
        <p:spPr>
          <a:xfrm>
            <a:off x="1874520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細直線箭頭</a:t>
            </a:r>
            <a:endParaRPr lang="en-US" sz="850" dirty="0"/>
          </a:p>
        </p:txBody>
      </p:sp>
      <p:sp>
        <p:nvSpPr>
          <p:cNvPr id="56" name="線條"/>
          <p:cNvSpPr/>
          <p:nvPr/>
        </p:nvSpPr>
        <p:spPr>
          <a:xfrm>
            <a:off x="3415872" y="3831336"/>
            <a:ext cx="1060704" cy="0"/>
          </a:xfrm>
          <a:prstGeom prst="line">
            <a:avLst/>
          </a:prstGeom>
          <a:noFill/>
          <a:ln w="28575">
            <a:solidFill>
              <a:srgbClr val="0F7C80"/>
            </a:solidFill>
            <a:prstDash val="solid"/>
            <a:tailEnd type="triangle"/>
          </a:ln>
        </p:spPr>
      </p:sp>
      <p:sp>
        <p:nvSpPr>
          <p:cNvPr id="57" name="圖說"/>
          <p:cNvSpPr/>
          <p:nvPr/>
        </p:nvSpPr>
        <p:spPr>
          <a:xfrm>
            <a:off x="3273944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粗箭頭</a:t>
            </a:r>
            <a:endParaRPr lang="en-US" sz="850" dirty="0"/>
          </a:p>
        </p:txBody>
      </p:sp>
      <p:sp>
        <p:nvSpPr>
          <p:cNvPr id="58" name="連接線"/>
          <p:cNvSpPr/>
          <p:nvPr/>
        </p:nvSpPr>
        <p:spPr>
          <a:xfrm>
            <a:off x="4815296" y="3694176"/>
            <a:ext cx="1060704" cy="274320"/>
          </a:xfrm>
          <a:custGeom>
            <a:avLst/>
            <a:gdLst/>
            <a:ahLst/>
            <a:cxnLst/>
            <a:rect l="l" t="t" r="r" b="b"/>
            <a:pathLst>
              <a:path w="1060704" h="274320">
                <a:moveTo>
                  <a:pt x="0" y="0"/>
                </a:moveTo>
                <a:lnTo>
                  <a:pt x="530352" y="0"/>
                </a:lnTo>
                <a:lnTo>
                  <a:pt x="530352" y="274320"/>
                </a:lnTo>
                <a:lnTo>
                  <a:pt x="1060704" y="274320"/>
                </a:lnTo>
              </a:path>
            </a:pathLst>
          </a:custGeom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圖說"/>
          <p:cNvSpPr/>
          <p:nvPr/>
        </p:nvSpPr>
        <p:spPr>
          <a:xfrm>
            <a:off x="4673368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折線連接</a:t>
            </a:r>
            <a:endParaRPr lang="en-US" sz="850" dirty="0"/>
          </a:p>
        </p:txBody>
      </p:sp>
      <p:sp>
        <p:nvSpPr>
          <p:cNvPr id="60" name="線條"/>
          <p:cNvSpPr/>
          <p:nvPr/>
        </p:nvSpPr>
        <p:spPr>
          <a:xfrm>
            <a:off x="6214720" y="3831336"/>
            <a:ext cx="1060704" cy="0"/>
          </a:xfrm>
          <a:prstGeom prst="line">
            <a:avLst/>
          </a:prstGeom>
          <a:noFill/>
          <a:ln w="15875">
            <a:solidFill>
              <a:srgbClr val="707070"/>
            </a:solidFill>
            <a:prstDash val="sysDash"/>
            <a:tailEnd type="arrow"/>
          </a:ln>
        </p:spPr>
      </p:sp>
      <p:sp>
        <p:nvSpPr>
          <p:cNvPr id="61" name="圖說"/>
          <p:cNvSpPr/>
          <p:nvPr/>
        </p:nvSpPr>
        <p:spPr>
          <a:xfrm>
            <a:off x="6072792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虛線（次要／回饋）</a:t>
            </a:r>
            <a:endParaRPr lang="en-US" sz="850" dirty="0"/>
          </a:p>
        </p:txBody>
      </p:sp>
      <p:sp>
        <p:nvSpPr>
          <p:cNvPr id="62" name="線條"/>
          <p:cNvSpPr/>
          <p:nvPr/>
        </p:nvSpPr>
        <p:spPr>
          <a:xfrm>
            <a:off x="7614143" y="3831336"/>
            <a:ext cx="1060704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olid"/>
            <a:headEnd type="triangle" w="lg" len="lg"/>
            <a:tailEnd type="triangle" w="lg" len="lg"/>
          </a:ln>
        </p:spPr>
      </p:sp>
      <p:sp>
        <p:nvSpPr>
          <p:cNvPr id="63" name="圖說"/>
          <p:cNvSpPr/>
          <p:nvPr/>
        </p:nvSpPr>
        <p:spPr>
          <a:xfrm>
            <a:off x="7472216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雙向箭頭</a:t>
            </a:r>
            <a:endParaRPr lang="en-US" sz="850" dirty="0"/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9214735" y="3703320"/>
            <a:ext cx="640080" cy="256032"/>
            <a:chOff x="9214735" y="3703320"/>
            <a:chExt cx="640080" cy="256032"/>
          </a:xfrm>
        </p:grpSpPr>
        <p:sp>
          <p:nvSpPr>
            <p:cNvPr id="64" name="三角分隔"/>
            <p:cNvSpPr/>
            <p:nvPr/>
          </p:nvSpPr>
          <p:spPr>
            <a:xfrm>
              <a:off x="9214735" y="3730752"/>
              <a:ext cx="155448" cy="201168"/>
            </a:xfrm>
            <a:custGeom>
              <a:avLst/>
              <a:gdLst/>
              <a:ahLst/>
              <a:cxnLst/>
              <a:rect l="l" t="t" r="r" b="b"/>
              <a:pathLst>
                <a:path w="155448" h="201168">
                  <a:moveTo>
                    <a:pt x="0" y="0"/>
                  </a:moveTo>
                  <a:lnTo>
                    <a:pt x="155448" y="100584"/>
                  </a:lnTo>
                  <a:lnTo>
                    <a:pt x="0" y="201168"/>
                  </a:lnTo>
                  <a:close/>
                </a:path>
              </a:pathLst>
            </a:custGeom>
            <a:solidFill>
              <a:srgbClr val="595959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5" name="V 形分隔"/>
            <p:cNvSpPr/>
            <p:nvPr/>
          </p:nvSpPr>
          <p:spPr>
            <a:xfrm>
              <a:off x="9708511" y="3703320"/>
              <a:ext cx="146304" cy="256032"/>
            </a:xfrm>
            <a:prstGeom prst="chevron">
              <a:avLst>
                <a:gd name="adj" fmla="val 62500"/>
              </a:avLst>
            </a:prstGeom>
            <a:solidFill>
              <a:srgbClr val="0F7C80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66" name="圖說"/>
          <p:cNvSpPr/>
          <p:nvPr/>
        </p:nvSpPr>
        <p:spPr>
          <a:xfrm>
            <a:off x="8871639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三角／V 形分隔</a:t>
            </a:r>
            <a:endParaRPr lang="en-US" sz="850" dirty="0"/>
          </a:p>
        </p:txBody>
      </p:sp>
      <p:sp>
        <p:nvSpPr>
          <p:cNvPr id="67" name="區塊箭頭"/>
          <p:cNvSpPr/>
          <p:nvPr/>
        </p:nvSpPr>
        <p:spPr>
          <a:xfrm>
            <a:off x="10440423" y="3648456"/>
            <a:ext cx="1005840" cy="365760"/>
          </a:xfrm>
          <a:custGeom>
            <a:avLst/>
            <a:gdLst/>
            <a:ahLst/>
            <a:cxnLst/>
            <a:rect l="l" t="t" r="r" b="b"/>
            <a:pathLst>
              <a:path w="1005840" h="365760">
                <a:moveTo>
                  <a:pt x="0" y="109728"/>
                </a:moveTo>
                <a:lnTo>
                  <a:pt x="786384" y="109728"/>
                </a:lnTo>
                <a:lnTo>
                  <a:pt x="786384" y="0"/>
                </a:lnTo>
                <a:lnTo>
                  <a:pt x="1005840" y="182880"/>
                </a:lnTo>
                <a:lnTo>
                  <a:pt x="786384" y="365760"/>
                </a:lnTo>
                <a:lnTo>
                  <a:pt x="786384" y="256032"/>
                </a:lnTo>
                <a:lnTo>
                  <a:pt x="0" y="256032"/>
                </a:lnTo>
                <a:close/>
              </a:path>
            </a:pathLst>
          </a:cu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圖說"/>
          <p:cNvSpPr/>
          <p:nvPr/>
        </p:nvSpPr>
        <p:spPr>
          <a:xfrm>
            <a:off x="10271063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區塊箭頭</a:t>
            </a:r>
            <a:endParaRPr lang="en-US" sz="850" dirty="0"/>
          </a:p>
        </p:txBody>
      </p:sp>
      <p:sp>
        <p:nvSpPr>
          <p:cNvPr id="69" name="線條"/>
          <p:cNvSpPr/>
          <p:nvPr/>
        </p:nvSpPr>
        <p:spPr>
          <a:xfrm>
            <a:off x="548640" y="4219956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70" name="類別"/>
          <p:cNvSpPr/>
          <p:nvPr/>
        </p:nvSpPr>
        <p:spPr>
          <a:xfrm>
            <a:off x="548640" y="434797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例外與警示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Exception</a:t>
            </a:r>
            <a:endParaRPr lang="en-US" sz="1400" dirty="0"/>
          </a:p>
        </p:txBody>
      </p:sp>
      <p:sp>
        <p:nvSpPr>
          <p:cNvPr id="71" name="警示方塊"/>
          <p:cNvSpPr/>
          <p:nvPr/>
        </p:nvSpPr>
        <p:spPr>
          <a:xfrm>
            <a:off x="1998160" y="427024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9050">
            <a:solidFill>
              <a:srgbClr val="F2A541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67C3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例外狀況</a:t>
            </a:r>
            <a:endParaRPr lang="en-US" sz="1150" dirty="0"/>
          </a:p>
        </p:txBody>
      </p:sp>
      <p:sp>
        <p:nvSpPr>
          <p:cNvPr id="72" name="圖說"/>
          <p:cNvSpPr/>
          <p:nvPr/>
        </p:nvSpPr>
        <p:spPr>
          <a:xfrm>
            <a:off x="1874520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警示外框</a:t>
            </a:r>
            <a:endParaRPr lang="en-US" sz="850" dirty="0"/>
          </a:p>
        </p:txBody>
      </p:sp>
      <p:sp>
        <p:nvSpPr>
          <p:cNvPr id="73" name="警示方塊"/>
          <p:cNvSpPr/>
          <p:nvPr/>
        </p:nvSpPr>
        <p:spPr>
          <a:xfrm>
            <a:off x="3397584" y="427024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FDF2E4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67C3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注意事項</a:t>
            </a:r>
            <a:endParaRPr lang="en-US" sz="1150" dirty="0"/>
          </a:p>
        </p:txBody>
      </p:sp>
      <p:sp>
        <p:nvSpPr>
          <p:cNvPr id="74" name="圖說"/>
          <p:cNvSpPr/>
          <p:nvPr/>
        </p:nvSpPr>
        <p:spPr>
          <a:xfrm>
            <a:off x="3273944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警示淺底</a:t>
            </a:r>
            <a:endParaRPr lang="en-US" sz="850" dirty="0"/>
          </a:p>
        </p:txBody>
      </p:sp>
      <p:sp>
        <p:nvSpPr>
          <p:cNvPr id="75" name="警示方塊"/>
          <p:cNvSpPr/>
          <p:nvPr/>
        </p:nvSpPr>
        <p:spPr>
          <a:xfrm>
            <a:off x="4797008" y="427024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F2A541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中止</a:t>
            </a:r>
            <a:endParaRPr lang="en-US" sz="1150" dirty="0"/>
          </a:p>
        </p:txBody>
      </p:sp>
      <p:sp>
        <p:nvSpPr>
          <p:cNvPr id="76" name="圖說"/>
          <p:cNvSpPr/>
          <p:nvPr/>
        </p:nvSpPr>
        <p:spPr>
          <a:xfrm>
            <a:off x="4673368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深底警示</a:t>
            </a:r>
            <a:endParaRPr lang="en-US" sz="850" dirty="0"/>
          </a:p>
        </p:txBody>
      </p:sp>
      <p:grpSp>
        <p:nvGrpSpPr>
          <p:cNvPr id="5002" name="警告三角"/>
          <p:cNvGrpSpPr/>
          <p:nvPr/>
        </p:nvGrpSpPr>
        <p:grpSpPr>
          <a:xfrm>
            <a:off x="6507050" y="4266225"/>
            <a:ext cx="476044" cy="410383"/>
            <a:chOff x="6507050" y="4266225"/>
            <a:chExt cx="476044" cy="410383"/>
          </a:xfrm>
        </p:grpSpPr>
        <p:sp>
          <p:nvSpPr>
            <p:cNvPr id="77" name="警告三角"/>
            <p:cNvSpPr/>
            <p:nvPr/>
          </p:nvSpPr>
          <p:spPr>
            <a:xfrm>
              <a:off x="6507050" y="4266225"/>
              <a:ext cx="476044" cy="410383"/>
            </a:xfrm>
            <a:custGeom>
              <a:avLst/>
              <a:gdLst/>
              <a:ahLst/>
              <a:cxnLst/>
              <a:rect l="l" t="t" r="r" b="b"/>
              <a:pathLst>
                <a:path w="476044" h="410383">
                  <a:moveTo>
                    <a:pt x="0" y="410383"/>
                  </a:moveTo>
                  <a:lnTo>
                    <a:pt x="238022" y="0"/>
                  </a:lnTo>
                  <a:lnTo>
                    <a:pt x="476044" y="410383"/>
                  </a:lnTo>
                  <a:close/>
                </a:path>
              </a:pathLst>
            </a:custGeom>
            <a:solidFill>
              <a:srgbClr val="F2A541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8" name="驚嘆號"/>
            <p:cNvSpPr/>
            <p:nvPr/>
          </p:nvSpPr>
          <p:spPr>
            <a:xfrm>
              <a:off x="6507050" y="4389339"/>
              <a:ext cx="476044" cy="2790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70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!</a:t>
              </a:r>
              <a:endParaRPr lang="en-US" sz="1700" dirty="0"/>
            </a:p>
          </p:txBody>
        </p:sp>
      </p:grpSp>
      <p:sp>
        <p:nvSpPr>
          <p:cNvPr id="79" name="圖說"/>
          <p:cNvSpPr/>
          <p:nvPr/>
        </p:nvSpPr>
        <p:spPr>
          <a:xfrm>
            <a:off x="6072792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警告三角</a:t>
            </a:r>
            <a:endParaRPr lang="en-US" sz="850" dirty="0"/>
          </a:p>
        </p:txBody>
      </p:sp>
      <p:sp>
        <p:nvSpPr>
          <p:cNvPr id="80" name="錯誤標記"/>
          <p:cNvSpPr/>
          <p:nvPr/>
        </p:nvSpPr>
        <p:spPr>
          <a:xfrm>
            <a:off x="7979538" y="4306458"/>
            <a:ext cx="329916" cy="329916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600" dirty="0"/>
          </a:p>
        </p:txBody>
      </p:sp>
      <p:sp>
        <p:nvSpPr>
          <p:cNvPr id="81" name="圖說"/>
          <p:cNvSpPr/>
          <p:nvPr/>
        </p:nvSpPr>
        <p:spPr>
          <a:xfrm>
            <a:off x="7472216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 錯誤標記</a:t>
            </a:r>
            <a:endParaRPr lang="en-US" sz="850" dirty="0"/>
          </a:p>
        </p:txBody>
      </p:sp>
      <p:grpSp>
        <p:nvGrpSpPr>
          <p:cNvPr id="5003" name="紅點提示"/>
          <p:cNvGrpSpPr/>
          <p:nvPr/>
        </p:nvGrpSpPr>
        <p:grpSpPr>
          <a:xfrm>
            <a:off x="8995279" y="4210812"/>
            <a:ext cx="1156716" cy="461772"/>
            <a:chOff x="8995279" y="4210812"/>
            <a:chExt cx="1156716" cy="461772"/>
          </a:xfrm>
        </p:grpSpPr>
        <p:sp>
          <p:nvSpPr>
            <p:cNvPr id="82" name="流程方塊"/>
            <p:cNvSpPr/>
            <p:nvPr/>
          </p:nvSpPr>
          <p:spPr>
            <a:xfrm>
              <a:off x="8995279" y="4270248"/>
              <a:ext cx="1097280" cy="402336"/>
            </a:xfrm>
            <a:prstGeom prst="roundRect">
              <a:avLst>
                <a:gd name="adj" fmla="val 22727"/>
              </a:avLst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待處理</a:t>
              </a:r>
              <a:endParaRPr lang="en-US" sz="1150" dirty="0"/>
            </a:p>
          </p:txBody>
        </p:sp>
        <p:sp>
          <p:nvSpPr>
            <p:cNvPr id="83" name="提示紅點"/>
            <p:cNvSpPr/>
            <p:nvPr/>
          </p:nvSpPr>
          <p:spPr>
            <a:xfrm>
              <a:off x="9996547" y="4210812"/>
              <a:ext cx="155448" cy="155448"/>
            </a:xfrm>
            <a:prstGeom prst="ellipse">
              <a:avLst/>
            </a:prstGeom>
            <a:solidFill>
              <a:srgbClr val="F2A541"/>
            </a:solidFill>
            <a:ln w="15875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84" name="圖說"/>
          <p:cNvSpPr/>
          <p:nvPr/>
        </p:nvSpPr>
        <p:spPr>
          <a:xfrm>
            <a:off x="8871639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紅點提示</a:t>
            </a:r>
            <a:endParaRPr lang="en-US" sz="850" dirty="0"/>
          </a:p>
        </p:txBody>
      </p:sp>
      <p:sp>
        <p:nvSpPr>
          <p:cNvPr id="85" name="連接線"/>
          <p:cNvSpPr/>
          <p:nvPr/>
        </p:nvSpPr>
        <p:spPr>
          <a:xfrm>
            <a:off x="10412991" y="4325112"/>
            <a:ext cx="1060704" cy="292608"/>
          </a:xfrm>
          <a:custGeom>
            <a:avLst/>
            <a:gdLst/>
            <a:ahLst/>
            <a:cxnLst/>
            <a:rect l="l" t="t" r="r" b="b"/>
            <a:pathLst>
              <a:path w="1060704" h="292608">
                <a:moveTo>
                  <a:pt x="0" y="0"/>
                </a:moveTo>
                <a:lnTo>
                  <a:pt x="438912" y="0"/>
                </a:lnTo>
                <a:lnTo>
                  <a:pt x="438912" y="292608"/>
                </a:lnTo>
                <a:lnTo>
                  <a:pt x="1060704" y="292608"/>
                </a:lnTo>
              </a:path>
            </a:pathLst>
          </a:custGeom>
          <a:ln w="15875">
            <a:solidFill>
              <a:srgbClr val="F2A541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6" name="圖說"/>
          <p:cNvSpPr/>
          <p:nvPr/>
        </p:nvSpPr>
        <p:spPr>
          <a:xfrm>
            <a:off x="10271063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例外路徑（虛線）</a:t>
            </a:r>
            <a:endParaRPr lang="en-US" sz="850" dirty="0"/>
          </a:p>
        </p:txBody>
      </p:sp>
      <p:sp>
        <p:nvSpPr>
          <p:cNvPr id="87" name="線條"/>
          <p:cNvSpPr/>
          <p:nvPr/>
        </p:nvSpPr>
        <p:spPr>
          <a:xfrm>
            <a:off x="548640" y="487832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88" name="類別"/>
          <p:cNvSpPr/>
          <p:nvPr/>
        </p:nvSpPr>
        <p:spPr>
          <a:xfrm>
            <a:off x="548640" y="5088636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圓形・編號・標籤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Circle / Badge / Tag</a:t>
            </a:r>
            <a:endParaRPr lang="en-US" sz="1400" dirty="0"/>
          </a:p>
        </p:txBody>
      </p:sp>
      <p:sp>
        <p:nvSpPr>
          <p:cNvPr id="89" name="光暈大圓"/>
          <p:cNvSpPr/>
          <p:nvPr/>
        </p:nvSpPr>
        <p:spPr>
          <a:xfrm>
            <a:off x="2263336" y="4928616"/>
            <a:ext cx="566928" cy="566928"/>
          </a:xfrm>
          <a:prstGeom prst="ellipse">
            <a:avLst/>
          </a:prstGeom>
          <a:solidFill>
            <a:srgbClr val="FFFFFF"/>
          </a:solidFill>
          <a:ln/>
          <a:effectLst>
            <a:outerShdw blurRad="228600" dist="25400" dir="5400000" sx="102000" sy="10200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0" name="圖說"/>
          <p:cNvSpPr/>
          <p:nvPr/>
        </p:nvSpPr>
        <p:spPr>
          <a:xfrm>
            <a:off x="1874520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光暈大圓</a:t>
            </a:r>
            <a:endParaRPr lang="en-US" sz="850" dirty="0"/>
          </a:p>
        </p:txBody>
      </p:sp>
      <p:grpSp>
        <p:nvGrpSpPr>
          <p:cNvPr id="5004" name="光暈＋外圈細環"/>
          <p:cNvGrpSpPr/>
          <p:nvPr/>
        </p:nvGrpSpPr>
        <p:grpSpPr>
          <a:xfrm>
            <a:off x="3607896" y="4873752"/>
            <a:ext cx="676656" cy="676656"/>
            <a:chOff x="3607896" y="4873752"/>
            <a:chExt cx="676656" cy="676656"/>
          </a:xfrm>
        </p:grpSpPr>
        <p:sp>
          <p:nvSpPr>
            <p:cNvPr id="91" name="外圈細環"/>
            <p:cNvSpPr/>
            <p:nvPr/>
          </p:nvSpPr>
          <p:spPr>
            <a:xfrm>
              <a:off x="3607896" y="4873752"/>
              <a:ext cx="676656" cy="676656"/>
            </a:xfrm>
            <a:prstGeom prst="ellipse">
              <a:avLst/>
            </a:prstGeom>
            <a:ln w="9525">
              <a:solidFill>
                <a:srgbClr val="E6E6E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2" name="光暈大圓"/>
            <p:cNvSpPr/>
            <p:nvPr/>
          </p:nvSpPr>
          <p:spPr>
            <a:xfrm>
              <a:off x="3662760" y="4928616"/>
              <a:ext cx="566928" cy="566928"/>
            </a:xfrm>
            <a:prstGeom prst="ellipse">
              <a:avLst/>
            </a:prstGeom>
            <a:solidFill>
              <a:srgbClr val="FFFFFF"/>
            </a:solidFill>
            <a:ln/>
            <a:effectLst>
              <a:outerShdw blurRad="228600" dist="25400" dir="5400000" sx="102000" sy="10200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93" name="圖說"/>
          <p:cNvSpPr/>
          <p:nvPr/>
        </p:nvSpPr>
        <p:spPr>
          <a:xfrm>
            <a:off x="3273944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光暈＋外圈細環</a:t>
            </a:r>
            <a:endParaRPr lang="en-US" sz="850" dirty="0"/>
          </a:p>
        </p:txBody>
      </p:sp>
      <p:sp>
        <p:nvSpPr>
          <p:cNvPr id="94" name="外框圓"/>
          <p:cNvSpPr/>
          <p:nvPr/>
        </p:nvSpPr>
        <p:spPr>
          <a:xfrm>
            <a:off x="5062184" y="492861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5" name="圖說"/>
          <p:cNvSpPr/>
          <p:nvPr/>
        </p:nvSpPr>
        <p:spPr>
          <a:xfrm>
            <a:off x="4673368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無陰影外框圓</a:t>
            </a:r>
            <a:endParaRPr lang="en-US" sz="850" dirty="0"/>
          </a:p>
        </p:txBody>
      </p:sp>
      <p:grpSp>
        <p:nvGrpSpPr>
          <p:cNvPr id="5005" name="編號徽章"/>
          <p:cNvGrpSpPr/>
          <p:nvPr/>
        </p:nvGrpSpPr>
        <p:grpSpPr>
          <a:xfrm>
            <a:off x="6155832" y="5006889"/>
            <a:ext cx="1178479" cy="410383"/>
            <a:chOff x="6155832" y="5006889"/>
            <a:chExt cx="1178479" cy="410383"/>
          </a:xfrm>
        </p:grpSpPr>
        <p:sp>
          <p:nvSpPr>
            <p:cNvPr id="96" name="Text 94"/>
            <p:cNvSpPr/>
            <p:nvPr/>
          </p:nvSpPr>
          <p:spPr>
            <a:xfrm>
              <a:off x="6155832" y="5006889"/>
              <a:ext cx="410383" cy="410383"/>
            </a:xfrm>
            <a:prstGeom prst="ellipse">
              <a:avLst/>
            </a:prstGeom>
            <a:solidFill>
              <a:srgbClr val="E0F0F0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7" name="編號"/>
            <p:cNvSpPr/>
            <p:nvPr/>
          </p:nvSpPr>
          <p:spPr>
            <a:xfrm>
              <a:off x="6205576" y="5056632"/>
              <a:ext cx="310896" cy="310896"/>
            </a:xfrm>
            <a:prstGeom prst="ellipse">
              <a:avLst/>
            </a:prstGeom>
            <a:solidFill>
              <a:srgbClr val="0F7C80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1000" dirty="0"/>
            </a:p>
          </p:txBody>
        </p:sp>
        <p:sp>
          <p:nvSpPr>
            <p:cNvPr id="98" name="Text 96"/>
            <p:cNvSpPr/>
            <p:nvPr/>
          </p:nvSpPr>
          <p:spPr>
            <a:xfrm>
              <a:off x="6539880" y="5006889"/>
              <a:ext cx="410383" cy="410383"/>
            </a:xfrm>
            <a:prstGeom prst="ellipse">
              <a:avLst/>
            </a:prstGeom>
            <a:solidFill>
              <a:srgbClr val="E0F0F0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9" name="編號"/>
            <p:cNvSpPr/>
            <p:nvPr/>
          </p:nvSpPr>
          <p:spPr>
            <a:xfrm>
              <a:off x="6589624" y="5056632"/>
              <a:ext cx="310896" cy="310896"/>
            </a:xfrm>
            <a:prstGeom prst="ellipse">
              <a:avLst/>
            </a:prstGeom>
            <a:solidFill>
              <a:srgbClr val="0F7C80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1000" dirty="0"/>
            </a:p>
          </p:txBody>
        </p:sp>
        <p:sp>
          <p:nvSpPr>
            <p:cNvPr id="100" name="Text 98"/>
            <p:cNvSpPr/>
            <p:nvPr/>
          </p:nvSpPr>
          <p:spPr>
            <a:xfrm>
              <a:off x="6923928" y="5006889"/>
              <a:ext cx="410383" cy="410383"/>
            </a:xfrm>
            <a:prstGeom prst="ellipse">
              <a:avLst/>
            </a:prstGeom>
            <a:solidFill>
              <a:srgbClr val="FCE9D0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1" name="編號"/>
            <p:cNvSpPr/>
            <p:nvPr/>
          </p:nvSpPr>
          <p:spPr>
            <a:xfrm>
              <a:off x="6973672" y="5056632"/>
              <a:ext cx="310896" cy="310896"/>
            </a:xfrm>
            <a:prstGeom prst="ellipse">
              <a:avLst/>
            </a:prstGeom>
            <a:solidFill>
              <a:srgbClr val="F2A54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1000" dirty="0"/>
            </a:p>
          </p:txBody>
        </p:sp>
      </p:grpSp>
      <p:sp>
        <p:nvSpPr>
          <p:cNvPr id="102" name="圖說"/>
          <p:cNvSpPr/>
          <p:nvPr/>
        </p:nvSpPr>
        <p:spPr>
          <a:xfrm>
            <a:off x="6072792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編號徽章</a:t>
            </a:r>
            <a:endParaRPr lang="en-US" sz="850" dirty="0"/>
          </a:p>
        </p:txBody>
      </p:sp>
      <p:sp>
        <p:nvSpPr>
          <p:cNvPr id="103" name="標籤"/>
          <p:cNvSpPr/>
          <p:nvPr/>
        </p:nvSpPr>
        <p:spPr>
          <a:xfrm>
            <a:off x="7742200" y="5065776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100" dirty="0"/>
          </a:p>
        </p:txBody>
      </p:sp>
      <p:sp>
        <p:nvSpPr>
          <p:cNvPr id="104" name="圖說"/>
          <p:cNvSpPr/>
          <p:nvPr/>
        </p:nvSpPr>
        <p:spPr>
          <a:xfrm>
            <a:off x="7472216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深色標籤</a:t>
            </a:r>
            <a:endParaRPr lang="en-US" sz="850" dirty="0"/>
          </a:p>
        </p:txBody>
      </p:sp>
      <p:grpSp>
        <p:nvGrpSpPr>
          <p:cNvPr id="5006" name="淺色／灰階標籤"/>
          <p:cNvGrpSpPr/>
          <p:nvPr/>
        </p:nvGrpSpPr>
        <p:grpSpPr>
          <a:xfrm>
            <a:off x="8990199" y="5074920"/>
            <a:ext cx="1107440" cy="274320"/>
            <a:chOff x="8990199" y="5074920"/>
            <a:chExt cx="1107440" cy="274320"/>
          </a:xfrm>
        </p:grpSpPr>
        <p:sp>
          <p:nvSpPr>
            <p:cNvPr id="105" name="標籤"/>
            <p:cNvSpPr/>
            <p:nvPr/>
          </p:nvSpPr>
          <p:spPr>
            <a:xfrm>
              <a:off x="8990199" y="5074920"/>
              <a:ext cx="517144" cy="274320"/>
            </a:xfrm>
            <a:prstGeom prst="roundRect">
              <a:avLst>
                <a:gd name="adj" fmla="val 50000"/>
              </a:avLst>
            </a:prstGeom>
            <a:solidFill>
              <a:srgbClr val="FCEBD5"/>
            </a:solidFill>
            <a:ln/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00" b="1" dirty="0">
                  <a:solidFill>
                    <a:srgbClr val="855B24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輔助</a:t>
              </a:r>
              <a:endParaRPr lang="en-US" sz="1100" dirty="0"/>
            </a:p>
          </p:txBody>
        </p:sp>
        <p:sp>
          <p:nvSpPr>
            <p:cNvPr id="106" name="標籤"/>
            <p:cNvSpPr/>
            <p:nvPr/>
          </p:nvSpPr>
          <p:spPr>
            <a:xfrm>
              <a:off x="9580495" y="5074920"/>
              <a:ext cx="517144" cy="274320"/>
            </a:xfrm>
            <a:prstGeom prst="roundRect">
              <a:avLst>
                <a:gd name="adj" fmla="val 50000"/>
              </a:avLst>
            </a:prstGeom>
            <a:solidFill>
              <a:srgbClr val="F2F2F2"/>
            </a:solidFill>
            <a:ln/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灰階</a:t>
              </a:r>
              <a:endParaRPr lang="en-US" sz="1100" dirty="0"/>
            </a:p>
          </p:txBody>
        </p:sp>
      </p:grpSp>
      <p:sp>
        <p:nvSpPr>
          <p:cNvPr id="107" name="圖說"/>
          <p:cNvSpPr/>
          <p:nvPr/>
        </p:nvSpPr>
        <p:spPr>
          <a:xfrm>
            <a:off x="8871639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淺色／灰階標籤</a:t>
            </a:r>
            <a:endParaRPr lang="en-US" sz="850" dirty="0"/>
          </a:p>
        </p:txBody>
      </p:sp>
      <p:grpSp>
        <p:nvGrpSpPr>
          <p:cNvPr id="5007" name="小圓點"/>
          <p:cNvGrpSpPr/>
          <p:nvPr/>
        </p:nvGrpSpPr>
        <p:grpSpPr>
          <a:xfrm>
            <a:off x="10600443" y="5143500"/>
            <a:ext cx="685800" cy="137160"/>
            <a:chOff x="10600443" y="5143500"/>
            <a:chExt cx="685800" cy="137160"/>
          </a:xfrm>
        </p:grpSpPr>
        <p:sp>
          <p:nvSpPr>
            <p:cNvPr id="108" name="圓點"/>
            <p:cNvSpPr/>
            <p:nvPr/>
          </p:nvSpPr>
          <p:spPr>
            <a:xfrm>
              <a:off x="10600443" y="5143500"/>
              <a:ext cx="137160" cy="137160"/>
            </a:xfrm>
            <a:prstGeom prst="ellipse">
              <a:avLst/>
            </a:prstGeom>
            <a:solidFill>
              <a:srgbClr val="0F7C80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9" name="圓點"/>
            <p:cNvSpPr/>
            <p:nvPr/>
          </p:nvSpPr>
          <p:spPr>
            <a:xfrm>
              <a:off x="10874763" y="5143500"/>
              <a:ext cx="137160" cy="137160"/>
            </a:xfrm>
            <a:prstGeom prst="ellipse">
              <a:avLst/>
            </a:prstGeom>
            <a:solidFill>
              <a:srgbClr val="F2A541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0" name="圓點"/>
            <p:cNvSpPr/>
            <p:nvPr/>
          </p:nvSpPr>
          <p:spPr>
            <a:xfrm>
              <a:off x="11149083" y="5143500"/>
              <a:ext cx="137160" cy="137160"/>
            </a:xfrm>
            <a:prstGeom prst="ellipse">
              <a:avLst/>
            </a:prstGeom>
            <a:solidFill>
              <a:srgbClr val="BFBFBF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11" name="圖說"/>
          <p:cNvSpPr/>
          <p:nvPr/>
        </p:nvSpPr>
        <p:spPr>
          <a:xfrm>
            <a:off x="10271063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小圓點</a:t>
            </a:r>
            <a:endParaRPr lang="en-US" sz="850" dirty="0"/>
          </a:p>
        </p:txBody>
      </p:sp>
      <p:sp>
        <p:nvSpPr>
          <p:cNvPr id="112" name="線條"/>
          <p:cNvSpPr/>
          <p:nvPr/>
        </p:nvSpPr>
        <p:spPr>
          <a:xfrm>
            <a:off x="548640" y="570128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113" name="類別"/>
          <p:cNvSpPr/>
          <p:nvPr/>
        </p:nvSpPr>
        <p:spPr>
          <a:xfrm>
            <a:off x="548640" y="5838444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容器與群組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Container</a:t>
            </a:r>
            <a:endParaRPr lang="en-US" sz="1400" dirty="0"/>
          </a:p>
        </p:txBody>
      </p:sp>
      <p:grpSp>
        <p:nvGrpSpPr>
          <p:cNvPr id="5008" name="虛線群組框"/>
          <p:cNvGrpSpPr/>
          <p:nvPr/>
        </p:nvGrpSpPr>
        <p:grpSpPr>
          <a:xfrm>
            <a:off x="1998160" y="5724144"/>
            <a:ext cx="1097280" cy="448056"/>
            <a:chOff x="1998160" y="5724144"/>
            <a:chExt cx="1097280" cy="448056"/>
          </a:xfrm>
        </p:grpSpPr>
        <p:sp>
          <p:nvSpPr>
            <p:cNvPr id="114" name="群組框"/>
            <p:cNvSpPr/>
            <p:nvPr/>
          </p:nvSpPr>
          <p:spPr>
            <a:xfrm>
              <a:off x="1998160" y="5806440"/>
              <a:ext cx="1097280" cy="365760"/>
            </a:xfrm>
            <a:prstGeom prst="roundRect">
              <a:avLst>
                <a:gd name="adj" fmla="val 25000"/>
              </a:avLst>
            </a:prstGeom>
            <a:ln w="9525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5" name="群組名稱"/>
            <p:cNvSpPr/>
            <p:nvPr/>
          </p:nvSpPr>
          <p:spPr>
            <a:xfrm>
              <a:off x="2089600" y="5724144"/>
              <a:ext cx="566928" cy="164592"/>
            </a:xfrm>
            <a:prstGeom prst="rect">
              <a:avLst/>
            </a:prstGeom>
            <a:solidFill>
              <a:srgbClr val="FFFFFF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群組 A</a:t>
              </a:r>
              <a:endParaRPr lang="en-US" sz="800" dirty="0"/>
            </a:p>
          </p:txBody>
        </p:sp>
      </p:grpSp>
      <p:sp>
        <p:nvSpPr>
          <p:cNvPr id="116" name="圖說"/>
          <p:cNvSpPr/>
          <p:nvPr/>
        </p:nvSpPr>
        <p:spPr>
          <a:xfrm>
            <a:off x="1874520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虛線群組框</a:t>
            </a:r>
            <a:endParaRPr lang="en-US" sz="850" dirty="0"/>
          </a:p>
        </p:txBody>
      </p:sp>
      <p:sp>
        <p:nvSpPr>
          <p:cNvPr id="117" name="淺灰面板"/>
          <p:cNvSpPr/>
          <p:nvPr/>
        </p:nvSpPr>
        <p:spPr>
          <a:xfrm>
            <a:off x="3397584" y="5751576"/>
            <a:ext cx="109728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8" name="圖說"/>
          <p:cNvSpPr/>
          <p:nvPr/>
        </p:nvSpPr>
        <p:spPr>
          <a:xfrm>
            <a:off x="3273944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淺灰面板</a:t>
            </a:r>
            <a:endParaRPr lang="en-US" sz="850" dirty="0"/>
          </a:p>
        </p:txBody>
      </p:sp>
      <p:sp>
        <p:nvSpPr>
          <p:cNvPr id="119" name="卡片"/>
          <p:cNvSpPr/>
          <p:nvPr/>
        </p:nvSpPr>
        <p:spPr>
          <a:xfrm>
            <a:off x="4797008" y="5751576"/>
            <a:ext cx="1097280" cy="420624"/>
          </a:xfrm>
          <a:prstGeom prst="roundRect">
            <a:avLst>
              <a:gd name="adj" fmla="val 47826"/>
            </a:avLst>
          </a:prstGeom>
          <a:solidFill>
            <a:srgbClr val="FFFFFF"/>
          </a:solidFill>
          <a:ln/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0" name="圖說"/>
          <p:cNvSpPr/>
          <p:nvPr/>
        </p:nvSpPr>
        <p:spPr>
          <a:xfrm>
            <a:off x="4673368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本風格卡片</a:t>
            </a:r>
            <a:endParaRPr lang="en-US" sz="850" dirty="0"/>
          </a:p>
        </p:txBody>
      </p:sp>
      <p:sp>
        <p:nvSpPr>
          <p:cNvPr id="121" name="卡片"/>
          <p:cNvSpPr/>
          <p:nvPr/>
        </p:nvSpPr>
        <p:spPr>
          <a:xfrm>
            <a:off x="6196432" y="5751576"/>
            <a:ext cx="1097280" cy="420624"/>
          </a:xfrm>
          <a:prstGeom prst="roundRect">
            <a:avLst>
              <a:gd name="adj" fmla="val 47826"/>
            </a:avLst>
          </a:prstGeom>
          <a:solidFill>
            <a:srgbClr val="FFFFFF"/>
          </a:solidFill>
          <a:ln/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2" name="圖說"/>
          <p:cNvSpPr/>
          <p:nvPr/>
        </p:nvSpPr>
        <p:spPr>
          <a:xfrm>
            <a:off x="6072792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卡片＋陰影</a:t>
            </a:r>
            <a:endParaRPr lang="en-US" sz="850" dirty="0"/>
          </a:p>
        </p:txBody>
      </p:sp>
      <p:grpSp>
        <p:nvGrpSpPr>
          <p:cNvPr id="5009" name="表頭色帶卡"/>
          <p:cNvGrpSpPr/>
          <p:nvPr/>
        </p:nvGrpSpPr>
        <p:grpSpPr>
          <a:xfrm>
            <a:off x="7595855" y="5751576"/>
            <a:ext cx="1097280" cy="420624"/>
            <a:chOff x="7595855" y="5751576"/>
            <a:chExt cx="1097280" cy="420624"/>
          </a:xfrm>
        </p:grpSpPr>
        <p:sp>
          <p:nvSpPr>
            <p:cNvPr id="123" name="卡片"/>
            <p:cNvSpPr/>
            <p:nvPr/>
          </p:nvSpPr>
          <p:spPr>
            <a:xfrm>
              <a:off x="7595855" y="5751576"/>
              <a:ext cx="1097280" cy="420624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4" name="表頭"/>
            <p:cNvSpPr/>
            <p:nvPr/>
          </p:nvSpPr>
          <p:spPr>
            <a:xfrm>
              <a:off x="7595855" y="5751576"/>
              <a:ext cx="1097280" cy="146304"/>
            </a:xfrm>
            <a:custGeom>
              <a:avLst/>
              <a:gdLst/>
              <a:ahLst/>
              <a:cxnLst/>
              <a:rect l="l" t="t" r="r" b="b"/>
              <a:pathLst>
                <a:path w="1097280" h="146304">
                  <a:moveTo>
                    <a:pt x="0" y="146304"/>
                  </a:moveTo>
                  <a:lnTo>
                    <a:pt x="0" y="91440"/>
                  </a:lnTo>
                  <a:arcTo hR="91440" wR="91440" stAng="10800000" swAng="5400000"/>
                  <a:lnTo>
                    <a:pt x="1005840" y="0"/>
                  </a:lnTo>
                  <a:arcTo hR="91440" wR="91440" stAng="16200000" swAng="5400000"/>
                  <a:lnTo>
                    <a:pt x="1097280" y="146304"/>
                  </a:lnTo>
                  <a:close/>
                </a:path>
              </a:pathLst>
            </a:custGeom>
            <a:solidFill>
              <a:srgbClr val="0F7C80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5" name="圖說"/>
          <p:cNvSpPr/>
          <p:nvPr/>
        </p:nvSpPr>
        <p:spPr>
          <a:xfrm>
            <a:off x="7472216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表頭色帶卡</a:t>
            </a:r>
            <a:endParaRPr lang="en-US" sz="850" dirty="0"/>
          </a:p>
        </p:txBody>
      </p:sp>
      <p:grpSp>
        <p:nvGrpSpPr>
          <p:cNvPr id="5010" name="頂邊／側邊色條"/>
          <p:cNvGrpSpPr/>
          <p:nvPr/>
        </p:nvGrpSpPr>
        <p:grpSpPr>
          <a:xfrm>
            <a:off x="8995279" y="5751576"/>
            <a:ext cx="1097280" cy="420624"/>
            <a:chOff x="8995279" y="5751576"/>
            <a:chExt cx="1097280" cy="420624"/>
          </a:xfrm>
        </p:grpSpPr>
        <p:sp>
          <p:nvSpPr>
            <p:cNvPr id="126" name="卡片"/>
            <p:cNvSpPr/>
            <p:nvPr/>
          </p:nvSpPr>
          <p:spPr>
            <a:xfrm>
              <a:off x="8995279" y="5751576"/>
              <a:ext cx="1097280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7" name="側邊色條"/>
            <p:cNvSpPr/>
            <p:nvPr/>
          </p:nvSpPr>
          <p:spPr>
            <a:xfrm>
              <a:off x="8995279" y="5751576"/>
              <a:ext cx="54864" cy="420624"/>
            </a:xfrm>
            <a:prstGeom prst="rect">
              <a:avLst/>
            </a:prstGeom>
            <a:solidFill>
              <a:srgbClr val="F2A541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8" name="圖說"/>
          <p:cNvSpPr/>
          <p:nvPr/>
        </p:nvSpPr>
        <p:spPr>
          <a:xfrm>
            <a:off x="8871639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頂邊／側邊色條</a:t>
            </a:r>
            <a:endParaRPr lang="en-US" sz="850" dirty="0"/>
          </a:p>
        </p:txBody>
      </p:sp>
      <p:grpSp>
        <p:nvGrpSpPr>
          <p:cNvPr id="5011" name="半透明寬欄條"/>
          <p:cNvGrpSpPr/>
          <p:nvPr/>
        </p:nvGrpSpPr>
        <p:grpSpPr>
          <a:xfrm>
            <a:off x="10577583" y="5751576"/>
            <a:ext cx="731520" cy="420624"/>
            <a:chOff x="10577583" y="5751576"/>
            <a:chExt cx="731520" cy="420624"/>
          </a:xfrm>
        </p:grpSpPr>
        <p:sp>
          <p:nvSpPr>
            <p:cNvPr id="129" name="寬欄條"/>
            <p:cNvSpPr/>
            <p:nvPr/>
          </p:nvSpPr>
          <p:spPr>
            <a:xfrm>
              <a:off x="10577583" y="5751576"/>
              <a:ext cx="310896" cy="420624"/>
            </a:xfrm>
            <a:prstGeom prst="roundRect">
              <a:avLst>
                <a:gd name="adj" fmla="val 50000"/>
              </a:avLst>
            </a:prstGeom>
            <a:solidFill>
              <a:srgbClr val="A6A6A6">
                <a:alpha val="38000"/>
              </a:srgbClr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0" name="寬欄條"/>
            <p:cNvSpPr/>
            <p:nvPr/>
          </p:nvSpPr>
          <p:spPr>
            <a:xfrm>
              <a:off x="10998207" y="5751576"/>
              <a:ext cx="310896" cy="420624"/>
            </a:xfrm>
            <a:prstGeom prst="roundRect">
              <a:avLst>
                <a:gd name="adj" fmla="val 50000"/>
              </a:avLst>
            </a:prstGeom>
            <a:solidFill>
              <a:srgbClr val="A6A6A6">
                <a:alpha val="38000"/>
              </a:srgbClr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31" name="圖說"/>
          <p:cNvSpPr/>
          <p:nvPr/>
        </p:nvSpPr>
        <p:spPr>
          <a:xfrm>
            <a:off x="10271063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半透明寬欄條</a:t>
            </a:r>
            <a:endParaRPr lang="en-US" sz="850" dirty="0"/>
          </a:p>
        </p:txBody>
      </p:sp>
      <p:sp>
        <p:nvSpPr>
          <p:cNvPr id="132" name="線條"/>
          <p:cNvSpPr/>
          <p:nvPr/>
        </p:nvSpPr>
        <p:spPr>
          <a:xfrm>
            <a:off x="1737360" y="1700784"/>
            <a:ext cx="0" cy="4626864"/>
          </a:xfrm>
          <a:prstGeom prst="line">
            <a:avLst/>
          </a:prstGeom>
          <a:noFill/>
          <a:ln w="6350">
            <a:solidFill>
              <a:srgbClr val="E4E4E4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134" name="Text 132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/ 12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 Common Patterns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已排好、已連線的流程小組合：整組複製即可使用（純流程圖語意）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815084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組合名稱"/>
          <p:cNvSpPr/>
          <p:nvPr/>
        </p:nvSpPr>
        <p:spPr>
          <a:xfrm>
            <a:off x="749808" y="1737360"/>
            <a:ext cx="242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三步驟流程</a:t>
            </a:r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Linear Process</a:t>
            </a:r>
            <a:endParaRPr lang="en-US" sz="1400" dirty="0"/>
          </a:p>
        </p:txBody>
      </p:sp>
      <p:sp>
        <p:nvSpPr>
          <p:cNvPr id="7" name="線條"/>
          <p:cNvSpPr/>
          <p:nvPr/>
        </p:nvSpPr>
        <p:spPr>
          <a:xfrm>
            <a:off x="548640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548640" y="2238817"/>
            <a:ext cx="2622728" cy="815279"/>
            <a:chOff x="548640" y="2238817"/>
            <a:chExt cx="2622728" cy="815279"/>
          </a:xfrm>
        </p:grpSpPr>
        <p:sp>
          <p:nvSpPr>
            <p:cNvPr id="8" name="處理"/>
            <p:cNvSpPr/>
            <p:nvPr/>
          </p:nvSpPr>
          <p:spPr>
            <a:xfrm>
              <a:off x="548640" y="2670048"/>
              <a:ext cx="676656" cy="38404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步驟一</a:t>
              </a:r>
              <a:endParaRPr lang="en-US" sz="105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30057" y="2238817"/>
              <a:ext cx="313822" cy="313822"/>
            </a:xfrm>
            <a:prstGeom prst="ellipse">
              <a:avLst/>
            </a:prstGeom>
            <a:solidFill>
              <a:srgbClr val="E0F0F0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" name="編號"/>
            <p:cNvSpPr/>
            <p:nvPr/>
          </p:nvSpPr>
          <p:spPr>
            <a:xfrm>
              <a:off x="768096" y="2276856"/>
              <a:ext cx="237744" cy="237744"/>
            </a:xfrm>
            <a:prstGeom prst="ellipse">
              <a:avLst/>
            </a:prstGeom>
            <a:solidFill>
              <a:srgbClr val="0F7C80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900" dirty="0"/>
            </a:p>
          </p:txBody>
        </p:sp>
        <p:sp>
          <p:nvSpPr>
            <p:cNvPr id="11" name="線條"/>
            <p:cNvSpPr/>
            <p:nvPr/>
          </p:nvSpPr>
          <p:spPr>
            <a:xfrm>
              <a:off x="1225296" y="2862072"/>
              <a:ext cx="296380" cy="0"/>
            </a:xfrm>
            <a:prstGeom prst="line">
              <a:avLst/>
            </a:prstGeom>
            <a:noFill/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sp>
        <p:sp>
          <p:nvSpPr>
            <p:cNvPr id="12" name="處理"/>
            <p:cNvSpPr/>
            <p:nvPr/>
          </p:nvSpPr>
          <p:spPr>
            <a:xfrm>
              <a:off x="1521676" y="2670048"/>
              <a:ext cx="676656" cy="38404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步驟二</a:t>
              </a:r>
              <a:endParaRPr lang="en-US" sz="105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1703093" y="2238817"/>
              <a:ext cx="313822" cy="313822"/>
            </a:xfrm>
            <a:prstGeom prst="ellipse">
              <a:avLst/>
            </a:prstGeom>
            <a:solidFill>
              <a:srgbClr val="E0F0F0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" name="編號"/>
            <p:cNvSpPr/>
            <p:nvPr/>
          </p:nvSpPr>
          <p:spPr>
            <a:xfrm>
              <a:off x="1741132" y="2276856"/>
              <a:ext cx="237744" cy="237744"/>
            </a:xfrm>
            <a:prstGeom prst="ellipse">
              <a:avLst/>
            </a:prstGeom>
            <a:solidFill>
              <a:srgbClr val="0F7C80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900" dirty="0"/>
            </a:p>
          </p:txBody>
        </p:sp>
        <p:sp>
          <p:nvSpPr>
            <p:cNvPr id="15" name="線條"/>
            <p:cNvSpPr/>
            <p:nvPr/>
          </p:nvSpPr>
          <p:spPr>
            <a:xfrm>
              <a:off x="2198332" y="2862072"/>
              <a:ext cx="296380" cy="0"/>
            </a:xfrm>
            <a:prstGeom prst="line">
              <a:avLst/>
            </a:prstGeom>
            <a:noFill/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sp>
        <p:sp>
          <p:nvSpPr>
            <p:cNvPr id="16" name="處理"/>
            <p:cNvSpPr/>
            <p:nvPr/>
          </p:nvSpPr>
          <p:spPr>
            <a:xfrm>
              <a:off x="2494712" y="2670048"/>
              <a:ext cx="676656" cy="384048"/>
            </a:xfrm>
            <a:prstGeom prst="roundRect">
              <a:avLst>
                <a:gd name="adj" fmla="val 50000"/>
              </a:avLst>
            </a:prstGeom>
            <a:solidFill>
              <a:srgbClr val="0F7C80"/>
            </a:solidFill>
            <a:ln/>
            <a:effectLst>
              <a:outerShdw blurRad="76200" dist="1905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步驟三</a:t>
              </a:r>
              <a:endParaRPr lang="en-US" sz="105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2676129" y="2238817"/>
              <a:ext cx="313822" cy="313822"/>
            </a:xfrm>
            <a:prstGeom prst="ellipse">
              <a:avLst/>
            </a:prstGeom>
            <a:solidFill>
              <a:srgbClr val="E0F0F0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8" name="編號"/>
            <p:cNvSpPr/>
            <p:nvPr/>
          </p:nvSpPr>
          <p:spPr>
            <a:xfrm>
              <a:off x="2714168" y="2276856"/>
              <a:ext cx="237744" cy="237744"/>
            </a:xfrm>
            <a:prstGeom prst="ellipse">
              <a:avLst/>
            </a:prstGeom>
            <a:solidFill>
              <a:srgbClr val="0F7C80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900" dirty="0"/>
            </a:p>
          </p:txBody>
        </p:sp>
      </p:grpSp>
      <p:sp>
        <p:nvSpPr>
          <p:cNvPr id="19" name="Text 17"/>
          <p:cNvSpPr/>
          <p:nvPr/>
        </p:nvSpPr>
        <p:spPr>
          <a:xfrm>
            <a:off x="3372536" y="1815084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組合名稱"/>
          <p:cNvSpPr/>
          <p:nvPr/>
        </p:nvSpPr>
        <p:spPr>
          <a:xfrm>
            <a:off x="3573704" y="1737360"/>
            <a:ext cx="242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判斷分岔（是／否）</a:t>
            </a:r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Decision Branch</a:t>
            </a:r>
            <a:endParaRPr lang="en-US" sz="1400" dirty="0"/>
          </a:p>
        </p:txBody>
      </p:sp>
      <p:sp>
        <p:nvSpPr>
          <p:cNvPr id="21" name="線條"/>
          <p:cNvSpPr/>
          <p:nvPr/>
        </p:nvSpPr>
        <p:spPr>
          <a:xfrm>
            <a:off x="3372536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3372536" y="2221992"/>
            <a:ext cx="2622728" cy="1417320"/>
            <a:chOff x="3372536" y="2221992"/>
            <a:chExt cx="2622728" cy="1417320"/>
          </a:xfrm>
        </p:grpSpPr>
        <p:sp>
          <p:nvSpPr>
            <p:cNvPr id="22" name="處理"/>
            <p:cNvSpPr/>
            <p:nvPr/>
          </p:nvSpPr>
          <p:spPr>
            <a:xfrm>
              <a:off x="3372536" y="2322576"/>
              <a:ext cx="658368" cy="38404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檢查</a:t>
              </a:r>
              <a:endParaRPr lang="en-US" sz="1050" dirty="0"/>
            </a:p>
          </p:txBody>
        </p:sp>
        <p:sp>
          <p:nvSpPr>
            <p:cNvPr id="23" name="線條"/>
            <p:cNvSpPr/>
            <p:nvPr/>
          </p:nvSpPr>
          <p:spPr>
            <a:xfrm>
              <a:off x="4030904" y="2514600"/>
              <a:ext cx="237744" cy="0"/>
            </a:xfrm>
            <a:prstGeom prst="line">
              <a:avLst/>
            </a:prstGeom>
            <a:noFill/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sp>
        <p:sp>
          <p:nvSpPr>
            <p:cNvPr id="24" name="判斷"/>
            <p:cNvSpPr/>
            <p:nvPr/>
          </p:nvSpPr>
          <p:spPr>
            <a:xfrm>
              <a:off x="4268648" y="2221992"/>
              <a:ext cx="768096" cy="585216"/>
            </a:xfrm>
            <a:prstGeom prst="diamond">
              <a:avLst/>
            </a:prstGeom>
            <a:solidFill>
              <a:srgbClr val="E0F0F0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通過？</a:t>
              </a:r>
              <a:endParaRPr lang="en-US" sz="950" dirty="0"/>
            </a:p>
          </p:txBody>
        </p:sp>
        <p:sp>
          <p:nvSpPr>
            <p:cNvPr id="25" name="處理"/>
            <p:cNvSpPr/>
            <p:nvPr/>
          </p:nvSpPr>
          <p:spPr>
            <a:xfrm>
              <a:off x="5318608" y="2322576"/>
              <a:ext cx="676656" cy="384048"/>
            </a:xfrm>
            <a:prstGeom prst="roundRect">
              <a:avLst>
                <a:gd name="adj" fmla="val 50000"/>
              </a:avLst>
            </a:prstGeom>
            <a:solidFill>
              <a:srgbClr val="0F7C80"/>
            </a:solidFill>
            <a:ln/>
            <a:effectLst>
              <a:outerShdw blurRad="76200" dist="1905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執行</a:t>
              </a:r>
              <a:endParaRPr lang="en-US" sz="1050" dirty="0"/>
            </a:p>
          </p:txBody>
        </p:sp>
        <p:sp>
          <p:nvSpPr>
            <p:cNvPr id="26" name="線條"/>
            <p:cNvSpPr/>
            <p:nvPr/>
          </p:nvSpPr>
          <p:spPr>
            <a:xfrm>
              <a:off x="5036744" y="2514600"/>
              <a:ext cx="281864" cy="0"/>
            </a:xfrm>
            <a:prstGeom prst="line">
              <a:avLst/>
            </a:prstGeom>
            <a:noFill/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sp>
        <p:sp>
          <p:nvSpPr>
            <p:cNvPr id="27" name="標註"/>
            <p:cNvSpPr/>
            <p:nvPr/>
          </p:nvSpPr>
          <p:spPr>
            <a:xfrm>
              <a:off x="5036744" y="2295144"/>
              <a:ext cx="36576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850" dirty="0"/>
            </a:p>
          </p:txBody>
        </p:sp>
        <p:sp>
          <p:nvSpPr>
            <p:cNvPr id="28" name="處理"/>
            <p:cNvSpPr/>
            <p:nvPr/>
          </p:nvSpPr>
          <p:spPr>
            <a:xfrm>
              <a:off x="4314368" y="3255264"/>
              <a:ext cx="676656" cy="38404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修正</a:t>
              </a:r>
              <a:endParaRPr lang="en-US" sz="1050" dirty="0"/>
            </a:p>
          </p:txBody>
        </p:sp>
        <p:sp>
          <p:nvSpPr>
            <p:cNvPr id="29" name="線條"/>
            <p:cNvSpPr/>
            <p:nvPr/>
          </p:nvSpPr>
          <p:spPr>
            <a:xfrm>
              <a:off x="4652696" y="2807208"/>
              <a:ext cx="0" cy="448056"/>
            </a:xfrm>
            <a:prstGeom prst="line">
              <a:avLst/>
            </a:prstGeom>
            <a:noFill/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sp>
        <p:sp>
          <p:nvSpPr>
            <p:cNvPr id="30" name="標註"/>
            <p:cNvSpPr/>
            <p:nvPr/>
          </p:nvSpPr>
          <p:spPr>
            <a:xfrm>
              <a:off x="4670984" y="2843784"/>
              <a:ext cx="27432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否</a:t>
              </a:r>
              <a:endParaRPr lang="en-US" sz="850" dirty="0"/>
            </a:p>
          </p:txBody>
        </p:sp>
      </p:grpSp>
      <p:sp>
        <p:nvSpPr>
          <p:cNvPr id="31" name="Text 29"/>
          <p:cNvSpPr/>
          <p:nvPr/>
        </p:nvSpPr>
        <p:spPr>
          <a:xfrm>
            <a:off x="6196432" y="1815084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組合名稱"/>
          <p:cNvSpPr/>
          <p:nvPr/>
        </p:nvSpPr>
        <p:spPr>
          <a:xfrm>
            <a:off x="6397600" y="1737360"/>
            <a:ext cx="242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例外退回路徑</a:t>
            </a:r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Exception Return</a:t>
            </a:r>
            <a:endParaRPr lang="en-US" sz="1400" dirty="0"/>
          </a:p>
        </p:txBody>
      </p:sp>
      <p:sp>
        <p:nvSpPr>
          <p:cNvPr id="33" name="線條"/>
          <p:cNvSpPr/>
          <p:nvPr/>
        </p:nvSpPr>
        <p:spPr>
          <a:xfrm>
            <a:off x="6196432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6196432" y="2432304"/>
            <a:ext cx="2622728" cy="987552"/>
            <a:chOff x="6196432" y="2432304"/>
            <a:chExt cx="2622728" cy="987552"/>
          </a:xfrm>
        </p:grpSpPr>
        <p:sp>
          <p:nvSpPr>
            <p:cNvPr id="34" name="處理"/>
            <p:cNvSpPr/>
            <p:nvPr/>
          </p:nvSpPr>
          <p:spPr>
            <a:xfrm>
              <a:off x="6196432" y="2432304"/>
              <a:ext cx="676656" cy="38404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受理</a:t>
              </a:r>
              <a:endParaRPr lang="en-US" sz="1050" dirty="0"/>
            </a:p>
          </p:txBody>
        </p:sp>
        <p:sp>
          <p:nvSpPr>
            <p:cNvPr id="35" name="線條"/>
            <p:cNvSpPr/>
            <p:nvPr/>
          </p:nvSpPr>
          <p:spPr>
            <a:xfrm>
              <a:off x="6873088" y="2624328"/>
              <a:ext cx="296380" cy="0"/>
            </a:xfrm>
            <a:prstGeom prst="line">
              <a:avLst/>
            </a:prstGeom>
            <a:noFill/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sp>
        <p:sp>
          <p:nvSpPr>
            <p:cNvPr id="36" name="處理"/>
            <p:cNvSpPr/>
            <p:nvPr/>
          </p:nvSpPr>
          <p:spPr>
            <a:xfrm>
              <a:off x="7169468" y="2432304"/>
              <a:ext cx="676656" cy="38404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審查</a:t>
              </a:r>
              <a:endParaRPr lang="en-US" sz="1050" dirty="0"/>
            </a:p>
          </p:txBody>
        </p:sp>
        <p:sp>
          <p:nvSpPr>
            <p:cNvPr id="37" name="線條"/>
            <p:cNvSpPr/>
            <p:nvPr/>
          </p:nvSpPr>
          <p:spPr>
            <a:xfrm>
              <a:off x="7846124" y="2624328"/>
              <a:ext cx="296380" cy="0"/>
            </a:xfrm>
            <a:prstGeom prst="line">
              <a:avLst/>
            </a:prstGeom>
            <a:noFill/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sp>
        <p:sp>
          <p:nvSpPr>
            <p:cNvPr id="38" name="處理"/>
            <p:cNvSpPr/>
            <p:nvPr/>
          </p:nvSpPr>
          <p:spPr>
            <a:xfrm>
              <a:off x="8142503" y="2432304"/>
              <a:ext cx="676656" cy="384048"/>
            </a:xfrm>
            <a:prstGeom prst="roundRect">
              <a:avLst>
                <a:gd name="adj" fmla="val 50000"/>
              </a:avLst>
            </a:prstGeom>
            <a:solidFill>
              <a:srgbClr val="0F7C80"/>
            </a:solidFill>
            <a:ln/>
            <a:effectLst>
              <a:outerShdw blurRad="76200" dist="1905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完成</a:t>
              </a:r>
              <a:endParaRPr lang="en-US" sz="1050" dirty="0"/>
            </a:p>
          </p:txBody>
        </p:sp>
        <p:sp>
          <p:nvSpPr>
            <p:cNvPr id="39" name="連接線"/>
            <p:cNvSpPr/>
            <p:nvPr/>
          </p:nvSpPr>
          <p:spPr>
            <a:xfrm>
              <a:off x="6534760" y="2816352"/>
              <a:ext cx="973036" cy="384048"/>
            </a:xfrm>
            <a:custGeom>
              <a:avLst/>
              <a:gdLst/>
              <a:ahLst/>
              <a:cxnLst/>
              <a:rect l="l" t="t" r="r" b="b"/>
              <a:pathLst>
                <a:path w="973036" h="384048">
                  <a:moveTo>
                    <a:pt x="973036" y="0"/>
                  </a:moveTo>
                  <a:lnTo>
                    <a:pt x="973036" y="384048"/>
                  </a:lnTo>
                  <a:lnTo>
                    <a:pt x="0" y="384048"/>
                  </a:lnTo>
                  <a:lnTo>
                    <a:pt x="0" y="0"/>
                  </a:lnTo>
                </a:path>
              </a:pathLst>
            </a:custGeom>
            <a:ln w="15875">
              <a:solidFill>
                <a:srgbClr val="F2A541"/>
              </a:solidFill>
              <a:prstDash val="sysDash"/>
              <a:tailEnd type="triangle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40" name="標註"/>
            <p:cNvSpPr/>
            <p:nvPr/>
          </p:nvSpPr>
          <p:spPr>
            <a:xfrm>
              <a:off x="6534760" y="3236976"/>
              <a:ext cx="973036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B67C3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例外：退回補件</a:t>
              </a:r>
              <a:endParaRPr lang="en-US" sz="850" dirty="0"/>
            </a:p>
          </p:txBody>
        </p:sp>
      </p:grpSp>
      <p:sp>
        <p:nvSpPr>
          <p:cNvPr id="41" name="Text 39"/>
          <p:cNvSpPr/>
          <p:nvPr/>
        </p:nvSpPr>
        <p:spPr>
          <a:xfrm>
            <a:off x="9020327" y="1815084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組合名稱"/>
          <p:cNvSpPr/>
          <p:nvPr/>
        </p:nvSpPr>
        <p:spPr>
          <a:xfrm>
            <a:off x="9221495" y="1737360"/>
            <a:ext cx="242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審核迴圈</a:t>
            </a:r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Approval Loop</a:t>
            </a:r>
            <a:endParaRPr lang="en-US" sz="1400" dirty="0"/>
          </a:p>
        </p:txBody>
      </p:sp>
      <p:sp>
        <p:nvSpPr>
          <p:cNvPr id="43" name="線條"/>
          <p:cNvSpPr/>
          <p:nvPr/>
        </p:nvSpPr>
        <p:spPr>
          <a:xfrm>
            <a:off x="9020327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9020327" y="2121408"/>
            <a:ext cx="2622728" cy="1161288"/>
            <a:chOff x="9020327" y="2121408"/>
            <a:chExt cx="2622728" cy="1161288"/>
          </a:xfrm>
        </p:grpSpPr>
        <p:sp>
          <p:nvSpPr>
            <p:cNvPr id="44" name="處理"/>
            <p:cNvSpPr/>
            <p:nvPr/>
          </p:nvSpPr>
          <p:spPr>
            <a:xfrm>
              <a:off x="9020327" y="2816352"/>
              <a:ext cx="731520" cy="38404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提出申請</a:t>
              </a:r>
              <a:endParaRPr lang="en-US" sz="1050" dirty="0"/>
            </a:p>
          </p:txBody>
        </p:sp>
        <p:sp>
          <p:nvSpPr>
            <p:cNvPr id="45" name="線條"/>
            <p:cNvSpPr/>
            <p:nvPr/>
          </p:nvSpPr>
          <p:spPr>
            <a:xfrm>
              <a:off x="9751847" y="3008376"/>
              <a:ext cx="182880" cy="0"/>
            </a:xfrm>
            <a:prstGeom prst="line">
              <a:avLst/>
            </a:prstGeom>
            <a:noFill/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sp>
        <p:sp>
          <p:nvSpPr>
            <p:cNvPr id="46" name="判斷"/>
            <p:cNvSpPr/>
            <p:nvPr/>
          </p:nvSpPr>
          <p:spPr>
            <a:xfrm>
              <a:off x="9934727" y="2734056"/>
              <a:ext cx="676656" cy="548640"/>
            </a:xfrm>
            <a:prstGeom prst="diamond">
              <a:avLst/>
            </a:prstGeom>
            <a:solidFill>
              <a:srgbClr val="E0F0F0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950" dirty="0"/>
            </a:p>
          </p:txBody>
        </p:sp>
        <p:sp>
          <p:nvSpPr>
            <p:cNvPr id="47" name="處理"/>
            <p:cNvSpPr/>
            <p:nvPr/>
          </p:nvSpPr>
          <p:spPr>
            <a:xfrm>
              <a:off x="11076127" y="2816352"/>
              <a:ext cx="566928" cy="384048"/>
            </a:xfrm>
            <a:prstGeom prst="roundRect">
              <a:avLst>
                <a:gd name="adj" fmla="val 50000"/>
              </a:avLst>
            </a:prstGeom>
            <a:solidFill>
              <a:srgbClr val="0F7C80"/>
            </a:solidFill>
            <a:ln/>
            <a:effectLst>
              <a:outerShdw blurRad="76200" dist="1905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核准</a:t>
              </a:r>
              <a:endParaRPr lang="en-US" sz="1050" dirty="0"/>
            </a:p>
          </p:txBody>
        </p:sp>
        <p:sp>
          <p:nvSpPr>
            <p:cNvPr id="48" name="線條"/>
            <p:cNvSpPr/>
            <p:nvPr/>
          </p:nvSpPr>
          <p:spPr>
            <a:xfrm>
              <a:off x="10611383" y="3008376"/>
              <a:ext cx="464744" cy="0"/>
            </a:xfrm>
            <a:prstGeom prst="line">
              <a:avLst/>
            </a:prstGeom>
            <a:noFill/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sp>
        <p:sp>
          <p:nvSpPr>
            <p:cNvPr id="49" name="標註"/>
            <p:cNvSpPr/>
            <p:nvPr/>
          </p:nvSpPr>
          <p:spPr>
            <a:xfrm>
              <a:off x="10611383" y="2788920"/>
              <a:ext cx="464744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</a:t>
              </a:r>
              <a:endParaRPr lang="en-US" sz="850" dirty="0"/>
            </a:p>
          </p:txBody>
        </p:sp>
        <p:sp>
          <p:nvSpPr>
            <p:cNvPr id="50" name="連接線"/>
            <p:cNvSpPr/>
            <p:nvPr/>
          </p:nvSpPr>
          <p:spPr>
            <a:xfrm>
              <a:off x="9386087" y="2322576"/>
              <a:ext cx="886968" cy="493776"/>
            </a:xfrm>
            <a:custGeom>
              <a:avLst/>
              <a:gdLst/>
              <a:ahLst/>
              <a:cxnLst/>
              <a:rect l="l" t="t" r="r" b="b"/>
              <a:pathLst>
                <a:path w="886968" h="493776">
                  <a:moveTo>
                    <a:pt x="886968" y="411480"/>
                  </a:moveTo>
                  <a:lnTo>
                    <a:pt x="886968" y="0"/>
                  </a:lnTo>
                  <a:lnTo>
                    <a:pt x="0" y="0"/>
                  </a:lnTo>
                  <a:lnTo>
                    <a:pt x="0" y="493776"/>
                  </a:lnTo>
                </a:path>
              </a:pathLst>
            </a:custGeom>
            <a:ln w="15875">
              <a:solidFill>
                <a:srgbClr val="8C8C8C"/>
              </a:solidFill>
              <a:prstDash val="solid"/>
              <a:tailEnd type="triangle" w="lg" len="lg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1" name="標註"/>
            <p:cNvSpPr/>
            <p:nvPr/>
          </p:nvSpPr>
          <p:spPr>
            <a:xfrm>
              <a:off x="9404375" y="2121408"/>
              <a:ext cx="86868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退回修改後重送</a:t>
              </a:r>
              <a:endParaRPr lang="en-US" sz="850" dirty="0"/>
            </a:p>
          </p:txBody>
        </p:sp>
      </p:grpSp>
      <p:sp>
        <p:nvSpPr>
          <p:cNvPr id="52" name="Text 50"/>
          <p:cNvSpPr/>
          <p:nvPr/>
        </p:nvSpPr>
        <p:spPr>
          <a:xfrm>
            <a:off x="548640" y="411937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組合名稱"/>
          <p:cNvSpPr/>
          <p:nvPr/>
        </p:nvSpPr>
        <p:spPr>
          <a:xfrm>
            <a:off x="749808" y="4041648"/>
            <a:ext cx="242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泳道（雙道）</a:t>
            </a:r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Swimlane</a:t>
            </a:r>
            <a:endParaRPr lang="en-US" sz="1400" dirty="0"/>
          </a:p>
        </p:txBody>
      </p:sp>
      <p:sp>
        <p:nvSpPr>
          <p:cNvPr id="54" name="線條"/>
          <p:cNvSpPr/>
          <p:nvPr/>
        </p:nvSpPr>
        <p:spPr>
          <a:xfrm>
            <a:off x="548640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548640" y="4443984"/>
            <a:ext cx="2622728" cy="1517904"/>
            <a:chOff x="548640" y="4443984"/>
            <a:chExt cx="2622728" cy="1517904"/>
          </a:xfrm>
        </p:grpSpPr>
        <p:sp>
          <p:nvSpPr>
            <p:cNvPr id="55" name="泳道"/>
            <p:cNvSpPr/>
            <p:nvPr/>
          </p:nvSpPr>
          <p:spPr>
            <a:xfrm>
              <a:off x="548640" y="4443984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6" name="泳道標題"/>
            <p:cNvSpPr/>
            <p:nvPr/>
          </p:nvSpPr>
          <p:spPr>
            <a:xfrm>
              <a:off x="548640" y="4443984"/>
              <a:ext cx="420624" cy="731520"/>
            </a:xfrm>
            <a:prstGeom prst="rect">
              <a:avLst/>
            </a:prstGeom>
            <a:solidFill>
              <a:srgbClr val="F2F2F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申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請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人</a:t>
              </a:r>
              <a:endParaRPr lang="en-US" sz="850" dirty="0"/>
            </a:p>
          </p:txBody>
        </p:sp>
        <p:sp>
          <p:nvSpPr>
            <p:cNvPr id="57" name="泳道"/>
            <p:cNvSpPr/>
            <p:nvPr/>
          </p:nvSpPr>
          <p:spPr>
            <a:xfrm>
              <a:off x="548640" y="5230368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8" name="泳道標題"/>
            <p:cNvSpPr/>
            <p:nvPr/>
          </p:nvSpPr>
          <p:spPr>
            <a:xfrm>
              <a:off x="548640" y="5230368"/>
              <a:ext cx="420624" cy="731520"/>
            </a:xfrm>
            <a:prstGeom prst="rect">
              <a:avLst/>
            </a:prstGeom>
            <a:solidFill>
              <a:srgbClr val="F2F2F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主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管</a:t>
              </a:r>
              <a:endParaRPr lang="en-US" sz="850" dirty="0"/>
            </a:p>
          </p:txBody>
        </p:sp>
        <p:sp>
          <p:nvSpPr>
            <p:cNvPr id="59" name="處理"/>
            <p:cNvSpPr/>
            <p:nvPr/>
          </p:nvSpPr>
          <p:spPr>
            <a:xfrm>
              <a:off x="1097280" y="4617720"/>
              <a:ext cx="640080" cy="38404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填寫</a:t>
              </a:r>
              <a:endParaRPr lang="en-US" sz="1050" dirty="0"/>
            </a:p>
          </p:txBody>
        </p:sp>
        <p:sp>
          <p:nvSpPr>
            <p:cNvPr id="60" name="處理"/>
            <p:cNvSpPr/>
            <p:nvPr/>
          </p:nvSpPr>
          <p:spPr>
            <a:xfrm>
              <a:off x="2011680" y="5404104"/>
              <a:ext cx="640080" cy="38404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1050" dirty="0"/>
            </a:p>
          </p:txBody>
        </p:sp>
        <p:sp>
          <p:nvSpPr>
            <p:cNvPr id="61" name="處理"/>
            <p:cNvSpPr/>
            <p:nvPr/>
          </p:nvSpPr>
          <p:spPr>
            <a:xfrm>
              <a:off x="2458136" y="4617720"/>
              <a:ext cx="640080" cy="384048"/>
            </a:xfrm>
            <a:prstGeom prst="roundRect">
              <a:avLst>
                <a:gd name="adj" fmla="val 50000"/>
              </a:avLst>
            </a:prstGeom>
            <a:solidFill>
              <a:srgbClr val="0F7C80"/>
            </a:solidFill>
            <a:ln/>
            <a:effectLst>
              <a:outerShdw blurRad="76200" dist="1905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歸檔</a:t>
              </a:r>
              <a:endParaRPr lang="en-US" sz="1050" dirty="0"/>
            </a:p>
          </p:txBody>
        </p:sp>
        <p:sp>
          <p:nvSpPr>
            <p:cNvPr id="62" name="連接線"/>
            <p:cNvSpPr/>
            <p:nvPr/>
          </p:nvSpPr>
          <p:spPr>
            <a:xfrm>
              <a:off x="1737360" y="4809744"/>
              <a:ext cx="594360" cy="594360"/>
            </a:xfrm>
            <a:custGeom>
              <a:avLst/>
              <a:gdLst/>
              <a:ahLst/>
              <a:cxnLst/>
              <a:rect l="l" t="t" r="r" b="b"/>
              <a:pathLst>
                <a:path w="594360" h="594360">
                  <a:moveTo>
                    <a:pt x="0" y="0"/>
                  </a:moveTo>
                  <a:lnTo>
                    <a:pt x="594360" y="0"/>
                  </a:lnTo>
                  <a:lnTo>
                    <a:pt x="594360" y="594360"/>
                  </a:lnTo>
                </a:path>
              </a:pathLst>
            </a:custGeom>
            <a:ln w="15875">
              <a:solidFill>
                <a:srgbClr val="8C8C8C"/>
              </a:solidFill>
              <a:prstDash val="solid"/>
              <a:tailEnd type="triangle" w="lg" len="lg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3" name="連接線"/>
            <p:cNvSpPr/>
            <p:nvPr/>
          </p:nvSpPr>
          <p:spPr>
            <a:xfrm>
              <a:off x="2651760" y="5001768"/>
              <a:ext cx="126416" cy="594360"/>
            </a:xfrm>
            <a:custGeom>
              <a:avLst/>
              <a:gdLst/>
              <a:ahLst/>
              <a:cxnLst/>
              <a:rect l="l" t="t" r="r" b="b"/>
              <a:pathLst>
                <a:path w="126416" h="594360">
                  <a:moveTo>
                    <a:pt x="0" y="594360"/>
                  </a:moveTo>
                  <a:lnTo>
                    <a:pt x="126416" y="594360"/>
                  </a:lnTo>
                  <a:lnTo>
                    <a:pt x="126416" y="0"/>
                  </a:lnTo>
                </a:path>
              </a:pathLst>
            </a:custGeom>
            <a:ln w="15875">
              <a:solidFill>
                <a:srgbClr val="8C8C8C"/>
              </a:solidFill>
              <a:prstDash val="solid"/>
              <a:tailEnd type="triangle" w="lg" len="lg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64" name="Text 62"/>
          <p:cNvSpPr/>
          <p:nvPr/>
        </p:nvSpPr>
        <p:spPr>
          <a:xfrm>
            <a:off x="3372536" y="411937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組合名稱"/>
          <p:cNvSpPr/>
          <p:nvPr/>
        </p:nvSpPr>
        <p:spPr>
          <a:xfrm>
            <a:off x="3573704" y="4041648"/>
            <a:ext cx="242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平行分流／合流</a:t>
            </a:r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Parallel Split / Merge</a:t>
            </a:r>
            <a:endParaRPr lang="en-US" sz="1400" dirty="0"/>
          </a:p>
        </p:txBody>
      </p:sp>
      <p:sp>
        <p:nvSpPr>
          <p:cNvPr id="66" name="線條"/>
          <p:cNvSpPr/>
          <p:nvPr/>
        </p:nvSpPr>
        <p:spPr>
          <a:xfrm>
            <a:off x="3372536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3372536" y="4498848"/>
            <a:ext cx="2622728" cy="1353312"/>
            <a:chOff x="3372536" y="4498848"/>
            <a:chExt cx="2622728" cy="1353312"/>
          </a:xfrm>
        </p:grpSpPr>
        <p:sp>
          <p:nvSpPr>
            <p:cNvPr id="67" name="處理"/>
            <p:cNvSpPr/>
            <p:nvPr/>
          </p:nvSpPr>
          <p:spPr>
            <a:xfrm>
              <a:off x="3372536" y="4983480"/>
              <a:ext cx="512064" cy="38404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開始</a:t>
              </a:r>
              <a:endParaRPr lang="en-US" sz="1050" dirty="0"/>
            </a:p>
          </p:txBody>
        </p:sp>
        <p:sp>
          <p:nvSpPr>
            <p:cNvPr id="68" name="分流"/>
            <p:cNvSpPr/>
            <p:nvPr/>
          </p:nvSpPr>
          <p:spPr>
            <a:xfrm>
              <a:off x="4067480" y="4498848"/>
              <a:ext cx="64008" cy="1353312"/>
            </a:xfrm>
            <a:prstGeom prst="rect">
              <a:avLst/>
            </a:prstGeom>
            <a:solidFill>
              <a:srgbClr val="0F7C80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9" name="處理"/>
            <p:cNvSpPr/>
            <p:nvPr/>
          </p:nvSpPr>
          <p:spPr>
            <a:xfrm>
              <a:off x="4323512" y="4562856"/>
              <a:ext cx="676656" cy="38404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A</a:t>
              </a:r>
              <a:endParaRPr lang="en-US" sz="1050" dirty="0"/>
            </a:p>
          </p:txBody>
        </p:sp>
        <p:sp>
          <p:nvSpPr>
            <p:cNvPr id="70" name="處理"/>
            <p:cNvSpPr/>
            <p:nvPr/>
          </p:nvSpPr>
          <p:spPr>
            <a:xfrm>
              <a:off x="4323512" y="5404104"/>
              <a:ext cx="676656" cy="38404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B</a:t>
              </a:r>
              <a:endParaRPr lang="en-US" sz="1050" dirty="0"/>
            </a:p>
          </p:txBody>
        </p:sp>
        <p:sp>
          <p:nvSpPr>
            <p:cNvPr id="71" name="合流"/>
            <p:cNvSpPr/>
            <p:nvPr/>
          </p:nvSpPr>
          <p:spPr>
            <a:xfrm>
              <a:off x="5026000" y="4498848"/>
              <a:ext cx="64008" cy="1353312"/>
            </a:xfrm>
            <a:prstGeom prst="rect">
              <a:avLst/>
            </a:prstGeom>
            <a:solidFill>
              <a:srgbClr val="0F7C80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2" name="處理"/>
            <p:cNvSpPr/>
            <p:nvPr/>
          </p:nvSpPr>
          <p:spPr>
            <a:xfrm>
              <a:off x="5428336" y="4983480"/>
              <a:ext cx="566928" cy="384048"/>
            </a:xfrm>
            <a:prstGeom prst="roundRect">
              <a:avLst>
                <a:gd name="adj" fmla="val 50000"/>
              </a:avLst>
            </a:prstGeom>
            <a:solidFill>
              <a:srgbClr val="0F7C80"/>
            </a:solidFill>
            <a:ln/>
            <a:effectLst>
              <a:outerShdw blurRad="76200" dist="1905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彙整</a:t>
              </a:r>
              <a:endParaRPr lang="en-US" sz="1050" dirty="0"/>
            </a:p>
          </p:txBody>
        </p:sp>
        <p:sp>
          <p:nvSpPr>
            <p:cNvPr id="73" name="線條"/>
            <p:cNvSpPr/>
            <p:nvPr/>
          </p:nvSpPr>
          <p:spPr>
            <a:xfrm>
              <a:off x="3884600" y="5175504"/>
              <a:ext cx="182880" cy="0"/>
            </a:xfrm>
            <a:prstGeom prst="line">
              <a:avLst/>
            </a:prstGeom>
            <a:noFill/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sp>
        <p:sp>
          <p:nvSpPr>
            <p:cNvPr id="74" name="線條"/>
            <p:cNvSpPr/>
            <p:nvPr/>
          </p:nvSpPr>
          <p:spPr>
            <a:xfrm>
              <a:off x="4131488" y="4754880"/>
              <a:ext cx="192024" cy="0"/>
            </a:xfrm>
            <a:prstGeom prst="line">
              <a:avLst/>
            </a:prstGeom>
            <a:noFill/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sp>
        <p:sp>
          <p:nvSpPr>
            <p:cNvPr id="75" name="線條"/>
            <p:cNvSpPr/>
            <p:nvPr/>
          </p:nvSpPr>
          <p:spPr>
            <a:xfrm>
              <a:off x="4131488" y="5596128"/>
              <a:ext cx="192024" cy="0"/>
            </a:xfrm>
            <a:prstGeom prst="line">
              <a:avLst/>
            </a:prstGeom>
            <a:noFill/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sp>
        <p:sp>
          <p:nvSpPr>
            <p:cNvPr id="76" name="線條"/>
            <p:cNvSpPr/>
            <p:nvPr/>
          </p:nvSpPr>
          <p:spPr>
            <a:xfrm>
              <a:off x="5000168" y="4754880"/>
              <a:ext cx="25832" cy="0"/>
            </a:xfrm>
            <a:prstGeom prst="line">
              <a:avLst/>
            </a:prstGeom>
            <a:noFill/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sp>
        <p:sp>
          <p:nvSpPr>
            <p:cNvPr id="77" name="線條"/>
            <p:cNvSpPr/>
            <p:nvPr/>
          </p:nvSpPr>
          <p:spPr>
            <a:xfrm>
              <a:off x="5000168" y="5596128"/>
              <a:ext cx="25832" cy="0"/>
            </a:xfrm>
            <a:prstGeom prst="line">
              <a:avLst/>
            </a:prstGeom>
            <a:noFill/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sp>
        <p:sp>
          <p:nvSpPr>
            <p:cNvPr id="78" name="線條"/>
            <p:cNvSpPr/>
            <p:nvPr/>
          </p:nvSpPr>
          <p:spPr>
            <a:xfrm>
              <a:off x="5090008" y="5175504"/>
              <a:ext cx="338328" cy="0"/>
            </a:xfrm>
            <a:prstGeom prst="line">
              <a:avLst/>
            </a:prstGeom>
            <a:noFill/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sp>
      </p:grpSp>
      <p:sp>
        <p:nvSpPr>
          <p:cNvPr id="79" name="Text 77"/>
          <p:cNvSpPr/>
          <p:nvPr/>
        </p:nvSpPr>
        <p:spPr>
          <a:xfrm>
            <a:off x="6196432" y="411937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0" name="組合名稱"/>
          <p:cNvSpPr/>
          <p:nvPr/>
        </p:nvSpPr>
        <p:spPr>
          <a:xfrm>
            <a:off x="6397600" y="4041648"/>
            <a:ext cx="242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輸入→處理→輸出</a:t>
            </a:r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Input / Process / Output</a:t>
            </a:r>
            <a:endParaRPr lang="en-US" sz="1400" dirty="0"/>
          </a:p>
        </p:txBody>
      </p:sp>
      <p:sp>
        <p:nvSpPr>
          <p:cNvPr id="81" name="線條"/>
          <p:cNvSpPr/>
          <p:nvPr/>
        </p:nvSpPr>
        <p:spPr>
          <a:xfrm>
            <a:off x="6196432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6150712" y="4864608"/>
            <a:ext cx="2714168" cy="731520"/>
            <a:chOff x="6150712" y="4864608"/>
            <a:chExt cx="2714168" cy="731520"/>
          </a:xfrm>
        </p:grpSpPr>
        <p:sp>
          <p:nvSpPr>
            <p:cNvPr id="82" name="輸入輸出"/>
            <p:cNvSpPr/>
            <p:nvPr/>
          </p:nvSpPr>
          <p:spPr>
            <a:xfrm>
              <a:off x="6196432" y="4864608"/>
              <a:ext cx="749808" cy="384048"/>
            </a:xfrm>
            <a:prstGeom prst="parallelogram">
              <a:avLst>
                <a:gd name="adj" fmla="val 42000"/>
              </a:avLst>
            </a:prstGeom>
            <a:solidFill>
              <a:srgbClr val="E0F0F0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輸入</a:t>
              </a:r>
              <a:endParaRPr lang="en-US" sz="1050" dirty="0"/>
            </a:p>
          </p:txBody>
        </p:sp>
        <p:sp>
          <p:nvSpPr>
            <p:cNvPr id="83" name="標註"/>
            <p:cNvSpPr/>
            <p:nvPr/>
          </p:nvSpPr>
          <p:spPr>
            <a:xfrm>
              <a:off x="6150712" y="5413248"/>
              <a:ext cx="841248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資料來源</a:t>
              </a:r>
              <a:endParaRPr lang="en-US" sz="850" dirty="0"/>
            </a:p>
          </p:txBody>
        </p:sp>
        <p:sp>
          <p:nvSpPr>
            <p:cNvPr id="84" name="線條"/>
            <p:cNvSpPr/>
            <p:nvPr/>
          </p:nvSpPr>
          <p:spPr>
            <a:xfrm>
              <a:off x="6891376" y="5056632"/>
              <a:ext cx="351244" cy="0"/>
            </a:xfrm>
            <a:prstGeom prst="line">
              <a:avLst/>
            </a:prstGeom>
            <a:noFill/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sp>
        <p:sp>
          <p:nvSpPr>
            <p:cNvPr id="85" name="處理"/>
            <p:cNvSpPr/>
            <p:nvPr/>
          </p:nvSpPr>
          <p:spPr>
            <a:xfrm>
              <a:off x="7187756" y="4864608"/>
              <a:ext cx="640080" cy="384048"/>
            </a:xfrm>
            <a:prstGeom prst="roundRect">
              <a:avLst>
                <a:gd name="adj" fmla="val 50000"/>
              </a:avLst>
            </a:prstGeom>
            <a:solidFill>
              <a:srgbClr val="0F7C80"/>
            </a:solidFill>
            <a:ln/>
            <a:effectLst>
              <a:outerShdw blurRad="76200" dist="1905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處理</a:t>
              </a:r>
              <a:endParaRPr lang="en-US" sz="1050" dirty="0"/>
            </a:p>
          </p:txBody>
        </p:sp>
        <p:sp>
          <p:nvSpPr>
            <p:cNvPr id="86" name="標註"/>
            <p:cNvSpPr/>
            <p:nvPr/>
          </p:nvSpPr>
          <p:spPr>
            <a:xfrm>
              <a:off x="7142036" y="5413248"/>
              <a:ext cx="73152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整理運算</a:t>
              </a:r>
              <a:endParaRPr lang="en-US" sz="850" dirty="0"/>
            </a:p>
          </p:txBody>
        </p:sp>
        <p:sp>
          <p:nvSpPr>
            <p:cNvPr id="87" name="線條"/>
            <p:cNvSpPr/>
            <p:nvPr/>
          </p:nvSpPr>
          <p:spPr>
            <a:xfrm>
              <a:off x="7827836" y="5056632"/>
              <a:ext cx="241516" cy="0"/>
            </a:xfrm>
            <a:prstGeom prst="line">
              <a:avLst/>
            </a:prstGeom>
            <a:noFill/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sp>
        <p:sp>
          <p:nvSpPr>
            <p:cNvPr id="88" name="文件"/>
            <p:cNvSpPr/>
            <p:nvPr/>
          </p:nvSpPr>
          <p:spPr>
            <a:xfrm>
              <a:off x="8069351" y="4864608"/>
              <a:ext cx="749808" cy="475488"/>
            </a:xfrm>
            <a:custGeom>
              <a:avLst/>
              <a:gdLst/>
              <a:ahLst/>
              <a:cxnLst/>
              <a:rect l="l" t="t" r="r" b="b"/>
              <a:pathLst>
                <a:path w="749808" h="475488">
                  <a:moveTo>
                    <a:pt x="0" y="0"/>
                  </a:moveTo>
                  <a:lnTo>
                    <a:pt x="749808" y="0"/>
                  </a:lnTo>
                  <a:lnTo>
                    <a:pt x="749808" y="381341"/>
                  </a:lnTo>
                  <a:cubicBezTo>
                    <a:pt x="374904" y="381341"/>
                    <a:pt x="374904" y="526603"/>
                    <a:pt x="0" y="444106"/>
                  </a:cubicBezTo>
                  <a:close/>
                </a:path>
              </a:pathLst>
            </a:custGeom>
            <a:solidFill>
              <a:srgbClr val="E0F0F0"/>
            </a:solidFill>
            <a:ln/>
          </p:spPr>
          <p:txBody>
            <a:bodyPr wrap="square" lIns="38100" tIns="0" rIns="38100" bIns="95098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報表</a:t>
              </a:r>
              <a:endParaRPr lang="en-US" sz="1050" dirty="0"/>
            </a:p>
          </p:txBody>
        </p:sp>
        <p:sp>
          <p:nvSpPr>
            <p:cNvPr id="89" name="標註"/>
            <p:cNvSpPr/>
            <p:nvPr/>
          </p:nvSpPr>
          <p:spPr>
            <a:xfrm>
              <a:off x="8023631" y="5413248"/>
              <a:ext cx="841248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產出結果</a:t>
              </a:r>
              <a:endParaRPr lang="en-US" sz="850" dirty="0"/>
            </a:p>
          </p:txBody>
        </p:sp>
      </p:grpSp>
      <p:sp>
        <p:nvSpPr>
          <p:cNvPr id="90" name="Text 88"/>
          <p:cNvSpPr/>
          <p:nvPr/>
        </p:nvSpPr>
        <p:spPr>
          <a:xfrm>
            <a:off x="9020327" y="411937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組合名稱"/>
          <p:cNvSpPr/>
          <p:nvPr/>
        </p:nvSpPr>
        <p:spPr>
          <a:xfrm>
            <a:off x="9221495" y="4041648"/>
            <a:ext cx="242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前後對照</a:t>
            </a:r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</a:t>
            </a:r>
            <a:endParaRPr lang="en-US" sz="1400" dirty="0"/>
          </a:p>
        </p:txBody>
      </p:sp>
      <p:sp>
        <p:nvSpPr>
          <p:cNvPr id="92" name="線條"/>
          <p:cNvSpPr/>
          <p:nvPr/>
        </p:nvSpPr>
        <p:spPr>
          <a:xfrm>
            <a:off x="9020327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9020327" y="4590288"/>
            <a:ext cx="2622728" cy="1188720"/>
            <a:chOff x="9020327" y="4590288"/>
            <a:chExt cx="2622728" cy="1188720"/>
          </a:xfrm>
        </p:grpSpPr>
        <p:sp>
          <p:nvSpPr>
            <p:cNvPr id="93" name="卡片"/>
            <p:cNvSpPr/>
            <p:nvPr/>
          </p:nvSpPr>
          <p:spPr>
            <a:xfrm>
              <a:off x="9020327" y="4590288"/>
              <a:ext cx="1078992" cy="1188720"/>
            </a:xfrm>
            <a:prstGeom prst="roundRect">
              <a:avLst>
                <a:gd name="adj" fmla="val 18644"/>
              </a:avLst>
            </a:prstGeom>
            <a:solidFill>
              <a:srgbClr val="FFFFFF"/>
            </a:solidFill>
            <a:ln/>
            <a:effectLst>
              <a:outerShdw blurRad="127000" dist="38100" dir="5400000" sx="100000" sy="100000" algn="ctr" rotWithShape="0">
                <a:srgbClr val="000000">
                  <a:alpha val="20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4" name="卡片標題"/>
            <p:cNvSpPr/>
            <p:nvPr/>
          </p:nvSpPr>
          <p:spPr>
            <a:xfrm>
              <a:off x="9148343" y="4700016"/>
              <a:ext cx="8229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1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現況 </a:t>
              </a:r>
              <a:pPr algn="l" indent="0" marL="0">
                <a:buNone/>
              </a:pPr>
              <a:r>
                <a:rPr lang="en-US" sz="8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Before</a:t>
              </a:r>
              <a:endParaRPr lang="en-US" sz="1100" dirty="0"/>
            </a:p>
          </p:txBody>
        </p:sp>
        <p:sp>
          <p:nvSpPr>
            <p:cNvPr id="95" name="卡片內文"/>
            <p:cNvSpPr/>
            <p:nvPr/>
          </p:nvSpPr>
          <p:spPr>
            <a:xfrm>
              <a:off x="9148343" y="5029200"/>
              <a:ext cx="82296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流程分散</a:t>
              </a:r>
              <a:endParaRPr lang="en-US" sz="9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交接常出錯</a:t>
              </a:r>
              <a:endParaRPr lang="en-US" sz="950" dirty="0"/>
            </a:p>
          </p:txBody>
        </p:sp>
        <p:sp>
          <p:nvSpPr>
            <p:cNvPr id="96" name="分隔"/>
            <p:cNvSpPr/>
            <p:nvPr/>
          </p:nvSpPr>
          <p:spPr>
            <a:xfrm>
              <a:off x="10281399" y="5084064"/>
              <a:ext cx="100584" cy="201168"/>
            </a:xfrm>
            <a:prstGeom prst="chevron">
              <a:avLst>
                <a:gd name="adj" fmla="val 68182"/>
              </a:avLst>
            </a:prstGeom>
            <a:solidFill>
              <a:srgbClr val="0F7C80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7" name="強調卡片"/>
            <p:cNvSpPr/>
            <p:nvPr/>
          </p:nvSpPr>
          <p:spPr>
            <a:xfrm>
              <a:off x="10564063" y="4590288"/>
              <a:ext cx="1078992" cy="1188720"/>
            </a:xfrm>
            <a:prstGeom prst="roundRect">
              <a:avLst>
                <a:gd name="adj" fmla="val 18644"/>
              </a:avLst>
            </a:prstGeom>
            <a:solidFill>
              <a:srgbClr val="FFFFFF"/>
            </a:solidFill>
            <a:ln w="22225">
              <a:solidFill>
                <a:srgbClr val="0F7C80"/>
              </a:solidFill>
              <a:prstDash val="solid"/>
            </a:ln>
            <a:effectLst>
              <a:outerShdw blurRad="127000" dist="38100" dir="5400000" sx="100000" sy="100000" algn="ctr" rotWithShape="0">
                <a:srgbClr val="000000">
                  <a:alpha val="20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8" name="卡片標題"/>
            <p:cNvSpPr/>
            <p:nvPr/>
          </p:nvSpPr>
          <p:spPr>
            <a:xfrm>
              <a:off x="10692079" y="4700016"/>
              <a:ext cx="8229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10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改善後 </a:t>
              </a:r>
              <a:pPr algn="l" indent="0" marL="0">
                <a:buNone/>
              </a:pPr>
              <a:r>
                <a:rPr lang="en-US" sz="8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After</a:t>
              </a:r>
              <a:endParaRPr lang="en-US" sz="1100" dirty="0"/>
            </a:p>
          </p:txBody>
        </p:sp>
        <p:sp>
          <p:nvSpPr>
            <p:cNvPr id="99" name="卡片內文"/>
            <p:cNvSpPr/>
            <p:nvPr/>
          </p:nvSpPr>
          <p:spPr>
            <a:xfrm>
              <a:off x="10692079" y="5029200"/>
              <a:ext cx="82296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單一窗口</a:t>
              </a:r>
              <a:endParaRPr lang="en-US" sz="9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進度一目了然</a:t>
              </a:r>
              <a:endParaRPr lang="en-US" sz="950" dirty="0"/>
            </a:p>
          </p:txBody>
        </p:sp>
      </p:grpSp>
      <p:sp>
        <p:nvSpPr>
          <p:cNvPr id="100" name="Text 98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101" name="Text 99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 / 12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風格規範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色彩、字級與元件語言一覽：全圓角膠囊與大圓角卡、較深柔和陰影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87909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49808" y="1783080"/>
            <a:ext cx="4828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300" dirty="0"/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75488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38912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#0F7C80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179576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0B5E6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106424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069848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#0B5E61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810512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E0F0F0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737360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700784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#E0F0F0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2441448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F2A541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2368296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輔助色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331720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#F2A541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3072384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3A3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2999232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962656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#3A3A3A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3703320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8C8C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3630168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593592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#8C8C8C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4334256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BFBFB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4261104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224528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#BFBFBF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4965192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4892040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855464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#F2F2F2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548640" y="3643884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749808" y="3547872"/>
            <a:ext cx="4828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300" dirty="0"/>
          </a:p>
        </p:txBody>
      </p:sp>
      <p:sp>
        <p:nvSpPr>
          <p:cNvPr id="34" name="線條"/>
          <p:cNvSpPr/>
          <p:nvPr/>
        </p:nvSpPr>
        <p:spPr>
          <a:xfrm>
            <a:off x="548640" y="3931920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48640" y="3931920"/>
            <a:ext cx="5029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大標題文字</a:t>
            </a:r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36pt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48640" y="459028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48640" y="4992624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48640" y="537667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12pt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48640" y="5724144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6172200" y="187909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6373368" y="1783080"/>
            <a:ext cx="52696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300" dirty="0"/>
          </a:p>
        </p:txBody>
      </p:sp>
      <p:sp>
        <p:nvSpPr>
          <p:cNvPr id="42" name="線條"/>
          <p:cNvSpPr/>
          <p:nvPr/>
        </p:nvSpPr>
        <p:spPr>
          <a:xfrm>
            <a:off x="6172200" y="2167128"/>
            <a:ext cx="5470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72200" y="233172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10012680" y="2331720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白底無框＋陰影＋陰影</a:t>
            </a:r>
            <a:endParaRPr lang="en-US" sz="1000" dirty="0"/>
          </a:p>
        </p:txBody>
      </p:sp>
      <p:sp>
        <p:nvSpPr>
          <p:cNvPr id="45" name="卡片"/>
          <p:cNvSpPr/>
          <p:nvPr/>
        </p:nvSpPr>
        <p:spPr>
          <a:xfrm>
            <a:off x="7086600" y="2368296"/>
            <a:ext cx="1325880" cy="475488"/>
          </a:xfrm>
          <a:prstGeom prst="roundRect">
            <a:avLst>
              <a:gd name="adj" fmla="val 42308"/>
            </a:avLst>
          </a:prstGeom>
          <a:solidFill>
            <a:srgbClr val="FFFFFF"/>
          </a:solidFill>
          <a:ln/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卡片"/>
          <p:cNvSpPr/>
          <p:nvPr/>
        </p:nvSpPr>
        <p:spPr>
          <a:xfrm>
            <a:off x="8595360" y="2368296"/>
            <a:ext cx="1188720" cy="475488"/>
          </a:xfrm>
          <a:prstGeom prst="roundRect">
            <a:avLst>
              <a:gd name="adj" fmla="val 42308"/>
            </a:avLst>
          </a:prstGeom>
          <a:solidFill>
            <a:srgbClr val="FFFFFF"/>
          </a:solidFill>
          <a:ln/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8595360" y="2368296"/>
            <a:ext cx="1188720" cy="164592"/>
          </a:xfrm>
          <a:custGeom>
            <a:avLst/>
            <a:gdLst/>
            <a:ahLst/>
            <a:cxnLst/>
            <a:rect l="l" t="t" r="r" b="b"/>
            <a:pathLst>
              <a:path w="1188720" h="164592">
                <a:moveTo>
                  <a:pt x="0" y="164592"/>
                </a:moveTo>
                <a:lnTo>
                  <a:pt x="0" y="164592"/>
                </a:lnTo>
                <a:arcTo hR="164592" wR="164592" stAng="10800000" swAng="5400000"/>
                <a:lnTo>
                  <a:pt x="1024128" y="0"/>
                </a:lnTo>
                <a:arcTo hR="164592" wR="164592" stAng="16200000" swAng="5400000"/>
                <a:lnTo>
                  <a:pt x="1188720" y="164592"/>
                </a:lnTo>
                <a:close/>
              </a:path>
            </a:pathLst>
          </a:cu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線條"/>
          <p:cNvSpPr/>
          <p:nvPr/>
        </p:nvSpPr>
        <p:spPr>
          <a:xfrm>
            <a:off x="6172200" y="2935224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172200" y="2980944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10012680" y="2980944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淡色底膠囊</a:t>
            </a:r>
            <a:endParaRPr lang="en-US" sz="1000" dirty="0"/>
          </a:p>
        </p:txBody>
      </p:sp>
      <p:sp>
        <p:nvSpPr>
          <p:cNvPr id="51" name="標籤"/>
          <p:cNvSpPr/>
          <p:nvPr/>
        </p:nvSpPr>
        <p:spPr>
          <a:xfrm>
            <a:off x="7086600" y="3108960"/>
            <a:ext cx="550591" cy="29260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1200" dirty="0"/>
          </a:p>
        </p:txBody>
      </p:sp>
      <p:sp>
        <p:nvSpPr>
          <p:cNvPr id="52" name="標籤"/>
          <p:cNvSpPr/>
          <p:nvPr/>
        </p:nvSpPr>
        <p:spPr>
          <a:xfrm>
            <a:off x="7746919" y="3108960"/>
            <a:ext cx="550591" cy="292608"/>
          </a:xfrm>
          <a:prstGeom prst="roundRect">
            <a:avLst>
              <a:gd name="adj" fmla="val 50000"/>
            </a:avLst>
          </a:prstGeom>
          <a:solidFill>
            <a:srgbClr val="FCEBD5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55B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1200" dirty="0"/>
          </a:p>
        </p:txBody>
      </p:sp>
      <p:sp>
        <p:nvSpPr>
          <p:cNvPr id="53" name="標籤"/>
          <p:cNvSpPr/>
          <p:nvPr/>
        </p:nvSpPr>
        <p:spPr>
          <a:xfrm>
            <a:off x="8407237" y="3108960"/>
            <a:ext cx="550591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1200" dirty="0"/>
          </a:p>
        </p:txBody>
      </p:sp>
      <p:sp>
        <p:nvSpPr>
          <p:cNvPr id="54" name="線條"/>
          <p:cNvSpPr/>
          <p:nvPr/>
        </p:nvSpPr>
        <p:spPr>
          <a:xfrm>
            <a:off x="6172200" y="3584448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172200" y="3630168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10012680" y="3630168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實心圓＋光暈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7064654" y="3663086"/>
            <a:ext cx="482803" cy="48280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編號"/>
          <p:cNvSpPr/>
          <p:nvPr/>
        </p:nvSpPr>
        <p:spPr>
          <a:xfrm>
            <a:off x="7123176" y="3721608"/>
            <a:ext cx="365760" cy="365760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7631582" y="3663086"/>
            <a:ext cx="482803" cy="48280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編號"/>
          <p:cNvSpPr/>
          <p:nvPr/>
        </p:nvSpPr>
        <p:spPr>
          <a:xfrm>
            <a:off x="7690104" y="3721608"/>
            <a:ext cx="365760" cy="365760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8198510" y="3663086"/>
            <a:ext cx="482803" cy="48280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編號"/>
          <p:cNvSpPr/>
          <p:nvPr/>
        </p:nvSpPr>
        <p:spPr>
          <a:xfrm>
            <a:off x="8257032" y="3721608"/>
            <a:ext cx="365760" cy="365760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8869680" y="363016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400" dirty="0"/>
          </a:p>
        </p:txBody>
      </p:sp>
      <p:sp>
        <p:nvSpPr>
          <p:cNvPr id="64" name="線條"/>
          <p:cNvSpPr/>
          <p:nvPr/>
        </p:nvSpPr>
        <p:spPr>
          <a:xfrm>
            <a:off x="6172200" y="4233672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172200" y="4279392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300" dirty="0"/>
          </a:p>
        </p:txBody>
      </p:sp>
      <p:sp>
        <p:nvSpPr>
          <p:cNvPr id="66" name="Text 64"/>
          <p:cNvSpPr/>
          <p:nvPr/>
        </p:nvSpPr>
        <p:spPr>
          <a:xfrm>
            <a:off x="10012680" y="4279392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 V 形 ›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70866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200" dirty="0"/>
          </a:p>
        </p:txBody>
      </p:sp>
      <p:sp>
        <p:nvSpPr>
          <p:cNvPr id="68" name="分隔"/>
          <p:cNvSpPr/>
          <p:nvPr/>
        </p:nvSpPr>
        <p:spPr>
          <a:xfrm>
            <a:off x="7859268" y="4453128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Text 67"/>
          <p:cNvSpPr/>
          <p:nvPr/>
        </p:nvSpPr>
        <p:spPr>
          <a:xfrm>
            <a:off x="818388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200" dirty="0"/>
          </a:p>
        </p:txBody>
      </p:sp>
      <p:sp>
        <p:nvSpPr>
          <p:cNvPr id="70" name="分隔"/>
          <p:cNvSpPr/>
          <p:nvPr/>
        </p:nvSpPr>
        <p:spPr>
          <a:xfrm>
            <a:off x="8956548" y="4453128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Text 69"/>
          <p:cNvSpPr/>
          <p:nvPr/>
        </p:nvSpPr>
        <p:spPr>
          <a:xfrm>
            <a:off x="928116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200" dirty="0"/>
          </a:p>
        </p:txBody>
      </p:sp>
      <p:sp>
        <p:nvSpPr>
          <p:cNvPr id="72" name="線條"/>
          <p:cNvSpPr/>
          <p:nvPr/>
        </p:nvSpPr>
        <p:spPr>
          <a:xfrm>
            <a:off x="6172200" y="4882896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6172200" y="4928616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300" dirty="0"/>
          </a:p>
        </p:txBody>
      </p:sp>
      <p:sp>
        <p:nvSpPr>
          <p:cNvPr id="74" name="Text 72"/>
          <p:cNvSpPr/>
          <p:nvPr/>
        </p:nvSpPr>
        <p:spPr>
          <a:xfrm>
            <a:off x="10012680" y="4928616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1.25pt 實線＋三角箭頭</a:t>
            </a:r>
            <a:endParaRPr lang="en-US" sz="1000" dirty="0"/>
          </a:p>
        </p:txBody>
      </p:sp>
      <p:sp>
        <p:nvSpPr>
          <p:cNvPr id="75" name="線條"/>
          <p:cNvSpPr/>
          <p:nvPr/>
        </p:nvSpPr>
        <p:spPr>
          <a:xfrm>
            <a:off x="7086600" y="5202936"/>
            <a:ext cx="1188720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olid"/>
            <a:headEnd type="oval" w="lg" len="lg"/>
            <a:tailEnd type="triangle" w="lg" len="lg"/>
          </a:ln>
        </p:spPr>
      </p:sp>
      <p:sp>
        <p:nvSpPr>
          <p:cNvPr id="76" name="連接線"/>
          <p:cNvSpPr/>
          <p:nvPr/>
        </p:nvSpPr>
        <p:spPr>
          <a:xfrm>
            <a:off x="8549640" y="5001768"/>
            <a:ext cx="1234440" cy="402336"/>
          </a:xfrm>
          <a:custGeom>
            <a:avLst/>
            <a:gdLst/>
            <a:ahLst/>
            <a:cxnLst/>
            <a:rect l="l" t="t" r="r" b="b"/>
            <a:pathLst>
              <a:path w="1234440" h="402336">
                <a:moveTo>
                  <a:pt x="0" y="0"/>
                </a:moveTo>
                <a:lnTo>
                  <a:pt x="548640" y="0"/>
                </a:lnTo>
                <a:lnTo>
                  <a:pt x="548640" y="402336"/>
                </a:lnTo>
                <a:lnTo>
                  <a:pt x="1234440" y="402336"/>
                </a:lnTo>
              </a:path>
            </a:pathLst>
          </a:custGeom>
          <a:ln w="15875">
            <a:solidFill>
              <a:srgbClr val="8C8C8C"/>
            </a:solidFill>
            <a:prstDash val="solid"/>
            <a:headEnd type="oval" w="lg" len="lg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線條"/>
          <p:cNvSpPr/>
          <p:nvPr/>
        </p:nvSpPr>
        <p:spPr>
          <a:xfrm>
            <a:off x="6172200" y="5532120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72200" y="557784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300" dirty="0"/>
          </a:p>
        </p:txBody>
      </p:sp>
      <p:sp>
        <p:nvSpPr>
          <p:cNvPr id="79" name="Text 77"/>
          <p:cNvSpPr/>
          <p:nvPr/>
        </p:nvSpPr>
        <p:spPr>
          <a:xfrm>
            <a:off x="10012680" y="5577840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膠囊鏈</a:t>
            </a:r>
            <a:endParaRPr lang="en-US" sz="1000" dirty="0"/>
          </a:p>
        </p:txBody>
      </p:sp>
      <p:sp>
        <p:nvSpPr>
          <p:cNvPr id="80" name="流程鏈"/>
          <p:cNvSpPr/>
          <p:nvPr/>
        </p:nvSpPr>
        <p:spPr>
          <a:xfrm>
            <a:off x="7086600" y="5650992"/>
            <a:ext cx="670560" cy="402336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100" dirty="0"/>
          </a:p>
        </p:txBody>
      </p:sp>
      <p:sp>
        <p:nvSpPr>
          <p:cNvPr id="81" name="分隔"/>
          <p:cNvSpPr/>
          <p:nvPr/>
        </p:nvSpPr>
        <p:spPr>
          <a:xfrm>
            <a:off x="7889748" y="5751576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2" name="流程鏈"/>
          <p:cNvSpPr/>
          <p:nvPr/>
        </p:nvSpPr>
        <p:spPr>
          <a:xfrm>
            <a:off x="8122920" y="5650992"/>
            <a:ext cx="670560" cy="402336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100" dirty="0"/>
          </a:p>
        </p:txBody>
      </p:sp>
      <p:sp>
        <p:nvSpPr>
          <p:cNvPr id="83" name="分隔"/>
          <p:cNvSpPr/>
          <p:nvPr/>
        </p:nvSpPr>
        <p:spPr>
          <a:xfrm>
            <a:off x="8926068" y="5751576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4" name="流程鏈"/>
          <p:cNvSpPr/>
          <p:nvPr/>
        </p:nvSpPr>
        <p:spPr>
          <a:xfrm>
            <a:off x="9159240" y="5650992"/>
            <a:ext cx="670560" cy="402336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1100" dirty="0"/>
          </a:p>
        </p:txBody>
      </p:sp>
      <p:sp>
        <p:nvSpPr>
          <p:cNvPr id="85" name="Text 83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86" name="Text 84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 / 12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標題＋內文、角落標籤、表頭強調三種基本卡片</a:t>
            </a:r>
            <a:endParaRPr lang="en-US" sz="1600" dirty="0"/>
          </a:p>
        </p:txBody>
      </p:sp>
      <p:sp>
        <p:nvSpPr>
          <p:cNvPr id="5" name="卡片"/>
          <p:cNvSpPr/>
          <p:nvPr/>
        </p:nvSpPr>
        <p:spPr>
          <a:xfrm>
            <a:off x="548640" y="1874520"/>
            <a:ext cx="3410712" cy="2148840"/>
          </a:xfrm>
          <a:prstGeom prst="roundRect">
            <a:avLst>
              <a:gd name="adj" fmla="val 9362"/>
            </a:avLst>
          </a:prstGeom>
          <a:solidFill>
            <a:srgbClr val="FFFFFF"/>
          </a:solidFill>
          <a:ln/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86384" y="2020824"/>
            <a:ext cx="29352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pPr algn="l" indent="0" marL="0">
              <a:buNone/>
            </a:pPr>
            <a:r>
              <a:rPr lang="en-US" sz="1000" b="1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Card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86384" y="2660904"/>
            <a:ext cx="2935224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1200" dirty="0"/>
          </a:p>
        </p:txBody>
      </p:sp>
      <p:sp>
        <p:nvSpPr>
          <p:cNvPr id="8" name="卡片"/>
          <p:cNvSpPr/>
          <p:nvPr/>
        </p:nvSpPr>
        <p:spPr>
          <a:xfrm>
            <a:off x="4390492" y="1874520"/>
            <a:ext cx="3410712" cy="2148840"/>
          </a:xfrm>
          <a:prstGeom prst="roundRect">
            <a:avLst>
              <a:gd name="adj" fmla="val 9362"/>
            </a:avLst>
          </a:prstGeom>
          <a:solidFill>
            <a:srgbClr val="FFFFFF"/>
          </a:solidFill>
          <a:ln/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628236" y="2020824"/>
            <a:ext cx="29352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628236" y="2660904"/>
            <a:ext cx="2935224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1200" dirty="0"/>
          </a:p>
        </p:txBody>
      </p:sp>
      <p:sp>
        <p:nvSpPr>
          <p:cNvPr id="11" name="標籤"/>
          <p:cNvSpPr/>
          <p:nvPr/>
        </p:nvSpPr>
        <p:spPr>
          <a:xfrm>
            <a:off x="6854292" y="1746504"/>
            <a:ext cx="745744" cy="256032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1000" dirty="0"/>
          </a:p>
        </p:txBody>
      </p:sp>
      <p:sp>
        <p:nvSpPr>
          <p:cNvPr id="12" name="卡片"/>
          <p:cNvSpPr/>
          <p:nvPr/>
        </p:nvSpPr>
        <p:spPr>
          <a:xfrm>
            <a:off x="8232343" y="1874520"/>
            <a:ext cx="3410712" cy="2148840"/>
          </a:xfrm>
          <a:prstGeom prst="roundRect">
            <a:avLst>
              <a:gd name="adj" fmla="val 9362"/>
            </a:avLst>
          </a:prstGeom>
          <a:solidFill>
            <a:srgbClr val="FFFFFF"/>
          </a:solidFill>
          <a:ln/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表頭"/>
          <p:cNvSpPr/>
          <p:nvPr/>
        </p:nvSpPr>
        <p:spPr>
          <a:xfrm>
            <a:off x="8232343" y="1874520"/>
            <a:ext cx="3410712" cy="530352"/>
          </a:xfrm>
          <a:custGeom>
            <a:avLst/>
            <a:gdLst/>
            <a:ahLst/>
            <a:cxnLst/>
            <a:rect l="l" t="t" r="r" b="b"/>
            <a:pathLst>
              <a:path w="3410712" h="530352">
                <a:moveTo>
                  <a:pt x="0" y="530352"/>
                </a:moveTo>
                <a:lnTo>
                  <a:pt x="0" y="201168"/>
                </a:lnTo>
                <a:arcTo hR="201168" wR="201168" stAng="10800000" swAng="5400000"/>
                <a:lnTo>
                  <a:pt x="3209544" y="0"/>
                </a:lnTo>
                <a:arcTo hR="201168" wR="201168" stAng="16200000" swAng="5400000"/>
                <a:lnTo>
                  <a:pt x="3410712" y="530352"/>
                </a:lnTo>
                <a:close/>
              </a:path>
            </a:pathLst>
          </a:cu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470087" y="1874520"/>
            <a:ext cx="29352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470087" y="2587752"/>
            <a:ext cx="2935224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390492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232343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48640" y="466801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749808" y="4572000"/>
            <a:ext cx="6199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300" dirty="0"/>
          </a:p>
        </p:txBody>
      </p:sp>
      <p:sp>
        <p:nvSpPr>
          <p:cNvPr id="21" name="線條"/>
          <p:cNvSpPr/>
          <p:nvPr/>
        </p:nvSpPr>
        <p:spPr>
          <a:xfrm>
            <a:off x="548640" y="4956048"/>
            <a:ext cx="64008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2" name="標籤"/>
          <p:cNvSpPr/>
          <p:nvPr/>
        </p:nvSpPr>
        <p:spPr>
          <a:xfrm>
            <a:off x="548640" y="5102352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463040" y="5102352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300" dirty="0"/>
          </a:p>
        </p:txBody>
      </p:sp>
      <p:sp>
        <p:nvSpPr>
          <p:cNvPr id="24" name="標籤"/>
          <p:cNvSpPr/>
          <p:nvPr/>
        </p:nvSpPr>
        <p:spPr>
          <a:xfrm>
            <a:off x="548640" y="5486400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463040" y="548640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300" dirty="0"/>
          </a:p>
        </p:txBody>
      </p:sp>
      <p:sp>
        <p:nvSpPr>
          <p:cNvPr id="26" name="標籤"/>
          <p:cNvSpPr/>
          <p:nvPr/>
        </p:nvSpPr>
        <p:spPr>
          <a:xfrm>
            <a:off x="548640" y="5870448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463040" y="5870448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315200" y="466801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7516368" y="4572000"/>
            <a:ext cx="41266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300" dirty="0"/>
          </a:p>
        </p:txBody>
      </p:sp>
      <p:sp>
        <p:nvSpPr>
          <p:cNvPr id="30" name="線條"/>
          <p:cNvSpPr/>
          <p:nvPr/>
        </p:nvSpPr>
        <p:spPr>
          <a:xfrm>
            <a:off x="7315200" y="4956048"/>
            <a:ext cx="4327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15200" y="512064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7315200" y="548640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 / 12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標籤與編號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單一標籤、堆疊清單、編號徽章與圈號清單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87909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49808" y="1783080"/>
            <a:ext cx="1089324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300" dirty="0"/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標籤"/>
          <p:cNvSpPr/>
          <p:nvPr/>
        </p:nvSpPr>
        <p:spPr>
          <a:xfrm>
            <a:off x="548640" y="2331720"/>
            <a:ext cx="952276" cy="347472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300" dirty="0"/>
          </a:p>
        </p:txBody>
      </p:sp>
      <p:sp>
        <p:nvSpPr>
          <p:cNvPr id="9" name="標籤"/>
          <p:cNvSpPr/>
          <p:nvPr/>
        </p:nvSpPr>
        <p:spPr>
          <a:xfrm>
            <a:off x="1775236" y="2331720"/>
            <a:ext cx="952276" cy="347472"/>
          </a:xfrm>
          <a:prstGeom prst="roundRect">
            <a:avLst>
              <a:gd name="adj" fmla="val 50000"/>
            </a:avLst>
          </a:prstGeom>
          <a:solidFill>
            <a:srgbClr val="FCEBD5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55B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300" dirty="0"/>
          </a:p>
        </p:txBody>
      </p:sp>
      <p:sp>
        <p:nvSpPr>
          <p:cNvPr id="10" name="標籤"/>
          <p:cNvSpPr/>
          <p:nvPr/>
        </p:nvSpPr>
        <p:spPr>
          <a:xfrm>
            <a:off x="3001833" y="2331720"/>
            <a:ext cx="952276" cy="34747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300" dirty="0"/>
          </a:p>
        </p:txBody>
      </p:sp>
      <p:sp>
        <p:nvSpPr>
          <p:cNvPr id="11" name="標籤"/>
          <p:cNvSpPr/>
          <p:nvPr/>
        </p:nvSpPr>
        <p:spPr>
          <a:xfrm>
            <a:off x="4228429" y="2331720"/>
            <a:ext cx="952276" cy="347472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729346" y="233172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1100" dirty="0"/>
          </a:p>
        </p:txBody>
      </p:sp>
      <p:sp>
        <p:nvSpPr>
          <p:cNvPr id="13" name="標籤"/>
          <p:cNvSpPr/>
          <p:nvPr/>
        </p:nvSpPr>
        <p:spPr>
          <a:xfrm>
            <a:off x="6460866" y="2368296"/>
            <a:ext cx="491744" cy="27432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1000" dirty="0"/>
          </a:p>
        </p:txBody>
      </p:sp>
      <p:sp>
        <p:nvSpPr>
          <p:cNvPr id="14" name="標籤"/>
          <p:cNvSpPr/>
          <p:nvPr/>
        </p:nvSpPr>
        <p:spPr>
          <a:xfrm>
            <a:off x="7089770" y="2368296"/>
            <a:ext cx="491744" cy="27432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1000" dirty="0"/>
          </a:p>
        </p:txBody>
      </p:sp>
      <p:sp>
        <p:nvSpPr>
          <p:cNvPr id="15" name="標籤"/>
          <p:cNvSpPr/>
          <p:nvPr/>
        </p:nvSpPr>
        <p:spPr>
          <a:xfrm>
            <a:off x="7718674" y="2368296"/>
            <a:ext cx="491744" cy="27432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315925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749808" y="3063240"/>
            <a:ext cx="3264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300" dirty="0"/>
          </a:p>
        </p:txBody>
      </p:sp>
      <p:sp>
        <p:nvSpPr>
          <p:cNvPr id="18" name="線條"/>
          <p:cNvSpPr/>
          <p:nvPr/>
        </p:nvSpPr>
        <p:spPr>
          <a:xfrm>
            <a:off x="54864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9" name="標籤"/>
          <p:cNvSpPr/>
          <p:nvPr/>
        </p:nvSpPr>
        <p:spPr>
          <a:xfrm>
            <a:off x="548640" y="3666744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300" dirty="0"/>
          </a:p>
        </p:txBody>
      </p:sp>
      <p:sp>
        <p:nvSpPr>
          <p:cNvPr id="20" name="標籤"/>
          <p:cNvSpPr/>
          <p:nvPr/>
        </p:nvSpPr>
        <p:spPr>
          <a:xfrm>
            <a:off x="548640" y="4233672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300" dirty="0"/>
          </a:p>
        </p:txBody>
      </p:sp>
      <p:sp>
        <p:nvSpPr>
          <p:cNvPr id="21" name="標籤"/>
          <p:cNvSpPr/>
          <p:nvPr/>
        </p:nvSpPr>
        <p:spPr>
          <a:xfrm>
            <a:off x="548640" y="4800600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300" dirty="0"/>
          </a:p>
        </p:txBody>
      </p:sp>
      <p:sp>
        <p:nvSpPr>
          <p:cNvPr id="22" name="標籤"/>
          <p:cNvSpPr/>
          <p:nvPr/>
        </p:nvSpPr>
        <p:spPr>
          <a:xfrm>
            <a:off x="548640" y="5367528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363060" y="315925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4564228" y="3063240"/>
            <a:ext cx="3264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300" dirty="0"/>
          </a:p>
        </p:txBody>
      </p:sp>
      <p:sp>
        <p:nvSpPr>
          <p:cNvPr id="25" name="線條"/>
          <p:cNvSpPr/>
          <p:nvPr/>
        </p:nvSpPr>
        <p:spPr>
          <a:xfrm>
            <a:off x="436306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38188" y="3614440"/>
            <a:ext cx="506943" cy="50694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編號"/>
          <p:cNvSpPr/>
          <p:nvPr/>
        </p:nvSpPr>
        <p:spPr>
          <a:xfrm>
            <a:off x="4399636" y="3675888"/>
            <a:ext cx="384048" cy="384048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905116" y="3614440"/>
            <a:ext cx="506943" cy="50694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編號"/>
          <p:cNvSpPr/>
          <p:nvPr/>
        </p:nvSpPr>
        <p:spPr>
          <a:xfrm>
            <a:off x="4966564" y="3675888"/>
            <a:ext cx="384048" cy="384048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472044" y="3614440"/>
            <a:ext cx="506943" cy="50694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編號"/>
          <p:cNvSpPr/>
          <p:nvPr/>
        </p:nvSpPr>
        <p:spPr>
          <a:xfrm>
            <a:off x="5533492" y="3675888"/>
            <a:ext cx="384048" cy="384048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038972" y="3614440"/>
            <a:ext cx="506943" cy="506943"/>
          </a:xfrm>
          <a:prstGeom prst="ellipse">
            <a:avLst/>
          </a:prstGeom>
          <a:solidFill>
            <a:srgbClr val="FCE9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編號"/>
          <p:cNvSpPr/>
          <p:nvPr/>
        </p:nvSpPr>
        <p:spPr>
          <a:xfrm>
            <a:off x="6100420" y="3675888"/>
            <a:ext cx="384048" cy="384048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4374398" y="4464467"/>
            <a:ext cx="434523" cy="43452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編號"/>
          <p:cNvSpPr/>
          <p:nvPr/>
        </p:nvSpPr>
        <p:spPr>
          <a:xfrm>
            <a:off x="4427068" y="4517136"/>
            <a:ext cx="329184" cy="329184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929988" y="452628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5963260" y="4526280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374398" y="5031395"/>
            <a:ext cx="434523" cy="43452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編號"/>
          <p:cNvSpPr/>
          <p:nvPr/>
        </p:nvSpPr>
        <p:spPr>
          <a:xfrm>
            <a:off x="4427068" y="5084064"/>
            <a:ext cx="329184" cy="329184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4929988" y="509320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5963260" y="5093208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4374398" y="5598323"/>
            <a:ext cx="434523" cy="43452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編號"/>
          <p:cNvSpPr/>
          <p:nvPr/>
        </p:nvSpPr>
        <p:spPr>
          <a:xfrm>
            <a:off x="4427068" y="5650992"/>
            <a:ext cx="329184" cy="329184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4929988" y="5660136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5963260" y="5660136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8177479" y="315925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8378647" y="3063240"/>
            <a:ext cx="3264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300" dirty="0"/>
          </a:p>
        </p:txBody>
      </p:sp>
      <p:sp>
        <p:nvSpPr>
          <p:cNvPr id="48" name="線條"/>
          <p:cNvSpPr/>
          <p:nvPr/>
        </p:nvSpPr>
        <p:spPr>
          <a:xfrm>
            <a:off x="8177479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177479" y="3657600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8177479" y="4041648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8177479" y="4425696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400" dirty="0"/>
          </a:p>
        </p:txBody>
      </p:sp>
      <p:sp>
        <p:nvSpPr>
          <p:cNvPr id="52" name="Text 50"/>
          <p:cNvSpPr/>
          <p:nvPr/>
        </p:nvSpPr>
        <p:spPr>
          <a:xfrm>
            <a:off x="8177479" y="4809744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10006279" y="3657600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10006279" y="4041648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10006279" y="4425696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8177479" y="5303520"/>
            <a:ext cx="3465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 / 12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圓形與流程鏈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大外框圓＋疊放小圓，以及三段式流程鏈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87909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49808" y="1783080"/>
            <a:ext cx="4919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300" dirty="0"/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51206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光暈大圓"/>
          <p:cNvSpPr/>
          <p:nvPr/>
        </p:nvSpPr>
        <p:spPr>
          <a:xfrm>
            <a:off x="1847088" y="2350008"/>
            <a:ext cx="2523744" cy="2523744"/>
          </a:xfrm>
          <a:prstGeom prst="ellipse">
            <a:avLst/>
          </a:prstGeom>
          <a:solidFill>
            <a:srgbClr val="FFFFFF"/>
          </a:solidFill>
          <a:ln/>
          <a:effectLst>
            <a:outerShdw blurRad="228600" dist="25400" dir="5400000" sx="102000" sy="10200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847088" y="2678095"/>
            <a:ext cx="2523744" cy="7823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4100" dirty="0"/>
          </a:p>
        </p:txBody>
      </p:sp>
      <p:sp>
        <p:nvSpPr>
          <p:cNvPr id="10" name="Text 8"/>
          <p:cNvSpPr/>
          <p:nvPr/>
        </p:nvSpPr>
        <p:spPr>
          <a:xfrm>
            <a:off x="2099462" y="3485693"/>
            <a:ext cx="2018995" cy="706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648008" y="3918117"/>
            <a:ext cx="906353" cy="90635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小圓"/>
          <p:cNvSpPr/>
          <p:nvPr/>
        </p:nvSpPr>
        <p:spPr>
          <a:xfrm>
            <a:off x="1717136" y="3987246"/>
            <a:ext cx="768096" cy="768096"/>
          </a:xfrm>
          <a:prstGeom prst="ellipse">
            <a:avLst/>
          </a:prstGeom>
          <a:solidFill>
            <a:srgbClr val="0F7C8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655783" y="4420575"/>
            <a:ext cx="906353" cy="90635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小圓"/>
          <p:cNvSpPr/>
          <p:nvPr/>
        </p:nvSpPr>
        <p:spPr>
          <a:xfrm>
            <a:off x="2724912" y="4489704"/>
            <a:ext cx="768096" cy="768096"/>
          </a:xfrm>
          <a:prstGeom prst="ellipse">
            <a:avLst/>
          </a:prstGeom>
          <a:solidFill>
            <a:srgbClr val="0F7C8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663559" y="3918117"/>
            <a:ext cx="906353" cy="90635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小圓"/>
          <p:cNvSpPr/>
          <p:nvPr/>
        </p:nvSpPr>
        <p:spPr>
          <a:xfrm>
            <a:off x="3732688" y="3987246"/>
            <a:ext cx="768096" cy="768096"/>
          </a:xfrm>
          <a:prstGeom prst="ellipse">
            <a:avLst/>
          </a:prstGeom>
          <a:solidFill>
            <a:srgbClr val="0F7C8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309360" y="187909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510528" y="1783080"/>
            <a:ext cx="51325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300" dirty="0"/>
          </a:p>
        </p:txBody>
      </p:sp>
      <p:sp>
        <p:nvSpPr>
          <p:cNvPr id="19" name="線條"/>
          <p:cNvSpPr/>
          <p:nvPr/>
        </p:nvSpPr>
        <p:spPr>
          <a:xfrm>
            <a:off x="6309360" y="2167128"/>
            <a:ext cx="533369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0" name="流程鏈"/>
          <p:cNvSpPr/>
          <p:nvPr/>
        </p:nvSpPr>
        <p:spPr>
          <a:xfrm>
            <a:off x="6309360" y="2395728"/>
            <a:ext cx="1534058" cy="65836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1600" dirty="0"/>
          </a:p>
        </p:txBody>
      </p:sp>
      <p:sp>
        <p:nvSpPr>
          <p:cNvPr id="21" name="分隔"/>
          <p:cNvSpPr/>
          <p:nvPr/>
        </p:nvSpPr>
        <p:spPr>
          <a:xfrm>
            <a:off x="7976006" y="2624328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流程鏈"/>
          <p:cNvSpPr/>
          <p:nvPr/>
        </p:nvSpPr>
        <p:spPr>
          <a:xfrm>
            <a:off x="8209178" y="2395728"/>
            <a:ext cx="1534058" cy="65836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1600" dirty="0"/>
          </a:p>
        </p:txBody>
      </p:sp>
      <p:sp>
        <p:nvSpPr>
          <p:cNvPr id="23" name="分隔"/>
          <p:cNvSpPr/>
          <p:nvPr/>
        </p:nvSpPr>
        <p:spPr>
          <a:xfrm>
            <a:off x="9875825" y="2624328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流程鏈"/>
          <p:cNvSpPr/>
          <p:nvPr/>
        </p:nvSpPr>
        <p:spPr>
          <a:xfrm>
            <a:off x="10108997" y="2395728"/>
            <a:ext cx="1534058" cy="658368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1600" dirty="0"/>
          </a:p>
        </p:txBody>
      </p:sp>
      <p:sp>
        <p:nvSpPr>
          <p:cNvPr id="25" name="流程鏈"/>
          <p:cNvSpPr/>
          <p:nvPr/>
        </p:nvSpPr>
        <p:spPr>
          <a:xfrm>
            <a:off x="6309360" y="3520440"/>
            <a:ext cx="838505" cy="512064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</p:txBody>
      </p:sp>
      <p:sp>
        <p:nvSpPr>
          <p:cNvPr id="26" name="分隔"/>
          <p:cNvSpPr/>
          <p:nvPr/>
        </p:nvSpPr>
        <p:spPr>
          <a:xfrm>
            <a:off x="7240219" y="3675888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流程鏈"/>
          <p:cNvSpPr/>
          <p:nvPr/>
        </p:nvSpPr>
        <p:spPr>
          <a:xfrm>
            <a:off x="7433158" y="3520440"/>
            <a:ext cx="838505" cy="512064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</p:txBody>
      </p:sp>
      <p:sp>
        <p:nvSpPr>
          <p:cNvPr id="28" name="分隔"/>
          <p:cNvSpPr/>
          <p:nvPr/>
        </p:nvSpPr>
        <p:spPr>
          <a:xfrm>
            <a:off x="8364017" y="3675888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流程鏈"/>
          <p:cNvSpPr/>
          <p:nvPr/>
        </p:nvSpPr>
        <p:spPr>
          <a:xfrm>
            <a:off x="8556955" y="3520440"/>
            <a:ext cx="838505" cy="512064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</p:txBody>
      </p:sp>
      <p:sp>
        <p:nvSpPr>
          <p:cNvPr id="30" name="分隔"/>
          <p:cNvSpPr/>
          <p:nvPr/>
        </p:nvSpPr>
        <p:spPr>
          <a:xfrm>
            <a:off x="9487814" y="3675888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流程鏈"/>
          <p:cNvSpPr/>
          <p:nvPr/>
        </p:nvSpPr>
        <p:spPr>
          <a:xfrm>
            <a:off x="9680753" y="3520440"/>
            <a:ext cx="838505" cy="512064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</p:txBody>
      </p:sp>
      <p:sp>
        <p:nvSpPr>
          <p:cNvPr id="32" name="分隔"/>
          <p:cNvSpPr/>
          <p:nvPr/>
        </p:nvSpPr>
        <p:spPr>
          <a:xfrm>
            <a:off x="10611612" y="3675888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流程鏈"/>
          <p:cNvSpPr/>
          <p:nvPr/>
        </p:nvSpPr>
        <p:spPr>
          <a:xfrm>
            <a:off x="10804550" y="3520440"/>
            <a:ext cx="838505" cy="512064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</p:txBody>
      </p:sp>
      <p:sp>
        <p:nvSpPr>
          <p:cNvPr id="34" name="流程鏈"/>
          <p:cNvSpPr/>
          <p:nvPr/>
        </p:nvSpPr>
        <p:spPr>
          <a:xfrm>
            <a:off x="6309360" y="4526280"/>
            <a:ext cx="1059104" cy="512064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400" dirty="0"/>
          </a:p>
        </p:txBody>
      </p:sp>
      <p:sp>
        <p:nvSpPr>
          <p:cNvPr id="35" name="分隔"/>
          <p:cNvSpPr/>
          <p:nvPr/>
        </p:nvSpPr>
        <p:spPr>
          <a:xfrm>
            <a:off x="7501052" y="4681728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流程鏈"/>
          <p:cNvSpPr/>
          <p:nvPr/>
        </p:nvSpPr>
        <p:spPr>
          <a:xfrm>
            <a:off x="7734224" y="4526280"/>
            <a:ext cx="1059104" cy="512064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400" dirty="0"/>
          </a:p>
        </p:txBody>
      </p:sp>
      <p:sp>
        <p:nvSpPr>
          <p:cNvPr id="37" name="分隔"/>
          <p:cNvSpPr/>
          <p:nvPr/>
        </p:nvSpPr>
        <p:spPr>
          <a:xfrm>
            <a:off x="8925916" y="4681728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流程鏈"/>
          <p:cNvSpPr/>
          <p:nvPr/>
        </p:nvSpPr>
        <p:spPr>
          <a:xfrm>
            <a:off x="9159088" y="4526280"/>
            <a:ext cx="1059104" cy="512064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400" dirty="0"/>
          </a:p>
        </p:txBody>
      </p:sp>
      <p:sp>
        <p:nvSpPr>
          <p:cNvPr id="39" name="分隔"/>
          <p:cNvSpPr/>
          <p:nvPr/>
        </p:nvSpPr>
        <p:spPr>
          <a:xfrm>
            <a:off x="10350779" y="4681728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流程鏈"/>
          <p:cNvSpPr/>
          <p:nvPr/>
        </p:nvSpPr>
        <p:spPr>
          <a:xfrm>
            <a:off x="10583951" y="4526280"/>
            <a:ext cx="1059104" cy="512064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6309360" y="5138928"/>
            <a:ext cx="1059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7734224" y="5138928"/>
            <a:ext cx="1059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9159088" y="5138928"/>
            <a:ext cx="1059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10583951" y="5138928"/>
            <a:ext cx="1059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309360" y="5760720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 / 12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連接線與箭頭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細直線、折線、點狀線、曲線、▶ 小三角與區塊箭號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87909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49808" y="178308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300" dirty="0"/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處理"/>
          <p:cNvSpPr/>
          <p:nvPr/>
        </p:nvSpPr>
        <p:spPr>
          <a:xfrm>
            <a:off x="548640" y="2807208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9" name="處理"/>
          <p:cNvSpPr/>
          <p:nvPr/>
        </p:nvSpPr>
        <p:spPr>
          <a:xfrm>
            <a:off x="2279828" y="2807208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10" name="線條"/>
          <p:cNvSpPr/>
          <p:nvPr/>
        </p:nvSpPr>
        <p:spPr>
          <a:xfrm>
            <a:off x="1426464" y="3017520"/>
            <a:ext cx="798500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olid"/>
            <a:headEnd type="oval" w="lg" len="lg"/>
            <a:tailEnd type="triangle" w="lg" len="lg"/>
          </a:ln>
        </p:spPr>
      </p:sp>
      <p:sp>
        <p:nvSpPr>
          <p:cNvPr id="11" name="Text 9"/>
          <p:cNvSpPr/>
          <p:nvPr/>
        </p:nvSpPr>
        <p:spPr>
          <a:xfrm>
            <a:off x="3395396" y="187909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3596564" y="178308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300" dirty="0"/>
          </a:p>
        </p:txBody>
      </p:sp>
      <p:sp>
        <p:nvSpPr>
          <p:cNvPr id="13" name="線條"/>
          <p:cNvSpPr/>
          <p:nvPr/>
        </p:nvSpPr>
        <p:spPr>
          <a:xfrm>
            <a:off x="3395396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4" name="處理"/>
          <p:cNvSpPr/>
          <p:nvPr/>
        </p:nvSpPr>
        <p:spPr>
          <a:xfrm>
            <a:off x="3395396" y="2468880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15" name="處理"/>
          <p:cNvSpPr/>
          <p:nvPr/>
        </p:nvSpPr>
        <p:spPr>
          <a:xfrm>
            <a:off x="5126584" y="3383280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16" name="連接線"/>
          <p:cNvSpPr/>
          <p:nvPr/>
        </p:nvSpPr>
        <p:spPr>
          <a:xfrm>
            <a:off x="4273220" y="2679192"/>
            <a:ext cx="798500" cy="914400"/>
          </a:xfrm>
          <a:custGeom>
            <a:avLst/>
            <a:gdLst/>
            <a:ahLst/>
            <a:cxnLst/>
            <a:rect l="l" t="t" r="r" b="b"/>
            <a:pathLst>
              <a:path w="798500" h="914400">
                <a:moveTo>
                  <a:pt x="0" y="0"/>
                </a:moveTo>
                <a:lnTo>
                  <a:pt x="399250" y="0"/>
                </a:lnTo>
                <a:lnTo>
                  <a:pt x="399250" y="914400"/>
                </a:lnTo>
                <a:lnTo>
                  <a:pt x="798500" y="914400"/>
                </a:lnTo>
              </a:path>
            </a:pathLst>
          </a:custGeom>
          <a:ln w="15875">
            <a:solidFill>
              <a:srgbClr val="8C8C8C"/>
            </a:solidFill>
            <a:prstDash val="solid"/>
            <a:headEnd type="oval" w="lg" len="lg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242152" y="187909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443320" y="178308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300" dirty="0"/>
          </a:p>
        </p:txBody>
      </p:sp>
      <p:sp>
        <p:nvSpPr>
          <p:cNvPr id="19" name="線條"/>
          <p:cNvSpPr/>
          <p:nvPr/>
        </p:nvSpPr>
        <p:spPr>
          <a:xfrm>
            <a:off x="6242152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0" name="處理"/>
          <p:cNvSpPr/>
          <p:nvPr/>
        </p:nvSpPr>
        <p:spPr>
          <a:xfrm>
            <a:off x="6242152" y="2807208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21" name="處理"/>
          <p:cNvSpPr/>
          <p:nvPr/>
        </p:nvSpPr>
        <p:spPr>
          <a:xfrm>
            <a:off x="7973339" y="2807208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22" name="線條"/>
          <p:cNvSpPr/>
          <p:nvPr/>
        </p:nvSpPr>
        <p:spPr>
          <a:xfrm>
            <a:off x="7119976" y="3017520"/>
            <a:ext cx="798500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ysDot"/>
            <a:headEnd type="oval" w="lg" len="lg"/>
            <a:tailEnd type="triangle" w="lg" len="lg"/>
          </a:ln>
        </p:spPr>
      </p:sp>
      <p:sp>
        <p:nvSpPr>
          <p:cNvPr id="23" name="Text 21"/>
          <p:cNvSpPr/>
          <p:nvPr/>
        </p:nvSpPr>
        <p:spPr>
          <a:xfrm>
            <a:off x="9088907" y="187909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9290075" y="178308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300" dirty="0"/>
          </a:p>
        </p:txBody>
      </p:sp>
      <p:sp>
        <p:nvSpPr>
          <p:cNvPr id="25" name="線條"/>
          <p:cNvSpPr/>
          <p:nvPr/>
        </p:nvSpPr>
        <p:spPr>
          <a:xfrm>
            <a:off x="9088907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6" name="處理"/>
          <p:cNvSpPr/>
          <p:nvPr/>
        </p:nvSpPr>
        <p:spPr>
          <a:xfrm>
            <a:off x="9088907" y="3246120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27" name="處理"/>
          <p:cNvSpPr/>
          <p:nvPr/>
        </p:nvSpPr>
        <p:spPr>
          <a:xfrm>
            <a:off x="10820095" y="3246120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28" name="曲線箭頭"/>
          <p:cNvSpPr/>
          <p:nvPr/>
        </p:nvSpPr>
        <p:spPr>
          <a:xfrm>
            <a:off x="9500387" y="2423160"/>
            <a:ext cx="1731188" cy="768096"/>
          </a:xfrm>
          <a:custGeom>
            <a:avLst/>
            <a:gdLst/>
            <a:ahLst/>
            <a:cxnLst/>
            <a:rect l="l" t="t" r="r" b="b"/>
            <a:pathLst>
              <a:path w="1731188" h="768096">
                <a:moveTo>
                  <a:pt x="0" y="768096"/>
                </a:moveTo>
                <a:cubicBezTo>
                  <a:pt x="0" y="0"/>
                  <a:pt x="1731188" y="0"/>
                  <a:pt x="1731188" y="768096"/>
                </a:cubicBezTo>
              </a:path>
            </a:pathLst>
          </a:custGeom>
          <a:ln w="15875">
            <a:solidFill>
              <a:srgbClr val="8C8C8C"/>
            </a:solidFill>
            <a:prstDash val="sysDash"/>
            <a:headEnd type="oval" w="lg" len="lg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548640" y="402793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749808" y="393192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300" dirty="0"/>
          </a:p>
        </p:txBody>
      </p:sp>
      <p:sp>
        <p:nvSpPr>
          <p:cNvPr id="31" name="線條"/>
          <p:cNvSpPr/>
          <p:nvPr/>
        </p:nvSpPr>
        <p:spPr>
          <a:xfrm>
            <a:off x="548640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300" dirty="0"/>
          </a:p>
        </p:txBody>
      </p:sp>
      <p:sp>
        <p:nvSpPr>
          <p:cNvPr id="33" name="分隔"/>
          <p:cNvSpPr/>
          <p:nvPr/>
        </p:nvSpPr>
        <p:spPr>
          <a:xfrm>
            <a:off x="1278617" y="5065776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154225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300" dirty="0"/>
          </a:p>
        </p:txBody>
      </p:sp>
      <p:sp>
        <p:nvSpPr>
          <p:cNvPr id="35" name="分隔"/>
          <p:cNvSpPr/>
          <p:nvPr/>
        </p:nvSpPr>
        <p:spPr>
          <a:xfrm>
            <a:off x="2272227" y="5065776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253586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3395396" y="402793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3596564" y="393192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300" dirty="0"/>
          </a:p>
        </p:txBody>
      </p:sp>
      <p:sp>
        <p:nvSpPr>
          <p:cNvPr id="39" name="線條"/>
          <p:cNvSpPr/>
          <p:nvPr/>
        </p:nvSpPr>
        <p:spPr>
          <a:xfrm>
            <a:off x="3395396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0" name="處理"/>
          <p:cNvSpPr/>
          <p:nvPr/>
        </p:nvSpPr>
        <p:spPr>
          <a:xfrm>
            <a:off x="3395396" y="4956048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41" name="處理"/>
          <p:cNvSpPr/>
          <p:nvPr/>
        </p:nvSpPr>
        <p:spPr>
          <a:xfrm>
            <a:off x="5126584" y="4956048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42" name="三角形"/>
          <p:cNvSpPr/>
          <p:nvPr/>
        </p:nvSpPr>
        <p:spPr>
          <a:xfrm>
            <a:off x="4463987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三角形"/>
          <p:cNvSpPr/>
          <p:nvPr/>
        </p:nvSpPr>
        <p:spPr>
          <a:xfrm>
            <a:off x="4617606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三角形"/>
          <p:cNvSpPr/>
          <p:nvPr/>
        </p:nvSpPr>
        <p:spPr>
          <a:xfrm>
            <a:off x="4771225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6242152" y="402793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6443320" y="393192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300" dirty="0"/>
          </a:p>
        </p:txBody>
      </p:sp>
      <p:sp>
        <p:nvSpPr>
          <p:cNvPr id="47" name="線條"/>
          <p:cNvSpPr/>
          <p:nvPr/>
        </p:nvSpPr>
        <p:spPr>
          <a:xfrm>
            <a:off x="6242152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8" name="區塊箭號"/>
          <p:cNvSpPr/>
          <p:nvPr/>
        </p:nvSpPr>
        <p:spPr>
          <a:xfrm>
            <a:off x="6242152" y="4919472"/>
            <a:ext cx="961111" cy="493776"/>
          </a:xfrm>
          <a:prstGeom prst="homePlate">
            <a:avLst>
              <a:gd name="adj" fmla="val 33333"/>
            </a:avLst>
          </a:prstGeom>
          <a:solidFill>
            <a:srgbClr val="0F7C8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300" dirty="0"/>
          </a:p>
        </p:txBody>
      </p:sp>
      <p:sp>
        <p:nvSpPr>
          <p:cNvPr id="49" name="區塊箭號"/>
          <p:cNvSpPr/>
          <p:nvPr/>
        </p:nvSpPr>
        <p:spPr>
          <a:xfrm>
            <a:off x="7075246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4B9DA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300" dirty="0"/>
          </a:p>
        </p:txBody>
      </p:sp>
      <p:sp>
        <p:nvSpPr>
          <p:cNvPr id="50" name="區塊箭號"/>
          <p:cNvSpPr/>
          <p:nvPr/>
        </p:nvSpPr>
        <p:spPr>
          <a:xfrm>
            <a:off x="7908341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F2A541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9088907" y="402793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9290075" y="393192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300" dirty="0"/>
          </a:p>
        </p:txBody>
      </p:sp>
      <p:sp>
        <p:nvSpPr>
          <p:cNvPr id="53" name="線條"/>
          <p:cNvSpPr/>
          <p:nvPr/>
        </p:nvSpPr>
        <p:spPr>
          <a:xfrm>
            <a:off x="9088907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4" name="處理"/>
          <p:cNvSpPr/>
          <p:nvPr/>
        </p:nvSpPr>
        <p:spPr>
          <a:xfrm>
            <a:off x="9088907" y="4956048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55" name="處理"/>
          <p:cNvSpPr/>
          <p:nvPr/>
        </p:nvSpPr>
        <p:spPr>
          <a:xfrm>
            <a:off x="10820095" y="4572000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300" dirty="0"/>
          </a:p>
        </p:txBody>
      </p:sp>
      <p:sp>
        <p:nvSpPr>
          <p:cNvPr id="56" name="處理"/>
          <p:cNvSpPr/>
          <p:nvPr/>
        </p:nvSpPr>
        <p:spPr>
          <a:xfrm>
            <a:off x="10820095" y="5340096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300" dirty="0"/>
          </a:p>
        </p:txBody>
      </p:sp>
      <p:sp>
        <p:nvSpPr>
          <p:cNvPr id="57" name="線條"/>
          <p:cNvSpPr/>
          <p:nvPr/>
        </p:nvSpPr>
        <p:spPr>
          <a:xfrm>
            <a:off x="9966731" y="5166360"/>
            <a:ext cx="399250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olid"/>
          </a:ln>
        </p:spPr>
      </p:sp>
      <p:sp>
        <p:nvSpPr>
          <p:cNvPr id="58" name="連接線"/>
          <p:cNvSpPr/>
          <p:nvPr/>
        </p:nvSpPr>
        <p:spPr>
          <a:xfrm>
            <a:off x="10365981" y="4782312"/>
            <a:ext cx="399250" cy="384048"/>
          </a:xfrm>
          <a:custGeom>
            <a:avLst/>
            <a:gdLst/>
            <a:ahLst/>
            <a:cxnLst/>
            <a:rect l="l" t="t" r="r" b="b"/>
            <a:pathLst>
              <a:path w="399250" h="384048">
                <a:moveTo>
                  <a:pt x="0" y="384048"/>
                </a:moveTo>
                <a:lnTo>
                  <a:pt x="0" y="0"/>
                </a:lnTo>
                <a:lnTo>
                  <a:pt x="399250" y="0"/>
                </a:lnTo>
              </a:path>
            </a:pathLst>
          </a:custGeom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連接線"/>
          <p:cNvSpPr/>
          <p:nvPr/>
        </p:nvSpPr>
        <p:spPr>
          <a:xfrm>
            <a:off x="10365981" y="5166360"/>
            <a:ext cx="399250" cy="384048"/>
          </a:xfrm>
          <a:custGeom>
            <a:avLst/>
            <a:gdLst/>
            <a:ahLst/>
            <a:cxnLst/>
            <a:rect l="l" t="t" r="r" b="b"/>
            <a:pathLst>
              <a:path w="399250" h="384048">
                <a:moveTo>
                  <a:pt x="0" y="0"/>
                </a:moveTo>
                <a:lnTo>
                  <a:pt x="0" y="384048"/>
                </a:lnTo>
                <a:lnTo>
                  <a:pt x="399250" y="384048"/>
                </a:lnTo>
              </a:path>
            </a:pathLst>
          </a:custGeom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548640" y="59436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連接線為獨立線條，移動圖形後需手動調整；建議先排好圖形再拉線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 / 12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流程圖符號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開始／結束、處理、判斷、輸入輸出、文件、資料庫</a:t>
            </a:r>
            <a:endParaRPr lang="en-US" sz="1600" dirty="0"/>
          </a:p>
        </p:txBody>
      </p:sp>
      <p:sp>
        <p:nvSpPr>
          <p:cNvPr id="5" name="開始／結束"/>
          <p:cNvSpPr/>
          <p:nvPr/>
        </p:nvSpPr>
        <p:spPr>
          <a:xfrm>
            <a:off x="787375" y="2231136"/>
            <a:ext cx="1371600" cy="566928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Terminator</a:t>
            </a:r>
            <a:endParaRPr lang="en-US" sz="1400" dirty="0"/>
          </a:p>
        </p:txBody>
      </p:sp>
      <p:sp>
        <p:nvSpPr>
          <p:cNvPr id="7" name="處理"/>
          <p:cNvSpPr/>
          <p:nvPr/>
        </p:nvSpPr>
        <p:spPr>
          <a:xfrm>
            <a:off x="2590724" y="2185416"/>
            <a:ext cx="1463040" cy="658368"/>
          </a:xfrm>
          <a:prstGeom prst="roundRect">
            <a:avLst>
              <a:gd name="adj" fmla="val 30556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397709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400" dirty="0"/>
          </a:p>
        </p:txBody>
      </p:sp>
      <p:sp>
        <p:nvSpPr>
          <p:cNvPr id="9" name="判斷"/>
          <p:cNvSpPr/>
          <p:nvPr/>
        </p:nvSpPr>
        <p:spPr>
          <a:xfrm>
            <a:off x="4485513" y="2057400"/>
            <a:ext cx="1371600" cy="914400"/>
          </a:xfrm>
          <a:prstGeom prst="diamond">
            <a:avLst/>
          </a:prstGeom>
          <a:solidFill>
            <a:srgbClr val="FCE9D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246778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400" dirty="0"/>
          </a:p>
        </p:txBody>
      </p:sp>
      <p:sp>
        <p:nvSpPr>
          <p:cNvPr id="11" name="輸入輸出"/>
          <p:cNvSpPr/>
          <p:nvPr/>
        </p:nvSpPr>
        <p:spPr>
          <a:xfrm>
            <a:off x="6243142" y="2185416"/>
            <a:ext cx="1554480" cy="658368"/>
          </a:xfrm>
          <a:prstGeom prst="parallelogram">
            <a:avLst>
              <a:gd name="adj" fmla="val 42000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095848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Input / Output</a:t>
            </a:r>
            <a:endParaRPr lang="en-US" sz="1400" dirty="0"/>
          </a:p>
        </p:txBody>
      </p:sp>
      <p:sp>
        <p:nvSpPr>
          <p:cNvPr id="13" name="文件"/>
          <p:cNvSpPr/>
          <p:nvPr/>
        </p:nvSpPr>
        <p:spPr>
          <a:xfrm>
            <a:off x="8183651" y="2125980"/>
            <a:ext cx="1371600" cy="777240"/>
          </a:xfrm>
          <a:custGeom>
            <a:avLst/>
            <a:gdLst/>
            <a:ahLst/>
            <a:cxnLst/>
            <a:rect l="l" t="t" r="r" b="b"/>
            <a:pathLst>
              <a:path w="1371600" h="777240">
                <a:moveTo>
                  <a:pt x="0" y="0"/>
                </a:moveTo>
                <a:lnTo>
                  <a:pt x="1371600" y="0"/>
                </a:lnTo>
                <a:lnTo>
                  <a:pt x="1371600" y="623346"/>
                </a:lnTo>
                <a:cubicBezTo>
                  <a:pt x="685800" y="623346"/>
                  <a:pt x="685800" y="860793"/>
                  <a:pt x="0" y="725942"/>
                </a:cubicBezTo>
                <a:close/>
              </a:path>
            </a:pathLst>
          </a:custGeom>
          <a:solidFill>
            <a:srgbClr val="E0F0F0"/>
          </a:solidFill>
          <a:ln/>
        </p:spPr>
        <p:txBody>
          <a:bodyPr wrap="square" lIns="38100" tIns="0" rIns="38100" bIns="155448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944917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Document</a:t>
            </a:r>
            <a:endParaRPr lang="en-US" sz="1400" dirty="0"/>
          </a:p>
        </p:txBody>
      </p:sp>
      <p:sp>
        <p:nvSpPr>
          <p:cNvPr id="15" name="資料庫"/>
          <p:cNvSpPr/>
          <p:nvPr/>
        </p:nvSpPr>
        <p:spPr>
          <a:xfrm>
            <a:off x="10215601" y="2057400"/>
            <a:ext cx="1005840" cy="914400"/>
          </a:xfrm>
          <a:prstGeom prst="can">
            <a:avLst>
              <a:gd name="adj" fmla="val 13000"/>
            </a:avLst>
          </a:prstGeom>
          <a:solidFill>
            <a:srgbClr val="E0F0F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793986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Database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3863340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49808" y="3767328"/>
            <a:ext cx="1089324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300" dirty="0"/>
          </a:p>
        </p:txBody>
      </p:sp>
      <p:sp>
        <p:nvSpPr>
          <p:cNvPr id="19" name="線條"/>
          <p:cNvSpPr/>
          <p:nvPr/>
        </p:nvSpPr>
        <p:spPr>
          <a:xfrm>
            <a:off x="548640" y="4151376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0" name="開始／結束"/>
          <p:cNvSpPr/>
          <p:nvPr/>
        </p:nvSpPr>
        <p:spPr>
          <a:xfrm>
            <a:off x="548640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21" name="輸入輸出"/>
          <p:cNvSpPr/>
          <p:nvPr/>
        </p:nvSpPr>
        <p:spPr>
          <a:xfrm>
            <a:off x="2228027" y="4398264"/>
            <a:ext cx="1645920" cy="621792"/>
          </a:xfrm>
          <a:prstGeom prst="parallelogram">
            <a:avLst>
              <a:gd name="adj" fmla="val 42000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400" dirty="0"/>
          </a:p>
        </p:txBody>
      </p:sp>
      <p:sp>
        <p:nvSpPr>
          <p:cNvPr id="22" name="判斷"/>
          <p:cNvSpPr/>
          <p:nvPr/>
        </p:nvSpPr>
        <p:spPr>
          <a:xfrm>
            <a:off x="4410334" y="4251960"/>
            <a:ext cx="1554480" cy="914400"/>
          </a:xfrm>
          <a:prstGeom prst="diamond">
            <a:avLst/>
          </a:prstGeom>
          <a:solidFill>
            <a:srgbClr val="FCE9D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300" dirty="0"/>
          </a:p>
        </p:txBody>
      </p:sp>
      <p:sp>
        <p:nvSpPr>
          <p:cNvPr id="23" name="處理"/>
          <p:cNvSpPr/>
          <p:nvPr/>
        </p:nvSpPr>
        <p:spPr>
          <a:xfrm>
            <a:off x="6501201" y="4398264"/>
            <a:ext cx="1463040" cy="621792"/>
          </a:xfrm>
          <a:prstGeom prst="roundRect">
            <a:avLst>
              <a:gd name="adj" fmla="val 32353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400" dirty="0"/>
          </a:p>
        </p:txBody>
      </p:sp>
      <p:sp>
        <p:nvSpPr>
          <p:cNvPr id="24" name="文件"/>
          <p:cNvSpPr/>
          <p:nvPr/>
        </p:nvSpPr>
        <p:spPr>
          <a:xfrm>
            <a:off x="8500628" y="4343400"/>
            <a:ext cx="1463040" cy="731520"/>
          </a:xfrm>
          <a:custGeom>
            <a:avLst/>
            <a:gdLst/>
            <a:ahLst/>
            <a:cxnLst/>
            <a:rect l="l" t="t" r="r" b="b"/>
            <a:pathLst>
              <a:path w="1463040" h="731520">
                <a:moveTo>
                  <a:pt x="0" y="0"/>
                </a:moveTo>
                <a:lnTo>
                  <a:pt x="1463040" y="0"/>
                </a:lnTo>
                <a:lnTo>
                  <a:pt x="1463040" y="586679"/>
                </a:lnTo>
                <a:cubicBezTo>
                  <a:pt x="731520" y="586679"/>
                  <a:pt x="731520" y="810158"/>
                  <a:pt x="0" y="683240"/>
                </a:cubicBezTo>
                <a:close/>
              </a:path>
            </a:pathLst>
          </a:custGeom>
          <a:solidFill>
            <a:srgbClr val="E0F0F0"/>
          </a:solidFill>
          <a:ln/>
        </p:spPr>
        <p:txBody>
          <a:bodyPr wrap="square" lIns="38100" tIns="0" rIns="38100" bIns="146304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400" dirty="0"/>
          </a:p>
        </p:txBody>
      </p:sp>
      <p:sp>
        <p:nvSpPr>
          <p:cNvPr id="25" name="開始／結束"/>
          <p:cNvSpPr/>
          <p:nvPr/>
        </p:nvSpPr>
        <p:spPr>
          <a:xfrm>
            <a:off x="10500055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400" dirty="0"/>
          </a:p>
        </p:txBody>
      </p:sp>
      <p:sp>
        <p:nvSpPr>
          <p:cNvPr id="26" name="線條"/>
          <p:cNvSpPr/>
          <p:nvPr/>
        </p:nvSpPr>
        <p:spPr>
          <a:xfrm>
            <a:off x="1755648" y="4709160"/>
            <a:ext cx="499811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olid"/>
            <a:tailEnd type="triangle" w="lg" len="lg"/>
          </a:ln>
        </p:spPr>
      </p:sp>
      <p:sp>
        <p:nvSpPr>
          <p:cNvPr id="27" name="線條"/>
          <p:cNvSpPr/>
          <p:nvPr/>
        </p:nvSpPr>
        <p:spPr>
          <a:xfrm>
            <a:off x="3828227" y="4709160"/>
            <a:ext cx="518099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olid"/>
            <a:tailEnd type="triangle" w="lg" len="lg"/>
          </a:ln>
        </p:spPr>
      </p:sp>
      <p:sp>
        <p:nvSpPr>
          <p:cNvPr id="28" name="線條"/>
          <p:cNvSpPr/>
          <p:nvPr/>
        </p:nvSpPr>
        <p:spPr>
          <a:xfrm>
            <a:off x="6028822" y="4709160"/>
            <a:ext cx="408371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olid"/>
            <a:tailEnd type="triangle" w="lg" len="lg"/>
          </a:ln>
        </p:spPr>
      </p:sp>
      <p:sp>
        <p:nvSpPr>
          <p:cNvPr id="29" name="線條"/>
          <p:cNvSpPr/>
          <p:nvPr/>
        </p:nvSpPr>
        <p:spPr>
          <a:xfrm>
            <a:off x="8028249" y="4709160"/>
            <a:ext cx="408371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olid"/>
            <a:tailEnd type="triangle" w="lg" len="lg"/>
          </a:ln>
        </p:spPr>
      </p:sp>
      <p:sp>
        <p:nvSpPr>
          <p:cNvPr id="30" name="線條"/>
          <p:cNvSpPr/>
          <p:nvPr/>
        </p:nvSpPr>
        <p:spPr>
          <a:xfrm>
            <a:off x="10027676" y="4709160"/>
            <a:ext cx="408371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olid"/>
            <a:tailEnd type="triangle" w="lg" len="lg"/>
          </a:ln>
        </p:spPr>
      </p:sp>
      <p:sp>
        <p:nvSpPr>
          <p:cNvPr id="31" name="Text 29"/>
          <p:cNvSpPr/>
          <p:nvPr/>
        </p:nvSpPr>
        <p:spPr>
          <a:xfrm>
            <a:off x="5983102" y="4325112"/>
            <a:ext cx="5363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1100" dirty="0"/>
          </a:p>
        </p:txBody>
      </p:sp>
      <p:sp>
        <p:nvSpPr>
          <p:cNvPr id="32" name="資料庫"/>
          <p:cNvSpPr/>
          <p:nvPr/>
        </p:nvSpPr>
        <p:spPr>
          <a:xfrm>
            <a:off x="6775521" y="5413248"/>
            <a:ext cx="914400" cy="749808"/>
          </a:xfrm>
          <a:prstGeom prst="can">
            <a:avLst>
              <a:gd name="adj" fmla="val 13000"/>
            </a:avLst>
          </a:prstGeom>
          <a:solidFill>
            <a:srgbClr val="E0F0F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200" dirty="0"/>
          </a:p>
        </p:txBody>
      </p:sp>
      <p:sp>
        <p:nvSpPr>
          <p:cNvPr id="33" name="線條"/>
          <p:cNvSpPr/>
          <p:nvPr/>
        </p:nvSpPr>
        <p:spPr>
          <a:xfrm>
            <a:off x="7232721" y="5074920"/>
            <a:ext cx="0" cy="283464"/>
          </a:xfrm>
          <a:prstGeom prst="line">
            <a:avLst/>
          </a:prstGeom>
          <a:noFill/>
          <a:ln w="15875">
            <a:solidFill>
              <a:srgbClr val="8C8C8C"/>
            </a:solidFill>
            <a:prstDash val="sysDash"/>
            <a:headEnd type="triangle" w="lg" len="lg"/>
            <a:tailEnd type="triangle" w="lg" len="lg"/>
          </a:ln>
        </p:spPr>
      </p:sp>
      <p:sp>
        <p:nvSpPr>
          <p:cNvPr id="34" name="連接線"/>
          <p:cNvSpPr/>
          <p:nvPr/>
        </p:nvSpPr>
        <p:spPr>
          <a:xfrm>
            <a:off x="3050987" y="5074920"/>
            <a:ext cx="2136587" cy="777240"/>
          </a:xfrm>
          <a:custGeom>
            <a:avLst/>
            <a:gdLst/>
            <a:ahLst/>
            <a:cxnLst/>
            <a:rect l="l" t="t" r="r" b="b"/>
            <a:pathLst>
              <a:path w="2136587" h="777240">
                <a:moveTo>
                  <a:pt x="2136587" y="146304"/>
                </a:moveTo>
                <a:lnTo>
                  <a:pt x="2136587" y="777240"/>
                </a:lnTo>
                <a:lnTo>
                  <a:pt x="0" y="777240"/>
                </a:lnTo>
                <a:lnTo>
                  <a:pt x="0" y="0"/>
                </a:lnTo>
              </a:path>
            </a:pathLst>
          </a:custGeom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5279014" y="5276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 / 12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結構元件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樹狀分支、十字矩陣與半透明寬欄條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87909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49808" y="1783080"/>
            <a:ext cx="5010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300" dirty="0"/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52120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處理"/>
          <p:cNvSpPr/>
          <p:nvPr/>
        </p:nvSpPr>
        <p:spPr>
          <a:xfrm>
            <a:off x="548640" y="3794760"/>
            <a:ext cx="749808" cy="457200"/>
          </a:xfrm>
          <a:prstGeom prst="roundRect">
            <a:avLst>
              <a:gd name="adj" fmla="val 44000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300" dirty="0"/>
          </a:p>
        </p:txBody>
      </p:sp>
      <p:sp>
        <p:nvSpPr>
          <p:cNvPr id="9" name="處理"/>
          <p:cNvSpPr/>
          <p:nvPr/>
        </p:nvSpPr>
        <p:spPr>
          <a:xfrm>
            <a:off x="1874520" y="3063240"/>
            <a:ext cx="841248" cy="457200"/>
          </a:xfrm>
          <a:prstGeom prst="roundRect">
            <a:avLst>
              <a:gd name="adj" fmla="val 44000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1200" dirty="0"/>
          </a:p>
        </p:txBody>
      </p:sp>
      <p:sp>
        <p:nvSpPr>
          <p:cNvPr id="10" name="處理"/>
          <p:cNvSpPr/>
          <p:nvPr/>
        </p:nvSpPr>
        <p:spPr>
          <a:xfrm>
            <a:off x="1874520" y="4526280"/>
            <a:ext cx="841248" cy="457200"/>
          </a:xfrm>
          <a:prstGeom prst="roundRect">
            <a:avLst>
              <a:gd name="adj" fmla="val 44000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1200" dirty="0"/>
          </a:p>
        </p:txBody>
      </p:sp>
      <p:sp>
        <p:nvSpPr>
          <p:cNvPr id="11" name="處理"/>
          <p:cNvSpPr/>
          <p:nvPr/>
        </p:nvSpPr>
        <p:spPr>
          <a:xfrm>
            <a:off x="3291840" y="3794760"/>
            <a:ext cx="749808" cy="457200"/>
          </a:xfrm>
          <a:prstGeom prst="roundRect">
            <a:avLst>
              <a:gd name="adj" fmla="val 44000"/>
            </a:avLst>
          </a:prstGeom>
          <a:solidFill>
            <a:srgbClr val="0F7C8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300" dirty="0"/>
          </a:p>
        </p:txBody>
      </p:sp>
      <p:sp>
        <p:nvSpPr>
          <p:cNvPr id="12" name="處理"/>
          <p:cNvSpPr/>
          <p:nvPr/>
        </p:nvSpPr>
        <p:spPr>
          <a:xfrm>
            <a:off x="4617720" y="2606040"/>
            <a:ext cx="1143000" cy="457200"/>
          </a:xfrm>
          <a:prstGeom prst="roundRect">
            <a:avLst>
              <a:gd name="adj" fmla="val 44000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1200" dirty="0"/>
          </a:p>
        </p:txBody>
      </p:sp>
      <p:sp>
        <p:nvSpPr>
          <p:cNvPr id="13" name="處理"/>
          <p:cNvSpPr/>
          <p:nvPr/>
        </p:nvSpPr>
        <p:spPr>
          <a:xfrm>
            <a:off x="4617720" y="3794760"/>
            <a:ext cx="1143000" cy="457200"/>
          </a:xfrm>
          <a:prstGeom prst="roundRect">
            <a:avLst>
              <a:gd name="adj" fmla="val 44000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1200" dirty="0"/>
          </a:p>
        </p:txBody>
      </p:sp>
      <p:sp>
        <p:nvSpPr>
          <p:cNvPr id="14" name="處理"/>
          <p:cNvSpPr/>
          <p:nvPr/>
        </p:nvSpPr>
        <p:spPr>
          <a:xfrm>
            <a:off x="4617720" y="4983480"/>
            <a:ext cx="1143000" cy="457200"/>
          </a:xfrm>
          <a:prstGeom prst="roundRect">
            <a:avLst>
              <a:gd name="adj" fmla="val 44000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1200" dirty="0"/>
          </a:p>
        </p:txBody>
      </p:sp>
      <p:sp>
        <p:nvSpPr>
          <p:cNvPr id="15" name="連接線"/>
          <p:cNvSpPr/>
          <p:nvPr/>
        </p:nvSpPr>
        <p:spPr>
          <a:xfrm>
            <a:off x="135331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連接線"/>
          <p:cNvSpPr/>
          <p:nvPr/>
        </p:nvSpPr>
        <p:spPr>
          <a:xfrm>
            <a:off x="135331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277063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277063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連接線"/>
          <p:cNvSpPr/>
          <p:nvPr/>
        </p:nvSpPr>
        <p:spPr>
          <a:xfrm>
            <a:off x="4096512" y="283464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1188720"/>
                </a:moveTo>
                <a:lnTo>
                  <a:pt x="233172" y="11887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線條"/>
          <p:cNvSpPr/>
          <p:nvPr/>
        </p:nvSpPr>
        <p:spPr>
          <a:xfrm>
            <a:off x="4096512" y="4023360"/>
            <a:ext cx="466344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olid"/>
            <a:tailEnd type="triangle" w="lg" len="lg"/>
          </a:ln>
        </p:spPr>
      </p:sp>
      <p:sp>
        <p:nvSpPr>
          <p:cNvPr id="21" name="連接線"/>
          <p:cNvSpPr/>
          <p:nvPr/>
        </p:nvSpPr>
        <p:spPr>
          <a:xfrm>
            <a:off x="4096512" y="402336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0"/>
                </a:moveTo>
                <a:lnTo>
                  <a:pt x="233172" y="0"/>
                </a:lnTo>
                <a:lnTo>
                  <a:pt x="233172" y="1188720"/>
                </a:lnTo>
                <a:lnTo>
                  <a:pt x="466344" y="1188720"/>
                </a:lnTo>
              </a:path>
            </a:pathLst>
          </a:custGeom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172200" y="187909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373368" y="1783080"/>
            <a:ext cx="2496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300" dirty="0"/>
          </a:p>
        </p:txBody>
      </p:sp>
      <p:sp>
        <p:nvSpPr>
          <p:cNvPr id="24" name="線條"/>
          <p:cNvSpPr/>
          <p:nvPr/>
        </p:nvSpPr>
        <p:spPr>
          <a:xfrm>
            <a:off x="6172200" y="2167128"/>
            <a:ext cx="26974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5" name="線條"/>
          <p:cNvSpPr/>
          <p:nvPr/>
        </p:nvSpPr>
        <p:spPr>
          <a:xfrm>
            <a:off x="6556248" y="4023360"/>
            <a:ext cx="1929384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6" name="線條"/>
          <p:cNvSpPr/>
          <p:nvPr/>
        </p:nvSpPr>
        <p:spPr>
          <a:xfrm>
            <a:off x="7520940" y="2697480"/>
            <a:ext cx="0" cy="265176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7" name="中心圓"/>
          <p:cNvSpPr/>
          <p:nvPr/>
        </p:nvSpPr>
        <p:spPr>
          <a:xfrm>
            <a:off x="7100316" y="3602736"/>
            <a:ext cx="841248" cy="841248"/>
          </a:xfrm>
          <a:prstGeom prst="ellipse">
            <a:avLst/>
          </a:prstGeom>
          <a:solidFill>
            <a:srgbClr val="0F7C80"/>
          </a:solidFill>
          <a:ln w="25400">
            <a:solidFill>
              <a:srgbClr val="FFFFFF"/>
            </a:solidFill>
            <a:prstDash val="solid"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12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1200" dirty="0"/>
          </a:p>
        </p:txBody>
      </p:sp>
      <p:sp>
        <p:nvSpPr>
          <p:cNvPr id="28" name="標籤"/>
          <p:cNvSpPr/>
          <p:nvPr/>
        </p:nvSpPr>
        <p:spPr>
          <a:xfrm>
            <a:off x="6549136" y="3227832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1100" dirty="0"/>
          </a:p>
        </p:txBody>
      </p:sp>
      <p:sp>
        <p:nvSpPr>
          <p:cNvPr id="29" name="標籤"/>
          <p:cNvSpPr/>
          <p:nvPr/>
        </p:nvSpPr>
        <p:spPr>
          <a:xfrm>
            <a:off x="7975600" y="3227832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1100" dirty="0"/>
          </a:p>
        </p:txBody>
      </p:sp>
      <p:sp>
        <p:nvSpPr>
          <p:cNvPr id="30" name="標籤"/>
          <p:cNvSpPr/>
          <p:nvPr/>
        </p:nvSpPr>
        <p:spPr>
          <a:xfrm>
            <a:off x="6549136" y="4544568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1100" dirty="0"/>
          </a:p>
        </p:txBody>
      </p:sp>
      <p:sp>
        <p:nvSpPr>
          <p:cNvPr id="31" name="標籤"/>
          <p:cNvSpPr/>
          <p:nvPr/>
        </p:nvSpPr>
        <p:spPr>
          <a:xfrm>
            <a:off x="7975600" y="4544568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972300" y="2377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972300" y="53949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126480" y="388620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503920" y="388620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9235440" y="187909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9436608" y="1783080"/>
            <a:ext cx="220644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300" dirty="0"/>
          </a:p>
        </p:txBody>
      </p:sp>
      <p:sp>
        <p:nvSpPr>
          <p:cNvPr id="38" name="線條"/>
          <p:cNvSpPr/>
          <p:nvPr/>
        </p:nvSpPr>
        <p:spPr>
          <a:xfrm>
            <a:off x="9235440" y="2167128"/>
            <a:ext cx="24076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966960" y="2286000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10744200" y="2286000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100" dirty="0"/>
          </a:p>
        </p:txBody>
      </p:sp>
      <p:sp>
        <p:nvSpPr>
          <p:cNvPr id="41" name="寬欄條"/>
          <p:cNvSpPr/>
          <p:nvPr/>
        </p:nvSpPr>
        <p:spPr>
          <a:xfrm>
            <a:off x="10149840" y="2606040"/>
            <a:ext cx="566928" cy="310896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寬欄條"/>
          <p:cNvSpPr/>
          <p:nvPr/>
        </p:nvSpPr>
        <p:spPr>
          <a:xfrm>
            <a:off x="10927080" y="2606040"/>
            <a:ext cx="566928" cy="310896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9235440" y="304495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10155692" y="2922788"/>
            <a:ext cx="555224" cy="555224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編號"/>
          <p:cNvSpPr/>
          <p:nvPr/>
        </p:nvSpPr>
        <p:spPr>
          <a:xfrm>
            <a:off x="10222992" y="2990088"/>
            <a:ext cx="420624" cy="420624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10932932" y="2922788"/>
            <a:ext cx="555224" cy="555224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編號"/>
          <p:cNvSpPr/>
          <p:nvPr/>
        </p:nvSpPr>
        <p:spPr>
          <a:xfrm>
            <a:off x="11000232" y="2990088"/>
            <a:ext cx="420624" cy="420624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9235440" y="400507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10155692" y="3882908"/>
            <a:ext cx="555224" cy="555224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編號"/>
          <p:cNvSpPr/>
          <p:nvPr/>
        </p:nvSpPr>
        <p:spPr>
          <a:xfrm>
            <a:off x="10222992" y="3950208"/>
            <a:ext cx="420624" cy="420624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10932932" y="3882908"/>
            <a:ext cx="555224" cy="555224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編號"/>
          <p:cNvSpPr/>
          <p:nvPr/>
        </p:nvSpPr>
        <p:spPr>
          <a:xfrm>
            <a:off x="11000232" y="3950208"/>
            <a:ext cx="420624" cy="420624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9235440" y="496519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10155692" y="4843028"/>
            <a:ext cx="555224" cy="555224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編號"/>
          <p:cNvSpPr/>
          <p:nvPr/>
        </p:nvSpPr>
        <p:spPr>
          <a:xfrm>
            <a:off x="10222992" y="4910328"/>
            <a:ext cx="420624" cy="420624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10932932" y="4843028"/>
            <a:ext cx="555224" cy="555224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編號"/>
          <p:cNvSpPr/>
          <p:nvPr/>
        </p:nvSpPr>
        <p:spPr>
          <a:xfrm>
            <a:off x="11000232" y="4910328"/>
            <a:ext cx="420624" cy="420624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300" dirty="0"/>
          </a:p>
        </p:txBody>
      </p:sp>
      <p:sp>
        <p:nvSpPr>
          <p:cNvPr id="58" name="Text 56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 / 12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高效溝通：讓想法被看見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關鍵在於把資訊整理成對方能理解的結構</a:t>
            </a:r>
            <a:endParaRPr lang="en-US" sz="1600" dirty="0"/>
          </a:p>
        </p:txBody>
      </p:sp>
      <p:sp>
        <p:nvSpPr>
          <p:cNvPr id="5" name="光暈大圓"/>
          <p:cNvSpPr/>
          <p:nvPr/>
        </p:nvSpPr>
        <p:spPr>
          <a:xfrm>
            <a:off x="1208989" y="1828800"/>
            <a:ext cx="2377440" cy="2377440"/>
          </a:xfrm>
          <a:prstGeom prst="ellipse">
            <a:avLst/>
          </a:prstGeom>
          <a:solidFill>
            <a:srgbClr val="FFFFFF"/>
          </a:solidFill>
          <a:ln/>
          <a:effectLst>
            <a:outerShdw blurRad="228600" dist="25400" dir="5400000" sx="102000" sy="10200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1208989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Why</a:t>
            </a:r>
            <a:endParaRPr lang="en-US" sz="3900" dirty="0"/>
          </a:p>
        </p:txBody>
      </p:sp>
      <p:sp>
        <p:nvSpPr>
          <p:cNvPr id="7" name="Text 5"/>
          <p:cNvSpPr/>
          <p:nvPr/>
        </p:nvSpPr>
        <p:spPr>
          <a:xfrm>
            <a:off x="1446733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500" dirty="0"/>
          </a:p>
        </p:txBody>
      </p:sp>
      <p:sp>
        <p:nvSpPr>
          <p:cNvPr id="8" name="光暈大圓"/>
          <p:cNvSpPr/>
          <p:nvPr/>
        </p:nvSpPr>
        <p:spPr>
          <a:xfrm>
            <a:off x="4907128" y="1828800"/>
            <a:ext cx="2377440" cy="2377440"/>
          </a:xfrm>
          <a:prstGeom prst="ellipse">
            <a:avLst/>
          </a:prstGeom>
          <a:solidFill>
            <a:srgbClr val="FFFFFF"/>
          </a:solidFill>
          <a:ln/>
          <a:effectLst>
            <a:outerShdw blurRad="228600" dist="25400" dir="5400000" sx="102000" sy="10200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907128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3900" dirty="0"/>
          </a:p>
        </p:txBody>
      </p:sp>
      <p:sp>
        <p:nvSpPr>
          <p:cNvPr id="10" name="Text 8"/>
          <p:cNvSpPr/>
          <p:nvPr/>
        </p:nvSpPr>
        <p:spPr>
          <a:xfrm>
            <a:off x="5144872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1" name="光暈大圓"/>
          <p:cNvSpPr/>
          <p:nvPr/>
        </p:nvSpPr>
        <p:spPr>
          <a:xfrm>
            <a:off x="8605266" y="1828800"/>
            <a:ext cx="2377440" cy="2377440"/>
          </a:xfrm>
          <a:prstGeom prst="ellipse">
            <a:avLst/>
          </a:prstGeom>
          <a:solidFill>
            <a:srgbClr val="FFFFFF"/>
          </a:solidFill>
          <a:ln/>
          <a:effectLst>
            <a:outerShdw blurRad="228600" dist="25400" dir="5400000" sx="102000" sy="10200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605266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</a:t>
            </a:r>
            <a:endParaRPr lang="en-US" sz="3900" dirty="0"/>
          </a:p>
        </p:txBody>
      </p:sp>
      <p:sp>
        <p:nvSpPr>
          <p:cNvPr id="13" name="Text 11"/>
          <p:cNvSpPr/>
          <p:nvPr/>
        </p:nvSpPr>
        <p:spPr>
          <a:xfrm>
            <a:off x="8843010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500" dirty="0"/>
          </a:p>
        </p:txBody>
      </p:sp>
      <p:sp>
        <p:nvSpPr>
          <p:cNvPr id="14" name="分隔"/>
          <p:cNvSpPr/>
          <p:nvPr/>
        </p:nvSpPr>
        <p:spPr>
          <a:xfrm>
            <a:off x="4186428" y="2896819"/>
            <a:ext cx="120701" cy="241402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分隔"/>
          <p:cNvSpPr/>
          <p:nvPr/>
        </p:nvSpPr>
        <p:spPr>
          <a:xfrm>
            <a:off x="7884566" y="2896819"/>
            <a:ext cx="120701" cy="241402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4714897" y="3301313"/>
            <a:ext cx="863194" cy="863194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小圓"/>
          <p:cNvSpPr/>
          <p:nvPr/>
        </p:nvSpPr>
        <p:spPr>
          <a:xfrm>
            <a:off x="4780734" y="3367150"/>
            <a:ext cx="731520" cy="731520"/>
          </a:xfrm>
          <a:prstGeom prst="ellipse">
            <a:avLst/>
          </a:prstGeom>
          <a:solidFill>
            <a:srgbClr val="0F7C8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664251" y="3774643"/>
            <a:ext cx="863194" cy="863194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小圓"/>
          <p:cNvSpPr/>
          <p:nvPr/>
        </p:nvSpPr>
        <p:spPr>
          <a:xfrm>
            <a:off x="5730088" y="3840480"/>
            <a:ext cx="731520" cy="731520"/>
          </a:xfrm>
          <a:prstGeom prst="ellipse">
            <a:avLst/>
          </a:prstGeom>
          <a:solidFill>
            <a:srgbClr val="0F7C8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613605" y="3301313"/>
            <a:ext cx="863194" cy="863194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小圓"/>
          <p:cNvSpPr/>
          <p:nvPr/>
        </p:nvSpPr>
        <p:spPr>
          <a:xfrm>
            <a:off x="6679442" y="3367150"/>
            <a:ext cx="731520" cy="731520"/>
          </a:xfrm>
          <a:prstGeom prst="ellipse">
            <a:avLst/>
          </a:prstGeom>
          <a:solidFill>
            <a:srgbClr val="0F7C8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762446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711800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661154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1150" dirty="0"/>
          </a:p>
        </p:txBody>
      </p:sp>
      <p:sp>
        <p:nvSpPr>
          <p:cNvPr id="25" name="標籤"/>
          <p:cNvSpPr/>
          <p:nvPr/>
        </p:nvSpPr>
        <p:spPr>
          <a:xfrm>
            <a:off x="1346149" y="457200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300" dirty="0"/>
          </a:p>
        </p:txBody>
      </p:sp>
      <p:sp>
        <p:nvSpPr>
          <p:cNvPr id="26" name="標籤"/>
          <p:cNvSpPr/>
          <p:nvPr/>
        </p:nvSpPr>
        <p:spPr>
          <a:xfrm>
            <a:off x="1346149" y="507492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300" dirty="0"/>
          </a:p>
        </p:txBody>
      </p:sp>
      <p:sp>
        <p:nvSpPr>
          <p:cNvPr id="27" name="標籤"/>
          <p:cNvSpPr/>
          <p:nvPr/>
        </p:nvSpPr>
        <p:spPr>
          <a:xfrm>
            <a:off x="1346149" y="557784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28" name="標籤"/>
          <p:cNvSpPr/>
          <p:nvPr/>
        </p:nvSpPr>
        <p:spPr>
          <a:xfrm>
            <a:off x="8742426" y="457200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300" dirty="0"/>
          </a:p>
        </p:txBody>
      </p:sp>
      <p:sp>
        <p:nvSpPr>
          <p:cNvPr id="29" name="標籤"/>
          <p:cNvSpPr/>
          <p:nvPr/>
        </p:nvSpPr>
        <p:spPr>
          <a:xfrm>
            <a:off x="8742426" y="507492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300" dirty="0"/>
          </a:p>
        </p:txBody>
      </p:sp>
      <p:sp>
        <p:nvSpPr>
          <p:cNvPr id="30" name="標籤"/>
          <p:cNvSpPr/>
          <p:nvPr/>
        </p:nvSpPr>
        <p:spPr>
          <a:xfrm>
            <a:off x="8742426" y="557784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48640" y="6016752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12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策略規劃框架地圖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從現況、課題到行動方案的思考路徑</a:t>
            </a:r>
            <a:endParaRPr lang="en-US" sz="1600" dirty="0"/>
          </a:p>
        </p:txBody>
      </p:sp>
      <p:sp>
        <p:nvSpPr>
          <p:cNvPr id="5" name="卡片"/>
          <p:cNvSpPr/>
          <p:nvPr/>
        </p:nvSpPr>
        <p:spPr>
          <a:xfrm>
            <a:off x="548640" y="3931920"/>
            <a:ext cx="1882384" cy="841248"/>
          </a:xfrm>
          <a:prstGeom prst="roundRect">
            <a:avLst>
              <a:gd name="adj" fmla="val 23913"/>
            </a:avLst>
          </a:prstGeom>
          <a:solidFill>
            <a:srgbClr val="FFFFFF"/>
          </a:solidFill>
          <a:ln/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Vision</a:t>
            </a:r>
            <a:endParaRPr lang="en-US" sz="1400" dirty="0"/>
          </a:p>
        </p:txBody>
      </p:sp>
      <p:sp>
        <p:nvSpPr>
          <p:cNvPr id="7" name="分隔"/>
          <p:cNvSpPr/>
          <p:nvPr/>
        </p:nvSpPr>
        <p:spPr>
          <a:xfrm>
            <a:off x="2591044" y="4251960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卡片"/>
          <p:cNvSpPr/>
          <p:nvPr/>
        </p:nvSpPr>
        <p:spPr>
          <a:xfrm>
            <a:off x="2851648" y="3931920"/>
            <a:ext cx="1882384" cy="841248"/>
          </a:xfrm>
          <a:prstGeom prst="roundRect">
            <a:avLst>
              <a:gd name="adj" fmla="val 23913"/>
            </a:avLst>
          </a:prstGeom>
          <a:solidFill>
            <a:srgbClr val="FFFFFF"/>
          </a:solidFill>
          <a:ln/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2851648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</a:t>
            </a:r>
            <a:endParaRPr lang="en-US" sz="1400" dirty="0"/>
          </a:p>
        </p:txBody>
      </p:sp>
      <p:sp>
        <p:nvSpPr>
          <p:cNvPr id="10" name="分隔"/>
          <p:cNvSpPr/>
          <p:nvPr/>
        </p:nvSpPr>
        <p:spPr>
          <a:xfrm>
            <a:off x="4894052" y="4251960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重點卡片"/>
          <p:cNvSpPr/>
          <p:nvPr/>
        </p:nvSpPr>
        <p:spPr>
          <a:xfrm>
            <a:off x="5154656" y="3931920"/>
            <a:ext cx="1882384" cy="841248"/>
          </a:xfrm>
          <a:prstGeom prst="roundRect">
            <a:avLst>
              <a:gd name="adj" fmla="val 23913"/>
            </a:avLst>
          </a:prstGeom>
          <a:solidFill>
            <a:srgbClr val="0F7C80"/>
          </a:solidFill>
          <a:ln/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B7D8D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Objective</a:t>
            </a:r>
            <a:endParaRPr lang="en-US" sz="1400" dirty="0"/>
          </a:p>
        </p:txBody>
      </p:sp>
      <p:sp>
        <p:nvSpPr>
          <p:cNvPr id="12" name="分隔"/>
          <p:cNvSpPr/>
          <p:nvPr/>
        </p:nvSpPr>
        <p:spPr>
          <a:xfrm>
            <a:off x="7197060" y="4251960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卡片"/>
          <p:cNvSpPr/>
          <p:nvPr/>
        </p:nvSpPr>
        <p:spPr>
          <a:xfrm>
            <a:off x="7457664" y="3931920"/>
            <a:ext cx="1882384" cy="841248"/>
          </a:xfrm>
          <a:prstGeom prst="roundRect">
            <a:avLst>
              <a:gd name="adj" fmla="val 23913"/>
            </a:avLst>
          </a:prstGeom>
          <a:solidFill>
            <a:srgbClr val="FFFFFF"/>
          </a:solidFill>
          <a:ln/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457664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Strategy</a:t>
            </a:r>
            <a:endParaRPr lang="en-US" sz="1400" dirty="0"/>
          </a:p>
        </p:txBody>
      </p:sp>
      <p:sp>
        <p:nvSpPr>
          <p:cNvPr id="15" name="分隔"/>
          <p:cNvSpPr/>
          <p:nvPr/>
        </p:nvSpPr>
        <p:spPr>
          <a:xfrm>
            <a:off x="9500067" y="4251960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卡片"/>
          <p:cNvSpPr/>
          <p:nvPr/>
        </p:nvSpPr>
        <p:spPr>
          <a:xfrm>
            <a:off x="9760671" y="3931920"/>
            <a:ext cx="1882384" cy="841248"/>
          </a:xfrm>
          <a:prstGeom prst="roundRect">
            <a:avLst>
              <a:gd name="adj" fmla="val 23913"/>
            </a:avLst>
          </a:prstGeom>
          <a:solidFill>
            <a:srgbClr val="FFFFFF"/>
          </a:solidFill>
          <a:ln/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9760671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Tactic</a:t>
            </a:r>
            <a:endParaRPr lang="en-US" sz="1400" dirty="0"/>
          </a:p>
        </p:txBody>
      </p:sp>
      <p:sp>
        <p:nvSpPr>
          <p:cNvPr id="18" name="卡片"/>
          <p:cNvSpPr/>
          <p:nvPr/>
        </p:nvSpPr>
        <p:spPr>
          <a:xfrm>
            <a:off x="5154656" y="1828800"/>
            <a:ext cx="1882384" cy="822960"/>
          </a:xfrm>
          <a:prstGeom prst="roundRect">
            <a:avLst>
              <a:gd name="adj" fmla="val 24444"/>
            </a:avLst>
          </a:prstGeom>
          <a:solidFill>
            <a:srgbClr val="FFFFFF"/>
          </a:solidFill>
          <a:ln/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154656" y="1828800"/>
            <a:ext cx="18823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Situation</a:t>
            </a:r>
            <a:endParaRPr lang="en-US" sz="1400" dirty="0"/>
          </a:p>
        </p:txBody>
      </p:sp>
      <p:sp>
        <p:nvSpPr>
          <p:cNvPr id="20" name="卡片"/>
          <p:cNvSpPr/>
          <p:nvPr/>
        </p:nvSpPr>
        <p:spPr>
          <a:xfrm>
            <a:off x="2668768" y="2788920"/>
            <a:ext cx="1543555" cy="658368"/>
          </a:xfrm>
          <a:prstGeom prst="roundRect">
            <a:avLst>
              <a:gd name="adj" fmla="val 30556"/>
            </a:avLst>
          </a:prstGeom>
          <a:solidFill>
            <a:srgbClr val="FFFFFF"/>
          </a:solidFill>
          <a:ln/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2668768" y="2788920"/>
            <a:ext cx="15435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Problem</a:t>
            </a:r>
            <a:endParaRPr lang="en-US" sz="1400" dirty="0"/>
          </a:p>
        </p:txBody>
      </p:sp>
      <p:sp>
        <p:nvSpPr>
          <p:cNvPr id="22" name="卡片"/>
          <p:cNvSpPr/>
          <p:nvPr/>
        </p:nvSpPr>
        <p:spPr>
          <a:xfrm>
            <a:off x="7979373" y="2788920"/>
            <a:ext cx="1543555" cy="658368"/>
          </a:xfrm>
          <a:prstGeom prst="roundRect">
            <a:avLst>
              <a:gd name="adj" fmla="val 30556"/>
            </a:avLst>
          </a:prstGeom>
          <a:solidFill>
            <a:srgbClr val="FFFFFF"/>
          </a:solidFill>
          <a:ln/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979373" y="2788920"/>
            <a:ext cx="15435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Question</a:t>
            </a:r>
            <a:endParaRPr lang="en-US" sz="1400" dirty="0"/>
          </a:p>
        </p:txBody>
      </p:sp>
      <p:sp>
        <p:nvSpPr>
          <p:cNvPr id="24" name="曲線箭頭"/>
          <p:cNvSpPr/>
          <p:nvPr/>
        </p:nvSpPr>
        <p:spPr>
          <a:xfrm>
            <a:off x="3440545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493776"/>
                </a:moveTo>
                <a:cubicBezTo>
                  <a:pt x="0" y="0"/>
                  <a:pt x="274320" y="0"/>
                  <a:pt x="1640958" y="0"/>
                </a:cubicBezTo>
              </a:path>
            </a:pathLst>
          </a:custGeom>
          <a:ln w="15875">
            <a:solidFill>
              <a:srgbClr val="8C8C8C"/>
            </a:solidFill>
            <a:prstDash val="sysDash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曲線箭頭"/>
          <p:cNvSpPr/>
          <p:nvPr/>
        </p:nvSpPr>
        <p:spPr>
          <a:xfrm>
            <a:off x="7110192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0"/>
                </a:moveTo>
                <a:cubicBezTo>
                  <a:pt x="1366638" y="0"/>
                  <a:pt x="1640958" y="0"/>
                  <a:pt x="1640958" y="493776"/>
                </a:cubicBezTo>
              </a:path>
            </a:pathLst>
          </a:custGeom>
          <a:ln w="15875">
            <a:solidFill>
              <a:srgbClr val="8C8C8C"/>
            </a:solidFill>
            <a:prstDash val="sysDash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線條"/>
          <p:cNvSpPr/>
          <p:nvPr/>
        </p:nvSpPr>
        <p:spPr>
          <a:xfrm>
            <a:off x="4285475" y="3118104"/>
            <a:ext cx="3620746" cy="0"/>
          </a:xfrm>
          <a:prstGeom prst="line">
            <a:avLst/>
          </a:prstGeom>
          <a:noFill/>
          <a:ln w="15875">
            <a:solidFill>
              <a:srgbClr val="A6A6A6"/>
            </a:solidFill>
            <a:prstDash val="sysDash"/>
            <a:headEnd type="triangle" w="lg" len="lg"/>
            <a:tailEnd type="triangle" w="lg" len="lg"/>
          </a:ln>
        </p:spPr>
      </p:sp>
      <p:sp>
        <p:nvSpPr>
          <p:cNvPr id="27" name="Text 25"/>
          <p:cNvSpPr/>
          <p:nvPr/>
        </p:nvSpPr>
        <p:spPr>
          <a:xfrm>
            <a:off x="498897" y="1815633"/>
            <a:ext cx="410383" cy="41038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編號"/>
          <p:cNvSpPr/>
          <p:nvPr/>
        </p:nvSpPr>
        <p:spPr>
          <a:xfrm>
            <a:off x="548640" y="1865376"/>
            <a:ext cx="310896" cy="310896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73801" y="1815633"/>
            <a:ext cx="410383" cy="41038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編號"/>
          <p:cNvSpPr/>
          <p:nvPr/>
        </p:nvSpPr>
        <p:spPr>
          <a:xfrm>
            <a:off x="923544" y="1865376"/>
            <a:ext cx="310896" cy="310896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100" dirty="0"/>
          </a:p>
        </p:txBody>
      </p:sp>
      <p:sp>
        <p:nvSpPr>
          <p:cNvPr id="31" name="標籤"/>
          <p:cNvSpPr/>
          <p:nvPr/>
        </p:nvSpPr>
        <p:spPr>
          <a:xfrm>
            <a:off x="1325880" y="1874520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98897" y="2272833"/>
            <a:ext cx="410383" cy="41038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編號"/>
          <p:cNvSpPr/>
          <p:nvPr/>
        </p:nvSpPr>
        <p:spPr>
          <a:xfrm>
            <a:off x="548640" y="2322576"/>
            <a:ext cx="310896" cy="310896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73801" y="2272833"/>
            <a:ext cx="410383" cy="41038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編號"/>
          <p:cNvSpPr/>
          <p:nvPr/>
        </p:nvSpPr>
        <p:spPr>
          <a:xfrm>
            <a:off x="923544" y="2322576"/>
            <a:ext cx="310896" cy="310896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100" dirty="0"/>
          </a:p>
        </p:txBody>
      </p:sp>
      <p:sp>
        <p:nvSpPr>
          <p:cNvPr id="36" name="標籤"/>
          <p:cNvSpPr/>
          <p:nvPr/>
        </p:nvSpPr>
        <p:spPr>
          <a:xfrm>
            <a:off x="1325880" y="2331720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9619488" y="1815633"/>
            <a:ext cx="410383" cy="41038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編號"/>
          <p:cNvSpPr/>
          <p:nvPr/>
        </p:nvSpPr>
        <p:spPr>
          <a:xfrm>
            <a:off x="9669231" y="1865376"/>
            <a:ext cx="310896" cy="310896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9994392" y="1815633"/>
            <a:ext cx="410383" cy="41038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編號"/>
          <p:cNvSpPr/>
          <p:nvPr/>
        </p:nvSpPr>
        <p:spPr>
          <a:xfrm>
            <a:off x="10044135" y="1865376"/>
            <a:ext cx="310896" cy="310896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1100" dirty="0"/>
          </a:p>
        </p:txBody>
      </p:sp>
      <p:sp>
        <p:nvSpPr>
          <p:cNvPr id="41" name="標籤"/>
          <p:cNvSpPr/>
          <p:nvPr/>
        </p:nvSpPr>
        <p:spPr>
          <a:xfrm>
            <a:off x="10446471" y="1874520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9619488" y="2272833"/>
            <a:ext cx="410383" cy="41038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編號"/>
          <p:cNvSpPr/>
          <p:nvPr/>
        </p:nvSpPr>
        <p:spPr>
          <a:xfrm>
            <a:off x="9669231" y="2322576"/>
            <a:ext cx="310896" cy="310896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9994392" y="2272833"/>
            <a:ext cx="410383" cy="41038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編號"/>
          <p:cNvSpPr/>
          <p:nvPr/>
        </p:nvSpPr>
        <p:spPr>
          <a:xfrm>
            <a:off x="10044135" y="2322576"/>
            <a:ext cx="310896" cy="310896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</a:t>
            </a:r>
            <a:endParaRPr lang="en-US" sz="1100" dirty="0"/>
          </a:p>
        </p:txBody>
      </p:sp>
      <p:sp>
        <p:nvSpPr>
          <p:cNvPr id="46" name="標籤"/>
          <p:cNvSpPr/>
          <p:nvPr/>
        </p:nvSpPr>
        <p:spPr>
          <a:xfrm>
            <a:off x="10446471" y="2331720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1100" dirty="0"/>
          </a:p>
        </p:txBody>
      </p:sp>
      <p:sp>
        <p:nvSpPr>
          <p:cNvPr id="47" name="卡片"/>
          <p:cNvSpPr/>
          <p:nvPr/>
        </p:nvSpPr>
        <p:spPr>
          <a:xfrm>
            <a:off x="548640" y="5074920"/>
            <a:ext cx="11094415" cy="548640"/>
          </a:xfrm>
          <a:prstGeom prst="roundRect">
            <a:avLst>
              <a:gd name="adj" fmla="val 36667"/>
            </a:avLst>
          </a:prstGeom>
          <a:solidFill>
            <a:srgbClr val="FFFFFF"/>
          </a:solidFill>
          <a:ln/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548640" y="50749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pPr algn="ct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Organization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1094783" y="5765841"/>
            <a:ext cx="410383" cy="41038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編號"/>
          <p:cNvSpPr/>
          <p:nvPr/>
        </p:nvSpPr>
        <p:spPr>
          <a:xfrm>
            <a:off x="1144527" y="5815584"/>
            <a:ext cx="310896" cy="310896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1469687" y="5765841"/>
            <a:ext cx="410383" cy="41038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編號"/>
          <p:cNvSpPr/>
          <p:nvPr/>
        </p:nvSpPr>
        <p:spPr>
          <a:xfrm>
            <a:off x="1519431" y="5815584"/>
            <a:ext cx="310896" cy="310896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1100" dirty="0"/>
          </a:p>
        </p:txBody>
      </p:sp>
      <p:sp>
        <p:nvSpPr>
          <p:cNvPr id="53" name="標籤"/>
          <p:cNvSpPr/>
          <p:nvPr/>
        </p:nvSpPr>
        <p:spPr>
          <a:xfrm>
            <a:off x="1921767" y="5824728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3868387" y="5765841"/>
            <a:ext cx="410383" cy="41038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編號"/>
          <p:cNvSpPr/>
          <p:nvPr/>
        </p:nvSpPr>
        <p:spPr>
          <a:xfrm>
            <a:off x="3918130" y="5815584"/>
            <a:ext cx="310896" cy="310896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4243291" y="5765841"/>
            <a:ext cx="410383" cy="41038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編號"/>
          <p:cNvSpPr/>
          <p:nvPr/>
        </p:nvSpPr>
        <p:spPr>
          <a:xfrm>
            <a:off x="4293034" y="5815584"/>
            <a:ext cx="310896" cy="310896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1100" dirty="0"/>
          </a:p>
        </p:txBody>
      </p:sp>
      <p:sp>
        <p:nvSpPr>
          <p:cNvPr id="58" name="標籤"/>
          <p:cNvSpPr/>
          <p:nvPr/>
        </p:nvSpPr>
        <p:spPr>
          <a:xfrm>
            <a:off x="4695370" y="5824728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6829443" y="5765841"/>
            <a:ext cx="410383" cy="41038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編號"/>
          <p:cNvSpPr/>
          <p:nvPr/>
        </p:nvSpPr>
        <p:spPr>
          <a:xfrm>
            <a:off x="6879186" y="5815584"/>
            <a:ext cx="310896" cy="310896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1100" dirty="0"/>
          </a:p>
        </p:txBody>
      </p:sp>
      <p:sp>
        <p:nvSpPr>
          <p:cNvPr id="61" name="標籤"/>
          <p:cNvSpPr/>
          <p:nvPr/>
        </p:nvSpPr>
        <p:spPr>
          <a:xfrm>
            <a:off x="7281522" y="5824728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9415595" y="5765841"/>
            <a:ext cx="410383" cy="41038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編號"/>
          <p:cNvSpPr/>
          <p:nvPr/>
        </p:nvSpPr>
        <p:spPr>
          <a:xfrm>
            <a:off x="9465338" y="5815584"/>
            <a:ext cx="310896" cy="310896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9790499" y="5765841"/>
            <a:ext cx="410383" cy="41038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編號"/>
          <p:cNvSpPr/>
          <p:nvPr/>
        </p:nvSpPr>
        <p:spPr>
          <a:xfrm>
            <a:off x="9840242" y="5815584"/>
            <a:ext cx="310896" cy="310896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1100" dirty="0"/>
          </a:p>
        </p:txBody>
      </p:sp>
      <p:sp>
        <p:nvSpPr>
          <p:cNvPr id="66" name="標籤"/>
          <p:cNvSpPr/>
          <p:nvPr/>
        </p:nvSpPr>
        <p:spPr>
          <a:xfrm>
            <a:off x="10242578" y="5824728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/ 12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能力成長地圖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從個人特質到可遷移能力的三階段路徑</a:t>
            </a:r>
            <a:endParaRPr lang="en-US" sz="1600" dirty="0"/>
          </a:p>
        </p:txBody>
      </p:sp>
      <p:sp>
        <p:nvSpPr>
          <p:cNvPr id="5" name="漸隱箭頭"/>
          <p:cNvSpPr/>
          <p:nvPr/>
        </p:nvSpPr>
        <p:spPr>
          <a:xfrm>
            <a:off x="5737860" y="2331720"/>
            <a:ext cx="356616" cy="3361700"/>
          </a:xfrm>
          <a:prstGeom prst="rect">
            <a:avLst/>
          </a:prstGeom>
          <a:solidFill>
            <a:srgbClr val="F2A54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漸隱箭頭"/>
          <p:cNvSpPr/>
          <p:nvPr/>
        </p:nvSpPr>
        <p:spPr>
          <a:xfrm>
            <a:off x="5737860" y="2890479"/>
            <a:ext cx="356616" cy="2802941"/>
          </a:xfrm>
          <a:prstGeom prst="rect">
            <a:avLst/>
          </a:prstGeom>
          <a:solidFill>
            <a:srgbClr val="F2A54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5737860" y="3449239"/>
            <a:ext cx="356616" cy="2244181"/>
          </a:xfrm>
          <a:prstGeom prst="rect">
            <a:avLst/>
          </a:prstGeom>
          <a:solidFill>
            <a:srgbClr val="F2A54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5737860" y="4007998"/>
            <a:ext cx="356616" cy="1685422"/>
          </a:xfrm>
          <a:prstGeom prst="rect">
            <a:avLst/>
          </a:prstGeom>
          <a:solidFill>
            <a:srgbClr val="F2A54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5737860" y="4566757"/>
            <a:ext cx="356616" cy="1126663"/>
          </a:xfrm>
          <a:prstGeom prst="rect">
            <a:avLst/>
          </a:prstGeom>
          <a:solidFill>
            <a:srgbClr val="F2A54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5737860" y="5125517"/>
            <a:ext cx="356616" cy="567903"/>
          </a:xfrm>
          <a:prstGeom prst="rect">
            <a:avLst/>
          </a:prstGeom>
          <a:solidFill>
            <a:srgbClr val="F2A54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漸隱箭頭"/>
          <p:cNvSpPr/>
          <p:nvPr/>
        </p:nvSpPr>
        <p:spPr>
          <a:xfrm>
            <a:off x="5559552" y="5684276"/>
            <a:ext cx="713232" cy="442204"/>
          </a:xfrm>
          <a:custGeom>
            <a:avLst/>
            <a:gdLst/>
            <a:ahLst/>
            <a:cxnLst/>
            <a:rect l="l" t="t" r="r" b="b"/>
            <a:pathLst>
              <a:path w="713232" h="442204">
                <a:moveTo>
                  <a:pt x="0" y="0"/>
                </a:moveTo>
                <a:lnTo>
                  <a:pt x="713232" y="0"/>
                </a:lnTo>
                <a:lnTo>
                  <a:pt x="356616" y="442204"/>
                </a:lnTo>
                <a:close/>
              </a:path>
            </a:pathLst>
          </a:custGeom>
          <a:solidFill>
            <a:srgbClr val="F2A541">
              <a:alpha val="54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382512" y="5760720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1200" dirty="0"/>
          </a:p>
        </p:txBody>
      </p:sp>
      <p:sp>
        <p:nvSpPr>
          <p:cNvPr id="13" name="處理"/>
          <p:cNvSpPr/>
          <p:nvPr/>
        </p:nvSpPr>
        <p:spPr>
          <a:xfrm>
            <a:off x="548640" y="3794760"/>
            <a:ext cx="868680" cy="548640"/>
          </a:xfrm>
          <a:prstGeom prst="roundRect">
            <a:avLst>
              <a:gd name="adj" fmla="val 36667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7200" y="441655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1050" dirty="0"/>
          </a:p>
        </p:txBody>
      </p:sp>
      <p:sp>
        <p:nvSpPr>
          <p:cNvPr id="15" name="處理"/>
          <p:cNvSpPr/>
          <p:nvPr/>
        </p:nvSpPr>
        <p:spPr>
          <a:xfrm>
            <a:off x="1874520" y="2999232"/>
            <a:ext cx="914400" cy="493776"/>
          </a:xfrm>
          <a:prstGeom prst="roundRect">
            <a:avLst>
              <a:gd name="adj" fmla="val 40741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400" dirty="0"/>
          </a:p>
        </p:txBody>
      </p:sp>
      <p:sp>
        <p:nvSpPr>
          <p:cNvPr id="16" name="處理"/>
          <p:cNvSpPr/>
          <p:nvPr/>
        </p:nvSpPr>
        <p:spPr>
          <a:xfrm>
            <a:off x="1874520" y="4645152"/>
            <a:ext cx="914400" cy="493776"/>
          </a:xfrm>
          <a:prstGeom prst="roundRect">
            <a:avLst>
              <a:gd name="adj" fmla="val 40741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828800" y="274320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828800" y="517550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1050" dirty="0"/>
          </a:p>
        </p:txBody>
      </p:sp>
      <p:sp>
        <p:nvSpPr>
          <p:cNvPr id="19" name="處理"/>
          <p:cNvSpPr/>
          <p:nvPr/>
        </p:nvSpPr>
        <p:spPr>
          <a:xfrm>
            <a:off x="3246120" y="3794760"/>
            <a:ext cx="868680" cy="548640"/>
          </a:xfrm>
          <a:prstGeom prst="roundRect">
            <a:avLst>
              <a:gd name="adj" fmla="val 36667"/>
            </a:avLst>
          </a:prstGeom>
          <a:solidFill>
            <a:srgbClr val="0F7C8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3154680" y="4416552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1050" dirty="0"/>
          </a:p>
        </p:txBody>
      </p:sp>
      <p:sp>
        <p:nvSpPr>
          <p:cNvPr id="21" name="連接線"/>
          <p:cNvSpPr/>
          <p:nvPr/>
        </p:nvSpPr>
        <p:spPr>
          <a:xfrm>
            <a:off x="14721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連接線"/>
          <p:cNvSpPr/>
          <p:nvPr/>
        </p:nvSpPr>
        <p:spPr>
          <a:xfrm>
            <a:off x="14721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28437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28437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連接線"/>
          <p:cNvSpPr/>
          <p:nvPr/>
        </p:nvSpPr>
        <p:spPr>
          <a:xfrm>
            <a:off x="4169664" y="274320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1325880"/>
                </a:moveTo>
                <a:lnTo>
                  <a:pt x="288036" y="1325880"/>
                </a:lnTo>
                <a:lnTo>
                  <a:pt x="288036" y="0"/>
                </a:lnTo>
                <a:lnTo>
                  <a:pt x="576072" y="0"/>
                </a:lnTo>
              </a:path>
            </a:pathLst>
          </a:custGeom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線條"/>
          <p:cNvSpPr/>
          <p:nvPr/>
        </p:nvSpPr>
        <p:spPr>
          <a:xfrm>
            <a:off x="4169664" y="4069080"/>
            <a:ext cx="576072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olid"/>
            <a:tailEnd type="triangle" w="lg" len="lg"/>
          </a:ln>
        </p:spPr>
      </p:sp>
      <p:sp>
        <p:nvSpPr>
          <p:cNvPr id="27" name="連接線"/>
          <p:cNvSpPr/>
          <p:nvPr/>
        </p:nvSpPr>
        <p:spPr>
          <a:xfrm>
            <a:off x="4169664" y="406908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0"/>
                </a:moveTo>
                <a:lnTo>
                  <a:pt x="288036" y="0"/>
                </a:lnTo>
                <a:lnTo>
                  <a:pt x="288036" y="1325880"/>
                </a:lnTo>
                <a:lnTo>
                  <a:pt x="576072" y="1325880"/>
                </a:lnTo>
              </a:path>
            </a:pathLst>
          </a:custGeom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卡片"/>
          <p:cNvSpPr/>
          <p:nvPr/>
        </p:nvSpPr>
        <p:spPr>
          <a:xfrm>
            <a:off x="4800600" y="2414016"/>
            <a:ext cx="1828800" cy="658368"/>
          </a:xfrm>
          <a:prstGeom prst="roundRect">
            <a:avLst>
              <a:gd name="adj" fmla="val 30556"/>
            </a:avLst>
          </a:prstGeom>
          <a:solidFill>
            <a:srgbClr val="FFFFFF"/>
          </a:solidFill>
          <a:ln/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4800600" y="241401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1600" dirty="0"/>
          </a:p>
        </p:txBody>
      </p:sp>
      <p:sp>
        <p:nvSpPr>
          <p:cNvPr id="30" name="標籤"/>
          <p:cNvSpPr/>
          <p:nvPr/>
        </p:nvSpPr>
        <p:spPr>
          <a:xfrm>
            <a:off x="6000496" y="2286000"/>
            <a:ext cx="491744" cy="256032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1000" dirty="0"/>
          </a:p>
        </p:txBody>
      </p:sp>
      <p:sp>
        <p:nvSpPr>
          <p:cNvPr id="31" name="標籤"/>
          <p:cNvSpPr/>
          <p:nvPr/>
        </p:nvSpPr>
        <p:spPr>
          <a:xfrm>
            <a:off x="4937760" y="2944368"/>
            <a:ext cx="618744" cy="25603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1000" dirty="0"/>
          </a:p>
        </p:txBody>
      </p:sp>
      <p:sp>
        <p:nvSpPr>
          <p:cNvPr id="32" name="卡片"/>
          <p:cNvSpPr/>
          <p:nvPr/>
        </p:nvSpPr>
        <p:spPr>
          <a:xfrm>
            <a:off x="4800600" y="3739896"/>
            <a:ext cx="1828800" cy="658368"/>
          </a:xfrm>
          <a:prstGeom prst="roundRect">
            <a:avLst>
              <a:gd name="adj" fmla="val 30556"/>
            </a:avLst>
          </a:prstGeom>
          <a:solidFill>
            <a:srgbClr val="FFFFFF"/>
          </a:solidFill>
          <a:ln/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4800600" y="373989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1600" dirty="0"/>
          </a:p>
        </p:txBody>
      </p:sp>
      <p:sp>
        <p:nvSpPr>
          <p:cNvPr id="34" name="標籤"/>
          <p:cNvSpPr/>
          <p:nvPr/>
        </p:nvSpPr>
        <p:spPr>
          <a:xfrm>
            <a:off x="6000496" y="3611880"/>
            <a:ext cx="491744" cy="256032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1000" dirty="0"/>
          </a:p>
        </p:txBody>
      </p:sp>
      <p:sp>
        <p:nvSpPr>
          <p:cNvPr id="35" name="標籤"/>
          <p:cNvSpPr/>
          <p:nvPr/>
        </p:nvSpPr>
        <p:spPr>
          <a:xfrm>
            <a:off x="4937760" y="4270248"/>
            <a:ext cx="618744" cy="25603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1000" dirty="0"/>
          </a:p>
        </p:txBody>
      </p:sp>
      <p:sp>
        <p:nvSpPr>
          <p:cNvPr id="36" name="卡片"/>
          <p:cNvSpPr/>
          <p:nvPr/>
        </p:nvSpPr>
        <p:spPr>
          <a:xfrm>
            <a:off x="4800600" y="5065776"/>
            <a:ext cx="1828800" cy="658368"/>
          </a:xfrm>
          <a:prstGeom prst="roundRect">
            <a:avLst>
              <a:gd name="adj" fmla="val 30556"/>
            </a:avLst>
          </a:prstGeom>
          <a:solidFill>
            <a:srgbClr val="FFFFFF"/>
          </a:solidFill>
          <a:ln/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4800600" y="506577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1600" dirty="0"/>
          </a:p>
        </p:txBody>
      </p:sp>
      <p:sp>
        <p:nvSpPr>
          <p:cNvPr id="38" name="標籤"/>
          <p:cNvSpPr/>
          <p:nvPr/>
        </p:nvSpPr>
        <p:spPr>
          <a:xfrm>
            <a:off x="6000496" y="4937760"/>
            <a:ext cx="491744" cy="256032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1000" dirty="0"/>
          </a:p>
        </p:txBody>
      </p:sp>
      <p:sp>
        <p:nvSpPr>
          <p:cNvPr id="39" name="標籤"/>
          <p:cNvSpPr/>
          <p:nvPr/>
        </p:nvSpPr>
        <p:spPr>
          <a:xfrm>
            <a:off x="4937760" y="5596128"/>
            <a:ext cx="618744" cy="25603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1000" dirty="0"/>
          </a:p>
        </p:txBody>
      </p:sp>
      <p:sp>
        <p:nvSpPr>
          <p:cNvPr id="40" name="寬欄條"/>
          <p:cNvSpPr/>
          <p:nvPr/>
        </p:nvSpPr>
        <p:spPr>
          <a:xfrm>
            <a:off x="7086600" y="2057400"/>
            <a:ext cx="548640" cy="388620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寬欄條"/>
          <p:cNvSpPr/>
          <p:nvPr/>
        </p:nvSpPr>
        <p:spPr>
          <a:xfrm>
            <a:off x="7818120" y="2057400"/>
            <a:ext cx="548640" cy="388620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6766560" y="175564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7071238" y="2453518"/>
            <a:ext cx="579364" cy="579364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編號"/>
          <p:cNvSpPr/>
          <p:nvPr/>
        </p:nvSpPr>
        <p:spPr>
          <a:xfrm>
            <a:off x="7141464" y="2523744"/>
            <a:ext cx="438912" cy="438912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7802758" y="2453518"/>
            <a:ext cx="579364" cy="579364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編號"/>
          <p:cNvSpPr/>
          <p:nvPr/>
        </p:nvSpPr>
        <p:spPr>
          <a:xfrm>
            <a:off x="7872984" y="2523744"/>
            <a:ext cx="438912" cy="438912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400" dirty="0"/>
          </a:p>
        </p:txBody>
      </p:sp>
      <p:sp>
        <p:nvSpPr>
          <p:cNvPr id="47" name="線條"/>
          <p:cNvSpPr/>
          <p:nvPr/>
        </p:nvSpPr>
        <p:spPr>
          <a:xfrm>
            <a:off x="6702552" y="274320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071238" y="3779398"/>
            <a:ext cx="579364" cy="579364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編號"/>
          <p:cNvSpPr/>
          <p:nvPr/>
        </p:nvSpPr>
        <p:spPr>
          <a:xfrm>
            <a:off x="7141464" y="3849624"/>
            <a:ext cx="438912" cy="438912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7802758" y="3779398"/>
            <a:ext cx="579364" cy="579364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編號"/>
          <p:cNvSpPr/>
          <p:nvPr/>
        </p:nvSpPr>
        <p:spPr>
          <a:xfrm>
            <a:off x="7872984" y="3849624"/>
            <a:ext cx="438912" cy="438912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400" dirty="0"/>
          </a:p>
        </p:txBody>
      </p:sp>
      <p:sp>
        <p:nvSpPr>
          <p:cNvPr id="52" name="線條"/>
          <p:cNvSpPr/>
          <p:nvPr/>
        </p:nvSpPr>
        <p:spPr>
          <a:xfrm>
            <a:off x="6702552" y="406908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071238" y="5105278"/>
            <a:ext cx="579364" cy="579364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編號"/>
          <p:cNvSpPr/>
          <p:nvPr/>
        </p:nvSpPr>
        <p:spPr>
          <a:xfrm>
            <a:off x="7141464" y="5175504"/>
            <a:ext cx="438912" cy="438912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400" dirty="0"/>
          </a:p>
        </p:txBody>
      </p:sp>
      <p:sp>
        <p:nvSpPr>
          <p:cNvPr id="55" name="Text 53"/>
          <p:cNvSpPr/>
          <p:nvPr/>
        </p:nvSpPr>
        <p:spPr>
          <a:xfrm>
            <a:off x="7802758" y="5105278"/>
            <a:ext cx="579364" cy="579364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編號"/>
          <p:cNvSpPr/>
          <p:nvPr/>
        </p:nvSpPr>
        <p:spPr>
          <a:xfrm>
            <a:off x="7872984" y="5175504"/>
            <a:ext cx="438912" cy="438912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400" dirty="0"/>
          </a:p>
        </p:txBody>
      </p:sp>
      <p:sp>
        <p:nvSpPr>
          <p:cNvPr id="57" name="線條"/>
          <p:cNvSpPr/>
          <p:nvPr/>
        </p:nvSpPr>
        <p:spPr>
          <a:xfrm>
            <a:off x="6702552" y="539496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8" name="線條"/>
          <p:cNvSpPr/>
          <p:nvPr/>
        </p:nvSpPr>
        <p:spPr>
          <a:xfrm>
            <a:off x="8366760" y="2743200"/>
            <a:ext cx="228600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olid"/>
          </a:ln>
        </p:spPr>
      </p:sp>
      <p:sp>
        <p:nvSpPr>
          <p:cNvPr id="59" name="連接線"/>
          <p:cNvSpPr/>
          <p:nvPr/>
        </p:nvSpPr>
        <p:spPr>
          <a:xfrm>
            <a:off x="8595360" y="245059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8915400" y="231343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1100" dirty="0"/>
          </a:p>
        </p:txBody>
      </p:sp>
      <p:sp>
        <p:nvSpPr>
          <p:cNvPr id="61" name="連接線"/>
          <p:cNvSpPr/>
          <p:nvPr/>
        </p:nvSpPr>
        <p:spPr>
          <a:xfrm>
            <a:off x="8595360" y="274320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8915400" y="28986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1100" dirty="0"/>
          </a:p>
        </p:txBody>
      </p:sp>
      <p:sp>
        <p:nvSpPr>
          <p:cNvPr id="63" name="線條"/>
          <p:cNvSpPr/>
          <p:nvPr/>
        </p:nvSpPr>
        <p:spPr>
          <a:xfrm>
            <a:off x="8366760" y="4069080"/>
            <a:ext cx="228600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olid"/>
          </a:ln>
        </p:spPr>
      </p:sp>
      <p:sp>
        <p:nvSpPr>
          <p:cNvPr id="64" name="連接線"/>
          <p:cNvSpPr/>
          <p:nvPr/>
        </p:nvSpPr>
        <p:spPr>
          <a:xfrm>
            <a:off x="8595360" y="377647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8915400" y="36393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1100" dirty="0"/>
          </a:p>
        </p:txBody>
      </p:sp>
      <p:sp>
        <p:nvSpPr>
          <p:cNvPr id="66" name="連接線"/>
          <p:cNvSpPr/>
          <p:nvPr/>
        </p:nvSpPr>
        <p:spPr>
          <a:xfrm>
            <a:off x="8595360" y="406908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8915400" y="42245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1100" dirty="0"/>
          </a:p>
        </p:txBody>
      </p:sp>
      <p:sp>
        <p:nvSpPr>
          <p:cNvPr id="68" name="線條"/>
          <p:cNvSpPr/>
          <p:nvPr/>
        </p:nvSpPr>
        <p:spPr>
          <a:xfrm>
            <a:off x="8366760" y="5394960"/>
            <a:ext cx="228600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olid"/>
          </a:ln>
        </p:spPr>
      </p:sp>
      <p:sp>
        <p:nvSpPr>
          <p:cNvPr id="69" name="連接線"/>
          <p:cNvSpPr/>
          <p:nvPr/>
        </p:nvSpPr>
        <p:spPr>
          <a:xfrm>
            <a:off x="8595360" y="510235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Text 68"/>
          <p:cNvSpPr/>
          <p:nvPr/>
        </p:nvSpPr>
        <p:spPr>
          <a:xfrm>
            <a:off x="8915400" y="49651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1100" dirty="0"/>
          </a:p>
        </p:txBody>
      </p:sp>
      <p:sp>
        <p:nvSpPr>
          <p:cNvPr id="71" name="連接線"/>
          <p:cNvSpPr/>
          <p:nvPr/>
        </p:nvSpPr>
        <p:spPr>
          <a:xfrm>
            <a:off x="8595360" y="539496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Text 70"/>
          <p:cNvSpPr/>
          <p:nvPr/>
        </p:nvSpPr>
        <p:spPr>
          <a:xfrm>
            <a:off x="8915400" y="555040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1100" dirty="0"/>
          </a:p>
        </p:txBody>
      </p:sp>
      <p:sp>
        <p:nvSpPr>
          <p:cNvPr id="73" name="漸隱直條"/>
          <p:cNvSpPr/>
          <p:nvPr/>
        </p:nvSpPr>
        <p:spPr>
          <a:xfrm>
            <a:off x="11333988" y="2248510"/>
            <a:ext cx="173736" cy="3513125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漸隱直條"/>
          <p:cNvSpPr/>
          <p:nvPr/>
        </p:nvSpPr>
        <p:spPr>
          <a:xfrm>
            <a:off x="11333988" y="2540508"/>
            <a:ext cx="173736" cy="2929128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漸隱直條"/>
          <p:cNvSpPr/>
          <p:nvPr/>
        </p:nvSpPr>
        <p:spPr>
          <a:xfrm>
            <a:off x="11333988" y="2832506"/>
            <a:ext cx="173736" cy="2345131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漸隱直條"/>
          <p:cNvSpPr/>
          <p:nvPr/>
        </p:nvSpPr>
        <p:spPr>
          <a:xfrm>
            <a:off x="11333988" y="3124505"/>
            <a:ext cx="173736" cy="1761134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漸隱直條"/>
          <p:cNvSpPr/>
          <p:nvPr/>
        </p:nvSpPr>
        <p:spPr>
          <a:xfrm>
            <a:off x="11333988" y="3416503"/>
            <a:ext cx="173736" cy="1177138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漸隱直條"/>
          <p:cNvSpPr/>
          <p:nvPr/>
        </p:nvSpPr>
        <p:spPr>
          <a:xfrm>
            <a:off x="11333988" y="3708502"/>
            <a:ext cx="173736" cy="593141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Text 77"/>
          <p:cNvSpPr/>
          <p:nvPr/>
        </p:nvSpPr>
        <p:spPr>
          <a:xfrm>
            <a:off x="11247120" y="205740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191110"/>
                </a:moveTo>
                <a:lnTo>
                  <a:pt x="173736" y="0"/>
                </a:lnTo>
                <a:lnTo>
                  <a:pt x="347472" y="191110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0" name="Text 78"/>
          <p:cNvSpPr/>
          <p:nvPr/>
        </p:nvSpPr>
        <p:spPr>
          <a:xfrm>
            <a:off x="11247120" y="575249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0"/>
                </a:moveTo>
                <a:lnTo>
                  <a:pt x="347472" y="0"/>
                </a:lnTo>
                <a:lnTo>
                  <a:pt x="173736" y="191110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1" name="Text 79"/>
          <p:cNvSpPr/>
          <p:nvPr/>
        </p:nvSpPr>
        <p:spPr>
          <a:xfrm>
            <a:off x="10378440" y="17556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1000" dirty="0"/>
          </a:p>
        </p:txBody>
      </p:sp>
      <p:sp>
        <p:nvSpPr>
          <p:cNvPr id="82" name="Text 80"/>
          <p:cNvSpPr/>
          <p:nvPr/>
        </p:nvSpPr>
        <p:spPr>
          <a:xfrm>
            <a:off x="10378440" y="59893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1000" dirty="0"/>
          </a:p>
        </p:txBody>
      </p:sp>
      <p:sp>
        <p:nvSpPr>
          <p:cNvPr id="83" name="Text 81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84" name="Text 82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 / 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青綠科技</dc:title>
  <dc:subject>PptxGenJS Presentation</dc:subject>
  <dc:creator>PPT Style Studio</dc:creator>
  <cp:lastModifiedBy>PPT Style Studio</cp:lastModifiedBy>
  <cp:revision>1</cp:revision>
  <dcterms:created xsi:type="dcterms:W3CDTF">2026-10-09T02:10:51Z</dcterms:created>
  <dcterms:modified xsi:type="dcterms:W3CDTF">2026-10-09T02:10:51Z</dcterms:modified>
</cp:coreProperties>
</file>